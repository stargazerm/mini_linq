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3235b587144a5e" /><Relationship Type="http://schemas.openxmlformats.org/officeDocument/2006/relationships/extended-properties" Target="/docProps/app.xml" Id="R0c4cc84a76b84350" /><Relationship Type="http://schemas.openxmlformats.org/officeDocument/2006/relationships/officeDocument" Target="/ppt/presentation.xml" Id="Rc6be0203c5874187" /></Relationships>
</file>

<file path=ppt/presentation.xml><?xml version="1.0" encoding="utf-8"?>
<p:presentation xmlns:p="http://schemas.openxmlformats.org/presentationml/2006/main">
  <p:sldMasterIdLst>
    <p:sldMasterId xmlns:r="http://schemas.openxmlformats.org/officeDocument/2006/relationships" id="2147483648" r:id="R9602444899db4e61"/>
  </p:sldMasterIdLst>
  <p:notesMasterIdLst>
    <p:notesMasterId xmlns:r="http://schemas.openxmlformats.org/officeDocument/2006/relationships" r:id="R2f5fd77d5007450c"/>
  </p:notesMasterIdLst>
  <p:sldIdLst>
    <p:sldId xmlns:r="http://schemas.openxmlformats.org/officeDocument/2006/relationships" id="256" r:id="R91c43e3e749f4f94"/>
    <p:sldId xmlns:r="http://schemas.openxmlformats.org/officeDocument/2006/relationships" id="257" r:id="R030642ef1b5c4f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3e8d9d27424a7e" /><Relationship Type="http://schemas.openxmlformats.org/officeDocument/2006/relationships/slideMaster" Target="/ppt/slideMasters/slideMaster1.xml" Id="R9602444899db4e61" /><Relationship Type="http://schemas.openxmlformats.org/officeDocument/2006/relationships/notesMaster" Target="/ppt/notesMasters/notesMaster1.xml" Id="R2f5fd77d5007450c" /><Relationship Type="http://schemas.openxmlformats.org/officeDocument/2006/relationships/presProps" Target="/ppt/presProps.xml" Id="Rb6cc720a89654629" /><Relationship Type="http://schemas.openxmlformats.org/officeDocument/2006/relationships/tableStyles" Target="/ppt/tableStyles.xml" Id="Re8923811bf444c2c" /><Relationship Type="http://schemas.openxmlformats.org/officeDocument/2006/relationships/slide" Target="/ppt/slides/slide1.xml" Id="R91c43e3e749f4f94" /><Relationship Type="http://schemas.openxmlformats.org/officeDocument/2006/relationships/slide" Target="/ppt/slides/slide2.xml" Id="R030642ef1b5c4f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73170839f34c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c364adac0b49c2" /><Relationship Type="http://schemas.openxmlformats.org/officeDocument/2006/relationships/notesMaster" Target="/ppt/notesMasters/notesMaster1.xml" Id="R89ababcb64fb4f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249d07cd794c48" /><Relationship Type="http://schemas.openxmlformats.org/officeDocument/2006/relationships/notesMaster" Target="/ppt/notesMasters/notesMaster1.xml" Id="R5f81ca38095743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Begin with silence for ten seconds: ask students to name what is identical and what changes. First establish the concrete instance and the set-valued two-hop answer. Then reveal the two execution boundaries. Do not yet define a database or survey systems. Press on the missing words in the SQL: none of the process, storage, access, order, or materialization choices appear. Transition with the final question: if the query does not contain a loop, where does the loop come from?</a:t>
            </a:r>
          </a:p>
          <a:p xmlns:a="http://schemas.openxmlformats.org/drawingml/2006/main">
            <a:r>
              <a:t/>
            </a:r>
          </a:p>
          <a:p xmlns:a="http://schemas.openxmlformats.org/drawingml/2006/main">
            <a:r>
              <a:t>[Sources]</a:t>
            </a:r>
          </a:p>
          <a:p xmlns:a="http://schemas.openxmlformats.org/drawingml/2006/main">
            <a:r>
              <a:t>- /Users/stargazermiao/workspace/join-processing-datalog/doc/notes/01-a-little-database-a-few-questions.md</a:t>
            </a:r>
          </a:p>
          <a:p xmlns:a="http://schemas.openxmlformats.org/drawingml/2006/main">
            <a:r>
              <a:t>- https://dev.mysql.com/doc/dev/mysql-server/latest/PAGE_PROTOCOL.html</a:t>
            </a:r>
          </a:p>
          <a:p xmlns:a="http://schemas.openxmlformats.org/drawingml/2006/main">
            <a:r>
              <a:t>- https://duckdb.org/docs/stable/clients/python/overview</a:t>
            </a:r>
          </a:p>
          <a:p xmlns:a="http://schemas.openxmlformats.org/drawingml/2006/main">
            <a:r>
              <a:t>- https://duckdb.org/docs/current/guides/file_formats/query_parquet</a:t>
            </a:r>
          </a:p>
          <a:p xmlns:a="http://schemas.openxmlformats.org/drawingml/2006/main">
            <a:r>
              <a:t>- https://upload.wikimedia.org/wikipedia/en/d/dd/MySQL_logo.svg</a:t>
            </a:r>
          </a:p>
          <a:p xmlns:a="http://schemas.openxmlformats.org/drawingml/2006/main">
            <a:r>
              <a:t>- https://upload.wikimedia.org/wikipedia/commons/4/40/DuckDB_logo.svg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0:08-0:12. Translate the familiar SQL into the course's conjunctive-query notation. Read the equation from the inside out: choose a witness y; both input tuples must exist; return x and z. Emphasize the universal quantifier in the compiler contract: an implementation is not validated by reproducing the Logan example alone. Ask students for one additional legal choice on the right and one illegal change that would alter the left. This slide supplies the thesis for the remaining 63 minutes: expose, justify, and test the choices between Q and P.</a:t>
            </a:r>
          </a:p>
          <a:p xmlns:a="http://schemas.openxmlformats.org/drawingml/2006/main">
            <a:r>
              <a:t/>
            </a:r>
          </a:p>
          <a:p xmlns:a="http://schemas.openxmlformats.org/drawingml/2006/main">
            <a:r>
              <a:t>[Sources]</a:t>
            </a:r>
          </a:p>
          <a:p xmlns:a="http://schemas.openxmlformats.org/drawingml/2006/main">
            <a:r>
              <a:t>- /Users/stargazermiao/workspace/join-processing-datalog/doc/notes/01-a-little-database-a-few-questions.md</a:t>
            </a:r>
          </a:p>
          <a:p xmlns:a="http://schemas.openxmlformats.org/drawingml/2006/main">
            <a:r>
              <a:t>- /Users/stargazermiao/workspace/join-processing-datalog/doc/notes/syllabus.md</a:t>
            </a:r>
          </a:p>
          <a:p xmlns:a="http://schemas.openxmlformats.org/drawingml/2006/main">
            <a:r>
              <a:t>- /Users/stargazermiao/workspace/join-processing-datalog/doc/PROJECT-SKELETON.md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2a05c1e550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c5e8db4e8e424e" /><Relationship Type="http://schemas.openxmlformats.org/officeDocument/2006/relationships/slideLayout" Target="/ppt/slideLayouts/slideLayout1.xml" Id="R57e4703625064b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e4703625064b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3b5c3a332549bd" /><Relationship Type="http://schemas.openxmlformats.org/officeDocument/2006/relationships/image" Target="/ppt/media/image.png" Id="R8f070ea65eef46de" /><Relationship Type="http://schemas.openxmlformats.org/officeDocument/2006/relationships/image" Target="/ppt/media/image2.png" Id="R219122f1ad79434e" /><Relationship Type="http://schemas.openxmlformats.org/officeDocument/2006/relationships/notesSlide" Target="/ppt/notesSlides/notesSlide1.xml" Id="Re9c7fa5fcf84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d03507371e4ff0" /><Relationship Type="http://schemas.openxmlformats.org/officeDocument/2006/relationships/notesSlide" Target="/ppt/notesSlides/notesSlide2.xml" Id="Rbcc5d8d798114f18"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69BE7BA-DDB7-4206-A4AB-86CDC83B1FC3}"/>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15BD1104-5BD3-40E9-9F6C-B62DDC38F77D}"/>
              </a:ext>
            </a:extLst>
          </p:cNvPr>
          <p:cNvSpPr>
            <a:spLocks xmlns:a="http://schemas.openxmlformats.org/drawingml/2006/main" noGrp="1"/>
          </p:cNvSpPr>
          <p:nvPr/>
        </p:nvSpPr>
        <p:spPr>
          <a:xfrm xmlns:a="http://schemas.openxmlformats.org/drawingml/2006/main" rot="0">
            <a:off x="533400" y="2667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OPENING QUESTION</a:t>
            </a:r>
          </a:p>
        </p:txBody>
      </p:sp>
      <p:sp>
        <p:nvSpPr>
          <p:cNvPr id="3" name="slide-1-title">
            <a:extLst xmlns:a="http://schemas.openxmlformats.org/drawingml/2006/main">
              <a:ext uri="{FF2B5EF4-FFF2-40B4-BE49-F238E27FC236}">
                <a16:creationId xmlns:a16="http://schemas.microsoft.com/office/drawing/2014/main" id="{50B9AC2C-41DA-4C16-A6E3-E56A421B7363}"/>
              </a:ext>
            </a:extLst>
          </p:cNvPr>
          <p:cNvSpPr>
            <a:spLocks xmlns:a="http://schemas.openxmlformats.org/drawingml/2006/main" noGrp="1"/>
          </p:cNvSpPr>
          <p:nvPr/>
        </p:nvSpPr>
        <p:spPr>
          <a:xfrm xmlns:a="http://schemas.openxmlformats.org/drawingml/2006/main" rot="0">
            <a:off x="533400" y="5524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What survives when the database system changes?</a:t>
            </a:r>
          </a:p>
        </p:txBody>
      </p:sp>
      <p:sp>
        <p:nvSpPr>
          <p:cNvPr id="4" name="">
            <a:extLst xmlns:a="http://schemas.openxmlformats.org/drawingml/2006/main">
              <a:ext uri="{FF2B5EF4-FFF2-40B4-BE49-F238E27FC236}">
                <a16:creationId xmlns:a16="http://schemas.microsoft.com/office/drawing/2014/main" id="{3CFAD0C2-FE8F-4BB4-A41A-19C0958042AD}"/>
              </a:ext>
            </a:extLst>
          </p:cNvPr>
          <p:cNvSpPr>
            <a:spLocks xmlns:a="http://schemas.openxmlformats.org/drawingml/2006/main" noGrp="1"/>
          </p:cNvSpPr>
          <p:nvPr/>
        </p:nvSpPr>
        <p:spPr>
          <a:xfrm xmlns:a="http://schemas.openxmlformats.org/drawingml/2006/main" rot="0">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4B05CBB7-B1EF-4FBE-8074-DFC5FA2F09DF}"/>
              </a:ext>
            </a:extLst>
          </p:cNvPr>
          <p:cNvSpPr>
            <a:spLocks xmlns:a="http://schemas.openxmlformats.org/drawingml/2006/main" noGrp="1"/>
          </p:cNvSpPr>
          <p:nvPr/>
        </p:nvSpPr>
        <p:spPr>
          <a:xfrm xmlns:a="http://schemas.openxmlformats.org/drawingml/2006/main" rot="0">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1C18272-17F3-4AAA-A4EF-5AF9F50DA6F9}"/>
              </a:ext>
            </a:extLst>
          </p:cNvPr>
          <p:cNvSpPr>
            <a:spLocks xmlns:a="http://schemas.openxmlformats.org/drawingml/2006/main" noGrp="1"/>
          </p:cNvSpPr>
          <p:nvPr/>
        </p:nvSpPr>
        <p:spPr>
          <a:xfrm xmlns:a="http://schemas.openxmlformats.org/drawingml/2006/main" rot="0">
            <a:off x="533400" y="143827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ONE RELATION INSTANCE</a:t>
            </a:r>
          </a:p>
        </p:txBody>
      </p:sp>
      <p:sp>
        <p:nvSpPr>
          <p:cNvPr id="7" name="">
            <a:extLst xmlns:a="http://schemas.openxmlformats.org/drawingml/2006/main">
              <a:ext uri="{FF2B5EF4-FFF2-40B4-BE49-F238E27FC236}">
                <a16:creationId xmlns:a16="http://schemas.microsoft.com/office/drawing/2014/main" id="{F87D7EAF-40E2-487D-9308-CFB6B3A03B43}"/>
              </a:ext>
            </a:extLst>
          </p:cNvPr>
          <p:cNvSpPr>
            <a:spLocks xmlns:a="http://schemas.openxmlformats.org/drawingml/2006/main" noGrp="1"/>
          </p:cNvSpPr>
          <p:nvPr/>
        </p:nvSpPr>
        <p:spPr>
          <a:xfrm xmlns:a="http://schemas.openxmlformats.org/drawingml/2006/main" rot="0">
            <a:off x="533400" y="1676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defRPr sz="1725" b="1" i="0">
                <a:solidFill>
                  <a:srgbClr val="202522"/>
                </a:solidFill>
                <a:latin typeface="SFMono-Regular"/>
                <a:ea typeface="SFMono-Regular"/>
                <a:cs typeface="SFMono-Regular"/>
              </a:defRPr>
            </a:pPr>
            <a:r>
              <a:rPr sz="1725" b="1" i="0">
                <a:solidFill>
                  <a:srgbClr val="202522"/>
                </a:solidFill>
                <a:latin typeface="SFMono-Regular"/>
                <a:ea typeface="SFMono-Regular"/>
                <a:cs typeface="SFMono-Regular"/>
              </a:rPr>
              <a:t>road(City, City)</a:t>
            </a:r>
          </a:p>
        </p:txBody>
      </p:sp>
      <p:sp>
        <p:nvSpPr>
          <p:cNvPr id="8" name="">
            <a:extLst xmlns:a="http://schemas.openxmlformats.org/drawingml/2006/main">
              <a:ext uri="{FF2B5EF4-FFF2-40B4-BE49-F238E27FC236}">
                <a16:creationId xmlns:a16="http://schemas.microsoft.com/office/drawing/2014/main" id="{623F7D5E-81B7-41E2-987D-A04547F550BF}"/>
              </a:ext>
            </a:extLst>
          </p:cNvPr>
          <p:cNvSpPr>
            <a:spLocks xmlns:a="http://schemas.openxmlformats.org/drawingml/2006/main" noGrp="1"/>
          </p:cNvSpPr>
          <p:nvPr/>
        </p:nvSpPr>
        <p:spPr>
          <a:xfrm xmlns:a="http://schemas.openxmlformats.org/drawingml/2006/main" rot="0">
            <a:off x="1581150" y="2352675"/>
            <a:ext cx="266700" cy="0"/>
          </a:xfrm>
          <a:prstGeom xmlns:a="http://schemas.openxmlformats.org/drawingml/2006/main" prst="line">
            <a:avLst/>
          </a:prstGeom>
          <a:noFill xmlns:a="http://schemas.openxmlformats.org/drawingml/2006/main"/>
          <a:ln xmlns:a="http://schemas.openxmlformats.org/drawingml/2006/main" w="38100">
            <a:solidFill>
              <a:srgbClr val="176B73"/>
            </a:solidFill>
            <a:prstDash val="solid"/>
          </a:ln>
        </p:spPr>
      </p:sp>
      <p:sp>
        <p:nvSpPr>
          <p:cNvPr id="9" name="">
            <a:extLst xmlns:a="http://schemas.openxmlformats.org/drawingml/2006/main">
              <a:ext uri="{FF2B5EF4-FFF2-40B4-BE49-F238E27FC236}">
                <a16:creationId xmlns:a16="http://schemas.microsoft.com/office/drawing/2014/main" id="{B283D61C-9496-4C61-8E0B-BD1321F60ABE}"/>
              </a:ext>
            </a:extLst>
          </p:cNvPr>
          <p:cNvSpPr>
            <a:spLocks xmlns:a="http://schemas.openxmlformats.org/drawingml/2006/main" noGrp="1"/>
          </p:cNvSpPr>
          <p:nvPr/>
        </p:nvSpPr>
        <p:spPr>
          <a:xfrm xmlns:a="http://schemas.openxmlformats.org/drawingml/2006/main" rot="0">
            <a:off x="3514725" y="2352675"/>
            <a:ext cx="190500" cy="0"/>
          </a:xfrm>
          <a:prstGeom xmlns:a="http://schemas.openxmlformats.org/drawingml/2006/main" prst="line">
            <a:avLst/>
          </a:prstGeom>
          <a:noFill xmlns:a="http://schemas.openxmlformats.org/drawingml/2006/main"/>
          <a:ln xmlns:a="http://schemas.openxmlformats.org/drawingml/2006/main" w="38100">
            <a:solidFill>
              <a:srgbClr val="176B73"/>
            </a:solidFill>
            <a:prstDash val="solid"/>
          </a:ln>
        </p:spPr>
      </p:sp>
      <p:sp>
        <p:nvSpPr>
          <p:cNvPr id="10" name="city-Logan">
            <a:extLst xmlns:a="http://schemas.openxmlformats.org/drawingml/2006/main">
              <a:ext uri="{FF2B5EF4-FFF2-40B4-BE49-F238E27FC236}">
                <a16:creationId xmlns:a16="http://schemas.microsoft.com/office/drawing/2014/main" id="{2B663C44-93E1-4410-A293-C9F1460449DF}"/>
              </a:ext>
            </a:extLst>
          </p:cNvPr>
          <p:cNvSpPr>
            <a:spLocks xmlns:a="http://schemas.openxmlformats.org/drawingml/2006/main" noGrp="1"/>
          </p:cNvSpPr>
          <p:nvPr/>
        </p:nvSpPr>
        <p:spPr>
          <a:xfrm xmlns:a="http://schemas.openxmlformats.org/drawingml/2006/main" rot="0">
            <a:off x="533400" y="2143125"/>
            <a:ext cx="1047750" cy="419100"/>
          </a:xfrm>
          <a:prstGeom xmlns:a="http://schemas.openxmlformats.org/drawingml/2006/main" prst="roundRect">
            <a:avLst>
              <a:gd name="adj" fmla="val 50000"/>
            </a:avLst>
          </a:prstGeom>
          <a:solidFill xmlns:a="http://schemas.openxmlformats.org/drawingml/2006/main">
            <a:srgbClr val="FFFDF7"/>
          </a:solidFill>
          <a:ln xmlns:a="http://schemas.openxmlformats.org/drawingml/2006/main" w="19050">
            <a:solidFill>
              <a:srgbClr val="176B73"/>
            </a:solidFill>
            <a:prstDash val="solid"/>
          </a:ln>
        </p:spPr>
      </p:sp>
      <p:sp>
        <p:nvSpPr>
          <p:cNvPr id="11" name="">
            <a:extLst xmlns:a="http://schemas.openxmlformats.org/drawingml/2006/main">
              <a:ext uri="{FF2B5EF4-FFF2-40B4-BE49-F238E27FC236}">
                <a16:creationId xmlns:a16="http://schemas.microsoft.com/office/drawing/2014/main" id="{4A28F7DA-0C2B-498D-BA76-EFB0C9FA6506}"/>
              </a:ext>
            </a:extLst>
          </p:cNvPr>
          <p:cNvSpPr>
            <a:spLocks xmlns:a="http://schemas.openxmlformats.org/drawingml/2006/main" noGrp="1"/>
          </p:cNvSpPr>
          <p:nvPr/>
        </p:nvSpPr>
        <p:spPr>
          <a:xfrm xmlns:a="http://schemas.openxmlformats.org/drawingml/2006/main" rot="0">
            <a:off x="6286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02522"/>
                </a:solidFill>
                <a:latin typeface="Helvetica Neue"/>
                <a:ea typeface="Helvetica Neue"/>
                <a:cs typeface="Helvetica Neue"/>
              </a:defRPr>
            </a:pPr>
            <a:r>
              <a:rPr sz="1500" b="1" i="0">
                <a:solidFill>
                  <a:srgbClr val="202522"/>
                </a:solidFill>
                <a:latin typeface="Helvetica Neue"/>
                <a:ea typeface="Helvetica Neue"/>
                <a:cs typeface="Helvetica Neue"/>
              </a:rPr>
              <a:t>Logan</a:t>
            </a:r>
          </a:p>
        </p:txBody>
      </p:sp>
      <p:sp>
        <p:nvSpPr>
          <p:cNvPr id="12" name="city-Salt Lake City">
            <a:extLst xmlns:a="http://schemas.openxmlformats.org/drawingml/2006/main">
              <a:ext uri="{FF2B5EF4-FFF2-40B4-BE49-F238E27FC236}">
                <a16:creationId xmlns:a16="http://schemas.microsoft.com/office/drawing/2014/main" id="{4CDCF03D-A841-4820-AFC2-F3FD9820AF7D}"/>
              </a:ext>
            </a:extLst>
          </p:cNvPr>
          <p:cNvSpPr>
            <a:spLocks xmlns:a="http://schemas.openxmlformats.org/drawingml/2006/main" noGrp="1"/>
          </p:cNvSpPr>
          <p:nvPr/>
        </p:nvSpPr>
        <p:spPr>
          <a:xfrm xmlns:a="http://schemas.openxmlformats.org/drawingml/2006/main" rot="0">
            <a:off x="1847850" y="2143125"/>
            <a:ext cx="1666875" cy="419100"/>
          </a:xfrm>
          <a:prstGeom xmlns:a="http://schemas.openxmlformats.org/drawingml/2006/main" prst="roundRect">
            <a:avLst>
              <a:gd name="adj" fmla="val 50000"/>
            </a:avLst>
          </a:prstGeom>
          <a:solidFill xmlns:a="http://schemas.openxmlformats.org/drawingml/2006/main">
            <a:srgbClr val="FFFDF7"/>
          </a:solidFill>
          <a:ln xmlns:a="http://schemas.openxmlformats.org/drawingml/2006/main" w="19050">
            <a:solidFill>
              <a:srgbClr val="176B73"/>
            </a:solidFill>
            <a:prstDash val="solid"/>
          </a:ln>
        </p:spPr>
      </p:sp>
      <p:sp>
        <p:nvSpPr>
          <p:cNvPr id="13" name="">
            <a:extLst xmlns:a="http://schemas.openxmlformats.org/drawingml/2006/main">
              <a:ext uri="{FF2B5EF4-FFF2-40B4-BE49-F238E27FC236}">
                <a16:creationId xmlns:a16="http://schemas.microsoft.com/office/drawing/2014/main" id="{D7F934C5-1D47-40CA-AE59-FB0C23270C9A}"/>
              </a:ext>
            </a:extLst>
          </p:cNvPr>
          <p:cNvSpPr>
            <a:spLocks xmlns:a="http://schemas.openxmlformats.org/drawingml/2006/main" noGrp="1"/>
          </p:cNvSpPr>
          <p:nvPr/>
        </p:nvSpPr>
        <p:spPr>
          <a:xfrm xmlns:a="http://schemas.openxmlformats.org/drawingml/2006/main" rot="0">
            <a:off x="1943100" y="22383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02522"/>
                </a:solidFill>
                <a:latin typeface="Helvetica Neue"/>
                <a:ea typeface="Helvetica Neue"/>
                <a:cs typeface="Helvetica Neue"/>
              </a:defRPr>
            </a:pPr>
            <a:r>
              <a:rPr sz="1500" b="1" i="0">
                <a:solidFill>
                  <a:srgbClr val="202522"/>
                </a:solidFill>
                <a:latin typeface="Helvetica Neue"/>
                <a:ea typeface="Helvetica Neue"/>
                <a:cs typeface="Helvetica Neue"/>
              </a:rPr>
              <a:t>Salt Lake City</a:t>
            </a:r>
          </a:p>
        </p:txBody>
      </p:sp>
      <p:sp>
        <p:nvSpPr>
          <p:cNvPr id="14" name="city-Provo">
            <a:extLst xmlns:a="http://schemas.openxmlformats.org/drawingml/2006/main">
              <a:ext uri="{FF2B5EF4-FFF2-40B4-BE49-F238E27FC236}">
                <a16:creationId xmlns:a16="http://schemas.microsoft.com/office/drawing/2014/main" id="{A2444722-EB7D-473F-8D6E-9399B5D258BF}"/>
              </a:ext>
            </a:extLst>
          </p:cNvPr>
          <p:cNvSpPr>
            <a:spLocks xmlns:a="http://schemas.openxmlformats.org/drawingml/2006/main" noGrp="1"/>
          </p:cNvSpPr>
          <p:nvPr/>
        </p:nvSpPr>
        <p:spPr>
          <a:xfrm xmlns:a="http://schemas.openxmlformats.org/drawingml/2006/main" rot="0">
            <a:off x="3705225" y="2143125"/>
            <a:ext cx="990600" cy="419100"/>
          </a:xfrm>
          <a:prstGeom xmlns:a="http://schemas.openxmlformats.org/drawingml/2006/main" prst="roundRect">
            <a:avLst>
              <a:gd name="adj" fmla="val 50000"/>
            </a:avLst>
          </a:prstGeom>
          <a:solidFill xmlns:a="http://schemas.openxmlformats.org/drawingml/2006/main">
            <a:srgbClr val="FFFDF7"/>
          </a:solidFill>
          <a:ln xmlns:a="http://schemas.openxmlformats.org/drawingml/2006/main" w="19050">
            <a:solidFill>
              <a:srgbClr val="176B73"/>
            </a:solidFill>
            <a:prstDash val="solid"/>
          </a:ln>
        </p:spPr>
      </p:sp>
      <p:sp>
        <p:nvSpPr>
          <p:cNvPr id="15" name="">
            <a:extLst xmlns:a="http://schemas.openxmlformats.org/drawingml/2006/main">
              <a:ext uri="{FF2B5EF4-FFF2-40B4-BE49-F238E27FC236}">
                <a16:creationId xmlns:a16="http://schemas.microsoft.com/office/drawing/2014/main" id="{8358971A-D41C-4715-8800-F7494C52A9EF}"/>
              </a:ext>
            </a:extLst>
          </p:cNvPr>
          <p:cNvSpPr>
            <a:spLocks xmlns:a="http://schemas.openxmlformats.org/drawingml/2006/main" noGrp="1"/>
          </p:cNvSpPr>
          <p:nvPr/>
        </p:nvSpPr>
        <p:spPr>
          <a:xfrm xmlns:a="http://schemas.openxmlformats.org/drawingml/2006/main" rot="0">
            <a:off x="3800475" y="223837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02522"/>
                </a:solidFill>
                <a:latin typeface="Helvetica Neue"/>
                <a:ea typeface="Helvetica Neue"/>
                <a:cs typeface="Helvetica Neue"/>
              </a:defRPr>
            </a:pPr>
            <a:r>
              <a:rPr sz="1500" b="1" i="0">
                <a:solidFill>
                  <a:srgbClr val="202522"/>
                </a:solidFill>
                <a:latin typeface="Helvetica Neue"/>
                <a:ea typeface="Helvetica Neue"/>
                <a:cs typeface="Helvetica Neue"/>
              </a:rPr>
              <a:t>Provo</a:t>
            </a:r>
          </a:p>
        </p:txBody>
      </p:sp>
      <p:sp>
        <p:nvSpPr>
          <p:cNvPr id="16" name="">
            <a:extLst xmlns:a="http://schemas.openxmlformats.org/drawingml/2006/main">
              <a:ext uri="{FF2B5EF4-FFF2-40B4-BE49-F238E27FC236}">
                <a16:creationId xmlns:a16="http://schemas.microsoft.com/office/drawing/2014/main" id="{4DF6D617-656C-4850-9C4F-E0527F6DEFA9}"/>
              </a:ext>
            </a:extLst>
          </p:cNvPr>
          <p:cNvSpPr>
            <a:spLocks xmlns:a="http://schemas.openxmlformats.org/drawingml/2006/main" noGrp="1"/>
          </p:cNvSpPr>
          <p:nvPr/>
        </p:nvSpPr>
        <p:spPr>
          <a:xfrm xmlns:a="http://schemas.openxmlformats.org/drawingml/2006/main" rot="0">
            <a:off x="1562100" y="21717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176B73"/>
                </a:solidFill>
                <a:latin typeface="Helvetica Neue"/>
                <a:ea typeface="Helvetica Neue"/>
                <a:cs typeface="Helvetica Neue"/>
              </a:defRPr>
            </a:pPr>
            <a:r>
              <a:rPr sz="1875" b="1" i="0">
                <a:solidFill>
                  <a:srgbClr val="176B73"/>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DDC66D4B-C7BC-4254-BD3F-7BEE5750B401}"/>
              </a:ext>
            </a:extLst>
          </p:cNvPr>
          <p:cNvSpPr>
            <a:spLocks xmlns:a="http://schemas.openxmlformats.org/drawingml/2006/main" noGrp="1"/>
          </p:cNvSpPr>
          <p:nvPr/>
        </p:nvSpPr>
        <p:spPr>
          <a:xfrm xmlns:a="http://schemas.openxmlformats.org/drawingml/2006/main" rot="0">
            <a:off x="3495675" y="21717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338"/>
          </a:bodyPr>
          <a:lstStyle xmlns:a="http://schemas.openxmlformats.org/drawingml/2006/main"/>
          <a:p xmlns:a="http://schemas.openxmlformats.org/drawingml/2006/main">
            <a:pPr algn="ctr">
              <a:defRPr sz="1875" b="1" i="0">
                <a:solidFill>
                  <a:srgbClr val="176B73"/>
                </a:solidFill>
                <a:latin typeface="Helvetica Neue"/>
                <a:ea typeface="Helvetica Neue"/>
                <a:cs typeface="Helvetica Neue"/>
              </a:defRPr>
            </a:pPr>
            <a:r>
              <a:rPr sz="1875" b="1" i="0">
                <a:solidFill>
                  <a:srgbClr val="176B73"/>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4063E2D8-C1B4-472A-870F-A048FB1632D8}"/>
              </a:ext>
            </a:extLst>
          </p:cNvPr>
          <p:cNvSpPr>
            <a:spLocks xmlns:a="http://schemas.openxmlformats.org/drawingml/2006/main" noGrp="1"/>
          </p:cNvSpPr>
          <p:nvPr/>
        </p:nvSpPr>
        <p:spPr>
          <a:xfrm xmlns:a="http://schemas.openxmlformats.org/drawingml/2006/main" rot="0">
            <a:off x="5124450" y="14382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ONE RELATIONAL QUESTION</a:t>
            </a:r>
          </a:p>
        </p:txBody>
      </p:sp>
      <p:sp>
        <p:nvSpPr>
          <p:cNvPr id="19" name="sql-query">
            <a:extLst xmlns:a="http://schemas.openxmlformats.org/drawingml/2006/main">
              <a:ext uri="{FF2B5EF4-FFF2-40B4-BE49-F238E27FC236}">
                <a16:creationId xmlns:a16="http://schemas.microsoft.com/office/drawing/2014/main" id="{4DA3B00B-4E6D-479C-AE2C-073E99A40628}"/>
              </a:ext>
            </a:extLst>
          </p:cNvPr>
          <p:cNvSpPr>
            <a:spLocks xmlns:a="http://schemas.openxmlformats.org/drawingml/2006/main" noGrp="1"/>
          </p:cNvSpPr>
          <p:nvPr/>
        </p:nvSpPr>
        <p:spPr>
          <a:xfrm xmlns:a="http://schemas.openxmlformats.org/drawingml/2006/main" rot="0">
            <a:off x="5124450" y="1676400"/>
            <a:ext cx="6534150" cy="1066800"/>
          </a:xfrm>
          <a:prstGeom xmlns:a="http://schemas.openxmlformats.org/drawingml/2006/main" prst="roundRect">
            <a:avLst>
              <a:gd name="adj" fmla="val 8929"/>
            </a:avLst>
          </a:prstGeom>
          <a:solidFill xmlns:a="http://schemas.openxmlformats.org/drawingml/2006/main">
            <a:srgbClr val="202522"/>
          </a:solidFill>
          <a:ln xmlns:a="http://schemas.openxmlformats.org/drawingml/2006/main" w="0">
            <a:solidFill>
              <a:srgbClr val="202522"/>
            </a:solidFill>
            <a:prstDash val="solid"/>
          </a:ln>
        </p:spPr>
      </p:sp>
      <p:sp>
        <p:nvSpPr>
          <p:cNvPr id="20" name="">
            <a:extLst xmlns:a="http://schemas.openxmlformats.org/drawingml/2006/main">
              <a:ext uri="{FF2B5EF4-FFF2-40B4-BE49-F238E27FC236}">
                <a16:creationId xmlns:a16="http://schemas.microsoft.com/office/drawing/2014/main" id="{A7A2A7D3-632F-40B5-9ED6-FFDF29482D1A}"/>
              </a:ext>
            </a:extLst>
          </p:cNvPr>
          <p:cNvSpPr>
            <a:spLocks xmlns:a="http://schemas.openxmlformats.org/drawingml/2006/main" noGrp="1"/>
          </p:cNvSpPr>
          <p:nvPr/>
        </p:nvSpPr>
        <p:spPr>
          <a:xfrm xmlns:a="http://schemas.openxmlformats.org/drawingml/2006/main" rot="0">
            <a:off x="5334000" y="1828800"/>
            <a:ext cx="609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SELECT DISTINCT r1.src, r2.dst</a:t>
            </a:r>
          </a:p>
          <a:p xmlns:a="http://schemas.openxmlformats.org/drawingml/2006/main">
            <a:pPr algn="l">
              <a:lnSpc>
                <a:spcPct val="104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FROM road AS r1 JOIN road AS r2</a:t>
            </a:r>
          </a:p>
          <a:p xmlns:a="http://schemas.openxmlformats.org/drawingml/2006/main">
            <a:pPr algn="l">
              <a:lnSpc>
                <a:spcPct val="104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ON r1.dst = r2.src;</a:t>
            </a:r>
          </a:p>
        </p:txBody>
      </p:sp>
      <p:sp>
        <p:nvSpPr>
          <p:cNvPr id="21" name="">
            <a:extLst xmlns:a="http://schemas.openxmlformats.org/drawingml/2006/main">
              <a:ext uri="{FF2B5EF4-FFF2-40B4-BE49-F238E27FC236}">
                <a16:creationId xmlns:a16="http://schemas.microsoft.com/office/drawing/2014/main" id="{E0E4C6EC-EA6E-4200-AB22-4AECF80B14AD}"/>
              </a:ext>
            </a:extLst>
          </p:cNvPr>
          <p:cNvSpPr>
            <a:spLocks xmlns:a="http://schemas.openxmlformats.org/drawingml/2006/main" noGrp="1"/>
          </p:cNvSpPr>
          <p:nvPr/>
        </p:nvSpPr>
        <p:spPr>
          <a:xfrm xmlns:a="http://schemas.openxmlformats.org/drawingml/2006/main" rot="0">
            <a:off x="533400" y="30956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TWO EXECUTION BOUNDARIES</a:t>
            </a:r>
          </a:p>
        </p:txBody>
      </p:sp>
      <p:sp>
        <p:nvSpPr>
          <p:cNvPr id="22" name="">
            <a:extLst xmlns:a="http://schemas.openxmlformats.org/drawingml/2006/main">
              <a:ext uri="{FF2B5EF4-FFF2-40B4-BE49-F238E27FC236}">
                <a16:creationId xmlns:a16="http://schemas.microsoft.com/office/drawing/2014/main" id="{933DA342-E253-4DC6-BC73-35A255FE8ECB}"/>
              </a:ext>
            </a:extLst>
          </p:cNvPr>
          <p:cNvSpPr>
            <a:spLocks xmlns:a="http://schemas.openxmlformats.org/drawingml/2006/main" noGrp="1"/>
          </p:cNvSpPr>
          <p:nvPr/>
        </p:nvSpPr>
        <p:spPr>
          <a:xfrm xmlns:a="http://schemas.openxmlformats.org/drawingml/2006/main" rot="0">
            <a:off x="3762375" y="3829050"/>
            <a:ext cx="5905500" cy="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23" name="">
            <a:extLst xmlns:a="http://schemas.openxmlformats.org/drawingml/2006/main">
              <a:ext uri="{FF2B5EF4-FFF2-40B4-BE49-F238E27FC236}">
                <a16:creationId xmlns:a16="http://schemas.microsoft.com/office/drawing/2014/main" id="{74C49CC0-4239-495E-8FCA-ADAD05561B2F}"/>
              </a:ext>
            </a:extLst>
          </p:cNvPr>
          <p:cNvSpPr>
            <a:spLocks xmlns:a="http://schemas.openxmlformats.org/drawingml/2006/main" noGrp="1"/>
          </p:cNvSpPr>
          <p:nvPr/>
        </p:nvSpPr>
        <p:spPr>
          <a:xfrm xmlns:a="http://schemas.openxmlformats.org/drawingml/2006/main" rot="0">
            <a:off x="3762375" y="4876800"/>
            <a:ext cx="5905500" cy="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24" name="">
            <a:extLst xmlns:a="http://schemas.openxmlformats.org/drawingml/2006/main">
              <a:ext uri="{FF2B5EF4-FFF2-40B4-BE49-F238E27FC236}">
                <a16:creationId xmlns:a16="http://schemas.microsoft.com/office/drawing/2014/main" id="{C014FA2C-B984-4CDD-8B1B-DD6A21686562}"/>
              </a:ext>
            </a:extLst>
          </p:cNvPr>
          <p:cNvSpPr>
            <a:spLocks xmlns:a="http://schemas.openxmlformats.org/drawingml/2006/main" noGrp="1"/>
          </p:cNvSpPr>
          <p:nvPr/>
        </p:nvSpPr>
        <p:spPr>
          <a:xfrm xmlns:a="http://schemas.openxmlformats.org/drawingml/2006/main" rot="0">
            <a:off x="9667875" y="3829050"/>
            <a:ext cx="238125" cy="0"/>
          </a:xfrm>
          <a:prstGeom xmlns:a="http://schemas.openxmlformats.org/drawingml/2006/main" prst="line">
            <a:avLst/>
          </a:prstGeom>
          <a:noFill xmlns:a="http://schemas.openxmlformats.org/drawingml/2006/main"/>
          <a:ln xmlns:a="http://schemas.openxmlformats.org/drawingml/2006/main" w="28575">
            <a:solidFill>
              <a:srgbClr val="176B73"/>
            </a:solidFill>
            <a:prstDash val="solid"/>
          </a:ln>
        </p:spPr>
      </p:sp>
      <p:sp>
        <p:nvSpPr>
          <p:cNvPr id="25" name="">
            <a:extLst xmlns:a="http://schemas.openxmlformats.org/drawingml/2006/main">
              <a:ext uri="{FF2B5EF4-FFF2-40B4-BE49-F238E27FC236}">
                <a16:creationId xmlns:a16="http://schemas.microsoft.com/office/drawing/2014/main" id="{34D4FB49-7F85-4133-AB7E-7379D6F2E323}"/>
              </a:ext>
            </a:extLst>
          </p:cNvPr>
          <p:cNvSpPr>
            <a:spLocks xmlns:a="http://schemas.openxmlformats.org/drawingml/2006/main" noGrp="1"/>
          </p:cNvSpPr>
          <p:nvPr/>
        </p:nvSpPr>
        <p:spPr>
          <a:xfrm xmlns:a="http://schemas.openxmlformats.org/drawingml/2006/main" rot="0">
            <a:off x="9667875" y="4876800"/>
            <a:ext cx="238125" cy="0"/>
          </a:xfrm>
          <a:prstGeom xmlns:a="http://schemas.openxmlformats.org/drawingml/2006/main" prst="line">
            <a:avLst/>
          </a:prstGeom>
          <a:noFill xmlns:a="http://schemas.openxmlformats.org/drawingml/2006/main"/>
          <a:ln xmlns:a="http://schemas.openxmlformats.org/drawingml/2006/main" w="28575">
            <a:solidFill>
              <a:srgbClr val="176B73"/>
            </a:solidFill>
            <a:prstDash val="solid"/>
          </a:ln>
        </p:spPr>
      </p:sp>
      <p:sp>
        <p:nvSpPr>
          <p:cNvPr id="26" name="">
            <a:extLst xmlns:a="http://schemas.openxmlformats.org/drawingml/2006/main">
              <a:ext uri="{FF2B5EF4-FFF2-40B4-BE49-F238E27FC236}">
                <a16:creationId xmlns:a16="http://schemas.microsoft.com/office/drawing/2014/main" id="{6CBA072C-4941-4A9E-A72E-6C34ED9EBE90}"/>
              </a:ext>
            </a:extLst>
          </p:cNvPr>
          <p:cNvSpPr>
            <a:spLocks xmlns:a="http://schemas.openxmlformats.org/drawingml/2006/main" noGrp="1"/>
          </p:cNvSpPr>
          <p:nvPr/>
        </p:nvSpPr>
        <p:spPr>
          <a:xfrm xmlns:a="http://schemas.openxmlformats.org/drawingml/2006/main" rot="0">
            <a:off x="9906000" y="3829050"/>
            <a:ext cx="0" cy="1047750"/>
          </a:xfrm>
          <a:prstGeom xmlns:a="http://schemas.openxmlformats.org/drawingml/2006/main" prst="line">
            <a:avLst/>
          </a:prstGeom>
          <a:noFill xmlns:a="http://schemas.openxmlformats.org/drawingml/2006/main"/>
          <a:ln xmlns:a="http://schemas.openxmlformats.org/drawingml/2006/main" w="28575">
            <a:solidFill>
              <a:srgbClr val="176B73"/>
            </a:solidFill>
            <a:prstDash val="solid"/>
          </a:ln>
        </p:spPr>
      </p:sp>
      <p:sp>
        <p:nvSpPr>
          <p:cNvPr id="27" name="">
            <a:extLst xmlns:a="http://schemas.openxmlformats.org/drawingml/2006/main">
              <a:ext uri="{FF2B5EF4-FFF2-40B4-BE49-F238E27FC236}">
                <a16:creationId xmlns:a16="http://schemas.microsoft.com/office/drawing/2014/main" id="{6D2FFCB8-72F3-46F2-B82A-3ECF4125E491}"/>
              </a:ext>
            </a:extLst>
          </p:cNvPr>
          <p:cNvSpPr>
            <a:spLocks xmlns:a="http://schemas.openxmlformats.org/drawingml/2006/main" noGrp="1"/>
          </p:cNvSpPr>
          <p:nvPr/>
        </p:nvSpPr>
        <p:spPr>
          <a:xfrm xmlns:a="http://schemas.openxmlformats.org/drawingml/2006/main" rot="0">
            <a:off x="9906000" y="4352925"/>
            <a:ext cx="190500" cy="0"/>
          </a:xfrm>
          <a:prstGeom xmlns:a="http://schemas.openxmlformats.org/drawingml/2006/main" prst="line">
            <a:avLst/>
          </a:prstGeom>
          <a:noFill xmlns:a="http://schemas.openxmlformats.org/drawingml/2006/main"/>
          <a:ln xmlns:a="http://schemas.openxmlformats.org/drawingml/2006/main" w="28575">
            <a:solidFill>
              <a:srgbClr val="176B73"/>
            </a:solidFill>
            <a:prstDash val="solid"/>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8f070ea65eef46de"/>
          <a:stretch xmlns:a="http://schemas.openxmlformats.org/drawingml/2006/main"/>
        </p:blipFill>
        <p:spPr>
          <a:xfrm xmlns:a="http://schemas.openxmlformats.org/drawingml/2006/main">
            <a:off x="709688" y="3409950"/>
            <a:ext cx="1057124" cy="7239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BE961A73-E7A1-4636-9C13-374BF3F8EAAB}"/>
              </a:ext>
            </a:extLst>
          </p:cNvPr>
          <p:cNvSpPr>
            <a:spLocks xmlns:a="http://schemas.openxmlformats.org/drawingml/2006/main" noGrp="1"/>
          </p:cNvSpPr>
          <p:nvPr/>
        </p:nvSpPr>
        <p:spPr>
          <a:xfrm xmlns:a="http://schemas.openxmlformats.org/drawingml/2006/main" rot="0">
            <a:off x="2114550" y="35623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02522"/>
                </a:solidFill>
                <a:latin typeface="Helvetica Neue"/>
                <a:ea typeface="Helvetica Neue"/>
                <a:cs typeface="Helvetica Neue"/>
              </a:defRPr>
            </a:pPr>
            <a:r>
              <a:rPr sz="1650" b="1" i="0">
                <a:solidFill>
                  <a:srgbClr val="202522"/>
                </a:solidFill>
                <a:latin typeface="Helvetica Neue"/>
                <a:ea typeface="Helvetica Neue"/>
                <a:cs typeface="Helvetica Neue"/>
              </a:rPr>
              <a:t>client  ↔  server process  ↔  managed table + indexes</a:t>
            </a:r>
          </a:p>
        </p:txBody>
      </p:sp>
      <p:sp>
        <p:nvSpPr>
          <p:cNvPr id="30" name="">
            <a:extLst xmlns:a="http://schemas.openxmlformats.org/drawingml/2006/main">
              <a:ext uri="{FF2B5EF4-FFF2-40B4-BE49-F238E27FC236}">
                <a16:creationId xmlns:a16="http://schemas.microsoft.com/office/drawing/2014/main" id="{2EC1A870-4060-47B5-B0F9-69BF8B351382}"/>
              </a:ext>
            </a:extLst>
          </p:cNvPr>
          <p:cNvSpPr>
            <a:spLocks xmlns:a="http://schemas.openxmlformats.org/drawingml/2006/main" noGrp="1"/>
          </p:cNvSpPr>
          <p:nvPr/>
        </p:nvSpPr>
        <p:spPr>
          <a:xfrm xmlns:a="http://schemas.openxmlformats.org/drawingml/2006/main" rot="0">
            <a:off x="2114550" y="38862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The query crosses a process boundary.</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219122f1ad79434e"/>
          <a:stretch xmlns:a="http://schemas.openxmlformats.org/drawingml/2006/main"/>
        </p:blipFill>
        <p:spPr>
          <a:xfrm xmlns:a="http://schemas.openxmlformats.org/drawingml/2006/main">
            <a:off x="697452" y="4352925"/>
            <a:ext cx="1138745" cy="8763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E84559C5-BFFE-4A2F-A61E-C85FE18EE35E}"/>
              </a:ext>
            </a:extLst>
          </p:cNvPr>
          <p:cNvSpPr>
            <a:spLocks xmlns:a="http://schemas.openxmlformats.org/drawingml/2006/main" noGrp="1"/>
          </p:cNvSpPr>
          <p:nvPr/>
        </p:nvSpPr>
        <p:spPr>
          <a:xfrm xmlns:a="http://schemas.openxmlformats.org/drawingml/2006/main" rot="0">
            <a:off x="2114550" y="4610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02522"/>
                </a:solidFill>
                <a:latin typeface="Helvetica Neue"/>
                <a:ea typeface="Helvetica Neue"/>
                <a:cs typeface="Helvetica Neue"/>
              </a:defRPr>
            </a:pPr>
            <a:r>
              <a:rPr sz="1650" b="1" i="0">
                <a:solidFill>
                  <a:srgbClr val="202522"/>
                </a:solidFill>
                <a:latin typeface="Helvetica Neue"/>
                <a:ea typeface="Helvetica Neue"/>
                <a:cs typeface="Helvetica Neue"/>
              </a:rPr>
              <a:t>in-process engine  ↔  table or view over Parquet</a:t>
            </a:r>
          </a:p>
        </p:txBody>
      </p:sp>
      <p:sp>
        <p:nvSpPr>
          <p:cNvPr id="33" name="">
            <a:extLst xmlns:a="http://schemas.openxmlformats.org/drawingml/2006/main">
              <a:ext uri="{FF2B5EF4-FFF2-40B4-BE49-F238E27FC236}">
                <a16:creationId xmlns:a16="http://schemas.microsoft.com/office/drawing/2014/main" id="{DCE3F443-45E6-4795-976F-70C29F9B1BA4}"/>
              </a:ext>
            </a:extLst>
          </p:cNvPr>
          <p:cNvSpPr>
            <a:spLocks xmlns:a="http://schemas.openxmlformats.org/drawingml/2006/main" noGrp="1"/>
          </p:cNvSpPr>
          <p:nvPr/>
        </p:nvSpPr>
        <p:spPr>
          <a:xfrm xmlns:a="http://schemas.openxmlformats.org/drawingml/2006/main" rot="0">
            <a:off x="2114550" y="49339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The application and engine share one process.</a:t>
            </a:r>
          </a:p>
        </p:txBody>
      </p:sp>
      <p:sp>
        <p:nvSpPr>
          <p:cNvPr id="34" name="common-answer">
            <a:extLst xmlns:a="http://schemas.openxmlformats.org/drawingml/2006/main">
              <a:ext uri="{FF2B5EF4-FFF2-40B4-BE49-F238E27FC236}">
                <a16:creationId xmlns:a16="http://schemas.microsoft.com/office/drawing/2014/main" id="{F0053065-C447-4B8C-9442-3FF16082F012}"/>
              </a:ext>
            </a:extLst>
          </p:cNvPr>
          <p:cNvSpPr>
            <a:spLocks xmlns:a="http://schemas.openxmlformats.org/drawingml/2006/main" noGrp="1"/>
          </p:cNvSpPr>
          <p:nvPr/>
        </p:nvSpPr>
        <p:spPr>
          <a:xfrm xmlns:a="http://schemas.openxmlformats.org/drawingml/2006/main" rot="0">
            <a:off x="10096500" y="3819525"/>
            <a:ext cx="1562100" cy="1066800"/>
          </a:xfrm>
          <a:prstGeom xmlns:a="http://schemas.openxmlformats.org/drawingml/2006/main" prst="roundRect">
            <a:avLst>
              <a:gd name="adj" fmla="val 12500"/>
            </a:avLst>
          </a:prstGeom>
          <a:solidFill xmlns:a="http://schemas.openxmlformats.org/drawingml/2006/main">
            <a:srgbClr val="E7F0EF"/>
          </a:solidFill>
          <a:ln xmlns:a="http://schemas.openxmlformats.org/drawingml/2006/main" w="19050">
            <a:solidFill>
              <a:srgbClr val="176B73"/>
            </a:solidFill>
            <a:prstDash val="solid"/>
          </a:ln>
        </p:spPr>
      </p:sp>
      <p:sp>
        <p:nvSpPr>
          <p:cNvPr id="35" name="">
            <a:extLst xmlns:a="http://schemas.openxmlformats.org/drawingml/2006/main">
              <a:ext uri="{FF2B5EF4-FFF2-40B4-BE49-F238E27FC236}">
                <a16:creationId xmlns:a16="http://schemas.microsoft.com/office/drawing/2014/main" id="{A2C11D2D-0981-4786-8942-5A06F8F702F1}"/>
              </a:ext>
            </a:extLst>
          </p:cNvPr>
          <p:cNvSpPr>
            <a:spLocks xmlns:a="http://schemas.openxmlformats.org/drawingml/2006/main" noGrp="1"/>
          </p:cNvSpPr>
          <p:nvPr/>
        </p:nvSpPr>
        <p:spPr>
          <a:xfrm xmlns:a="http://schemas.openxmlformats.org/drawingml/2006/main" rot="0">
            <a:off x="10229850" y="397192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176B73"/>
                </a:solidFill>
                <a:latin typeface="Helvetica Neue"/>
                <a:ea typeface="Helvetica Neue"/>
                <a:cs typeface="Helvetica Neue"/>
              </a:defRPr>
            </a:pPr>
            <a:r>
              <a:rPr sz="975" b="1" i="0">
                <a:solidFill>
                  <a:srgbClr val="176B73"/>
                </a:solidFill>
                <a:latin typeface="Helvetica Neue"/>
                <a:ea typeface="Helvetica Neue"/>
                <a:cs typeface="Helvetica Neue"/>
              </a:rPr>
              <a:t>SAME ANSWER</a:t>
            </a:r>
          </a:p>
        </p:txBody>
      </p:sp>
      <p:sp>
        <p:nvSpPr>
          <p:cNvPr id="36" name="">
            <a:extLst xmlns:a="http://schemas.openxmlformats.org/drawingml/2006/main">
              <a:ext uri="{FF2B5EF4-FFF2-40B4-BE49-F238E27FC236}">
                <a16:creationId xmlns:a16="http://schemas.microsoft.com/office/drawing/2014/main" id="{AFB617E4-5CC6-4C95-8C51-9FCDEC405F0D}"/>
              </a:ext>
            </a:extLst>
          </p:cNvPr>
          <p:cNvSpPr>
            <a:spLocks xmlns:a="http://schemas.openxmlformats.org/drawingml/2006/main" noGrp="1"/>
          </p:cNvSpPr>
          <p:nvPr/>
        </p:nvSpPr>
        <p:spPr>
          <a:xfrm xmlns:a="http://schemas.openxmlformats.org/drawingml/2006/main" rot="0">
            <a:off x="10210800" y="42957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766"/>
          </a:bodyPr>
          <a:lstStyle xmlns:a="http://schemas.openxmlformats.org/drawingml/2006/main"/>
          <a:p xmlns:a="http://schemas.openxmlformats.org/drawingml/2006/main">
            <a:pPr algn="ctr">
              <a:defRPr sz="1650" b="1" i="0">
                <a:solidFill>
                  <a:srgbClr val="202522"/>
                </a:solidFill>
                <a:latin typeface="Helvetica Neue"/>
                <a:ea typeface="Helvetica Neue"/>
                <a:cs typeface="Helvetica Neue"/>
              </a:defRPr>
            </a:pPr>
            <a:r>
              <a:rPr sz="1650" b="1" i="0">
                <a:solidFill>
                  <a:srgbClr val="202522"/>
                </a:solidFill>
                <a:latin typeface="Helvetica Neue"/>
                <a:ea typeface="Helvetica Neue"/>
                <a:cs typeface="Helvetica Neue"/>
              </a:rPr>
              <a:t>Logan → Provo</a:t>
            </a:r>
          </a:p>
        </p:txBody>
      </p:sp>
      <p:sp>
        <p:nvSpPr>
          <p:cNvPr id="37" name="opening-question-callout">
            <a:extLst xmlns:a="http://schemas.openxmlformats.org/drawingml/2006/main">
              <a:ext uri="{FF2B5EF4-FFF2-40B4-BE49-F238E27FC236}">
                <a16:creationId xmlns:a16="http://schemas.microsoft.com/office/drawing/2014/main" id="{40AB3487-97AE-4D27-84AE-E05A21296416}"/>
              </a:ext>
            </a:extLst>
          </p:cNvPr>
          <p:cNvSpPr>
            <a:spLocks xmlns:a="http://schemas.openxmlformats.org/drawingml/2006/main" noGrp="1"/>
          </p:cNvSpPr>
          <p:nvPr/>
        </p:nvSpPr>
        <p:spPr>
          <a:xfrm xmlns:a="http://schemas.openxmlformats.org/drawingml/2006/main" rot="0">
            <a:off x="533400" y="5619750"/>
            <a:ext cx="11125200" cy="666750"/>
          </a:xfrm>
          <a:prstGeom xmlns:a="http://schemas.openxmlformats.org/drawingml/2006/main" prst="roundRect">
            <a:avLst>
              <a:gd name="adj" fmla="val 14286"/>
            </a:avLst>
          </a:prstGeom>
          <a:solidFill xmlns:a="http://schemas.openxmlformats.org/drawingml/2006/main">
            <a:srgbClr val="FFFDF7"/>
          </a:solidFill>
          <a:ln xmlns:a="http://schemas.openxmlformats.org/drawingml/2006/main" w="9525">
            <a:solidFill>
              <a:srgbClr val="D9D5C9"/>
            </a:solidFill>
            <a:prstDash val="solid"/>
          </a:ln>
        </p:spPr>
      </p:sp>
      <p:sp>
        <p:nvSpPr>
          <p:cNvPr id="38" name="">
            <a:extLst xmlns:a="http://schemas.openxmlformats.org/drawingml/2006/main">
              <a:ext uri="{FF2B5EF4-FFF2-40B4-BE49-F238E27FC236}">
                <a16:creationId xmlns:a16="http://schemas.microsoft.com/office/drawing/2014/main" id="{2DC81631-C7FE-435F-893B-AC5C2060A033}"/>
              </a:ext>
            </a:extLst>
          </p:cNvPr>
          <p:cNvSpPr>
            <a:spLocks xmlns:a="http://schemas.openxmlformats.org/drawingml/2006/main" noGrp="1"/>
          </p:cNvSpPr>
          <p:nvPr/>
        </p:nvSpPr>
        <p:spPr>
          <a:xfrm xmlns:a="http://schemas.openxmlformats.org/drawingml/2006/main" rot="0">
            <a:off x="742950" y="5743575"/>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The SQL never says “server,” “Parquet,” “scan,” “index,” “join order,” or “materialize.”</a:t>
            </a:r>
          </a:p>
        </p:txBody>
      </p:sp>
      <p:sp>
        <p:nvSpPr>
          <p:cNvPr id="39" name="">
            <a:extLst xmlns:a="http://schemas.openxmlformats.org/drawingml/2006/main">
              <a:ext uri="{FF2B5EF4-FFF2-40B4-BE49-F238E27FC236}">
                <a16:creationId xmlns:a16="http://schemas.microsoft.com/office/drawing/2014/main" id="{88928ABF-13D2-4736-B4A7-C0B54AD38548}"/>
              </a:ext>
            </a:extLst>
          </p:cNvPr>
          <p:cNvSpPr>
            <a:spLocks xmlns:a="http://schemas.openxmlformats.org/drawingml/2006/main" noGrp="1"/>
          </p:cNvSpPr>
          <p:nvPr/>
        </p:nvSpPr>
        <p:spPr>
          <a:xfrm xmlns:a="http://schemas.openxmlformats.org/drawingml/2006/main" rot="0">
            <a:off x="742950" y="6010275"/>
            <a:ext cx="1036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ctr">
              <a:defRPr sz="1275" b="1" i="0">
                <a:solidFill>
                  <a:srgbClr val="9B4C2F"/>
                </a:solidFill>
                <a:latin typeface="Helvetica Neue"/>
                <a:ea typeface="Helvetica Neue"/>
                <a:cs typeface="Helvetica Neue"/>
              </a:defRPr>
            </a:pPr>
            <a:r>
              <a:rPr sz="1275" b="1" i="0">
                <a:solidFill>
                  <a:srgbClr val="9B4C2F"/>
                </a:solidFill>
                <a:latin typeface="Helvetica Neue"/>
                <a:ea typeface="Helvetica Neue"/>
                <a:cs typeface="Helvetica Neue"/>
              </a:rPr>
              <a:t>So where does the executable program come from?</a:t>
            </a:r>
          </a:p>
        </p:txBody>
      </p:sp>
    </p:spTree>
    <p:extLst>
      <p:ext uri="{BB962C8B-B14F-4D97-AF65-F5344CB8AC3E}">
        <p14:creationId xmlns:p14="http://schemas.microsoft.com/office/powerpoint/2010/main" val="1480045205"/>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729436B-8B73-4241-986D-971F4A2BD955}"/>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719068B8-EC97-4B7F-BB4E-B61983B32F87}"/>
              </a:ext>
            </a:extLst>
          </p:cNvPr>
          <p:cNvSpPr>
            <a:spLocks xmlns:a="http://schemas.openxmlformats.org/drawingml/2006/main" noGrp="1"/>
          </p:cNvSpPr>
          <p:nvPr/>
        </p:nvSpPr>
        <p:spPr>
          <a:xfrm xmlns:a="http://schemas.openxmlformats.org/drawingml/2006/main" rot="0">
            <a:off x="533400" y="2667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THE COURSE'S CENTRAL BOUNDARY</a:t>
            </a:r>
          </a:p>
        </p:txBody>
      </p:sp>
      <p:sp>
        <p:nvSpPr>
          <p:cNvPr id="3" name="slide-2-title">
            <a:extLst xmlns:a="http://schemas.openxmlformats.org/drawingml/2006/main">
              <a:ext uri="{FF2B5EF4-FFF2-40B4-BE49-F238E27FC236}">
                <a16:creationId xmlns:a16="http://schemas.microsoft.com/office/drawing/2014/main" id="{C7E19DFF-B576-48AF-851E-3F33F062DCFF}"/>
              </a:ext>
            </a:extLst>
          </p:cNvPr>
          <p:cNvSpPr>
            <a:spLocks xmlns:a="http://schemas.openxmlformats.org/drawingml/2006/main" noGrp="1"/>
          </p:cNvSpPr>
          <p:nvPr/>
        </p:nvSpPr>
        <p:spPr>
          <a:xfrm xmlns:a="http://schemas.openxmlformats.org/drawingml/2006/main" rot="0">
            <a:off x="533400" y="5524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85061"/>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The query fixes the answers; compilation chooses an execution.</a:t>
            </a:r>
          </a:p>
        </p:txBody>
      </p:sp>
      <p:sp>
        <p:nvSpPr>
          <p:cNvPr id="4" name="">
            <a:extLst xmlns:a="http://schemas.openxmlformats.org/drawingml/2006/main">
              <a:ext uri="{FF2B5EF4-FFF2-40B4-BE49-F238E27FC236}">
                <a16:creationId xmlns:a16="http://schemas.microsoft.com/office/drawing/2014/main" id="{18FAB12A-E72F-44B6-9881-029E159B7D35}"/>
              </a:ext>
            </a:extLst>
          </p:cNvPr>
          <p:cNvSpPr>
            <a:spLocks xmlns:a="http://schemas.openxmlformats.org/drawingml/2006/main" noGrp="1"/>
          </p:cNvSpPr>
          <p:nvPr/>
        </p:nvSpPr>
        <p:spPr>
          <a:xfrm xmlns:a="http://schemas.openxmlformats.org/drawingml/2006/main" rot="0">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2AF34462-325D-45AE-AED5-FECF2D786D0D}"/>
              </a:ext>
            </a:extLst>
          </p:cNvPr>
          <p:cNvSpPr>
            <a:spLocks xmlns:a="http://schemas.openxmlformats.org/drawingml/2006/main" noGrp="1"/>
          </p:cNvSpPr>
          <p:nvPr/>
        </p:nvSpPr>
        <p:spPr>
          <a:xfrm xmlns:a="http://schemas.openxmlformats.org/drawingml/2006/main" rot="0">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FE0C93E4-6170-40DB-9677-8A4AAB6AB90D}"/>
              </a:ext>
            </a:extLst>
          </p:cNvPr>
          <p:cNvSpPr>
            <a:spLocks xmlns:a="http://schemas.openxmlformats.org/drawingml/2006/main" noGrp="1"/>
          </p:cNvSpPr>
          <p:nvPr/>
        </p:nvSpPr>
        <p:spPr>
          <a:xfrm xmlns:a="http://schemas.openxmlformats.org/drawingml/2006/main" rot="0">
            <a:off x="533400" y="143827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THE SET-VALUED CONTRACT</a:t>
            </a:r>
          </a:p>
        </p:txBody>
      </p:sp>
      <p:sp>
        <p:nvSpPr>
          <p:cNvPr id="7" name="cq-rule">
            <a:extLst xmlns:a="http://schemas.openxmlformats.org/drawingml/2006/main">
              <a:ext uri="{FF2B5EF4-FFF2-40B4-BE49-F238E27FC236}">
                <a16:creationId xmlns:a16="http://schemas.microsoft.com/office/drawing/2014/main" id="{6A34712D-76BC-434D-86CA-5F4BAAA258C5}"/>
              </a:ext>
            </a:extLst>
          </p:cNvPr>
          <p:cNvSpPr>
            <a:spLocks xmlns:a="http://schemas.openxmlformats.org/drawingml/2006/main" noGrp="1"/>
          </p:cNvSpPr>
          <p:nvPr/>
        </p:nvSpPr>
        <p:spPr>
          <a:xfrm xmlns:a="http://schemas.openxmlformats.org/drawingml/2006/main" rot="0">
            <a:off x="533400" y="1714500"/>
            <a:ext cx="11125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202522"/>
                </a:solidFill>
                <a:latin typeface="SFMono-Regular"/>
                <a:ea typeface="SFMono-Regular"/>
                <a:cs typeface="SFMono-Regular"/>
              </a:defRPr>
            </a:pPr>
            <a:r>
              <a:rPr sz="2100" b="1" i="0">
                <a:solidFill>
                  <a:srgbClr val="202522"/>
                </a:solidFill>
                <a:latin typeface="SFMono-Regular"/>
                <a:ea typeface="SFMono-Regular"/>
                <a:cs typeface="SFMono-Regular"/>
              </a:rPr>
              <a:t>two_hop(x, z) :- road(x, y), road(y, z)</a:t>
            </a:r>
          </a:p>
        </p:txBody>
      </p:sp>
      <p:sp>
        <p:nvSpPr>
          <p:cNvPr id="8" name="semantic-equation">
            <a:extLst xmlns:a="http://schemas.openxmlformats.org/drawingml/2006/main">
              <a:ext uri="{FF2B5EF4-FFF2-40B4-BE49-F238E27FC236}">
                <a16:creationId xmlns:a16="http://schemas.microsoft.com/office/drawing/2014/main" id="{69656FA6-43C7-4769-9D97-F4C8CA492379}"/>
              </a:ext>
            </a:extLst>
          </p:cNvPr>
          <p:cNvSpPr>
            <a:spLocks xmlns:a="http://schemas.openxmlformats.org/drawingml/2006/main" noGrp="1"/>
          </p:cNvSpPr>
          <p:nvPr/>
        </p:nvSpPr>
        <p:spPr>
          <a:xfrm xmlns:a="http://schemas.openxmlformats.org/drawingml/2006/main" rot="0">
            <a:off x="533400" y="2209800"/>
            <a:ext cx="1112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684F82"/>
                </a:solidFill>
                <a:latin typeface="SFMono-Regular"/>
                <a:ea typeface="SFMono-Regular"/>
                <a:cs typeface="SFMono-Regular"/>
              </a:defRPr>
            </a:pPr>
            <a:r>
              <a:rPr sz="1875" b="0" i="0">
                <a:solidFill>
                  <a:srgbClr val="684F82"/>
                </a:solidFill>
                <a:latin typeface="SFMono-Regular"/>
                <a:ea typeface="SFMono-Regular"/>
                <a:cs typeface="SFMono-Regular"/>
              </a:rPr>
              <a:t>Q(I) = { (x, z)  |  ∃y . (x, y) ∈ I(road)  ∧  (y, z) ∈ I(road) }</a:t>
            </a:r>
          </a:p>
        </p:txBody>
      </p:sp>
      <p:sp>
        <p:nvSpPr>
          <p:cNvPr id="9" name="">
            <a:extLst xmlns:a="http://schemas.openxmlformats.org/drawingml/2006/main">
              <a:ext uri="{FF2B5EF4-FFF2-40B4-BE49-F238E27FC236}">
                <a16:creationId xmlns:a16="http://schemas.microsoft.com/office/drawing/2014/main" id="{2909D1E4-D60D-4069-8E72-3FF67670065E}"/>
              </a:ext>
            </a:extLst>
          </p:cNvPr>
          <p:cNvSpPr>
            <a:spLocks xmlns:a="http://schemas.openxmlformats.org/drawingml/2006/main" noGrp="1"/>
          </p:cNvSpPr>
          <p:nvPr/>
        </p:nvSpPr>
        <p:spPr>
          <a:xfrm xmlns:a="http://schemas.openxmlformats.org/drawingml/2006/main" rot="0">
            <a:off x="533400" y="2667000"/>
            <a:ext cx="1112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68716B"/>
                </a:solidFill>
                <a:latin typeface="Helvetica Neue"/>
                <a:ea typeface="Helvetica Neue"/>
                <a:cs typeface="Helvetica Neue"/>
              </a:defRPr>
            </a:pPr>
            <a:r>
              <a:rPr sz="1275" b="0" i="0">
                <a:solidFill>
                  <a:srgbClr val="68716B"/>
                </a:solidFill>
                <a:latin typeface="Helvetica Neue"/>
                <a:ea typeface="Helvetica Neue"/>
                <a:cs typeface="Helvetica Neue"/>
              </a:rPr>
              <a:t>DISTINCT makes the SQL result a set, matching this relation.</a:t>
            </a:r>
          </a:p>
        </p:txBody>
      </p:sp>
      <p:sp>
        <p:nvSpPr>
          <p:cNvPr id="10" name="">
            <a:extLst xmlns:a="http://schemas.openxmlformats.org/drawingml/2006/main">
              <a:ext uri="{FF2B5EF4-FFF2-40B4-BE49-F238E27FC236}">
                <a16:creationId xmlns:a16="http://schemas.microsoft.com/office/drawing/2014/main" id="{175272CA-DDF8-46BE-9E89-172B61FC525F}"/>
              </a:ext>
            </a:extLst>
          </p:cNvPr>
          <p:cNvSpPr>
            <a:spLocks xmlns:a="http://schemas.openxmlformats.org/drawingml/2006/main" noGrp="1"/>
          </p:cNvSpPr>
          <p:nvPr/>
        </p:nvSpPr>
        <p:spPr>
          <a:xfrm xmlns:a="http://schemas.openxmlformats.org/drawingml/2006/main" rot="0">
            <a:off x="6096000" y="3143250"/>
            <a:ext cx="0" cy="2228850"/>
          </a:xfrm>
          <a:prstGeom xmlns:a="http://schemas.openxmlformats.org/drawingml/2006/main" prst="line">
            <a:avLst/>
          </a:prstGeom>
          <a:noFill xmlns:a="http://schemas.openxmlformats.org/drawingml/2006/main"/>
          <a:ln xmlns:a="http://schemas.openxmlformats.org/drawingml/2006/main" w="19050">
            <a:solidFill>
              <a:srgbClr val="D9D5C9"/>
            </a:solidFill>
            <a:prstDash val="dash"/>
          </a:ln>
        </p:spPr>
      </p:sp>
      <p:sp>
        <p:nvSpPr>
          <p:cNvPr id="11" name="">
            <a:extLst xmlns:a="http://schemas.openxmlformats.org/drawingml/2006/main">
              <a:ext uri="{FF2B5EF4-FFF2-40B4-BE49-F238E27FC236}">
                <a16:creationId xmlns:a16="http://schemas.microsoft.com/office/drawing/2014/main" id="{3C740177-595F-4C8D-863D-474ABB81BF09}"/>
              </a:ext>
            </a:extLst>
          </p:cNvPr>
          <p:cNvSpPr>
            <a:spLocks xmlns:a="http://schemas.openxmlformats.org/drawingml/2006/main" noGrp="1"/>
          </p:cNvSpPr>
          <p:nvPr/>
        </p:nvSpPr>
        <p:spPr>
          <a:xfrm xmlns:a="http://schemas.openxmlformats.org/drawingml/2006/main" rot="0">
            <a:off x="533400" y="31432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76B73"/>
                </a:solidFill>
                <a:latin typeface="Helvetica Neue"/>
                <a:ea typeface="Helvetica Neue"/>
                <a:cs typeface="Helvetica Neue"/>
              </a:defRPr>
            </a:pPr>
            <a:r>
              <a:rPr sz="2100" b="1" i="0">
                <a:solidFill>
                  <a:srgbClr val="176B73"/>
                </a:solidFill>
                <a:latin typeface="Helvetica Neue"/>
                <a:ea typeface="Helvetica Neue"/>
                <a:cs typeface="Helvetica Neue"/>
              </a:rPr>
              <a:t>Fixed by the query</a:t>
            </a:r>
          </a:p>
        </p:txBody>
      </p:sp>
      <p:sp>
        <p:nvSpPr>
          <p:cNvPr id="12" name="">
            <a:extLst xmlns:a="http://schemas.openxmlformats.org/drawingml/2006/main">
              <a:ext uri="{FF2B5EF4-FFF2-40B4-BE49-F238E27FC236}">
                <a16:creationId xmlns:a16="http://schemas.microsoft.com/office/drawing/2014/main" id="{834A0FBF-E77C-4E40-8A32-017A77CCF07B}"/>
              </a:ext>
            </a:extLst>
          </p:cNvPr>
          <p:cNvSpPr>
            <a:spLocks xmlns:a="http://schemas.openxmlformats.org/drawingml/2006/main" noGrp="1"/>
          </p:cNvSpPr>
          <p:nvPr/>
        </p:nvSpPr>
        <p:spPr>
          <a:xfrm xmlns:a="http://schemas.openxmlformats.org/drawingml/2006/main" rot="0">
            <a:off x="533400" y="3676650"/>
            <a:ext cx="247650" cy="247650"/>
          </a:xfrm>
          <a:prstGeom xmlns:a="http://schemas.openxmlformats.org/drawingml/2006/main" prst="ellipse">
            <a:avLst/>
          </a:prstGeom>
          <a:solidFill xmlns:a="http://schemas.openxmlformats.org/drawingml/2006/main">
            <a:srgbClr val="176B73"/>
          </a:solidFill>
          <a:ln xmlns:a="http://schemas.openxmlformats.org/drawingml/2006/main" w="0">
            <a:solidFill>
              <a:srgbClr val="176B73"/>
            </a:solidFill>
            <a:prstDash val="solid"/>
          </a:ln>
        </p:spPr>
      </p:sp>
      <p:sp>
        <p:nvSpPr>
          <p:cNvPr id="13" name="">
            <a:extLst xmlns:a="http://schemas.openxmlformats.org/drawingml/2006/main">
              <a:ext uri="{FF2B5EF4-FFF2-40B4-BE49-F238E27FC236}">
                <a16:creationId xmlns:a16="http://schemas.microsoft.com/office/drawing/2014/main" id="{1B57496D-47D1-40B0-A2CD-00FB19E56841}"/>
              </a:ext>
            </a:extLst>
          </p:cNvPr>
          <p:cNvSpPr>
            <a:spLocks xmlns:a="http://schemas.openxmlformats.org/drawingml/2006/main" noGrp="1"/>
          </p:cNvSpPr>
          <p:nvPr/>
        </p:nvSpPr>
        <p:spPr>
          <a:xfrm xmlns:a="http://schemas.openxmlformats.org/drawingml/2006/main" rot="0">
            <a:off x="533400" y="37052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2973C5AC-BB7E-4B3F-8665-2143E791197F}"/>
              </a:ext>
            </a:extLst>
          </p:cNvPr>
          <p:cNvSpPr>
            <a:spLocks xmlns:a="http://schemas.openxmlformats.org/drawingml/2006/main" noGrp="1"/>
          </p:cNvSpPr>
          <p:nvPr/>
        </p:nvSpPr>
        <p:spPr>
          <a:xfrm xmlns:a="http://schemas.openxmlformats.org/drawingml/2006/main" rot="0">
            <a:off x="914400" y="364807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Input vocabulary and types: road(City, City)</a:t>
            </a:r>
          </a:p>
        </p:txBody>
      </p:sp>
      <p:sp>
        <p:nvSpPr>
          <p:cNvPr id="15" name="">
            <a:extLst xmlns:a="http://schemas.openxmlformats.org/drawingml/2006/main">
              <a:ext uri="{FF2B5EF4-FFF2-40B4-BE49-F238E27FC236}">
                <a16:creationId xmlns:a16="http://schemas.microsoft.com/office/drawing/2014/main" id="{7B431795-9D47-43AC-BD79-160B36F70EE3}"/>
              </a:ext>
            </a:extLst>
          </p:cNvPr>
          <p:cNvSpPr>
            <a:spLocks xmlns:a="http://schemas.openxmlformats.org/drawingml/2006/main" noGrp="1"/>
          </p:cNvSpPr>
          <p:nvPr/>
        </p:nvSpPr>
        <p:spPr>
          <a:xfrm xmlns:a="http://schemas.openxmlformats.org/drawingml/2006/main" rot="0">
            <a:off x="533400" y="4143375"/>
            <a:ext cx="247650" cy="247650"/>
          </a:xfrm>
          <a:prstGeom xmlns:a="http://schemas.openxmlformats.org/drawingml/2006/main" prst="ellipse">
            <a:avLst/>
          </a:prstGeom>
          <a:solidFill xmlns:a="http://schemas.openxmlformats.org/drawingml/2006/main">
            <a:srgbClr val="176B73"/>
          </a:solidFill>
          <a:ln xmlns:a="http://schemas.openxmlformats.org/drawingml/2006/main" w="0">
            <a:solidFill>
              <a:srgbClr val="176B73"/>
            </a:solidFill>
            <a:prstDash val="solid"/>
          </a:ln>
        </p:spPr>
      </p:sp>
      <p:sp>
        <p:nvSpPr>
          <p:cNvPr id="16" name="">
            <a:extLst xmlns:a="http://schemas.openxmlformats.org/drawingml/2006/main">
              <a:ext uri="{FF2B5EF4-FFF2-40B4-BE49-F238E27FC236}">
                <a16:creationId xmlns:a16="http://schemas.microsoft.com/office/drawing/2014/main" id="{EED8065D-5A22-4CD1-8F8B-0522CC6E4DB7}"/>
              </a:ext>
            </a:extLst>
          </p:cNvPr>
          <p:cNvSpPr>
            <a:spLocks xmlns:a="http://schemas.openxmlformats.org/drawingml/2006/main" noGrp="1"/>
          </p:cNvSpPr>
          <p:nvPr/>
        </p:nvSpPr>
        <p:spPr>
          <a:xfrm xmlns:a="http://schemas.openxmlformats.org/drawingml/2006/main" rot="0">
            <a:off x="533400" y="41719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126C8869-6868-41CC-99CE-CF9B9C31969D}"/>
              </a:ext>
            </a:extLst>
          </p:cNvPr>
          <p:cNvSpPr>
            <a:spLocks xmlns:a="http://schemas.openxmlformats.org/drawingml/2006/main" noGrp="1"/>
          </p:cNvSpPr>
          <p:nvPr/>
        </p:nvSpPr>
        <p:spPr>
          <a:xfrm xmlns:a="http://schemas.openxmlformats.org/drawingml/2006/main" rot="0">
            <a:off x="914400" y="41148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Output relation: pairs (x, z)</a:t>
            </a:r>
          </a:p>
        </p:txBody>
      </p:sp>
      <p:sp>
        <p:nvSpPr>
          <p:cNvPr id="18" name="">
            <a:extLst xmlns:a="http://schemas.openxmlformats.org/drawingml/2006/main">
              <a:ext uri="{FF2B5EF4-FFF2-40B4-BE49-F238E27FC236}">
                <a16:creationId xmlns:a16="http://schemas.microsoft.com/office/drawing/2014/main" id="{295C72A0-DDD6-4849-9A0A-9789F4121EC2}"/>
              </a:ext>
            </a:extLst>
          </p:cNvPr>
          <p:cNvSpPr>
            <a:spLocks xmlns:a="http://schemas.openxmlformats.org/drawingml/2006/main" noGrp="1"/>
          </p:cNvSpPr>
          <p:nvPr/>
        </p:nvSpPr>
        <p:spPr>
          <a:xfrm xmlns:a="http://schemas.openxmlformats.org/drawingml/2006/main" rot="0">
            <a:off x="533400" y="4610100"/>
            <a:ext cx="247650" cy="247650"/>
          </a:xfrm>
          <a:prstGeom xmlns:a="http://schemas.openxmlformats.org/drawingml/2006/main" prst="ellipse">
            <a:avLst/>
          </a:prstGeom>
          <a:solidFill xmlns:a="http://schemas.openxmlformats.org/drawingml/2006/main">
            <a:srgbClr val="176B73"/>
          </a:solidFill>
          <a:ln xmlns:a="http://schemas.openxmlformats.org/drawingml/2006/main" w="0">
            <a:solidFill>
              <a:srgbClr val="176B73"/>
            </a:solidFill>
            <a:prstDash val="solid"/>
          </a:ln>
        </p:spPr>
      </p:sp>
      <p:sp>
        <p:nvSpPr>
          <p:cNvPr id="19" name="">
            <a:extLst xmlns:a="http://schemas.openxmlformats.org/drawingml/2006/main">
              <a:ext uri="{FF2B5EF4-FFF2-40B4-BE49-F238E27FC236}">
                <a16:creationId xmlns:a16="http://schemas.microsoft.com/office/drawing/2014/main" id="{0B2DC8D9-148A-4369-BB74-FA3BC162E0F1}"/>
              </a:ext>
            </a:extLst>
          </p:cNvPr>
          <p:cNvSpPr>
            <a:spLocks xmlns:a="http://schemas.openxmlformats.org/drawingml/2006/main" noGrp="1"/>
          </p:cNvSpPr>
          <p:nvPr/>
        </p:nvSpPr>
        <p:spPr>
          <a:xfrm xmlns:a="http://schemas.openxmlformats.org/drawingml/2006/main" rot="0">
            <a:off x="533400" y="46386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95396C3B-36B2-4047-A6EB-357C69442C08}"/>
              </a:ext>
            </a:extLst>
          </p:cNvPr>
          <p:cNvSpPr>
            <a:spLocks xmlns:a="http://schemas.openxmlformats.org/drawingml/2006/main" noGrp="1"/>
          </p:cNvSpPr>
          <p:nvPr/>
        </p:nvSpPr>
        <p:spPr>
          <a:xfrm xmlns:a="http://schemas.openxmlformats.org/drawingml/2006/main" rot="0">
            <a:off x="914400" y="4581525"/>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Which tuples belong—for every valid instance I</a:t>
            </a:r>
          </a:p>
        </p:txBody>
      </p:sp>
      <p:sp>
        <p:nvSpPr>
          <p:cNvPr id="21" name="">
            <a:extLst xmlns:a="http://schemas.openxmlformats.org/drawingml/2006/main">
              <a:ext uri="{FF2B5EF4-FFF2-40B4-BE49-F238E27FC236}">
                <a16:creationId xmlns:a16="http://schemas.microsoft.com/office/drawing/2014/main" id="{231A528C-AE23-4C67-A83C-A45F91FACA0A}"/>
              </a:ext>
            </a:extLst>
          </p:cNvPr>
          <p:cNvSpPr>
            <a:spLocks xmlns:a="http://schemas.openxmlformats.org/drawingml/2006/main" noGrp="1"/>
          </p:cNvSpPr>
          <p:nvPr/>
        </p:nvSpPr>
        <p:spPr>
          <a:xfrm xmlns:a="http://schemas.openxmlformats.org/drawingml/2006/main" rot="0">
            <a:off x="914400" y="5067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76B73"/>
                </a:solidFill>
                <a:latin typeface="Helvetica Neue"/>
                <a:ea typeface="Helvetica Neue"/>
                <a:cs typeface="Helvetica Neue"/>
              </a:defRPr>
            </a:pPr>
            <a:r>
              <a:rPr sz="1425" b="1" i="0">
                <a:solidFill>
                  <a:srgbClr val="176B73"/>
                </a:solidFill>
                <a:latin typeface="Helvetica Neue"/>
                <a:ea typeface="Helvetica Neue"/>
                <a:cs typeface="Helvetica Neue"/>
              </a:rPr>
              <a:t>This is the correctness obligation.</a:t>
            </a:r>
          </a:p>
        </p:txBody>
      </p:sp>
      <p:sp>
        <p:nvSpPr>
          <p:cNvPr id="22" name="">
            <a:extLst xmlns:a="http://schemas.openxmlformats.org/drawingml/2006/main">
              <a:ext uri="{FF2B5EF4-FFF2-40B4-BE49-F238E27FC236}">
                <a16:creationId xmlns:a16="http://schemas.microsoft.com/office/drawing/2014/main" id="{5B39C4CE-B3D3-4204-B619-30482F606A98}"/>
              </a:ext>
            </a:extLst>
          </p:cNvPr>
          <p:cNvSpPr>
            <a:spLocks xmlns:a="http://schemas.openxmlformats.org/drawingml/2006/main" noGrp="1"/>
          </p:cNvSpPr>
          <p:nvPr/>
        </p:nvSpPr>
        <p:spPr>
          <a:xfrm xmlns:a="http://schemas.openxmlformats.org/drawingml/2006/main" rot="0">
            <a:off x="6629400" y="314325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B4C2F"/>
                </a:solidFill>
                <a:latin typeface="Helvetica Neue"/>
                <a:ea typeface="Helvetica Neue"/>
                <a:cs typeface="Helvetica Neue"/>
              </a:defRPr>
            </a:pPr>
            <a:r>
              <a:rPr sz="2100" b="1" i="0">
                <a:solidFill>
                  <a:srgbClr val="9B4C2F"/>
                </a:solidFill>
                <a:latin typeface="Helvetica Neue"/>
                <a:ea typeface="Helvetica Neue"/>
                <a:cs typeface="Helvetica Neue"/>
              </a:rPr>
              <a:t>Chosen by compilation and execution</a:t>
            </a:r>
          </a:p>
        </p:txBody>
      </p:sp>
      <p:sp>
        <p:nvSpPr>
          <p:cNvPr id="23" name="">
            <a:extLst xmlns:a="http://schemas.openxmlformats.org/drawingml/2006/main">
              <a:ext uri="{FF2B5EF4-FFF2-40B4-BE49-F238E27FC236}">
                <a16:creationId xmlns:a16="http://schemas.microsoft.com/office/drawing/2014/main" id="{42AAB65D-0924-4C4D-B97E-856C9A884953}"/>
              </a:ext>
            </a:extLst>
          </p:cNvPr>
          <p:cNvSpPr>
            <a:spLocks xmlns:a="http://schemas.openxmlformats.org/drawingml/2006/main" noGrp="1"/>
          </p:cNvSpPr>
          <p:nvPr/>
        </p:nvSpPr>
        <p:spPr>
          <a:xfrm xmlns:a="http://schemas.openxmlformats.org/drawingml/2006/main" rot="0">
            <a:off x="6629400" y="3676650"/>
            <a:ext cx="247650" cy="247650"/>
          </a:xfrm>
          <a:prstGeom xmlns:a="http://schemas.openxmlformats.org/drawingml/2006/main" prst="ellipse">
            <a:avLst/>
          </a:prstGeom>
          <a:solidFill xmlns:a="http://schemas.openxmlformats.org/drawingml/2006/main">
            <a:srgbClr val="9B4C2F"/>
          </a:solidFill>
          <a:ln xmlns:a="http://schemas.openxmlformats.org/drawingml/2006/main" w="0">
            <a:solidFill>
              <a:srgbClr val="9B4C2F"/>
            </a:solidFill>
            <a:prstDash val="solid"/>
          </a:ln>
        </p:spPr>
      </p:sp>
      <p:sp>
        <p:nvSpPr>
          <p:cNvPr id="24" name="">
            <a:extLst xmlns:a="http://schemas.openxmlformats.org/drawingml/2006/main">
              <a:ext uri="{FF2B5EF4-FFF2-40B4-BE49-F238E27FC236}">
                <a16:creationId xmlns:a16="http://schemas.microsoft.com/office/drawing/2014/main" id="{20AB7727-F925-4F8C-8935-19DE3F93D788}"/>
              </a:ext>
            </a:extLst>
          </p:cNvPr>
          <p:cNvSpPr>
            <a:spLocks xmlns:a="http://schemas.openxmlformats.org/drawingml/2006/main" noGrp="1"/>
          </p:cNvSpPr>
          <p:nvPr/>
        </p:nvSpPr>
        <p:spPr>
          <a:xfrm xmlns:a="http://schemas.openxmlformats.org/drawingml/2006/main" rot="0">
            <a:off x="6629400" y="37052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A</a:t>
            </a:r>
          </a:p>
        </p:txBody>
      </p:sp>
      <p:sp>
        <p:nvSpPr>
          <p:cNvPr id="25" name="">
            <a:extLst xmlns:a="http://schemas.openxmlformats.org/drawingml/2006/main">
              <a:ext uri="{FF2B5EF4-FFF2-40B4-BE49-F238E27FC236}">
                <a16:creationId xmlns:a16="http://schemas.microsoft.com/office/drawing/2014/main" id="{68C9B2A1-EFD5-4671-B78C-62C0D4BA02B5}"/>
              </a:ext>
            </a:extLst>
          </p:cNvPr>
          <p:cNvSpPr>
            <a:spLocks xmlns:a="http://schemas.openxmlformats.org/drawingml/2006/main" noGrp="1"/>
          </p:cNvSpPr>
          <p:nvPr/>
        </p:nvSpPr>
        <p:spPr>
          <a:xfrm xmlns:a="http://schemas.openxmlformats.org/drawingml/2006/main" rot="0">
            <a:off x="7010400" y="364807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Access: scan, hash lookup, trie navigation</a:t>
            </a:r>
          </a:p>
        </p:txBody>
      </p:sp>
      <p:sp>
        <p:nvSpPr>
          <p:cNvPr id="26" name="">
            <a:extLst xmlns:a="http://schemas.openxmlformats.org/drawingml/2006/main">
              <a:ext uri="{FF2B5EF4-FFF2-40B4-BE49-F238E27FC236}">
                <a16:creationId xmlns:a16="http://schemas.microsoft.com/office/drawing/2014/main" id="{932DA997-D5D7-4480-B9BB-A5DB99F1C4BD}"/>
              </a:ext>
            </a:extLst>
          </p:cNvPr>
          <p:cNvSpPr>
            <a:spLocks xmlns:a="http://schemas.openxmlformats.org/drawingml/2006/main" noGrp="1"/>
          </p:cNvSpPr>
          <p:nvPr/>
        </p:nvSpPr>
        <p:spPr>
          <a:xfrm xmlns:a="http://schemas.openxmlformats.org/drawingml/2006/main" rot="0">
            <a:off x="6629400" y="4143375"/>
            <a:ext cx="247650" cy="247650"/>
          </a:xfrm>
          <a:prstGeom xmlns:a="http://schemas.openxmlformats.org/drawingml/2006/main" prst="ellipse">
            <a:avLst/>
          </a:prstGeom>
          <a:solidFill xmlns:a="http://schemas.openxmlformats.org/drawingml/2006/main">
            <a:srgbClr val="9B4C2F"/>
          </a:solidFill>
          <a:ln xmlns:a="http://schemas.openxmlformats.org/drawingml/2006/main" w="0">
            <a:solidFill>
              <a:srgbClr val="9B4C2F"/>
            </a:solidFill>
            <a:prstDash val="solid"/>
          </a:ln>
        </p:spPr>
      </p:sp>
      <p:sp>
        <p:nvSpPr>
          <p:cNvPr id="27" name="">
            <a:extLst xmlns:a="http://schemas.openxmlformats.org/drawingml/2006/main">
              <a:ext uri="{FF2B5EF4-FFF2-40B4-BE49-F238E27FC236}">
                <a16:creationId xmlns:a16="http://schemas.microsoft.com/office/drawing/2014/main" id="{C704F025-E3F3-4E23-81D0-0680A1F41D9D}"/>
              </a:ext>
            </a:extLst>
          </p:cNvPr>
          <p:cNvSpPr>
            <a:spLocks xmlns:a="http://schemas.openxmlformats.org/drawingml/2006/main" noGrp="1"/>
          </p:cNvSpPr>
          <p:nvPr/>
        </p:nvSpPr>
        <p:spPr>
          <a:xfrm xmlns:a="http://schemas.openxmlformats.org/drawingml/2006/main" rot="0">
            <a:off x="6629400" y="41719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B</a:t>
            </a:r>
          </a:p>
        </p:txBody>
      </p:sp>
      <p:sp>
        <p:nvSpPr>
          <p:cNvPr id="28" name="">
            <a:extLst xmlns:a="http://schemas.openxmlformats.org/drawingml/2006/main">
              <a:ext uri="{FF2B5EF4-FFF2-40B4-BE49-F238E27FC236}">
                <a16:creationId xmlns:a16="http://schemas.microsoft.com/office/drawing/2014/main" id="{44C3769B-EC84-4D21-8235-C4972C08FC07}"/>
              </a:ext>
            </a:extLst>
          </p:cNvPr>
          <p:cNvSpPr>
            <a:spLocks xmlns:a="http://schemas.openxmlformats.org/drawingml/2006/main" noGrp="1"/>
          </p:cNvSpPr>
          <p:nvPr/>
        </p:nvSpPr>
        <p:spPr>
          <a:xfrm xmlns:a="http://schemas.openxmlformats.org/drawingml/2006/main" rot="0">
            <a:off x="7010400" y="411480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Order: which occurrence drives, and when</a:t>
            </a:r>
          </a:p>
        </p:txBody>
      </p:sp>
      <p:sp>
        <p:nvSpPr>
          <p:cNvPr id="29" name="">
            <a:extLst xmlns:a="http://schemas.openxmlformats.org/drawingml/2006/main">
              <a:ext uri="{FF2B5EF4-FFF2-40B4-BE49-F238E27FC236}">
                <a16:creationId xmlns:a16="http://schemas.microsoft.com/office/drawing/2014/main" id="{FBE648D6-016C-47B0-8543-8B982FA1A014}"/>
              </a:ext>
            </a:extLst>
          </p:cNvPr>
          <p:cNvSpPr>
            <a:spLocks xmlns:a="http://schemas.openxmlformats.org/drawingml/2006/main" noGrp="1"/>
          </p:cNvSpPr>
          <p:nvPr/>
        </p:nvSpPr>
        <p:spPr>
          <a:xfrm xmlns:a="http://schemas.openxmlformats.org/drawingml/2006/main" rot="0">
            <a:off x="6629400" y="4610100"/>
            <a:ext cx="247650" cy="247650"/>
          </a:xfrm>
          <a:prstGeom xmlns:a="http://schemas.openxmlformats.org/drawingml/2006/main" prst="ellipse">
            <a:avLst/>
          </a:prstGeom>
          <a:solidFill xmlns:a="http://schemas.openxmlformats.org/drawingml/2006/main">
            <a:srgbClr val="9B4C2F"/>
          </a:solidFill>
          <a:ln xmlns:a="http://schemas.openxmlformats.org/drawingml/2006/main" w="0">
            <a:solidFill>
              <a:srgbClr val="9B4C2F"/>
            </a:solidFill>
            <a:prstDash val="solid"/>
          </a:ln>
        </p:spPr>
      </p:sp>
      <p:sp>
        <p:nvSpPr>
          <p:cNvPr id="30" name="">
            <a:extLst xmlns:a="http://schemas.openxmlformats.org/drawingml/2006/main">
              <a:ext uri="{FF2B5EF4-FFF2-40B4-BE49-F238E27FC236}">
                <a16:creationId xmlns:a16="http://schemas.microsoft.com/office/drawing/2014/main" id="{6BD19298-C0BB-4AAC-957F-6C66BFA7787F}"/>
              </a:ext>
            </a:extLst>
          </p:cNvPr>
          <p:cNvSpPr>
            <a:spLocks xmlns:a="http://schemas.openxmlformats.org/drawingml/2006/main" noGrp="1"/>
          </p:cNvSpPr>
          <p:nvPr/>
        </p:nvSpPr>
        <p:spPr>
          <a:xfrm xmlns:a="http://schemas.openxmlformats.org/drawingml/2006/main" rot="0">
            <a:off x="6629400" y="46386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C</a:t>
            </a:r>
          </a:p>
        </p:txBody>
      </p:sp>
      <p:sp>
        <p:nvSpPr>
          <p:cNvPr id="31" name="">
            <a:extLst xmlns:a="http://schemas.openxmlformats.org/drawingml/2006/main">
              <a:ext uri="{FF2B5EF4-FFF2-40B4-BE49-F238E27FC236}">
                <a16:creationId xmlns:a16="http://schemas.microsoft.com/office/drawing/2014/main" id="{810E17BF-91E4-4406-909F-0DAB0E1C257D}"/>
              </a:ext>
            </a:extLst>
          </p:cNvPr>
          <p:cNvSpPr>
            <a:spLocks xmlns:a="http://schemas.openxmlformats.org/drawingml/2006/main" noGrp="1"/>
          </p:cNvSpPr>
          <p:nvPr/>
        </p:nvSpPr>
        <p:spPr>
          <a:xfrm xmlns:a="http://schemas.openxmlformats.org/drawingml/2006/main" rot="0">
            <a:off x="7010400"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State and control: stream, table, batch, push, pull</a:t>
            </a:r>
          </a:p>
        </p:txBody>
      </p:sp>
      <p:sp>
        <p:nvSpPr>
          <p:cNvPr id="32" name="">
            <a:extLst xmlns:a="http://schemas.openxmlformats.org/drawingml/2006/main">
              <a:ext uri="{FF2B5EF4-FFF2-40B4-BE49-F238E27FC236}">
                <a16:creationId xmlns:a16="http://schemas.microsoft.com/office/drawing/2014/main" id="{5C2FF817-193F-44D9-A3BD-E35742D0EE7A}"/>
              </a:ext>
            </a:extLst>
          </p:cNvPr>
          <p:cNvSpPr>
            <a:spLocks xmlns:a="http://schemas.openxmlformats.org/drawingml/2006/main" noGrp="1"/>
          </p:cNvSpPr>
          <p:nvPr/>
        </p:nvSpPr>
        <p:spPr>
          <a:xfrm xmlns:a="http://schemas.openxmlformats.org/drawingml/2006/main" rot="0">
            <a:off x="7010400" y="50673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9B4C2F"/>
                </a:solidFill>
                <a:latin typeface="Helvetica Neue"/>
                <a:ea typeface="Helvetica Neue"/>
                <a:cs typeface="Helvetica Neue"/>
              </a:defRPr>
            </a:pPr>
            <a:r>
              <a:rPr sz="1425" b="1" i="0">
                <a:solidFill>
                  <a:srgbClr val="9B4C2F"/>
                </a:solidFill>
                <a:latin typeface="Helvetica Neue"/>
                <a:ea typeface="Helvetica Neue"/>
                <a:cs typeface="Helvetica Neue"/>
              </a:rPr>
              <a:t>This is the implementation freedom.</a:t>
            </a:r>
          </a:p>
        </p:txBody>
      </p:sp>
      <p:sp>
        <p:nvSpPr>
          <p:cNvPr id="33" name="compiler-contract">
            <a:extLst xmlns:a="http://schemas.openxmlformats.org/drawingml/2006/main">
              <a:ext uri="{FF2B5EF4-FFF2-40B4-BE49-F238E27FC236}">
                <a16:creationId xmlns:a16="http://schemas.microsoft.com/office/drawing/2014/main" id="{A43395E1-06C5-48D4-ACEB-84D61EA6770F}"/>
              </a:ext>
            </a:extLst>
          </p:cNvPr>
          <p:cNvSpPr>
            <a:spLocks xmlns:a="http://schemas.openxmlformats.org/drawingml/2006/main" noGrp="1"/>
          </p:cNvSpPr>
          <p:nvPr/>
        </p:nvSpPr>
        <p:spPr>
          <a:xfrm xmlns:a="http://schemas.openxmlformats.org/drawingml/2006/main" rot="0">
            <a:off x="533400" y="5619750"/>
            <a:ext cx="11125200" cy="685800"/>
          </a:xfrm>
          <a:prstGeom xmlns:a="http://schemas.openxmlformats.org/drawingml/2006/main" prst="roundRect">
            <a:avLst>
              <a:gd name="adj" fmla="val 13889"/>
            </a:avLst>
          </a:prstGeom>
          <a:solidFill xmlns:a="http://schemas.openxmlformats.org/drawingml/2006/main">
            <a:srgbClr val="202522"/>
          </a:solidFill>
          <a:ln xmlns:a="http://schemas.openxmlformats.org/drawingml/2006/main" w="0">
            <a:solidFill>
              <a:srgbClr val="202522"/>
            </a:solidFill>
            <a:prstDash val="solid"/>
          </a:ln>
        </p:spPr>
      </p:sp>
      <p:sp>
        <p:nvSpPr>
          <p:cNvPr id="34" name="">
            <a:extLst xmlns:a="http://schemas.openxmlformats.org/drawingml/2006/main">
              <a:ext uri="{FF2B5EF4-FFF2-40B4-BE49-F238E27FC236}">
                <a16:creationId xmlns:a16="http://schemas.microsoft.com/office/drawing/2014/main" id="{908DD92A-6634-4D29-8BBA-95F276840088}"/>
              </a:ext>
            </a:extLst>
          </p:cNvPr>
          <p:cNvSpPr>
            <a:spLocks xmlns:a="http://schemas.openxmlformats.org/drawingml/2006/main" noGrp="1"/>
          </p:cNvSpPr>
          <p:nvPr/>
        </p:nvSpPr>
        <p:spPr>
          <a:xfrm xmlns:a="http://schemas.openxmlformats.org/drawingml/2006/main" rot="0">
            <a:off x="723900" y="5724525"/>
            <a:ext cx="10744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FFFDF7"/>
                </a:solidFill>
                <a:latin typeface="SFMono-Regular"/>
                <a:ea typeface="SFMono-Regular"/>
                <a:cs typeface="SFMono-Regular"/>
              </a:defRPr>
            </a:pPr>
            <a:r>
              <a:rPr sz="1875" b="1" i="0">
                <a:solidFill>
                  <a:srgbClr val="FFFDF7"/>
                </a:solidFill>
                <a:latin typeface="SFMono-Regular"/>
                <a:ea typeface="SFMono-Regular"/>
                <a:cs typeface="SFMono-Regular"/>
              </a:rPr>
              <a:t>Compile(Q) = P is correct only if  ∀ valid I,  P(I) = Q(I).</a:t>
            </a:r>
          </a:p>
        </p:txBody>
      </p:sp>
      <p:sp>
        <p:nvSpPr>
          <p:cNvPr id="35" name="">
            <a:extLst xmlns:a="http://schemas.openxmlformats.org/drawingml/2006/main">
              <a:ext uri="{FF2B5EF4-FFF2-40B4-BE49-F238E27FC236}">
                <a16:creationId xmlns:a16="http://schemas.microsoft.com/office/drawing/2014/main" id="{482F55DC-B6AE-43FD-A286-3B8EE0873CB1}"/>
              </a:ext>
            </a:extLst>
          </p:cNvPr>
          <p:cNvSpPr>
            <a:spLocks xmlns:a="http://schemas.openxmlformats.org/drawingml/2006/main" noGrp="1"/>
          </p:cNvSpPr>
          <p:nvPr/>
        </p:nvSpPr>
        <p:spPr>
          <a:xfrm xmlns:a="http://schemas.openxmlformats.org/drawingml/2006/main" rot="0">
            <a:off x="723900" y="6048375"/>
            <a:ext cx="10744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ctr">
              <a:defRPr sz="1275" b="0" i="0">
                <a:solidFill>
                  <a:srgbClr val="D8EAE8"/>
                </a:solidFill>
                <a:latin typeface="Helvetica Neue"/>
                <a:ea typeface="Helvetica Neue"/>
                <a:cs typeface="Helvetica Neue"/>
              </a:defRPr>
            </a:pPr>
            <a:r>
              <a:rPr sz="1275" b="0" i="0">
                <a:solidFill>
                  <a:srgbClr val="D8EAE8"/>
                </a:solidFill>
                <a:latin typeface="Helvetica Neue"/>
                <a:ea typeface="Helvetica Neue"/>
                <a:cs typeface="Helvetica Neue"/>
              </a:rPr>
              <a:t>Optimization is the freedom to vary P without changing Q.</a:t>
            </a:r>
          </a:p>
        </p:txBody>
      </p:sp>
    </p:spTree>
    <p:extLst>
      <p:ext uri="{BB962C8B-B14F-4D97-AF65-F5344CB8AC3E}">
        <p14:creationId xmlns:p14="http://schemas.microsoft.com/office/powerpoint/2010/main" val="1621044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2026-08-14T02:43:23.6340000Z</dcterms:created>
  <dcterms:modified xsi:type="dcterms:W3CDTF">2026-08-14T02:43:23.6340000Z</dcterms:modified>
</coreProperties>
</file>