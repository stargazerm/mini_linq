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4cd9963bc734e15" /><Relationship Type="http://schemas.openxmlformats.org/officeDocument/2006/relationships/extended-properties" Target="/docProps/app.xml" Id="R1a793e8861004bee" /><Relationship Type="http://schemas.openxmlformats.org/officeDocument/2006/relationships/officeDocument" Target="/ppt/presentation.xml" Id="Rc9a9736dcf2d4d7b" /></Relationships>
</file>

<file path=ppt/presentation.xml><?xml version="1.0" encoding="utf-8"?>
<p:presentation xmlns:p="http://schemas.openxmlformats.org/presentationml/2006/main">
  <p:sldMasterIdLst>
    <p:sldMasterId xmlns:r="http://schemas.openxmlformats.org/officeDocument/2006/relationships" id="2147483648" r:id="R2092f20f8a114ff2"/>
  </p:sldMasterIdLst>
  <p:notesMasterIdLst>
    <p:notesMasterId xmlns:r="http://schemas.openxmlformats.org/officeDocument/2006/relationships" r:id="Rbb7b33fcaed04b36"/>
  </p:notesMasterIdLst>
  <p:sldIdLst>
    <p:sldId xmlns:r="http://schemas.openxmlformats.org/officeDocument/2006/relationships" id="256" r:id="R3683acd3df2349a9"/>
    <p:sldId xmlns:r="http://schemas.openxmlformats.org/officeDocument/2006/relationships" id="257" r:id="R1a66a2470f464f17"/>
    <p:sldId xmlns:r="http://schemas.openxmlformats.org/officeDocument/2006/relationships" id="258" r:id="R4887f1dabff54e43"/>
    <p:sldId xmlns:r="http://schemas.openxmlformats.org/officeDocument/2006/relationships" id="259" r:id="R7f9b60bb950b4ed4"/>
    <p:sldId xmlns:r="http://schemas.openxmlformats.org/officeDocument/2006/relationships" id="260" r:id="R2cde4f9bbd2e4a98"/>
    <p:sldId xmlns:r="http://schemas.openxmlformats.org/officeDocument/2006/relationships" id="261" r:id="R5d570d34de4c4d22"/>
    <p:sldId xmlns:r="http://schemas.openxmlformats.org/officeDocument/2006/relationships" id="262" r:id="R7be1cb149ea04f28"/>
    <p:sldId xmlns:r="http://schemas.openxmlformats.org/officeDocument/2006/relationships" id="263" r:id="R8dcb238d6b0c46b5"/>
    <p:sldId xmlns:r="http://schemas.openxmlformats.org/officeDocument/2006/relationships" id="264" r:id="R01c8c25d37374e38"/>
    <p:sldId xmlns:r="http://schemas.openxmlformats.org/officeDocument/2006/relationships" id="265" r:id="Red9906ce13c442b3"/>
    <p:sldId xmlns:r="http://schemas.openxmlformats.org/officeDocument/2006/relationships" id="266" r:id="R10beee300b3e4a4a"/>
    <p:sldId xmlns:r="http://schemas.openxmlformats.org/officeDocument/2006/relationships" id="267" r:id="R39505edd6d36474a"/>
    <p:sldId xmlns:r="http://schemas.openxmlformats.org/officeDocument/2006/relationships" id="268" r:id="Rde793bacdfbf458d"/>
    <p:sldId xmlns:r="http://schemas.openxmlformats.org/officeDocument/2006/relationships" id="269" r:id="R9521e3e7bf2b4c89"/>
    <p:sldId xmlns:r="http://schemas.openxmlformats.org/officeDocument/2006/relationships" id="270" r:id="Rffa342d60f7749e5"/>
    <p:sldId xmlns:r="http://schemas.openxmlformats.org/officeDocument/2006/relationships" id="271" r:id="R790b86e63711408b"/>
    <p:sldId xmlns:r="http://schemas.openxmlformats.org/officeDocument/2006/relationships" id="272" r:id="R6c0dfc580058496e"/>
    <p:sldId xmlns:r="http://schemas.openxmlformats.org/officeDocument/2006/relationships" id="273" r:id="Ra4bb49b99df24799"/>
    <p:sldId xmlns:r="http://schemas.openxmlformats.org/officeDocument/2006/relationships" id="274" r:id="Rdd56d6d4ee1247f8"/>
    <p:sldId xmlns:r="http://schemas.openxmlformats.org/officeDocument/2006/relationships" id="275" r:id="R69df6286cabf4fa8"/>
    <p:sldId xmlns:r="http://schemas.openxmlformats.org/officeDocument/2006/relationships" id="276" r:id="R93d3938f8b134d1f"/>
    <p:sldId xmlns:r="http://schemas.openxmlformats.org/officeDocument/2006/relationships" id="277" r:id="R12b55d8db71c4384"/>
    <p:sldId xmlns:r="http://schemas.openxmlformats.org/officeDocument/2006/relationships" id="278" r:id="Rf8a023b467314038"/>
    <p:sldId xmlns:r="http://schemas.openxmlformats.org/officeDocument/2006/relationships" id="279" r:id="R86a8706049024d5b"/>
    <p:sldId xmlns:r="http://schemas.openxmlformats.org/officeDocument/2006/relationships" id="280" r:id="R052027af9c804986"/>
    <p:sldId xmlns:r="http://schemas.openxmlformats.org/officeDocument/2006/relationships" id="281" r:id="R128b1f6053504c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e3627b4e1d40ee" /><Relationship Type="http://schemas.openxmlformats.org/officeDocument/2006/relationships/slideMaster" Target="/ppt/slideMasters/slideMaster1.xml" Id="R2092f20f8a114ff2" /><Relationship Type="http://schemas.openxmlformats.org/officeDocument/2006/relationships/notesMaster" Target="/ppt/notesMasters/notesMaster1.xml" Id="Rbb7b33fcaed04b36" /><Relationship Type="http://schemas.openxmlformats.org/officeDocument/2006/relationships/presProps" Target="/ppt/presProps.xml" Id="Rdc3f557349e74ac4" /><Relationship Type="http://schemas.openxmlformats.org/officeDocument/2006/relationships/tableStyles" Target="/ppt/tableStyles.xml" Id="Rab04224e80e84b6d" /><Relationship Type="http://schemas.openxmlformats.org/officeDocument/2006/relationships/slide" Target="/ppt/slides/slide1.xml" Id="R3683acd3df2349a9" /><Relationship Type="http://schemas.openxmlformats.org/officeDocument/2006/relationships/slide" Target="/ppt/slides/slide2.xml" Id="R1a66a2470f464f17" /><Relationship Type="http://schemas.openxmlformats.org/officeDocument/2006/relationships/slide" Target="/ppt/slides/slide3.xml" Id="R4887f1dabff54e43" /><Relationship Type="http://schemas.openxmlformats.org/officeDocument/2006/relationships/slide" Target="/ppt/slides/slide4.xml" Id="R7f9b60bb950b4ed4" /><Relationship Type="http://schemas.openxmlformats.org/officeDocument/2006/relationships/slide" Target="/ppt/slides/slide5.xml" Id="R2cde4f9bbd2e4a98" /><Relationship Type="http://schemas.openxmlformats.org/officeDocument/2006/relationships/slide" Target="/ppt/slides/slide6.xml" Id="R5d570d34de4c4d22" /><Relationship Type="http://schemas.openxmlformats.org/officeDocument/2006/relationships/slide" Target="/ppt/slides/slide7.xml" Id="R7be1cb149ea04f28" /><Relationship Type="http://schemas.openxmlformats.org/officeDocument/2006/relationships/slide" Target="/ppt/slides/slide8.xml" Id="R8dcb238d6b0c46b5" /><Relationship Type="http://schemas.openxmlformats.org/officeDocument/2006/relationships/slide" Target="/ppt/slides/slide9.xml" Id="R01c8c25d37374e38" /><Relationship Type="http://schemas.openxmlformats.org/officeDocument/2006/relationships/slide" Target="/ppt/slides/slide10.xml" Id="Red9906ce13c442b3" /><Relationship Type="http://schemas.openxmlformats.org/officeDocument/2006/relationships/slide" Target="/ppt/slides/slide11.xml" Id="R10beee300b3e4a4a" /><Relationship Type="http://schemas.openxmlformats.org/officeDocument/2006/relationships/slide" Target="/ppt/slides/slide12.xml" Id="R39505edd6d36474a" /><Relationship Type="http://schemas.openxmlformats.org/officeDocument/2006/relationships/slide" Target="/ppt/slides/slide13.xml" Id="Rde793bacdfbf458d" /><Relationship Type="http://schemas.openxmlformats.org/officeDocument/2006/relationships/slide" Target="/ppt/slides/slide14.xml" Id="R9521e3e7bf2b4c89" /><Relationship Type="http://schemas.openxmlformats.org/officeDocument/2006/relationships/slide" Target="/ppt/slides/slide15.xml" Id="Rffa342d60f7749e5" /><Relationship Type="http://schemas.openxmlformats.org/officeDocument/2006/relationships/slide" Target="/ppt/slides/slide16.xml" Id="R790b86e63711408b" /><Relationship Type="http://schemas.openxmlformats.org/officeDocument/2006/relationships/slide" Target="/ppt/slides/slide17.xml" Id="R6c0dfc580058496e" /><Relationship Type="http://schemas.openxmlformats.org/officeDocument/2006/relationships/slide" Target="/ppt/slides/slide18.xml" Id="Ra4bb49b99df24799" /><Relationship Type="http://schemas.openxmlformats.org/officeDocument/2006/relationships/slide" Target="/ppt/slides/slide19.xml" Id="Rdd56d6d4ee1247f8" /><Relationship Type="http://schemas.openxmlformats.org/officeDocument/2006/relationships/slide" Target="/ppt/slides/slide20.xml" Id="R69df6286cabf4fa8" /><Relationship Type="http://schemas.openxmlformats.org/officeDocument/2006/relationships/slide" Target="/ppt/slides/slide21.xml" Id="R93d3938f8b134d1f" /><Relationship Type="http://schemas.openxmlformats.org/officeDocument/2006/relationships/slide" Target="/ppt/slides/slide22.xml" Id="R12b55d8db71c4384" /><Relationship Type="http://schemas.openxmlformats.org/officeDocument/2006/relationships/slide" Target="/ppt/slides/slide23.xml" Id="Rf8a023b467314038" /><Relationship Type="http://schemas.openxmlformats.org/officeDocument/2006/relationships/slide" Target="/ppt/slides/slide24.xml" Id="R86a8706049024d5b" /><Relationship Type="http://schemas.openxmlformats.org/officeDocument/2006/relationships/slide" Target="/ppt/slides/slide25.xml" Id="R052027af9c804986" /><Relationship Type="http://schemas.openxmlformats.org/officeDocument/2006/relationships/slide" Target="/ppt/slides/slide26.xml" Id="R128b1f6053504c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32b70f0a2043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b8c7926d854640" /><Relationship Type="http://schemas.openxmlformats.org/officeDocument/2006/relationships/notesMaster" Target="/ppt/notesMasters/notesMaster1.xml" Id="Rd616a913322447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9b7c20ca3a492f" /><Relationship Type="http://schemas.openxmlformats.org/officeDocument/2006/relationships/notesMaster" Target="/ppt/notesMasters/notesMaster1.xml" Id="Rb746157a6dd54f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cb3b24a5424238" /><Relationship Type="http://schemas.openxmlformats.org/officeDocument/2006/relationships/notesMaster" Target="/ppt/notesMasters/notesMaster1.xml" Id="Rc627e6476aad44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8a4986f7c446df" /><Relationship Type="http://schemas.openxmlformats.org/officeDocument/2006/relationships/notesMaster" Target="/ppt/notesMasters/notesMaster1.xml" Id="R6639143447c142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8386b3890a4cd2" /><Relationship Type="http://schemas.openxmlformats.org/officeDocument/2006/relationships/notesMaster" Target="/ppt/notesMasters/notesMaster1.xml" Id="R456136e477674f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df1d3f6c5540ac" /><Relationship Type="http://schemas.openxmlformats.org/officeDocument/2006/relationships/notesMaster" Target="/ppt/notesMasters/notesMaster1.xml" Id="R4108fa1fb85441f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db17dc6fa84675" /><Relationship Type="http://schemas.openxmlformats.org/officeDocument/2006/relationships/notesMaster" Target="/ppt/notesMasters/notesMaster1.xml" Id="Rfc22753ad81a43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2fb5ee4f56e4e08" /><Relationship Type="http://schemas.openxmlformats.org/officeDocument/2006/relationships/notesMaster" Target="/ppt/notesMasters/notesMaster1.xml" Id="R054439ffd7a94d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86254f3afa984977" /><Relationship Type="http://schemas.openxmlformats.org/officeDocument/2006/relationships/notesMaster" Target="/ppt/notesMasters/notesMaster1.xml" Id="R04c73c3880d3418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43930ff36614132" /><Relationship Type="http://schemas.openxmlformats.org/officeDocument/2006/relationships/notesMaster" Target="/ppt/notesMasters/notesMaster1.xml" Id="R9fc97e3600dc47c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bc71e35ca7b4b27" /><Relationship Type="http://schemas.openxmlformats.org/officeDocument/2006/relationships/notesMaster" Target="/ppt/notesMasters/notesMaster1.xml" Id="R3d6c2968a85d4c0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80b02b66bfb47f1" /><Relationship Type="http://schemas.openxmlformats.org/officeDocument/2006/relationships/notesMaster" Target="/ppt/notesMasters/notesMaster1.xml" Id="R5f2255b8935748e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22ea88fb37a440a" /><Relationship Type="http://schemas.openxmlformats.org/officeDocument/2006/relationships/notesMaster" Target="/ppt/notesMasters/notesMaster1.xml" Id="R71e9d570f3584f5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91a0ebb2bc24b14" /><Relationship Type="http://schemas.openxmlformats.org/officeDocument/2006/relationships/notesMaster" Target="/ppt/notesMasters/notesMaster1.xml" Id="Reb7146e6debd418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16da56b752247f5" /><Relationship Type="http://schemas.openxmlformats.org/officeDocument/2006/relationships/notesMaster" Target="/ppt/notesMasters/notesMaster1.xml" Id="R47934c669f4b48c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ec37ac46c004aba" /><Relationship Type="http://schemas.openxmlformats.org/officeDocument/2006/relationships/notesMaster" Target="/ppt/notesMasters/notesMaster1.xml" Id="Rdc4c01f0d54c4b0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dde4c5775ad43fa" /><Relationship Type="http://schemas.openxmlformats.org/officeDocument/2006/relationships/notesMaster" Target="/ppt/notesMasters/notesMaster1.xml" Id="R2236abd7e87b443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7da884ade6249ed" /><Relationship Type="http://schemas.openxmlformats.org/officeDocument/2006/relationships/notesMaster" Target="/ppt/notesMasters/notesMaster1.xml" Id="Rd30af454af7942f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f6c2c9f594840dc" /><Relationship Type="http://schemas.openxmlformats.org/officeDocument/2006/relationships/notesMaster" Target="/ppt/notesMasters/notesMaster1.xml" Id="Rfbf937ee8c384af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08b07a785134b52" /><Relationship Type="http://schemas.openxmlformats.org/officeDocument/2006/relationships/notesMaster" Target="/ppt/notesMasters/notesMaster1.xml" Id="R9396a71808b2404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1f81c18ef02483a" /><Relationship Type="http://schemas.openxmlformats.org/officeDocument/2006/relationships/notesMaster" Target="/ppt/notesMasters/notesMaster1.xml" Id="R88da76d6b2d9414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dcdb12158e54d6b" /><Relationship Type="http://schemas.openxmlformats.org/officeDocument/2006/relationships/notesMaster" Target="/ppt/notesMasters/notesMaster1.xml" Id="R967a48e54bbf417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55daa23ff534ff7" /><Relationship Type="http://schemas.openxmlformats.org/officeDocument/2006/relationships/notesMaster" Target="/ppt/notesMasters/notesMaster1.xml" Id="R991c9b8692f34c6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684c04bc9ee4b8e" /><Relationship Type="http://schemas.openxmlformats.org/officeDocument/2006/relationships/notesMaster" Target="/ppt/notesMasters/notesMaster1.xml" Id="R6db94f6aa0a64c8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3d2ed8fba4c4fd7" /><Relationship Type="http://schemas.openxmlformats.org/officeDocument/2006/relationships/notesMaster" Target="/ppt/notesMasters/notesMaster1.xml" Id="R2ba64159e47a474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e7af68ad6f946a3" /><Relationship Type="http://schemas.openxmlformats.org/officeDocument/2006/relationships/notesMaster" Target="/ppt/notesMasters/notesMaster1.xml" Id="Rdb025f06c55443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central question. Do not define compilation yet. Ask students what they expect a course with this title to contain, then use the image to point out that tables are only one of several input worlds.</a:t>
            </a:r>
          </a:p>
          <a:p xmlns:a="http://schemas.openxmlformats.org/drawingml/2006/main">
            <a:r>
              <a:t/>
            </a:r>
          </a:p>
          <a:p xmlns:a="http://schemas.openxmlformats.org/drawingml/2006/main">
            <a:r>
              <a:t>[Sources]</a:t>
            </a:r>
          </a:p>
          <a:p xmlns:a="http://schemas.openxmlformats.org/drawingml/2006/main">
            <a:r>
              <a:t>- OpenAI-generated editorial image, created for this deck on 2026-08-13</a:t>
            </a:r>
          </a:p>
          <a:p xmlns:a="http://schemas.openxmlformats.org/drawingml/2006/main">
            <a:r>
              <a:t>- /Users/stargazermiao/workspace/join-processing-datalog/doc/notes/syllabus.md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students answer before revealing the sentence at the bottom. The point is not that every value is automatically a database. The point is that each object can participate in a database system once we specify the model, operations, and semantic contract.</a:t>
            </a:r>
          </a:p>
          <a:p xmlns:a="http://schemas.openxmlformats.org/drawingml/2006/main">
            <a:r>
              <a:t/>
            </a:r>
          </a:p>
          <a:p xmlns:a="http://schemas.openxmlformats.org/drawingml/2006/main">
            <a:r>
              <a:t>[Sources]</a:t>
            </a:r>
          </a:p>
          <a:p xmlns:a="http://schemas.openxmlformats.org/drawingml/2006/main">
            <a:r>
              <a:t>- /Users/stargazermiao/workspace/join-processing-datalog/doc/notes/01-a-little-database-a-few-questions.md</a:t>
            </a:r>
          </a:p>
          <a:p xmlns:a="http://schemas.openxmlformats.org/drawingml/2006/main">
            <a:r>
              <a:t>- https://duckdb.org/docs/stable/clients/python/overview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axes as a reusable vocabulary. Emphasize that relational/document/graph is only one axis. MySQL and DuckDB share SQL and relations but differ sharply in workload and deployment. Later in the course, Datalog changes the semantic and change dimensions again.</a:t>
            </a:r>
          </a:p>
          <a:p xmlns:a="http://schemas.openxmlformats.org/drawingml/2006/main">
            <a:r>
              <a:t/>
            </a:r>
          </a:p>
          <a:p xmlns:a="http://schemas.openxmlformats.org/drawingml/2006/main">
            <a:r>
              <a:t>[Sources]</a:t>
            </a:r>
          </a:p>
          <a:p xmlns:a="http://schemas.openxmlformats.org/drawingml/2006/main">
            <a:r>
              <a:t>- https://dev.mysql.com/doc/dev/mysql-server/latest/PAGE_PROTOCOL.html</a:t>
            </a:r>
          </a:p>
          <a:p xmlns:a="http://schemas.openxmlformats.org/drawingml/2006/main">
            <a:r>
              <a:t>- https://dev.mysql.com/doc/refman/8.0/en/mysql-acid.html</a:t>
            </a:r>
          </a:p>
          <a:p xmlns:a="http://schemas.openxmlformats.org/drawingml/2006/main">
            <a:r>
              <a:t>- https://duckdb.org/docs/stable/clients/python/overview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system contract, not a criticism. MySQL's protocol separates clients from a shared server; InnoDB supplies transactional guarantees and recovery mechanisms. Ask which responsibilities live outside the query itself.</a:t>
            </a:r>
          </a:p>
          <a:p xmlns:a="http://schemas.openxmlformats.org/drawingml/2006/main">
            <a:r>
              <a:t/>
            </a:r>
          </a:p>
          <a:p xmlns:a="http://schemas.openxmlformats.org/drawingml/2006/main">
            <a:r>
              <a:t>[Sources]</a:t>
            </a:r>
          </a:p>
          <a:p xmlns:a="http://schemas.openxmlformats.org/drawingml/2006/main">
            <a:r>
              <a:t>- https://dev.mysql.com/doc/dev/mysql-server/latest/PAGE_PROTOCOL.html</a:t>
            </a:r>
          </a:p>
          <a:p xmlns:a="http://schemas.openxmlformats.org/drawingml/2006/main">
            <a:r>
              <a:t>- https://dev.mysql.com/doc/refman/8.0/en/mysql-acid.html</a:t>
            </a:r>
          </a:p>
          <a:p xmlns:a="http://schemas.openxmlformats.org/drawingml/2006/main">
            <a:r>
              <a:t>- https://upload.wikimedia.org/wikipedia/en/d/dd/MySQL_logo.svg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deployment and workload, not merely branding. DuckDB can directly query Parquet, CSV, JSON, Pandas, Polars, and Arrow values. Point out that the query language now crosses a host-language boundary without forcing a separate import step.</a:t>
            </a:r>
          </a:p>
          <a:p xmlns:a="http://schemas.openxmlformats.org/drawingml/2006/main">
            <a:r>
              <a:t/>
            </a:r>
          </a:p>
          <a:p xmlns:a="http://schemas.openxmlformats.org/drawingml/2006/main">
            <a:r>
              <a:t>[Sources]</a:t>
            </a:r>
          </a:p>
          <a:p xmlns:a="http://schemas.openxmlformats.org/drawingml/2006/main">
            <a:r>
              <a:t>- https://duckdb.org/docs/stable/clients/python/overview</a:t>
            </a:r>
          </a:p>
          <a:p xmlns:a="http://schemas.openxmlformats.org/drawingml/2006/main">
            <a:r>
              <a:t>- https://duckdb.org/docs/current/guides/python/sql_on_pandas</a:t>
            </a:r>
          </a:p>
          <a:p xmlns:a="http://schemas.openxmlformats.org/drawingml/2006/main">
            <a:r>
              <a:t>- https://duckdb.org/docs/current/guides/file_formats/query_parquet</a:t>
            </a:r>
          </a:p>
          <a:p xmlns:a="http://schemas.openxmlformats.org/drawingml/2006/main">
            <a:r>
              <a:t>- https://upload.wikimedia.org/wikipedia/commons/4/40/DuckDB_logo.svg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columns as a change in system contract. Avoid implying that DuckDB replaces MySQL. The important observation for this course is that a high-level query can remain familiar while deployment, storage, and execution change beneath it.</a:t>
            </a:r>
          </a:p>
          <a:p xmlns:a="http://schemas.openxmlformats.org/drawingml/2006/main">
            <a:r>
              <a:t/>
            </a:r>
          </a:p>
          <a:p xmlns:a="http://schemas.openxmlformats.org/drawingml/2006/main">
            <a:r>
              <a:t>[Sources]</a:t>
            </a:r>
          </a:p>
          <a:p xmlns:a="http://schemas.openxmlformats.org/drawingml/2006/main">
            <a:r>
              <a:t>- https://dev.mysql.com/doc/dev/mysql-server/latest/PAGE_PROTOCOL.html</a:t>
            </a:r>
          </a:p>
          <a:p xmlns:a="http://schemas.openxmlformats.org/drawingml/2006/main">
            <a:r>
              <a:t>- https://dev.mysql.com/doc/refman/8.0/en/mysql-acid.html</a:t>
            </a:r>
          </a:p>
          <a:p xmlns:a="http://schemas.openxmlformats.org/drawingml/2006/main">
            <a:r>
              <a:t>- https://duckdb.org/docs/stable/clients/python/overview</a:t>
            </a:r>
          </a:p>
          <a:p xmlns:a="http://schemas.openxmlformats.org/drawingml/2006/main">
            <a:r>
              <a:t>- https://duckdb.org/docs/current/guides/file_formats/query_parquet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three examples are directly grounded in DuckDB documentation. The graph syntax is illustrative of graph pattern languages; do not claim these languages are interchangeable. The slide's claim is about the widening set of query targets, not a single universal syntax.</a:t>
            </a:r>
          </a:p>
          <a:p xmlns:a="http://schemas.openxmlformats.org/drawingml/2006/main">
            <a:r>
              <a:t/>
            </a:r>
          </a:p>
          <a:p xmlns:a="http://schemas.openxmlformats.org/drawingml/2006/main">
            <a:r>
              <a:t>[Sources]</a:t>
            </a:r>
          </a:p>
          <a:p xmlns:a="http://schemas.openxmlformats.org/drawingml/2006/main">
            <a:r>
              <a:t>- https://duckdb.org/docs/stable/clients/python/overview</a:t>
            </a:r>
          </a:p>
          <a:p xmlns:a="http://schemas.openxmlformats.org/drawingml/2006/main">
            <a:r>
              <a:t>- https://duckdb.org/docs/current/guides/file_formats/query_parquet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first direct answer to why query languages are valuable. They leave choices open. The compiler can specialize those choices for data, hardware, and workload while preserving the declarative meaning.</a:t>
            </a:r>
          </a:p>
          <a:p xmlns:a="http://schemas.openxmlformats.org/drawingml/2006/main">
            <a:r>
              <a:t/>
            </a:r>
          </a:p>
          <a:p xmlns:a="http://schemas.openxmlformats.org/drawingml/2006/main">
            <a:r>
              <a:t>[Sources]</a:t>
            </a:r>
          </a:p>
          <a:p xmlns:a="http://schemas.openxmlformats.org/drawingml/2006/main">
            <a:r>
              <a:t>- /Users/stargazermiao/workspace/join-processing-datalog/doc/notes/syllabus.md</a:t>
            </a:r>
          </a:p>
          <a:p xmlns:a="http://schemas.openxmlformats.org/drawingml/2006/main">
            <a:r>
              <a:t>- /Users/stargazermiao/workspace/join-processing-datalog/doc/PROJECT-SKELETON.md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questions as the semester map. A conjunctive query fixes logical meaning and source order in the course language, but does not spell a join operator or index. Later slides will show the exact named representations that answer each question.</a:t>
            </a:r>
          </a:p>
          <a:p xmlns:a="http://schemas.openxmlformats.org/drawingml/2006/main">
            <a:r>
              <a:t/>
            </a:r>
          </a:p>
          <a:p xmlns:a="http://schemas.openxmlformats.org/drawingml/2006/main">
            <a:r>
              <a:t>[Sources]</a:t>
            </a:r>
          </a:p>
          <a:p xmlns:a="http://schemas.openxmlformats.org/drawingml/2006/main">
            <a:r>
              <a:t>- /Users/stargazermiao/workspace/join-processing-datalog/doc/DSL.md</a:t>
            </a:r>
          </a:p>
          <a:p xmlns:a="http://schemas.openxmlformats.org/drawingml/2006/main">
            <a:r>
              <a:t>- /Users/stargazermiao/workspace/join-processing-datalog/doc/notes/schedule.md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architectural promise of the project. Every important fact has a named representation. Students should be able to inspect two adjacent artifacts and ask exactly what decision changed.</a:t>
            </a:r>
          </a:p>
          <a:p xmlns:a="http://schemas.openxmlformats.org/drawingml/2006/main">
            <a:r>
              <a:t/>
            </a:r>
          </a:p>
          <a:p xmlns:a="http://schemas.openxmlformats.org/drawingml/2006/main">
            <a:r>
              <a:t>[Sources]</a:t>
            </a:r>
          </a:p>
          <a:p xmlns:a="http://schemas.openxmlformats.org/drawingml/2006/main">
            <a:r>
              <a:t>- /Users/stargazermiao/workspace/join-processing-datalog/README.md</a:t>
            </a:r>
          </a:p>
          <a:p xmlns:a="http://schemas.openxmlformats.org/drawingml/2006/main">
            <a:r>
              <a:t>- /Users/stargazermiao/workspace/join-processing-datalog/doc/PROJECT-SKELETON.md</a:t>
            </a:r>
          </a:p>
          <a:p xmlns:a="http://schemas.openxmlformats.org/drawingml/2006/main">
            <a:r>
              <a:t>- /Users/stargazermiao/workspace/join-processing-datalog/doc/DSL.md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claim that iterators are always slow or that compilation must remove every abstraction. Neumann's motivation is that per-tuple operator calls can harm locality and branch predictability; compilation can blur boundaries and keep data in a compact pipeline. This course first makes the boundaries explicit, then studies alternative lowerings.</a:t>
            </a:r>
          </a:p>
          <a:p xmlns:a="http://schemas.openxmlformats.org/drawingml/2006/main">
            <a:r>
              <a:t/>
            </a:r>
          </a:p>
          <a:p xmlns:a="http://schemas.openxmlformats.org/drawingml/2006/main">
            <a:r>
              <a:t>[Sources]</a:t>
            </a:r>
          </a:p>
          <a:p xmlns:a="http://schemas.openxmlformats.org/drawingml/2006/main">
            <a:r>
              <a:t>- https://www.vldb.org/pvldb/vol4/p539-neumann.pdf</a:t>
            </a:r>
          </a:p>
          <a:p xmlns:a="http://schemas.openxmlformats.org/drawingml/2006/main">
            <a:r>
              <a:t>- /Users/stargazermiao/workspace/join-processing-datalog/README.md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why the course uses nominal typed IRs and pass contracts. Students should see semantic preservation as a chain of local obligations. The exact contract language appears later; today, establish the habit of naming what is preserved at each edge.</a:t>
            </a:r>
          </a:p>
          <a:p xmlns:a="http://schemas.openxmlformats.org/drawingml/2006/main">
            <a:r>
              <a:t/>
            </a:r>
          </a:p>
          <a:p xmlns:a="http://schemas.openxmlformats.org/drawingml/2006/main">
            <a:r>
              <a:t>[Sources]</a:t>
            </a:r>
          </a:p>
          <a:p xmlns:a="http://schemas.openxmlformats.org/drawingml/2006/main">
            <a:r>
              <a:t>- /Users/stargazermiao/workspace/join-processing-datalog/doc/PROJECT-SKELETON.md</a:t>
            </a:r>
          </a:p>
          <a:p xmlns:a="http://schemas.openxmlformats.org/drawingml/2006/main">
            <a:r>
              <a:t>- /Users/stargazermiao/workspace/join-processing-datalog/doc/IR-FORMALIZATION.md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boundary explicit so students do not imagine a semester-long full DBMS build. Staff supplies parser, runtime scaffolding, workloads, tests, and later physical lowerings. Student work centers named transformations and operators.</a:t>
            </a:r>
          </a:p>
          <a:p xmlns:a="http://schemas.openxmlformats.org/drawingml/2006/main">
            <a:r>
              <a:t/>
            </a:r>
          </a:p>
          <a:p xmlns:a="http://schemas.openxmlformats.org/drawingml/2006/main">
            <a:r>
              <a:t>[Sources]</a:t>
            </a:r>
          </a:p>
          <a:p xmlns:a="http://schemas.openxmlformats.org/drawingml/2006/main">
            <a:r>
              <a:t>- /Users/stargazermiao/workspace/join-processing-datalog/doc/notes/project.md</a:t>
            </a:r>
          </a:p>
          <a:p xmlns:a="http://schemas.openxmlformats.org/drawingml/2006/main">
            <a:r>
              <a:t>- /Users/stargazermiao/workspace/join-processing-datalog/README.md</a:t>
            </a:r>
          </a:p>
          <a:p xmlns:a="http://schemas.openxmlformats.org/drawingml/2006/main">
            <a:r>
              <a:t>- /Users/stargazermiao/workspace/join-processing-datalog/doc/PROJECT-SKELETON.md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concrete project spine. It is intentionally more detailed than a generic parser–optimizer–executor diagram. Tell students that later lectures will zoom into one edge at a time; no one must understand all six artifacts today.</a:t>
            </a:r>
          </a:p>
          <a:p xmlns:a="http://schemas.openxmlformats.org/drawingml/2006/main">
            <a:r>
              <a:t/>
            </a:r>
          </a:p>
          <a:p xmlns:a="http://schemas.openxmlformats.org/drawingml/2006/main">
            <a:r>
              <a:t>[Sources]</a:t>
            </a:r>
          </a:p>
          <a:p xmlns:a="http://schemas.openxmlformats.org/drawingml/2006/main">
            <a:r>
              <a:t>- /Users/stargazermiao/workspace/join-processing-datalog/doc/DSL.md</a:t>
            </a:r>
          </a:p>
          <a:p xmlns:a="http://schemas.openxmlformats.org/drawingml/2006/main">
            <a:r>
              <a:t>- /Users/stargazermiao/workspace/join-processing-datalog/README.md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course's central intellectual tension. Database theory gives meaning and bounds; systems work exposes the physical cost. AGM is named here only as a promise: the course will connect query shape to worst-case output and intermediate work with counters.</a:t>
            </a:r>
          </a:p>
          <a:p xmlns:a="http://schemas.openxmlformats.org/drawingml/2006/main">
            <a:r>
              <a:t/>
            </a:r>
          </a:p>
          <a:p xmlns:a="http://schemas.openxmlformats.org/drawingml/2006/main">
            <a:r>
              <a:t>[Sources]</a:t>
            </a:r>
          </a:p>
          <a:p xmlns:a="http://schemas.openxmlformats.org/drawingml/2006/main">
            <a:r>
              <a:t>- /Users/stargazermiao/workspace/join-processing-datalog/doc/notes/syllabus.md</a:t>
            </a:r>
          </a:p>
          <a:p xmlns:a="http://schemas.openxmlformats.org/drawingml/2006/main">
            <a:r>
              <a:t>- /Users/stargazermiao/workspace/join-processing-datalog/doc/notes/schedule.md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proportions, then state what is absent: no weekly problem sets, quizzes, midterm, or final. Practica assess reasoning with traces, bounds, and measurements; the project accumulates rather than restarting each assignment.</a:t>
            </a:r>
          </a:p>
          <a:p xmlns:a="http://schemas.openxmlformats.org/drawingml/2006/main">
            <a:r>
              <a:t/>
            </a:r>
          </a:p>
          <a:p xmlns:a="http://schemas.openxmlformats.org/drawingml/2006/main">
            <a:r>
              <a:t>[Sources]</a:t>
            </a:r>
          </a:p>
          <a:p xmlns:a="http://schemas.openxmlformats.org/drawingml/2006/main">
            <a:r>
              <a:t>- /Users/stargazermiao/workspace/join-processing-datalog/doc/notes/syllabus.md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cumulative growth and the reference-checkpoint safety valve. The precise project contract remains the authority; this slide is orientation. Releases are planned for Weeks 5, 10, and 14 in the current draft schedule.</a:t>
            </a:r>
          </a:p>
          <a:p xmlns:a="http://schemas.openxmlformats.org/drawingml/2006/main">
            <a:r>
              <a:t/>
            </a:r>
          </a:p>
          <a:p xmlns:a="http://schemas.openxmlformats.org/drawingml/2006/main">
            <a:r>
              <a:t>[Sources]</a:t>
            </a:r>
          </a:p>
          <a:p xmlns:a="http://schemas.openxmlformats.org/drawingml/2006/main">
            <a:r>
              <a:t>- /Users/stargazermiao/workspace/join-processing-datalog/doc/notes/schedule.md</a:t>
            </a:r>
          </a:p>
          <a:p xmlns:a="http://schemas.openxmlformats.org/drawingml/2006/main">
            <a:r>
              <a:t>- /Users/stargazermiao/workspace/join-processing-datalog/doc/notes/project.md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 expectations for the seminar rhythm. A typical meeting mixes lecture or board derivation, discussion of one primary reading, and a short shared trace, inspection, or result comparison. Outside class, the project is cumulative.</a:t>
            </a:r>
          </a:p>
          <a:p xmlns:a="http://schemas.openxmlformats.org/drawingml/2006/main">
            <a:r>
              <a:t/>
            </a:r>
          </a:p>
          <a:p xmlns:a="http://schemas.openxmlformats.org/drawingml/2006/main">
            <a:r>
              <a:t>[Sources]</a:t>
            </a:r>
          </a:p>
          <a:p xmlns:a="http://schemas.openxmlformats.org/drawingml/2006/main">
            <a:r>
              <a:t>- /Users/stargazermiao/workspace/join-processing-datalog/doc/notes/syllabus.md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this as a pedagogical choice. Python remains useful for data exploration; Rust forces us to state ownership, borrowing, and exact representation. Those constraints make storage, iterators, and typed program values visible in the compiler.</a:t>
            </a:r>
          </a:p>
          <a:p xmlns:a="http://schemas.openxmlformats.org/drawingml/2006/main">
            <a:r>
              <a:t/>
            </a:r>
          </a:p>
          <a:p xmlns:a="http://schemas.openxmlformats.org/drawingml/2006/main">
            <a:r>
              <a:t>[Sources]</a:t>
            </a:r>
          </a:p>
          <a:p xmlns:a="http://schemas.openxmlformats.org/drawingml/2006/main">
            <a:r>
              <a:t>- https://www.python.org/community/logos/</a:t>
            </a:r>
          </a:p>
          <a:p xmlns:a="http://schemas.openxmlformats.org/drawingml/2006/main">
            <a:r>
              <a:t>- https://www.rust-lang.org/logos/rust-logo-512x512.png</a:t>
            </a:r>
          </a:p>
          <a:p xmlns:a="http://schemas.openxmlformats.org/drawingml/2006/main">
            <a:r>
              <a:t>- https://doc.rust-lang.org/book/ch04-00-understanding-ownership.html</a:t>
            </a:r>
          </a:p>
          <a:p xmlns:a="http://schemas.openxmlformats.org/drawingml/2006/main">
            <a:r>
              <a:t>- /Users/stargazermiao/workspace/join-processing-datalog/doc/RUST-TUTORIAL-DESIGN.md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road set from the notes. A move transfers ownership; a shared borrow grants temporary read access. Then connect the Rust rule to the database design: storage should own rows, a query cursor should borrow them, and projection constructs owned result values.</a:t>
            </a:r>
          </a:p>
          <a:p xmlns:a="http://schemas.openxmlformats.org/drawingml/2006/main">
            <a:r>
              <a:t/>
            </a:r>
          </a:p>
          <a:p xmlns:a="http://schemas.openxmlformats.org/drawingml/2006/main">
            <a:r>
              <a:t>[Sources]</a:t>
            </a:r>
          </a:p>
          <a:p xmlns:a="http://schemas.openxmlformats.org/drawingml/2006/main">
            <a:r>
              <a:t>- https://doc.rust-lang.org/book/ch04-00-understanding-ownership.html</a:t>
            </a:r>
          </a:p>
          <a:p xmlns:a="http://schemas.openxmlformats.org/drawingml/2006/main">
            <a:r>
              <a:t>- /Users/stargazermiao/workspace/join-processing-datalog/doc/notes/01-a-little-database-a-few-questions.md</a:t>
            </a:r>
          </a:p>
          <a:p xmlns:a="http://schemas.openxmlformats.org/drawingml/2006/main">
            <a:r>
              <a:t>- /Users/stargazermiao/workspace/join-processing-datalog/doc/RUST-TUTORIAL-DESIGN.md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mathematical distinction explicitly. A struct is a product: all fields are present. An enum is a tagged sum: one alternative is present. This is why grammar cases map naturally to enum variants and why exhaustive matching is a compiler-design aid.</a:t>
            </a:r>
          </a:p>
          <a:p xmlns:a="http://schemas.openxmlformats.org/drawingml/2006/main">
            <a:r>
              <a:t/>
            </a:r>
          </a:p>
          <a:p xmlns:a="http://schemas.openxmlformats.org/drawingml/2006/main">
            <a:r>
              <a:t>[Sources]</a:t>
            </a:r>
          </a:p>
          <a:p xmlns:a="http://schemas.openxmlformats.org/drawingml/2006/main">
            <a:r>
              <a:t>- https://doc.rust-lang.org/book/ch06-00-enums.html</a:t>
            </a:r>
          </a:p>
          <a:p xmlns:a="http://schemas.openxmlformats.org/drawingml/2006/main">
            <a:r>
              <a:t>- /Users/stargazermiao/workspace/join-processing-datalog/doc/RUST-TUTORIAL-DESIGN.md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Rust bridge from the notes. Procedural macros receive token streams and return token streams, but the project immediately parses into typed values. The important compiler work happens in ordinary functions between nominal typed IRs.</a:t>
            </a:r>
          </a:p>
          <a:p xmlns:a="http://schemas.openxmlformats.org/drawingml/2006/main">
            <a:r>
              <a:t/>
            </a:r>
          </a:p>
          <a:p xmlns:a="http://schemas.openxmlformats.org/drawingml/2006/main">
            <a:r>
              <a:t>[Sources]</a:t>
            </a:r>
          </a:p>
          <a:p xmlns:a="http://schemas.openxmlformats.org/drawingml/2006/main">
            <a:r>
              <a:t>- https://doc.rust-lang.org/reference/procedural-macros.html</a:t>
            </a:r>
          </a:p>
          <a:p xmlns:a="http://schemas.openxmlformats.org/drawingml/2006/main">
            <a:r>
              <a:t>- /Users/stargazermiao/workspace/join-processing-datalog/doc/notes/rust-01-the-code-that-became-a-value.md</a:t>
            </a:r>
          </a:p>
          <a:p xmlns:a="http://schemas.openxmlformats.org/drawingml/2006/main">
            <a:r>
              <a:t>- /Users/stargazermiao/workspace/join-processing-datalog/doc/RUST-TUTORIAL-DESIGN.md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here for live coding. Ask students to vote, run the expression, then try stringify!(x) after binding x. If time permits, show a tiny proc macro or the provided rust-01-stringify workspace. The reveal should lead to code-to-code transformation, not immediately to full proc-macro mechanics.</a:t>
            </a:r>
          </a:p>
          <a:p xmlns:a="http://schemas.openxmlformats.org/drawingml/2006/main">
            <a:r>
              <a:t/>
            </a:r>
          </a:p>
          <a:p xmlns:a="http://schemas.openxmlformats.org/drawingml/2006/main">
            <a:r>
              <a:t>[Sources]</a:t>
            </a:r>
          </a:p>
          <a:p xmlns:a="http://schemas.openxmlformats.org/drawingml/2006/main">
            <a:r>
              <a:t>- https://doc.rust-lang.org/std/macro.stringify.html</a:t>
            </a:r>
          </a:p>
          <a:p xmlns:a="http://schemas.openxmlformats.org/drawingml/2006/main">
            <a:r>
              <a:t>- /Users/stargazermiao/workspace/join-processing-datalog/doc/notes/rust-01-the-code-that-became-a-value.md</a:t>
            </a:r>
          </a:p>
          <a:p xmlns:a="http://schemas.openxmlformats.org/drawingml/2006/main">
            <a:r>
              <a:t>- /Users/stargazermiao/workspace/join-processing-datalog/doc/notes/examples/rust-01-stringify/README.md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Reconnect the database idea to the first conversational note. A Rust type describes shape; it does not prove geography. The finite HashSet gives the program a recorded world in which membership is decidable under a closed-world reading.</a:t>
            </a:r>
          </a:p>
          <a:p xmlns:a="http://schemas.openxmlformats.org/drawingml/2006/main">
            <a:r>
              <a:t/>
            </a:r>
          </a:p>
          <a:p xmlns:a="http://schemas.openxmlformats.org/drawingml/2006/main">
            <a:r>
              <a:t>[Sources]</a:t>
            </a:r>
          </a:p>
          <a:p xmlns:a="http://schemas.openxmlformats.org/drawingml/2006/main">
            <a:r>
              <a:t>- /Users/stargazermiao/workspace/join-processing-datalog/doc/notes/01-a-little-database-a-few-questions.md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checked-in triangle-duckdb example as the end-to-end anchor. MiniLinq and DuckDB consume the same rows; the SQL explicitly normalizes inputs and uses DISTINCT so it matches the course's set semantics. The example asserts exact ordered equality.</a:t>
            </a:r>
          </a:p>
          <a:p xmlns:a="http://schemas.openxmlformats.org/drawingml/2006/main">
            <a:r>
              <a:t/>
            </a:r>
          </a:p>
          <a:p xmlns:a="http://schemas.openxmlformats.org/drawingml/2006/main">
            <a:r>
              <a:t>[Sources]</a:t>
            </a:r>
          </a:p>
          <a:p xmlns:a="http://schemas.openxmlformats.org/drawingml/2006/main">
            <a:r>
              <a:t>- /Users/stargazermiao/workspace/join-processing-datalog/examples/triangle-duckdb/main.rs</a:t>
            </a:r>
          </a:p>
          <a:p xmlns:a="http://schemas.openxmlformats.org/drawingml/2006/main">
            <a:r>
              <a:t>- /Users/stargazermiao/workspace/join-processing-datalog/doc/DSL.md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opening question. Invite students to name a familiar query and one hidden decision: join order, index, file scan, concurrency, materialization, recursion, or device. This resolves the deck without a generic thank-you slide.</a:t>
            </a:r>
          </a:p>
          <a:p xmlns:a="http://schemas.openxmlformats.org/drawingml/2006/main">
            <a:r>
              <a:t/>
            </a:r>
          </a:p>
          <a:p xmlns:a="http://schemas.openxmlformats.org/drawingml/2006/main">
            <a:r>
              <a:t>[Sources]</a:t>
            </a:r>
          </a:p>
          <a:p xmlns:a="http://schemas.openxmlformats.org/drawingml/2006/main">
            <a:r>
              <a:t>- /Users/stargazermiao/workspace/join-processing-datalog/doc/notes/syllabus.md</a:t>
            </a:r>
          </a:p>
          <a:p xmlns:a="http://schemas.openxmlformats.org/drawingml/2006/main">
            <a:r>
              <a:t>- /Users/stargazermiao/workspace/join-processing-datalog/doc/notes/schedule.md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ecfdedceb14d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1fe8f7f6f14244" /><Relationship Type="http://schemas.openxmlformats.org/officeDocument/2006/relationships/slideLayout" Target="/ppt/slideLayouts/slideLayout1.xml" Id="R0bb20b35f9554f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b20b35f9554f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0b86777052b4c5c" /><Relationship Type="http://schemas.openxmlformats.org/officeDocument/2006/relationships/image" Target="/ppt/media/image.png" Id="R8ddef6c635744362" /><Relationship Type="http://schemas.openxmlformats.org/officeDocument/2006/relationships/notesSlide" Target="/ppt/notesSlides/notesSlide1.xml" Id="R95c3c6fc701047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f2b7904b1e64fe6" /><Relationship Type="http://schemas.openxmlformats.org/officeDocument/2006/relationships/notesSlide" Target="/ppt/notesSlides/notesSlide2.xml" Id="Re52a473bcb7f4d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06a5cf3521c451f" /><Relationship Type="http://schemas.openxmlformats.org/officeDocument/2006/relationships/notesSlide" Target="/ppt/notesSlides/notesSlide3.xml" Id="R2f65654cf57d46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987aa120e8f4476" /><Relationship Type="http://schemas.openxmlformats.org/officeDocument/2006/relationships/image" Target="/ppt/media/image2.png" Id="R8381dc9a9deb444e" /><Relationship Type="http://schemas.openxmlformats.org/officeDocument/2006/relationships/notesSlide" Target="/ppt/notesSlides/notesSlide4.xml" Id="Raac1a9c053f24e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64a9f5cd28f40f5" /><Relationship Type="http://schemas.openxmlformats.org/officeDocument/2006/relationships/image" Target="/ppt/media/image3.png" Id="Rabddc5e821b44adc" /><Relationship Type="http://schemas.openxmlformats.org/officeDocument/2006/relationships/notesSlide" Target="/ppt/notesSlides/notesSlide5.xml" Id="R7f2d425a72b1443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cc16a5b6f6e46a4" /><Relationship Type="http://schemas.openxmlformats.org/officeDocument/2006/relationships/image" Target="/ppt/media/image4.png" Id="R2059750638164299" /><Relationship Type="http://schemas.openxmlformats.org/officeDocument/2006/relationships/image" Target="/ppt/media/image5.png" Id="Rcc9740112b3e4d98" /><Relationship Type="http://schemas.openxmlformats.org/officeDocument/2006/relationships/notesSlide" Target="/ppt/notesSlides/notesSlide6.xml" Id="R4679164d5b6a49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57a2863c24b4886" /><Relationship Type="http://schemas.openxmlformats.org/officeDocument/2006/relationships/notesSlide" Target="/ppt/notesSlides/notesSlide7.xml" Id="Rdd12982f242742a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73a40a456cd4e6d" /><Relationship Type="http://schemas.openxmlformats.org/officeDocument/2006/relationships/notesSlide" Target="/ppt/notesSlides/notesSlide8.xml" Id="Rc484b31789734e0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cb33011ca7841fe" /><Relationship Type="http://schemas.openxmlformats.org/officeDocument/2006/relationships/notesSlide" Target="/ppt/notesSlides/notesSlide9.xml" Id="Rb7d075811acc408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4212b1cdcc64781" /><Relationship Type="http://schemas.openxmlformats.org/officeDocument/2006/relationships/notesSlide" Target="/ppt/notesSlides/notesSlide10.xml" Id="Rd0a6db236aec4e9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4280a7e5c354f30" /><Relationship Type="http://schemas.openxmlformats.org/officeDocument/2006/relationships/notesSlide" Target="/ppt/notesSlides/notesSlide11.xml" Id="R5aeb07e951684b0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643b495e8304d9b" /><Relationship Type="http://schemas.openxmlformats.org/officeDocument/2006/relationships/notesSlide" Target="/ppt/notesSlides/notesSlide12.xml" Id="Rea30b4d01cd148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0b2fe43a57f44b0" /><Relationship Type="http://schemas.openxmlformats.org/officeDocument/2006/relationships/notesSlide" Target="/ppt/notesSlides/notesSlide13.xml" Id="R83eb09a3e9fa417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7a8d2195ed0417a" /><Relationship Type="http://schemas.openxmlformats.org/officeDocument/2006/relationships/notesSlide" Target="/ppt/notesSlides/notesSlide14.xml" Id="R99288d3a992e4b8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3f5aaa087444341" /><Relationship Type="http://schemas.openxmlformats.org/officeDocument/2006/relationships/notesSlide" Target="/ppt/notesSlides/notesSlide15.xml" Id="Rbaac717b456e424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cfc09fe8d49468e" /><Relationship Type="http://schemas.openxmlformats.org/officeDocument/2006/relationships/notesSlide" Target="/ppt/notesSlides/notesSlide16.xml" Id="Ra9a15002e3da4c2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5443acbb51e4a69" /><Relationship Type="http://schemas.openxmlformats.org/officeDocument/2006/relationships/notesSlide" Target="/ppt/notesSlides/notesSlide17.xml" Id="Ra4808d0c63a9487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702f5d1d74f4181" /><Relationship Type="http://schemas.openxmlformats.org/officeDocument/2006/relationships/notesSlide" Target="/ppt/notesSlides/notesSlide18.xml" Id="R6bc1b6834a5c4b6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09b3b921dfd4622" /><Relationship Type="http://schemas.openxmlformats.org/officeDocument/2006/relationships/image" Target="/ppt/media/image6.png" Id="Rfd1b7047814f448f" /><Relationship Type="http://schemas.openxmlformats.org/officeDocument/2006/relationships/image" Target="/ppt/media/image7.png" Id="Re6568fd479ca48dc" /><Relationship Type="http://schemas.openxmlformats.org/officeDocument/2006/relationships/notesSlide" Target="/ppt/notesSlides/notesSlide19.xml" Id="Re5a2b4671d7c484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172855b4c5d40e5" /><Relationship Type="http://schemas.openxmlformats.org/officeDocument/2006/relationships/notesSlide" Target="/ppt/notesSlides/notesSlide20.xml" Id="R90b59363a1f6420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b1f3ba3328440b3" /><Relationship Type="http://schemas.openxmlformats.org/officeDocument/2006/relationships/notesSlide" Target="/ppt/notesSlides/notesSlide21.xml" Id="R9b580b63878b459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d839c8added4590" /><Relationship Type="http://schemas.openxmlformats.org/officeDocument/2006/relationships/notesSlide" Target="/ppt/notesSlides/notesSlide22.xml" Id="R39a017197c2e4ba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e39797df9e0483a" /><Relationship Type="http://schemas.openxmlformats.org/officeDocument/2006/relationships/notesSlide" Target="/ppt/notesSlides/notesSlide23.xml" Id="Re9cb90f693cc458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1713127209d480a" /><Relationship Type="http://schemas.openxmlformats.org/officeDocument/2006/relationships/notesSlide" Target="/ppt/notesSlides/notesSlide24.xml" Id="R2565eeb6e4be46a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f759fc34fbc4ccb" /><Relationship Type="http://schemas.openxmlformats.org/officeDocument/2006/relationships/notesSlide" Target="/ppt/notesSlides/notesSlide25.xml" Id="R40212c1121ea49c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8f9ebd120084a9c" /><Relationship Type="http://schemas.openxmlformats.org/officeDocument/2006/relationships/notesSlide" Target="/ppt/notesSlides/notesSlide26.xml" Id="R62e009247b1643d1" /></Relationships>
</file>

<file path=ppt/slides/slide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3BF1915-ADF1-451C-A5F8-08B798213C89}"/>
              </a:ext>
            </a:extLst>
          </p:cNvPr>
          <p:cNvSpPr>
            <a:spLocks xmlns:a="http://schemas.openxmlformats.org/drawingml/2006/main" noGrp="1"/>
          </p:cNvSpPr>
          <p:nvPr/>
        </p:nvSpPr>
        <p:spPr>
          <a:xfrm xmlns:a="http://schemas.openxmlformats.org/drawingml/2006/main" rot="0">
            <a:off x="0" y="0"/>
            <a:ext cx="12192000" cy="85725"/>
          </a:xfrm>
          <a:prstGeom xmlns:a="http://schemas.openxmlformats.org/drawingml/2006/main" prst="rect">
            <a:avLst/>
          </a:prstGeom>
          <a:solidFill xmlns:a="http://schemas.openxmlformats.org/drawingml/2006/main">
            <a:srgbClr val="176B73"/>
          </a:solidFill>
          <a:ln xmlns:a="http://schemas.openxmlformats.org/drawingml/2006/main" w="0">
            <a:solidFill>
              <a:srgbClr val="176B73"/>
            </a:solidFill>
            <a:prstDash val="solid"/>
          </a:ln>
        </p:spPr>
      </p:sp>
      <p:sp>
        <p:nvSpPr>
          <p:cNvPr id="2" name="">
            <a:extLst xmlns:a="http://schemas.openxmlformats.org/drawingml/2006/main">
              <a:ext uri="{FF2B5EF4-FFF2-40B4-BE49-F238E27FC236}">
                <a16:creationId xmlns:a16="http://schemas.microsoft.com/office/drawing/2014/main" id="{1820121B-FF40-4834-B716-61CCB922FE70}"/>
              </a:ext>
            </a:extLst>
          </p:cNvPr>
          <p:cNvSpPr>
            <a:spLocks xmlns:a="http://schemas.openxmlformats.org/drawingml/2006/main" noGrp="1"/>
          </p:cNvSpPr>
          <p:nvPr/>
        </p:nvSpPr>
        <p:spPr>
          <a:xfrm xmlns:a="http://schemas.openxmlformats.org/drawingml/2006/main" rot="0">
            <a:off x="590550" y="5524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176B73"/>
                </a:solidFill>
                <a:latin typeface="Helvetica Neue"/>
                <a:ea typeface="Helvetica Neue"/>
                <a:cs typeface="Helvetica Neue"/>
              </a:defRPr>
            </a:pPr>
            <a:r>
              <a:rPr sz="1125" b="1" i="0">
                <a:solidFill>
                  <a:srgbClr val="176B73"/>
                </a:solidFill>
                <a:latin typeface="Helvetica Neue"/>
                <a:ea typeface="Helvetica Neue"/>
                <a:cs typeface="Helvetica Neue"/>
              </a:rPr>
              <a:t>MODERN QUERY PROCESSING · 00</a:t>
            </a:r>
          </a:p>
        </p:txBody>
      </p:sp>
      <p:sp>
        <p:nvSpPr>
          <p:cNvPr id="3" name="">
            <a:extLst xmlns:a="http://schemas.openxmlformats.org/drawingml/2006/main">
              <a:ext uri="{FF2B5EF4-FFF2-40B4-BE49-F238E27FC236}">
                <a16:creationId xmlns:a16="http://schemas.microsoft.com/office/drawing/2014/main" id="{90A8B67B-3A86-4CAA-AD53-0B76C154BF0B}"/>
              </a:ext>
            </a:extLst>
          </p:cNvPr>
          <p:cNvSpPr>
            <a:spLocks xmlns:a="http://schemas.openxmlformats.org/drawingml/2006/main" noGrp="1"/>
          </p:cNvSpPr>
          <p:nvPr/>
        </p:nvSpPr>
        <p:spPr>
          <a:xfrm xmlns:a="http://schemas.openxmlformats.org/drawingml/2006/main" rot="0">
            <a:off x="590550" y="1276350"/>
            <a:ext cx="4953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5100" b="0" i="0">
                <a:solidFill>
                  <a:srgbClr val="202522"/>
                </a:solidFill>
                <a:latin typeface="Helvetica Neue"/>
                <a:ea typeface="Helvetica Neue"/>
                <a:cs typeface="Helvetica Neue"/>
              </a:defRPr>
            </a:pPr>
            <a:r>
              <a:rPr sz="5100" b="0" i="0">
                <a:solidFill>
                  <a:srgbClr val="202522"/>
                </a:solidFill>
                <a:latin typeface="Helvetica Neue"/>
                <a:ea typeface="Helvetica Neue"/>
                <a:cs typeface="Helvetica Neue"/>
              </a:rPr>
              <a:t>Why compile</a:t>
            </a:r>
          </a:p>
          <a:p xmlns:a="http://schemas.openxmlformats.org/drawingml/2006/main">
            <a:pPr algn="l">
              <a:lnSpc>
                <a:spcPct val="94000"/>
              </a:lnSpc>
              <a:buNone/>
              <a:defRPr sz="5100" b="0" i="0">
                <a:solidFill>
                  <a:srgbClr val="202522"/>
                </a:solidFill>
                <a:latin typeface="Helvetica Neue"/>
                <a:ea typeface="Helvetica Neue"/>
                <a:cs typeface="Helvetica Neue"/>
              </a:defRPr>
            </a:pPr>
            <a:r>
              <a:rPr sz="5100" b="0" i="0">
                <a:solidFill>
                  <a:srgbClr val="202522"/>
                </a:solidFill>
                <a:latin typeface="Helvetica Neue"/>
                <a:ea typeface="Helvetica Neue"/>
                <a:cs typeface="Helvetica Neue"/>
              </a:rPr>
              <a:t>a database?</a:t>
            </a:r>
          </a:p>
        </p:txBody>
      </p:sp>
      <p:sp>
        <p:nvSpPr>
          <p:cNvPr id="4" name="">
            <a:extLst xmlns:a="http://schemas.openxmlformats.org/drawingml/2006/main">
              <a:ext uri="{FF2B5EF4-FFF2-40B4-BE49-F238E27FC236}">
                <a16:creationId xmlns:a16="http://schemas.microsoft.com/office/drawing/2014/main" id="{0435BE92-4EAD-4437-AE64-F73098C02284}"/>
              </a:ext>
            </a:extLst>
          </p:cNvPr>
          <p:cNvSpPr>
            <a:spLocks xmlns:a="http://schemas.openxmlformats.org/drawingml/2006/main" noGrp="1"/>
          </p:cNvSpPr>
          <p:nvPr/>
        </p:nvSpPr>
        <p:spPr>
          <a:xfrm xmlns:a="http://schemas.openxmlformats.org/drawingml/2006/main" rot="0">
            <a:off x="590550" y="3276600"/>
            <a:ext cx="4667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950" b="0" i="0">
                <a:solidFill>
                  <a:srgbClr val="68716B"/>
                </a:solidFill>
                <a:latin typeface="Helvetica Neue"/>
                <a:ea typeface="Helvetica Neue"/>
                <a:cs typeface="Helvetica Neue"/>
              </a:defRPr>
            </a:pPr>
            <a:r>
              <a:rPr sz="1950" b="0" i="0">
                <a:solidFill>
                  <a:srgbClr val="68716B"/>
                </a:solidFill>
                <a:latin typeface="Helvetica Neue"/>
                <a:ea typeface="Helvetica Neue"/>
                <a:cs typeface="Helvetica Neue"/>
              </a:rPr>
              <a:t>Databases, query languages, Rust, and the machine we will make visible</a:t>
            </a:r>
          </a:p>
        </p:txBody>
      </p:sp>
      <p:sp>
        <p:nvSpPr>
          <p:cNvPr id="5" name="">
            <a:extLst xmlns:a="http://schemas.openxmlformats.org/drawingml/2006/main">
              <a:ext uri="{FF2B5EF4-FFF2-40B4-BE49-F238E27FC236}">
                <a16:creationId xmlns:a16="http://schemas.microsoft.com/office/drawing/2014/main" id="{BCAB0BF8-C4BB-4100-9380-DA833468DD3D}"/>
              </a:ext>
            </a:extLst>
          </p:cNvPr>
          <p:cNvSpPr>
            <a:spLocks xmlns:a="http://schemas.openxmlformats.org/drawingml/2006/main" noGrp="1"/>
          </p:cNvSpPr>
          <p:nvPr/>
        </p:nvSpPr>
        <p:spPr>
          <a:xfrm xmlns:a="http://schemas.openxmlformats.org/drawingml/2006/main">
            <a:off x="590550" y="4819650"/>
            <a:ext cx="44767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6" name="">
            <a:extLst xmlns:a="http://schemas.openxmlformats.org/drawingml/2006/main">
              <a:ext uri="{FF2B5EF4-FFF2-40B4-BE49-F238E27FC236}">
                <a16:creationId xmlns:a16="http://schemas.microsoft.com/office/drawing/2014/main" id="{53236EB1-6C1E-42CB-B3A0-62D11566BAB0}"/>
              </a:ext>
            </a:extLst>
          </p:cNvPr>
          <p:cNvSpPr>
            <a:spLocks xmlns:a="http://schemas.openxmlformats.org/drawingml/2006/main" noGrp="1"/>
          </p:cNvSpPr>
          <p:nvPr/>
        </p:nvSpPr>
        <p:spPr>
          <a:xfrm xmlns:a="http://schemas.openxmlformats.org/drawingml/2006/main" rot="0">
            <a:off x="590550" y="50292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202522"/>
                </a:solidFill>
                <a:latin typeface="Helvetica Neue"/>
                <a:ea typeface="Helvetica Neue"/>
                <a:cs typeface="Helvetica Neue"/>
              </a:defRPr>
            </a:pPr>
            <a:r>
              <a:rPr sz="1275" b="0" i="0">
                <a:solidFill>
                  <a:srgbClr val="202522"/>
                </a:solidFill>
                <a:latin typeface="Helvetica Neue"/>
                <a:ea typeface="Helvetica Neue"/>
                <a:cs typeface="Helvetica Neue"/>
              </a:rPr>
              <a:t>Yihao Sun · Utah State University · Fall 2026</a:t>
            </a:r>
          </a:p>
        </p:txBody>
      </p:sp>
      <p:sp>
        <p:nvSpPr>
          <p:cNvPr id="7" name="">
            <a:extLst xmlns:a="http://schemas.openxmlformats.org/drawingml/2006/main">
              <a:ext uri="{FF2B5EF4-FFF2-40B4-BE49-F238E27FC236}">
                <a16:creationId xmlns:a16="http://schemas.microsoft.com/office/drawing/2014/main" id="{54D0DEF2-06DF-409D-B854-6637D75123BD}"/>
              </a:ext>
            </a:extLst>
          </p:cNvPr>
          <p:cNvSpPr>
            <a:spLocks xmlns:a="http://schemas.openxmlformats.org/drawingml/2006/main" noGrp="1"/>
          </p:cNvSpPr>
          <p:nvPr/>
        </p:nvSpPr>
        <p:spPr>
          <a:xfrm xmlns:a="http://schemas.openxmlformats.org/drawingml/2006/main" rot="0">
            <a:off x="6048375" y="361950"/>
            <a:ext cx="5619750" cy="5924550"/>
          </a:xfrm>
          <a:prstGeom xmlns:a="http://schemas.openxmlformats.org/drawingml/2006/main" prst="roundRect">
            <a:avLst>
              <a:gd name="adj" fmla="val 1695"/>
            </a:avLst>
          </a:prstGeom>
          <a:solidFill xmlns:a="http://schemas.openxmlformats.org/drawingml/2006/main">
            <a:srgbClr val="FFFDF7"/>
          </a:solidFill>
          <a:ln xmlns:a="http://schemas.openxmlformats.org/drawingml/2006/main" w="9525">
            <a:solidFill>
              <a:srgbClr val="D9D5C9"/>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ddef6c635744362"/>
          <a:stretch xmlns:a="http://schemas.openxmlformats.org/drawingml/2006/main"/>
        </p:blipFill>
        <p:spPr>
          <a:xfrm xmlns:a="http://schemas.openxmlformats.org/drawingml/2006/main">
            <a:off x="6563812" y="457200"/>
            <a:ext cx="4588876" cy="5734050"/>
          </a:xfrm>
          <a:prstGeom xmlns:a="http://schemas.openxmlformats.org/drawingml/2006/main" prst="rect">
            <a:avLst/>
          </a:prstGeom>
        </p:spPr>
      </p:pic>
    </p:spTree>
    <p:extLst>
      <p:ext uri="{BB962C8B-B14F-4D97-AF65-F5344CB8AC3E}">
        <p14:creationId xmlns:p14="http://schemas.microsoft.com/office/powerpoint/2010/main" val="451774046"/>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80" name="">
            <a:extLst xmlns:a="http://schemas.openxmlformats.org/drawingml/2006/main">
              <a:ext uri="{FF2B5EF4-FFF2-40B4-BE49-F238E27FC236}">
                <a16:creationId xmlns:a16="http://schemas.microsoft.com/office/drawing/2014/main" id="{9DB9D544-BCFE-4AFD-BBF3-24B34EE66733}"/>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176B73"/>
          </a:solidFill>
          <a:ln xmlns:a="http://schemas.openxmlformats.org/drawingml/2006/main" w="0">
            <a:solidFill>
              <a:srgbClr val="176B73"/>
            </a:solidFill>
            <a:prstDash val="solid"/>
          </a:ln>
        </p:spPr>
      </p:sp>
      <p:sp>
        <p:nvSpPr>
          <p:cNvPr id="2" name="">
            <a:extLst xmlns:a="http://schemas.openxmlformats.org/drawingml/2006/main">
              <a:ext uri="{FF2B5EF4-FFF2-40B4-BE49-F238E27FC236}">
                <a16:creationId xmlns:a16="http://schemas.microsoft.com/office/drawing/2014/main" id="{9ACC2448-691B-4027-B872-4EDFB59F1DB3}"/>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6B73"/>
                </a:solidFill>
                <a:latin typeface="Helvetica Neue"/>
                <a:ea typeface="Helvetica Neue"/>
                <a:cs typeface="Helvetica Neue"/>
              </a:defRPr>
            </a:pPr>
            <a:r>
              <a:rPr sz="1050" b="1" i="0">
                <a:solidFill>
                  <a:srgbClr val="176B73"/>
                </a:solidFill>
                <a:latin typeface="Helvetica Neue"/>
                <a:ea typeface="Helvetica Neue"/>
                <a:cs typeface="Helvetica Neue"/>
              </a:rPr>
              <a:t>START FROM WHAT YOU KNOW</a:t>
            </a:r>
          </a:p>
        </p:txBody>
      </p:sp>
      <p:sp>
        <p:nvSpPr>
          <p:cNvPr id="3" name="">
            <a:extLst xmlns:a="http://schemas.openxmlformats.org/drawingml/2006/main">
              <a:ext uri="{FF2B5EF4-FFF2-40B4-BE49-F238E27FC236}">
                <a16:creationId xmlns:a16="http://schemas.microsoft.com/office/drawing/2014/main" id="{51B3B743-5086-40D3-A818-32555D0CD6AC}"/>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Which of these feels like a database?</a:t>
            </a:r>
          </a:p>
        </p:txBody>
      </p:sp>
      <p:sp>
        <p:nvSpPr>
          <p:cNvPr id="4" name="">
            <a:extLst xmlns:a="http://schemas.openxmlformats.org/drawingml/2006/main">
              <a:ext uri="{FF2B5EF4-FFF2-40B4-BE49-F238E27FC236}">
                <a16:creationId xmlns:a16="http://schemas.microsoft.com/office/drawing/2014/main" id="{E10C34BA-E933-42AE-B49A-9C4DB2ACE56E}"/>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96ED6DA3-D04E-480A-AC1B-EF794E4DAB27}"/>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2A7EE57F-98CF-4BF8-81FC-16631184C966}"/>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6D30C0ED-5462-4EE5-B108-A0C631D8A7EC}"/>
              </a:ext>
            </a:extLst>
          </p:cNvPr>
          <p:cNvSpPr>
            <a:spLocks xmlns:a="http://schemas.openxmlformats.org/drawingml/2006/main" noGrp="1"/>
          </p:cNvSpPr>
          <p:nvPr/>
        </p:nvSpPr>
        <p:spPr>
          <a:xfrm xmlns:a="http://schemas.openxmlformats.org/drawingml/2006/main" rot="0">
            <a:off x="819150" y="1771650"/>
            <a:ext cx="1619250" cy="1143000"/>
          </a:xfrm>
          <a:prstGeom xmlns:a="http://schemas.openxmlformats.org/drawingml/2006/main" prst="rect">
            <a:avLst/>
          </a:prstGeom>
          <a:solidFill xmlns:a="http://schemas.openxmlformats.org/drawingml/2006/main">
            <a:srgbClr val="FFFDF7"/>
          </a:solidFill>
          <a:ln xmlns:a="http://schemas.openxmlformats.org/drawingml/2006/main" w="19050">
            <a:solidFill>
              <a:srgbClr val="202522"/>
            </a:solidFill>
            <a:prstDash val="solid"/>
          </a:ln>
        </p:spPr>
      </p:sp>
      <p:sp>
        <p:nvSpPr>
          <p:cNvPr id="8" name="">
            <a:extLst xmlns:a="http://schemas.openxmlformats.org/drawingml/2006/main">
              <a:ext uri="{FF2B5EF4-FFF2-40B4-BE49-F238E27FC236}">
                <a16:creationId xmlns:a16="http://schemas.microsoft.com/office/drawing/2014/main" id="{7A84D795-E37D-427F-9618-8CD7A5FCD25A}"/>
              </a:ext>
            </a:extLst>
          </p:cNvPr>
          <p:cNvSpPr>
            <a:spLocks xmlns:a="http://schemas.openxmlformats.org/drawingml/2006/main" noGrp="1"/>
          </p:cNvSpPr>
          <p:nvPr/>
        </p:nvSpPr>
        <p:spPr>
          <a:xfrm xmlns:a="http://schemas.openxmlformats.org/drawingml/2006/main">
            <a:off x="1223963" y="1771650"/>
            <a:ext cx="0" cy="114300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9" name="">
            <a:extLst xmlns:a="http://schemas.openxmlformats.org/drawingml/2006/main">
              <a:ext uri="{FF2B5EF4-FFF2-40B4-BE49-F238E27FC236}">
                <a16:creationId xmlns:a16="http://schemas.microsoft.com/office/drawing/2014/main" id="{8DBD9B1A-EB60-440D-999D-9FFE00CC900C}"/>
              </a:ext>
            </a:extLst>
          </p:cNvPr>
          <p:cNvSpPr>
            <a:spLocks xmlns:a="http://schemas.openxmlformats.org/drawingml/2006/main" noGrp="1"/>
          </p:cNvSpPr>
          <p:nvPr/>
        </p:nvSpPr>
        <p:spPr>
          <a:xfrm xmlns:a="http://schemas.openxmlformats.org/drawingml/2006/main">
            <a:off x="1628775" y="1771650"/>
            <a:ext cx="0" cy="114300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10" name="">
            <a:extLst xmlns:a="http://schemas.openxmlformats.org/drawingml/2006/main">
              <a:ext uri="{FF2B5EF4-FFF2-40B4-BE49-F238E27FC236}">
                <a16:creationId xmlns:a16="http://schemas.microsoft.com/office/drawing/2014/main" id="{B5D75F42-D688-4594-A73B-7E64CCDD0DC4}"/>
              </a:ext>
            </a:extLst>
          </p:cNvPr>
          <p:cNvSpPr>
            <a:spLocks xmlns:a="http://schemas.openxmlformats.org/drawingml/2006/main" noGrp="1"/>
          </p:cNvSpPr>
          <p:nvPr/>
        </p:nvSpPr>
        <p:spPr>
          <a:xfrm xmlns:a="http://schemas.openxmlformats.org/drawingml/2006/main">
            <a:off x="2033588" y="1771650"/>
            <a:ext cx="0" cy="114300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11" name="">
            <a:extLst xmlns:a="http://schemas.openxmlformats.org/drawingml/2006/main">
              <a:ext uri="{FF2B5EF4-FFF2-40B4-BE49-F238E27FC236}">
                <a16:creationId xmlns:a16="http://schemas.microsoft.com/office/drawing/2014/main" id="{DAC4628E-0F59-49DC-9715-4CD4400025BA}"/>
              </a:ext>
            </a:extLst>
          </p:cNvPr>
          <p:cNvSpPr>
            <a:spLocks xmlns:a="http://schemas.openxmlformats.org/drawingml/2006/main" noGrp="1"/>
          </p:cNvSpPr>
          <p:nvPr/>
        </p:nvSpPr>
        <p:spPr>
          <a:xfrm xmlns:a="http://schemas.openxmlformats.org/drawingml/2006/main">
            <a:off x="819150" y="2057400"/>
            <a:ext cx="16192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12" name="">
            <a:extLst xmlns:a="http://schemas.openxmlformats.org/drawingml/2006/main">
              <a:ext uri="{FF2B5EF4-FFF2-40B4-BE49-F238E27FC236}">
                <a16:creationId xmlns:a16="http://schemas.microsoft.com/office/drawing/2014/main" id="{1469819D-C86E-4565-96D3-69FC89BBB0DD}"/>
              </a:ext>
            </a:extLst>
          </p:cNvPr>
          <p:cNvSpPr>
            <a:spLocks xmlns:a="http://schemas.openxmlformats.org/drawingml/2006/main" noGrp="1"/>
          </p:cNvSpPr>
          <p:nvPr/>
        </p:nvSpPr>
        <p:spPr>
          <a:xfrm xmlns:a="http://schemas.openxmlformats.org/drawingml/2006/main">
            <a:off x="819150" y="2343150"/>
            <a:ext cx="16192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13" name="">
            <a:extLst xmlns:a="http://schemas.openxmlformats.org/drawingml/2006/main">
              <a:ext uri="{FF2B5EF4-FFF2-40B4-BE49-F238E27FC236}">
                <a16:creationId xmlns:a16="http://schemas.microsoft.com/office/drawing/2014/main" id="{305FE1C0-9506-4CF5-BBAD-3978A9224155}"/>
              </a:ext>
            </a:extLst>
          </p:cNvPr>
          <p:cNvSpPr>
            <a:spLocks xmlns:a="http://schemas.openxmlformats.org/drawingml/2006/main" noGrp="1"/>
          </p:cNvSpPr>
          <p:nvPr/>
        </p:nvSpPr>
        <p:spPr>
          <a:xfrm xmlns:a="http://schemas.openxmlformats.org/drawingml/2006/main">
            <a:off x="819150" y="2628900"/>
            <a:ext cx="16192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14" name="">
            <a:extLst xmlns:a="http://schemas.openxmlformats.org/drawingml/2006/main">
              <a:ext uri="{FF2B5EF4-FFF2-40B4-BE49-F238E27FC236}">
                <a16:creationId xmlns:a16="http://schemas.microsoft.com/office/drawing/2014/main" id="{3F19E103-DA1D-4545-B851-C5333E545603}"/>
              </a:ext>
            </a:extLst>
          </p:cNvPr>
          <p:cNvSpPr>
            <a:spLocks xmlns:a="http://schemas.openxmlformats.org/drawingml/2006/main" noGrp="1"/>
          </p:cNvSpPr>
          <p:nvPr/>
        </p:nvSpPr>
        <p:spPr>
          <a:xfrm xmlns:a="http://schemas.openxmlformats.org/drawingml/2006/main" rot="0">
            <a:off x="1223963" y="2057400"/>
            <a:ext cx="404813" cy="285750"/>
          </a:xfrm>
          <a:prstGeom xmlns:a="http://schemas.openxmlformats.org/drawingml/2006/main" prst="rect">
            <a:avLst/>
          </a:prstGeom>
          <a:solidFill xmlns:a="http://schemas.openxmlformats.org/drawingml/2006/main">
            <a:srgbClr val="176B73"/>
          </a:solidFill>
          <a:ln xmlns:a="http://schemas.openxmlformats.org/drawingml/2006/main" w="0">
            <a:solidFill>
              <a:srgbClr val="176B73"/>
            </a:solidFill>
            <a:prstDash val="solid"/>
          </a:ln>
        </p:spPr>
      </p:sp>
      <p:sp>
        <p:nvSpPr>
          <p:cNvPr id="15" name="">
            <a:extLst xmlns:a="http://schemas.openxmlformats.org/drawingml/2006/main">
              <a:ext uri="{FF2B5EF4-FFF2-40B4-BE49-F238E27FC236}">
                <a16:creationId xmlns:a16="http://schemas.microsoft.com/office/drawing/2014/main" id="{66BE8C08-8978-456D-87AC-8D7EBDC80B84}"/>
              </a:ext>
            </a:extLst>
          </p:cNvPr>
          <p:cNvSpPr>
            <a:spLocks xmlns:a="http://schemas.openxmlformats.org/drawingml/2006/main" noGrp="1"/>
          </p:cNvSpPr>
          <p:nvPr/>
        </p:nvSpPr>
        <p:spPr>
          <a:xfrm xmlns:a="http://schemas.openxmlformats.org/drawingml/2006/main" rot="0">
            <a:off x="666750" y="3219450"/>
            <a:ext cx="194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202522"/>
                </a:solidFill>
                <a:latin typeface="Helvetica Neue"/>
                <a:ea typeface="Helvetica Neue"/>
                <a:cs typeface="Helvetica Neue"/>
              </a:defRPr>
            </a:pPr>
            <a:r>
              <a:rPr sz="1725" b="1" i="0">
                <a:solidFill>
                  <a:srgbClr val="202522"/>
                </a:solidFill>
                <a:latin typeface="Helvetica Neue"/>
                <a:ea typeface="Helvetica Neue"/>
                <a:cs typeface="Helvetica Neue"/>
              </a:rPr>
              <a:t>Bank account</a:t>
            </a:r>
          </a:p>
        </p:txBody>
      </p:sp>
      <p:sp>
        <p:nvSpPr>
          <p:cNvPr id="16" name="">
            <a:extLst xmlns:a="http://schemas.openxmlformats.org/drawingml/2006/main">
              <a:ext uri="{FF2B5EF4-FFF2-40B4-BE49-F238E27FC236}">
                <a16:creationId xmlns:a16="http://schemas.microsoft.com/office/drawing/2014/main" id="{29D5008D-4533-43A3-A7CC-08C89C600A71}"/>
              </a:ext>
            </a:extLst>
          </p:cNvPr>
          <p:cNvSpPr>
            <a:spLocks xmlns:a="http://schemas.openxmlformats.org/drawingml/2006/main" noGrp="1"/>
          </p:cNvSpPr>
          <p:nvPr/>
        </p:nvSpPr>
        <p:spPr>
          <a:xfrm xmlns:a="http://schemas.openxmlformats.org/drawingml/2006/main" rot="0">
            <a:off x="666750" y="3943350"/>
            <a:ext cx="1943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68716B"/>
                </a:solidFill>
                <a:latin typeface="Helvetica Neue"/>
                <a:ea typeface="Helvetica Neue"/>
                <a:cs typeface="Helvetica Neue"/>
              </a:defRPr>
            </a:pPr>
            <a:r>
              <a:rPr sz="1350" b="0" i="0">
                <a:solidFill>
                  <a:srgbClr val="68716B"/>
                </a:solidFill>
                <a:latin typeface="Helvetica Neue"/>
                <a:ea typeface="Helvetica Neue"/>
                <a:cs typeface="Helvetica Neue"/>
              </a:rPr>
              <a:t>transactions + constraints</a:t>
            </a:r>
          </a:p>
        </p:txBody>
      </p:sp>
      <p:sp>
        <p:nvSpPr>
          <p:cNvPr id="17" name="">
            <a:extLst xmlns:a="http://schemas.openxmlformats.org/drawingml/2006/main">
              <a:ext uri="{FF2B5EF4-FFF2-40B4-BE49-F238E27FC236}">
                <a16:creationId xmlns:a16="http://schemas.microsoft.com/office/drawing/2014/main" id="{A0ADF702-CB8C-4621-B9C7-70BDF6A88AC1}"/>
              </a:ext>
            </a:extLst>
          </p:cNvPr>
          <p:cNvSpPr>
            <a:spLocks xmlns:a="http://schemas.openxmlformats.org/drawingml/2006/main" noGrp="1"/>
          </p:cNvSpPr>
          <p:nvPr/>
        </p:nvSpPr>
        <p:spPr>
          <a:xfrm xmlns:a="http://schemas.openxmlformats.org/drawingml/2006/main" rot="0">
            <a:off x="3048000" y="1771650"/>
            <a:ext cx="262890" cy="1143000"/>
          </a:xfrm>
          <a:prstGeom xmlns:a="http://schemas.openxmlformats.org/drawingml/2006/main" prst="rect">
            <a:avLst/>
          </a:prstGeom>
          <a:solidFill xmlns:a="http://schemas.openxmlformats.org/drawingml/2006/main">
            <a:srgbClr val="FFFDF7"/>
          </a:solidFill>
          <a:ln xmlns:a="http://schemas.openxmlformats.org/drawingml/2006/main" w="14288">
            <a:solidFill>
              <a:srgbClr val="202522"/>
            </a:solidFill>
            <a:prstDash val="solid"/>
          </a:ln>
        </p:spPr>
      </p:sp>
      <p:sp>
        <p:nvSpPr>
          <p:cNvPr id="18" name="">
            <a:extLst xmlns:a="http://schemas.openxmlformats.org/drawingml/2006/main">
              <a:ext uri="{FF2B5EF4-FFF2-40B4-BE49-F238E27FC236}">
                <a16:creationId xmlns:a16="http://schemas.microsoft.com/office/drawing/2014/main" id="{F5539226-6D26-4819-9FFA-3AA1C7069E20}"/>
              </a:ext>
            </a:extLst>
          </p:cNvPr>
          <p:cNvSpPr>
            <a:spLocks xmlns:a="http://schemas.openxmlformats.org/drawingml/2006/main" noGrp="1"/>
          </p:cNvSpPr>
          <p:nvPr/>
        </p:nvSpPr>
        <p:spPr>
          <a:xfrm xmlns:a="http://schemas.openxmlformats.org/drawingml/2006/main">
            <a:off x="3048000" y="19621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19" name="">
            <a:extLst xmlns:a="http://schemas.openxmlformats.org/drawingml/2006/main">
              <a:ext uri="{FF2B5EF4-FFF2-40B4-BE49-F238E27FC236}">
                <a16:creationId xmlns:a16="http://schemas.microsoft.com/office/drawing/2014/main" id="{D294E346-6799-44D5-85DC-B468D20EFB78}"/>
              </a:ext>
            </a:extLst>
          </p:cNvPr>
          <p:cNvSpPr>
            <a:spLocks xmlns:a="http://schemas.openxmlformats.org/drawingml/2006/main" noGrp="1"/>
          </p:cNvSpPr>
          <p:nvPr/>
        </p:nvSpPr>
        <p:spPr>
          <a:xfrm xmlns:a="http://schemas.openxmlformats.org/drawingml/2006/main">
            <a:off x="3048000" y="21526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0" name="">
            <a:extLst xmlns:a="http://schemas.openxmlformats.org/drawingml/2006/main">
              <a:ext uri="{FF2B5EF4-FFF2-40B4-BE49-F238E27FC236}">
                <a16:creationId xmlns:a16="http://schemas.microsoft.com/office/drawing/2014/main" id="{DCF67E83-EFE4-4BAA-82E8-654637937F20}"/>
              </a:ext>
            </a:extLst>
          </p:cNvPr>
          <p:cNvSpPr>
            <a:spLocks xmlns:a="http://schemas.openxmlformats.org/drawingml/2006/main" noGrp="1"/>
          </p:cNvSpPr>
          <p:nvPr/>
        </p:nvSpPr>
        <p:spPr>
          <a:xfrm xmlns:a="http://schemas.openxmlformats.org/drawingml/2006/main">
            <a:off x="3048000" y="23431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1" name="">
            <a:extLst xmlns:a="http://schemas.openxmlformats.org/drawingml/2006/main">
              <a:ext uri="{FF2B5EF4-FFF2-40B4-BE49-F238E27FC236}">
                <a16:creationId xmlns:a16="http://schemas.microsoft.com/office/drawing/2014/main" id="{64BB7879-2045-4BCA-B916-C1E53361D096}"/>
              </a:ext>
            </a:extLst>
          </p:cNvPr>
          <p:cNvSpPr>
            <a:spLocks xmlns:a="http://schemas.openxmlformats.org/drawingml/2006/main" noGrp="1"/>
          </p:cNvSpPr>
          <p:nvPr/>
        </p:nvSpPr>
        <p:spPr>
          <a:xfrm xmlns:a="http://schemas.openxmlformats.org/drawingml/2006/main">
            <a:off x="3048000" y="25336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2" name="">
            <a:extLst xmlns:a="http://schemas.openxmlformats.org/drawingml/2006/main">
              <a:ext uri="{FF2B5EF4-FFF2-40B4-BE49-F238E27FC236}">
                <a16:creationId xmlns:a16="http://schemas.microsoft.com/office/drawing/2014/main" id="{B9A8F1D0-E428-486A-8FF7-0407EB857553}"/>
              </a:ext>
            </a:extLst>
          </p:cNvPr>
          <p:cNvSpPr>
            <a:spLocks xmlns:a="http://schemas.openxmlformats.org/drawingml/2006/main" noGrp="1"/>
          </p:cNvSpPr>
          <p:nvPr/>
        </p:nvSpPr>
        <p:spPr>
          <a:xfrm xmlns:a="http://schemas.openxmlformats.org/drawingml/2006/main">
            <a:off x="3048000" y="27241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3" name="">
            <a:extLst xmlns:a="http://schemas.openxmlformats.org/drawingml/2006/main">
              <a:ext uri="{FF2B5EF4-FFF2-40B4-BE49-F238E27FC236}">
                <a16:creationId xmlns:a16="http://schemas.microsoft.com/office/drawing/2014/main" id="{E5C26CA1-152D-4FE4-88A9-86E3EE461192}"/>
              </a:ext>
            </a:extLst>
          </p:cNvPr>
          <p:cNvSpPr>
            <a:spLocks xmlns:a="http://schemas.openxmlformats.org/drawingml/2006/main" noGrp="1"/>
          </p:cNvSpPr>
          <p:nvPr/>
        </p:nvSpPr>
        <p:spPr>
          <a:xfrm xmlns:a="http://schemas.openxmlformats.org/drawingml/2006/main" rot="0">
            <a:off x="3377565" y="1771650"/>
            <a:ext cx="262890" cy="1143000"/>
          </a:xfrm>
          <a:prstGeom xmlns:a="http://schemas.openxmlformats.org/drawingml/2006/main" prst="rect">
            <a:avLst/>
          </a:prstGeom>
          <a:solidFill xmlns:a="http://schemas.openxmlformats.org/drawingml/2006/main">
            <a:srgbClr val="FFFDF7"/>
          </a:solidFill>
          <a:ln xmlns:a="http://schemas.openxmlformats.org/drawingml/2006/main" w="14288">
            <a:solidFill>
              <a:srgbClr val="202522"/>
            </a:solidFill>
            <a:prstDash val="solid"/>
          </a:ln>
        </p:spPr>
      </p:sp>
      <p:sp>
        <p:nvSpPr>
          <p:cNvPr id="24" name="">
            <a:extLst xmlns:a="http://schemas.openxmlformats.org/drawingml/2006/main">
              <a:ext uri="{FF2B5EF4-FFF2-40B4-BE49-F238E27FC236}">
                <a16:creationId xmlns:a16="http://schemas.microsoft.com/office/drawing/2014/main" id="{35149275-BC4E-4CCE-B9F5-9B240F0676DC}"/>
              </a:ext>
            </a:extLst>
          </p:cNvPr>
          <p:cNvSpPr>
            <a:spLocks xmlns:a="http://schemas.openxmlformats.org/drawingml/2006/main" noGrp="1"/>
          </p:cNvSpPr>
          <p:nvPr/>
        </p:nvSpPr>
        <p:spPr>
          <a:xfrm xmlns:a="http://schemas.openxmlformats.org/drawingml/2006/main">
            <a:off x="3377565" y="19621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5" name="">
            <a:extLst xmlns:a="http://schemas.openxmlformats.org/drawingml/2006/main">
              <a:ext uri="{FF2B5EF4-FFF2-40B4-BE49-F238E27FC236}">
                <a16:creationId xmlns:a16="http://schemas.microsoft.com/office/drawing/2014/main" id="{53B29B3A-A82A-49AC-B006-204C2C697976}"/>
              </a:ext>
            </a:extLst>
          </p:cNvPr>
          <p:cNvSpPr>
            <a:spLocks xmlns:a="http://schemas.openxmlformats.org/drawingml/2006/main" noGrp="1"/>
          </p:cNvSpPr>
          <p:nvPr/>
        </p:nvSpPr>
        <p:spPr>
          <a:xfrm xmlns:a="http://schemas.openxmlformats.org/drawingml/2006/main">
            <a:off x="3377565" y="21526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6" name="">
            <a:extLst xmlns:a="http://schemas.openxmlformats.org/drawingml/2006/main">
              <a:ext uri="{FF2B5EF4-FFF2-40B4-BE49-F238E27FC236}">
                <a16:creationId xmlns:a16="http://schemas.microsoft.com/office/drawing/2014/main" id="{4AC5E5F3-D6B9-4603-8ADB-D8346D049826}"/>
              </a:ext>
            </a:extLst>
          </p:cNvPr>
          <p:cNvSpPr>
            <a:spLocks xmlns:a="http://schemas.openxmlformats.org/drawingml/2006/main" noGrp="1"/>
          </p:cNvSpPr>
          <p:nvPr/>
        </p:nvSpPr>
        <p:spPr>
          <a:xfrm xmlns:a="http://schemas.openxmlformats.org/drawingml/2006/main">
            <a:off x="3377565" y="23431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7" name="">
            <a:extLst xmlns:a="http://schemas.openxmlformats.org/drawingml/2006/main">
              <a:ext uri="{FF2B5EF4-FFF2-40B4-BE49-F238E27FC236}">
                <a16:creationId xmlns:a16="http://schemas.microsoft.com/office/drawing/2014/main" id="{0B6B1807-712B-4AD7-A90C-13E5746122A7}"/>
              </a:ext>
            </a:extLst>
          </p:cNvPr>
          <p:cNvSpPr>
            <a:spLocks xmlns:a="http://schemas.openxmlformats.org/drawingml/2006/main" noGrp="1"/>
          </p:cNvSpPr>
          <p:nvPr/>
        </p:nvSpPr>
        <p:spPr>
          <a:xfrm xmlns:a="http://schemas.openxmlformats.org/drawingml/2006/main">
            <a:off x="3377565" y="25336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8" name="">
            <a:extLst xmlns:a="http://schemas.openxmlformats.org/drawingml/2006/main">
              <a:ext uri="{FF2B5EF4-FFF2-40B4-BE49-F238E27FC236}">
                <a16:creationId xmlns:a16="http://schemas.microsoft.com/office/drawing/2014/main" id="{2327C2C9-DC56-4935-9B4B-93C54620F1D6}"/>
              </a:ext>
            </a:extLst>
          </p:cNvPr>
          <p:cNvSpPr>
            <a:spLocks xmlns:a="http://schemas.openxmlformats.org/drawingml/2006/main" noGrp="1"/>
          </p:cNvSpPr>
          <p:nvPr/>
        </p:nvSpPr>
        <p:spPr>
          <a:xfrm xmlns:a="http://schemas.openxmlformats.org/drawingml/2006/main">
            <a:off x="3377565" y="27241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9" name="">
            <a:extLst xmlns:a="http://schemas.openxmlformats.org/drawingml/2006/main">
              <a:ext uri="{FF2B5EF4-FFF2-40B4-BE49-F238E27FC236}">
                <a16:creationId xmlns:a16="http://schemas.microsoft.com/office/drawing/2014/main" id="{D3E36077-D04D-4BA1-9B5B-4E6D380314F0}"/>
              </a:ext>
            </a:extLst>
          </p:cNvPr>
          <p:cNvSpPr>
            <a:spLocks xmlns:a="http://schemas.openxmlformats.org/drawingml/2006/main" noGrp="1"/>
          </p:cNvSpPr>
          <p:nvPr/>
        </p:nvSpPr>
        <p:spPr>
          <a:xfrm xmlns:a="http://schemas.openxmlformats.org/drawingml/2006/main" rot="0">
            <a:off x="3707130" y="1771650"/>
            <a:ext cx="262890" cy="1143000"/>
          </a:xfrm>
          <a:prstGeom xmlns:a="http://schemas.openxmlformats.org/drawingml/2006/main" prst="rect">
            <a:avLst/>
          </a:prstGeom>
          <a:solidFill xmlns:a="http://schemas.openxmlformats.org/drawingml/2006/main">
            <a:srgbClr val="286D91"/>
          </a:solidFill>
          <a:ln xmlns:a="http://schemas.openxmlformats.org/drawingml/2006/main" w="14288">
            <a:solidFill>
              <a:srgbClr val="202522"/>
            </a:solidFill>
            <a:prstDash val="solid"/>
          </a:ln>
        </p:spPr>
      </p:sp>
      <p:sp>
        <p:nvSpPr>
          <p:cNvPr id="30" name="">
            <a:extLst xmlns:a="http://schemas.openxmlformats.org/drawingml/2006/main">
              <a:ext uri="{FF2B5EF4-FFF2-40B4-BE49-F238E27FC236}">
                <a16:creationId xmlns:a16="http://schemas.microsoft.com/office/drawing/2014/main" id="{9497273D-3335-43DD-845F-15EF6B1C6F50}"/>
              </a:ext>
            </a:extLst>
          </p:cNvPr>
          <p:cNvSpPr>
            <a:spLocks xmlns:a="http://schemas.openxmlformats.org/drawingml/2006/main" noGrp="1"/>
          </p:cNvSpPr>
          <p:nvPr/>
        </p:nvSpPr>
        <p:spPr>
          <a:xfrm xmlns:a="http://schemas.openxmlformats.org/drawingml/2006/main">
            <a:off x="3707130" y="19621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31" name="">
            <a:extLst xmlns:a="http://schemas.openxmlformats.org/drawingml/2006/main">
              <a:ext uri="{FF2B5EF4-FFF2-40B4-BE49-F238E27FC236}">
                <a16:creationId xmlns:a16="http://schemas.microsoft.com/office/drawing/2014/main" id="{1BAB8DBF-AD1C-46C9-90BF-233E7D900780}"/>
              </a:ext>
            </a:extLst>
          </p:cNvPr>
          <p:cNvSpPr>
            <a:spLocks xmlns:a="http://schemas.openxmlformats.org/drawingml/2006/main" noGrp="1"/>
          </p:cNvSpPr>
          <p:nvPr/>
        </p:nvSpPr>
        <p:spPr>
          <a:xfrm xmlns:a="http://schemas.openxmlformats.org/drawingml/2006/main">
            <a:off x="3707130" y="21526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32" name="">
            <a:extLst xmlns:a="http://schemas.openxmlformats.org/drawingml/2006/main">
              <a:ext uri="{FF2B5EF4-FFF2-40B4-BE49-F238E27FC236}">
                <a16:creationId xmlns:a16="http://schemas.microsoft.com/office/drawing/2014/main" id="{42B9068D-D816-4F72-961F-AAB9C27EC436}"/>
              </a:ext>
            </a:extLst>
          </p:cNvPr>
          <p:cNvSpPr>
            <a:spLocks xmlns:a="http://schemas.openxmlformats.org/drawingml/2006/main" noGrp="1"/>
          </p:cNvSpPr>
          <p:nvPr/>
        </p:nvSpPr>
        <p:spPr>
          <a:xfrm xmlns:a="http://schemas.openxmlformats.org/drawingml/2006/main">
            <a:off x="3707130" y="23431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33" name="">
            <a:extLst xmlns:a="http://schemas.openxmlformats.org/drawingml/2006/main">
              <a:ext uri="{FF2B5EF4-FFF2-40B4-BE49-F238E27FC236}">
                <a16:creationId xmlns:a16="http://schemas.microsoft.com/office/drawing/2014/main" id="{CD9B82BF-0EC9-4A9F-9AB2-FC90FB3A0241}"/>
              </a:ext>
            </a:extLst>
          </p:cNvPr>
          <p:cNvSpPr>
            <a:spLocks xmlns:a="http://schemas.openxmlformats.org/drawingml/2006/main" noGrp="1"/>
          </p:cNvSpPr>
          <p:nvPr/>
        </p:nvSpPr>
        <p:spPr>
          <a:xfrm xmlns:a="http://schemas.openxmlformats.org/drawingml/2006/main">
            <a:off x="3707130" y="25336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34" name="">
            <a:extLst xmlns:a="http://schemas.openxmlformats.org/drawingml/2006/main">
              <a:ext uri="{FF2B5EF4-FFF2-40B4-BE49-F238E27FC236}">
                <a16:creationId xmlns:a16="http://schemas.microsoft.com/office/drawing/2014/main" id="{19DB2087-3F7B-4AB3-B8B0-DC02064FCBA5}"/>
              </a:ext>
            </a:extLst>
          </p:cNvPr>
          <p:cNvSpPr>
            <a:spLocks xmlns:a="http://schemas.openxmlformats.org/drawingml/2006/main" noGrp="1"/>
          </p:cNvSpPr>
          <p:nvPr/>
        </p:nvSpPr>
        <p:spPr>
          <a:xfrm xmlns:a="http://schemas.openxmlformats.org/drawingml/2006/main">
            <a:off x="3707130" y="27241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35" name="">
            <a:extLst xmlns:a="http://schemas.openxmlformats.org/drawingml/2006/main">
              <a:ext uri="{FF2B5EF4-FFF2-40B4-BE49-F238E27FC236}">
                <a16:creationId xmlns:a16="http://schemas.microsoft.com/office/drawing/2014/main" id="{A4285F37-B339-461A-84E2-E40B9CEEC8F1}"/>
              </a:ext>
            </a:extLst>
          </p:cNvPr>
          <p:cNvSpPr>
            <a:spLocks xmlns:a="http://schemas.openxmlformats.org/drawingml/2006/main" noGrp="1"/>
          </p:cNvSpPr>
          <p:nvPr/>
        </p:nvSpPr>
        <p:spPr>
          <a:xfrm xmlns:a="http://schemas.openxmlformats.org/drawingml/2006/main" rot="0">
            <a:off x="4036695" y="1771650"/>
            <a:ext cx="262890" cy="1143000"/>
          </a:xfrm>
          <a:prstGeom xmlns:a="http://schemas.openxmlformats.org/drawingml/2006/main" prst="rect">
            <a:avLst/>
          </a:prstGeom>
          <a:solidFill xmlns:a="http://schemas.openxmlformats.org/drawingml/2006/main">
            <a:srgbClr val="FFFDF7"/>
          </a:solidFill>
          <a:ln xmlns:a="http://schemas.openxmlformats.org/drawingml/2006/main" w="14288">
            <a:solidFill>
              <a:srgbClr val="202522"/>
            </a:solidFill>
            <a:prstDash val="solid"/>
          </a:ln>
        </p:spPr>
      </p:sp>
      <p:sp>
        <p:nvSpPr>
          <p:cNvPr id="36" name="">
            <a:extLst xmlns:a="http://schemas.openxmlformats.org/drawingml/2006/main">
              <a:ext uri="{FF2B5EF4-FFF2-40B4-BE49-F238E27FC236}">
                <a16:creationId xmlns:a16="http://schemas.microsoft.com/office/drawing/2014/main" id="{12F4402F-49AB-479B-8A97-22373AA57B84}"/>
              </a:ext>
            </a:extLst>
          </p:cNvPr>
          <p:cNvSpPr>
            <a:spLocks xmlns:a="http://schemas.openxmlformats.org/drawingml/2006/main" noGrp="1"/>
          </p:cNvSpPr>
          <p:nvPr/>
        </p:nvSpPr>
        <p:spPr>
          <a:xfrm xmlns:a="http://schemas.openxmlformats.org/drawingml/2006/main">
            <a:off x="4036695" y="19621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37" name="">
            <a:extLst xmlns:a="http://schemas.openxmlformats.org/drawingml/2006/main">
              <a:ext uri="{FF2B5EF4-FFF2-40B4-BE49-F238E27FC236}">
                <a16:creationId xmlns:a16="http://schemas.microsoft.com/office/drawing/2014/main" id="{E2D8A368-B5C1-4516-B1D4-646711472FA4}"/>
              </a:ext>
            </a:extLst>
          </p:cNvPr>
          <p:cNvSpPr>
            <a:spLocks xmlns:a="http://schemas.openxmlformats.org/drawingml/2006/main" noGrp="1"/>
          </p:cNvSpPr>
          <p:nvPr/>
        </p:nvSpPr>
        <p:spPr>
          <a:xfrm xmlns:a="http://schemas.openxmlformats.org/drawingml/2006/main">
            <a:off x="4036695" y="21526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38" name="">
            <a:extLst xmlns:a="http://schemas.openxmlformats.org/drawingml/2006/main">
              <a:ext uri="{FF2B5EF4-FFF2-40B4-BE49-F238E27FC236}">
                <a16:creationId xmlns:a16="http://schemas.microsoft.com/office/drawing/2014/main" id="{9E596162-BB3F-4411-965F-4C2821F2D54C}"/>
              </a:ext>
            </a:extLst>
          </p:cNvPr>
          <p:cNvSpPr>
            <a:spLocks xmlns:a="http://schemas.openxmlformats.org/drawingml/2006/main" noGrp="1"/>
          </p:cNvSpPr>
          <p:nvPr/>
        </p:nvSpPr>
        <p:spPr>
          <a:xfrm xmlns:a="http://schemas.openxmlformats.org/drawingml/2006/main">
            <a:off x="4036695" y="23431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39" name="">
            <a:extLst xmlns:a="http://schemas.openxmlformats.org/drawingml/2006/main">
              <a:ext uri="{FF2B5EF4-FFF2-40B4-BE49-F238E27FC236}">
                <a16:creationId xmlns:a16="http://schemas.microsoft.com/office/drawing/2014/main" id="{756CED47-BD08-4212-A5FB-8F8E4A1E7C31}"/>
              </a:ext>
            </a:extLst>
          </p:cNvPr>
          <p:cNvSpPr>
            <a:spLocks xmlns:a="http://schemas.openxmlformats.org/drawingml/2006/main" noGrp="1"/>
          </p:cNvSpPr>
          <p:nvPr/>
        </p:nvSpPr>
        <p:spPr>
          <a:xfrm xmlns:a="http://schemas.openxmlformats.org/drawingml/2006/main">
            <a:off x="4036695" y="25336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40" name="">
            <a:extLst xmlns:a="http://schemas.openxmlformats.org/drawingml/2006/main">
              <a:ext uri="{FF2B5EF4-FFF2-40B4-BE49-F238E27FC236}">
                <a16:creationId xmlns:a16="http://schemas.microsoft.com/office/drawing/2014/main" id="{C6583083-D362-489F-9EF0-468EA6DC049C}"/>
              </a:ext>
            </a:extLst>
          </p:cNvPr>
          <p:cNvSpPr>
            <a:spLocks xmlns:a="http://schemas.openxmlformats.org/drawingml/2006/main" noGrp="1"/>
          </p:cNvSpPr>
          <p:nvPr/>
        </p:nvSpPr>
        <p:spPr>
          <a:xfrm xmlns:a="http://schemas.openxmlformats.org/drawingml/2006/main">
            <a:off x="4036695" y="27241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41" name="">
            <a:extLst xmlns:a="http://schemas.openxmlformats.org/drawingml/2006/main">
              <a:ext uri="{FF2B5EF4-FFF2-40B4-BE49-F238E27FC236}">
                <a16:creationId xmlns:a16="http://schemas.microsoft.com/office/drawing/2014/main" id="{9F3157D3-A4C0-4EEA-9196-3923C9EECE97}"/>
              </a:ext>
            </a:extLst>
          </p:cNvPr>
          <p:cNvSpPr>
            <a:spLocks xmlns:a="http://schemas.openxmlformats.org/drawingml/2006/main" noGrp="1"/>
          </p:cNvSpPr>
          <p:nvPr/>
        </p:nvSpPr>
        <p:spPr>
          <a:xfrm xmlns:a="http://schemas.openxmlformats.org/drawingml/2006/main" rot="0">
            <a:off x="4366260" y="1771650"/>
            <a:ext cx="262890" cy="1143000"/>
          </a:xfrm>
          <a:prstGeom xmlns:a="http://schemas.openxmlformats.org/drawingml/2006/main" prst="rect">
            <a:avLst/>
          </a:prstGeom>
          <a:solidFill xmlns:a="http://schemas.openxmlformats.org/drawingml/2006/main">
            <a:srgbClr val="FFFDF7"/>
          </a:solidFill>
          <a:ln xmlns:a="http://schemas.openxmlformats.org/drawingml/2006/main" w="14288">
            <a:solidFill>
              <a:srgbClr val="202522"/>
            </a:solidFill>
            <a:prstDash val="solid"/>
          </a:ln>
        </p:spPr>
      </p:sp>
      <p:sp>
        <p:nvSpPr>
          <p:cNvPr id="42" name="">
            <a:extLst xmlns:a="http://schemas.openxmlformats.org/drawingml/2006/main">
              <a:ext uri="{FF2B5EF4-FFF2-40B4-BE49-F238E27FC236}">
                <a16:creationId xmlns:a16="http://schemas.microsoft.com/office/drawing/2014/main" id="{708F7516-E7C0-488E-87AC-AF1146FF14E0}"/>
              </a:ext>
            </a:extLst>
          </p:cNvPr>
          <p:cNvSpPr>
            <a:spLocks xmlns:a="http://schemas.openxmlformats.org/drawingml/2006/main" noGrp="1"/>
          </p:cNvSpPr>
          <p:nvPr/>
        </p:nvSpPr>
        <p:spPr>
          <a:xfrm xmlns:a="http://schemas.openxmlformats.org/drawingml/2006/main">
            <a:off x="4366260" y="19621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43" name="">
            <a:extLst xmlns:a="http://schemas.openxmlformats.org/drawingml/2006/main">
              <a:ext uri="{FF2B5EF4-FFF2-40B4-BE49-F238E27FC236}">
                <a16:creationId xmlns:a16="http://schemas.microsoft.com/office/drawing/2014/main" id="{46FB9759-E342-47CD-A7D9-257AAF21B48B}"/>
              </a:ext>
            </a:extLst>
          </p:cNvPr>
          <p:cNvSpPr>
            <a:spLocks xmlns:a="http://schemas.openxmlformats.org/drawingml/2006/main" noGrp="1"/>
          </p:cNvSpPr>
          <p:nvPr/>
        </p:nvSpPr>
        <p:spPr>
          <a:xfrm xmlns:a="http://schemas.openxmlformats.org/drawingml/2006/main">
            <a:off x="4366260" y="21526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44" name="">
            <a:extLst xmlns:a="http://schemas.openxmlformats.org/drawingml/2006/main">
              <a:ext uri="{FF2B5EF4-FFF2-40B4-BE49-F238E27FC236}">
                <a16:creationId xmlns:a16="http://schemas.microsoft.com/office/drawing/2014/main" id="{A9E0DEAB-2591-4C36-8E69-C71A789FAD59}"/>
              </a:ext>
            </a:extLst>
          </p:cNvPr>
          <p:cNvSpPr>
            <a:spLocks xmlns:a="http://schemas.openxmlformats.org/drawingml/2006/main" noGrp="1"/>
          </p:cNvSpPr>
          <p:nvPr/>
        </p:nvSpPr>
        <p:spPr>
          <a:xfrm xmlns:a="http://schemas.openxmlformats.org/drawingml/2006/main">
            <a:off x="4366260" y="23431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45" name="">
            <a:extLst xmlns:a="http://schemas.openxmlformats.org/drawingml/2006/main">
              <a:ext uri="{FF2B5EF4-FFF2-40B4-BE49-F238E27FC236}">
                <a16:creationId xmlns:a16="http://schemas.microsoft.com/office/drawing/2014/main" id="{6C398A38-1F5D-480A-B7FA-2BF0ECC4A233}"/>
              </a:ext>
            </a:extLst>
          </p:cNvPr>
          <p:cNvSpPr>
            <a:spLocks xmlns:a="http://schemas.openxmlformats.org/drawingml/2006/main" noGrp="1"/>
          </p:cNvSpPr>
          <p:nvPr/>
        </p:nvSpPr>
        <p:spPr>
          <a:xfrm xmlns:a="http://schemas.openxmlformats.org/drawingml/2006/main">
            <a:off x="4366260" y="25336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46" name="">
            <a:extLst xmlns:a="http://schemas.openxmlformats.org/drawingml/2006/main">
              <a:ext uri="{FF2B5EF4-FFF2-40B4-BE49-F238E27FC236}">
                <a16:creationId xmlns:a16="http://schemas.microsoft.com/office/drawing/2014/main" id="{A538AA3A-40FC-47C6-A771-791924F452A5}"/>
              </a:ext>
            </a:extLst>
          </p:cNvPr>
          <p:cNvSpPr>
            <a:spLocks xmlns:a="http://schemas.openxmlformats.org/drawingml/2006/main" noGrp="1"/>
          </p:cNvSpPr>
          <p:nvPr/>
        </p:nvSpPr>
        <p:spPr>
          <a:xfrm xmlns:a="http://schemas.openxmlformats.org/drawingml/2006/main">
            <a:off x="4366260" y="2724150"/>
            <a:ext cx="26289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47" name="">
            <a:extLst xmlns:a="http://schemas.openxmlformats.org/drawingml/2006/main">
              <a:ext uri="{FF2B5EF4-FFF2-40B4-BE49-F238E27FC236}">
                <a16:creationId xmlns:a16="http://schemas.microsoft.com/office/drawing/2014/main" id="{29182436-9D64-404A-80F5-AA9B72922D39}"/>
              </a:ext>
            </a:extLst>
          </p:cNvPr>
          <p:cNvSpPr>
            <a:spLocks xmlns:a="http://schemas.openxmlformats.org/drawingml/2006/main" noGrp="1"/>
          </p:cNvSpPr>
          <p:nvPr/>
        </p:nvSpPr>
        <p:spPr>
          <a:xfrm xmlns:a="http://schemas.openxmlformats.org/drawingml/2006/main" rot="0">
            <a:off x="2876550" y="3219450"/>
            <a:ext cx="194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202522"/>
                </a:solidFill>
                <a:latin typeface="Helvetica Neue"/>
                <a:ea typeface="Helvetica Neue"/>
                <a:cs typeface="Helvetica Neue"/>
              </a:defRPr>
            </a:pPr>
            <a:r>
              <a:rPr sz="1725" b="1" i="0">
                <a:solidFill>
                  <a:srgbClr val="202522"/>
                </a:solidFill>
                <a:latin typeface="Helvetica Neue"/>
                <a:ea typeface="Helvetica Neue"/>
                <a:cs typeface="Helvetica Neue"/>
              </a:rPr>
              <a:t>Parquet folder</a:t>
            </a:r>
          </a:p>
        </p:txBody>
      </p:sp>
      <p:sp>
        <p:nvSpPr>
          <p:cNvPr id="48" name="">
            <a:extLst xmlns:a="http://schemas.openxmlformats.org/drawingml/2006/main">
              <a:ext uri="{FF2B5EF4-FFF2-40B4-BE49-F238E27FC236}">
                <a16:creationId xmlns:a16="http://schemas.microsoft.com/office/drawing/2014/main" id="{C92D072F-7D62-4A50-A03F-40AA2B6AFC9B}"/>
              </a:ext>
            </a:extLst>
          </p:cNvPr>
          <p:cNvSpPr>
            <a:spLocks xmlns:a="http://schemas.openxmlformats.org/drawingml/2006/main" noGrp="1"/>
          </p:cNvSpPr>
          <p:nvPr/>
        </p:nvSpPr>
        <p:spPr>
          <a:xfrm xmlns:a="http://schemas.openxmlformats.org/drawingml/2006/main" rot="0">
            <a:off x="2876550" y="3943350"/>
            <a:ext cx="1943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68716B"/>
                </a:solidFill>
                <a:latin typeface="Helvetica Neue"/>
                <a:ea typeface="Helvetica Neue"/>
                <a:cs typeface="Helvetica Neue"/>
              </a:defRPr>
            </a:pPr>
            <a:r>
              <a:rPr sz="1350" b="0" i="0">
                <a:solidFill>
                  <a:srgbClr val="68716B"/>
                </a:solidFill>
                <a:latin typeface="Helvetica Neue"/>
                <a:ea typeface="Helvetica Neue"/>
                <a:cs typeface="Helvetica Neue"/>
              </a:rPr>
              <a:t>columnar files</a:t>
            </a:r>
          </a:p>
        </p:txBody>
      </p:sp>
      <p:sp>
        <p:nvSpPr>
          <p:cNvPr id="49" name="">
            <a:extLst xmlns:a="http://schemas.openxmlformats.org/drawingml/2006/main">
              <a:ext uri="{FF2B5EF4-FFF2-40B4-BE49-F238E27FC236}">
                <a16:creationId xmlns:a16="http://schemas.microsoft.com/office/drawing/2014/main" id="{554843EB-DDE0-4B11-91D7-6FEDDA95B2F0}"/>
              </a:ext>
            </a:extLst>
          </p:cNvPr>
          <p:cNvSpPr>
            <a:spLocks xmlns:a="http://schemas.openxmlformats.org/drawingml/2006/main" noGrp="1"/>
          </p:cNvSpPr>
          <p:nvPr/>
        </p:nvSpPr>
        <p:spPr>
          <a:xfrm xmlns:a="http://schemas.openxmlformats.org/drawingml/2006/main" rot="0">
            <a:off x="5238750" y="1771650"/>
            <a:ext cx="1619250" cy="1143000"/>
          </a:xfrm>
          <a:prstGeom xmlns:a="http://schemas.openxmlformats.org/drawingml/2006/main" prst="rect">
            <a:avLst/>
          </a:prstGeom>
          <a:solidFill xmlns:a="http://schemas.openxmlformats.org/drawingml/2006/main">
            <a:srgbClr val="FFFDF7"/>
          </a:solidFill>
          <a:ln xmlns:a="http://schemas.openxmlformats.org/drawingml/2006/main" w="19050">
            <a:solidFill>
              <a:srgbClr val="202522"/>
            </a:solidFill>
            <a:prstDash val="solid"/>
          </a:ln>
        </p:spPr>
      </p:sp>
      <p:sp>
        <p:nvSpPr>
          <p:cNvPr id="50" name="">
            <a:extLst xmlns:a="http://schemas.openxmlformats.org/drawingml/2006/main">
              <a:ext uri="{FF2B5EF4-FFF2-40B4-BE49-F238E27FC236}">
                <a16:creationId xmlns:a16="http://schemas.microsoft.com/office/drawing/2014/main" id="{7DB323E0-F2BD-4C83-A1CF-A4B377C961AF}"/>
              </a:ext>
            </a:extLst>
          </p:cNvPr>
          <p:cNvSpPr>
            <a:spLocks xmlns:a="http://schemas.openxmlformats.org/drawingml/2006/main" noGrp="1"/>
          </p:cNvSpPr>
          <p:nvPr/>
        </p:nvSpPr>
        <p:spPr>
          <a:xfrm xmlns:a="http://schemas.openxmlformats.org/drawingml/2006/main">
            <a:off x="5643563" y="1771650"/>
            <a:ext cx="0" cy="114300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1" name="">
            <a:extLst xmlns:a="http://schemas.openxmlformats.org/drawingml/2006/main">
              <a:ext uri="{FF2B5EF4-FFF2-40B4-BE49-F238E27FC236}">
                <a16:creationId xmlns:a16="http://schemas.microsoft.com/office/drawing/2014/main" id="{6627F854-9171-4AB9-AA33-8BA481114A81}"/>
              </a:ext>
            </a:extLst>
          </p:cNvPr>
          <p:cNvSpPr>
            <a:spLocks xmlns:a="http://schemas.openxmlformats.org/drawingml/2006/main" noGrp="1"/>
          </p:cNvSpPr>
          <p:nvPr/>
        </p:nvSpPr>
        <p:spPr>
          <a:xfrm xmlns:a="http://schemas.openxmlformats.org/drawingml/2006/main">
            <a:off x="6048375" y="1771650"/>
            <a:ext cx="0" cy="114300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2" name="">
            <a:extLst xmlns:a="http://schemas.openxmlformats.org/drawingml/2006/main">
              <a:ext uri="{FF2B5EF4-FFF2-40B4-BE49-F238E27FC236}">
                <a16:creationId xmlns:a16="http://schemas.microsoft.com/office/drawing/2014/main" id="{E07E1FE0-B2BC-4B7C-94FC-D52F6F58703D}"/>
              </a:ext>
            </a:extLst>
          </p:cNvPr>
          <p:cNvSpPr>
            <a:spLocks xmlns:a="http://schemas.openxmlformats.org/drawingml/2006/main" noGrp="1"/>
          </p:cNvSpPr>
          <p:nvPr/>
        </p:nvSpPr>
        <p:spPr>
          <a:xfrm xmlns:a="http://schemas.openxmlformats.org/drawingml/2006/main">
            <a:off x="6453188" y="1771650"/>
            <a:ext cx="0" cy="114300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3" name="">
            <a:extLst xmlns:a="http://schemas.openxmlformats.org/drawingml/2006/main">
              <a:ext uri="{FF2B5EF4-FFF2-40B4-BE49-F238E27FC236}">
                <a16:creationId xmlns:a16="http://schemas.microsoft.com/office/drawing/2014/main" id="{EF50E5DD-E85B-4FCA-BC38-36B02072CA92}"/>
              </a:ext>
            </a:extLst>
          </p:cNvPr>
          <p:cNvSpPr>
            <a:spLocks xmlns:a="http://schemas.openxmlformats.org/drawingml/2006/main" noGrp="1"/>
          </p:cNvSpPr>
          <p:nvPr/>
        </p:nvSpPr>
        <p:spPr>
          <a:xfrm xmlns:a="http://schemas.openxmlformats.org/drawingml/2006/main">
            <a:off x="5238750" y="2057400"/>
            <a:ext cx="16192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4" name="">
            <a:extLst xmlns:a="http://schemas.openxmlformats.org/drawingml/2006/main">
              <a:ext uri="{FF2B5EF4-FFF2-40B4-BE49-F238E27FC236}">
                <a16:creationId xmlns:a16="http://schemas.microsoft.com/office/drawing/2014/main" id="{46692DD8-9FD1-49ED-8883-36A5C48D41AD}"/>
              </a:ext>
            </a:extLst>
          </p:cNvPr>
          <p:cNvSpPr>
            <a:spLocks xmlns:a="http://schemas.openxmlformats.org/drawingml/2006/main" noGrp="1"/>
          </p:cNvSpPr>
          <p:nvPr/>
        </p:nvSpPr>
        <p:spPr>
          <a:xfrm xmlns:a="http://schemas.openxmlformats.org/drawingml/2006/main">
            <a:off x="5238750" y="2343150"/>
            <a:ext cx="16192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5" name="">
            <a:extLst xmlns:a="http://schemas.openxmlformats.org/drawingml/2006/main">
              <a:ext uri="{FF2B5EF4-FFF2-40B4-BE49-F238E27FC236}">
                <a16:creationId xmlns:a16="http://schemas.microsoft.com/office/drawing/2014/main" id="{9CA75AC8-AD9F-426B-BD8D-AE230AF7B1B3}"/>
              </a:ext>
            </a:extLst>
          </p:cNvPr>
          <p:cNvSpPr>
            <a:spLocks xmlns:a="http://schemas.openxmlformats.org/drawingml/2006/main" noGrp="1"/>
          </p:cNvSpPr>
          <p:nvPr/>
        </p:nvSpPr>
        <p:spPr>
          <a:xfrm xmlns:a="http://schemas.openxmlformats.org/drawingml/2006/main">
            <a:off x="5238750" y="2628900"/>
            <a:ext cx="16192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6" name="">
            <a:extLst xmlns:a="http://schemas.openxmlformats.org/drawingml/2006/main">
              <a:ext uri="{FF2B5EF4-FFF2-40B4-BE49-F238E27FC236}">
                <a16:creationId xmlns:a16="http://schemas.microsoft.com/office/drawing/2014/main" id="{99DCA0CD-CFCE-4B9A-9518-039580BE1311}"/>
              </a:ext>
            </a:extLst>
          </p:cNvPr>
          <p:cNvSpPr>
            <a:spLocks xmlns:a="http://schemas.openxmlformats.org/drawingml/2006/main" noGrp="1"/>
          </p:cNvSpPr>
          <p:nvPr/>
        </p:nvSpPr>
        <p:spPr>
          <a:xfrm xmlns:a="http://schemas.openxmlformats.org/drawingml/2006/main" rot="0">
            <a:off x="5643563" y="2057400"/>
            <a:ext cx="404813" cy="285750"/>
          </a:xfrm>
          <a:prstGeom xmlns:a="http://schemas.openxmlformats.org/drawingml/2006/main" prst="rect">
            <a:avLst/>
          </a:prstGeom>
          <a:solidFill xmlns:a="http://schemas.openxmlformats.org/drawingml/2006/main">
            <a:srgbClr val="9B4C2F"/>
          </a:solidFill>
          <a:ln xmlns:a="http://schemas.openxmlformats.org/drawingml/2006/main" w="0">
            <a:solidFill>
              <a:srgbClr val="9B4C2F"/>
            </a:solidFill>
            <a:prstDash val="solid"/>
          </a:ln>
        </p:spPr>
      </p:sp>
      <p:sp>
        <p:nvSpPr>
          <p:cNvPr id="57" name="">
            <a:extLst xmlns:a="http://schemas.openxmlformats.org/drawingml/2006/main">
              <a:ext uri="{FF2B5EF4-FFF2-40B4-BE49-F238E27FC236}">
                <a16:creationId xmlns:a16="http://schemas.microsoft.com/office/drawing/2014/main" id="{C32ED940-4BA4-4D5B-B94B-8B0A99D83CE5}"/>
              </a:ext>
            </a:extLst>
          </p:cNvPr>
          <p:cNvSpPr>
            <a:spLocks xmlns:a="http://schemas.openxmlformats.org/drawingml/2006/main" noGrp="1"/>
          </p:cNvSpPr>
          <p:nvPr/>
        </p:nvSpPr>
        <p:spPr>
          <a:xfrm xmlns:a="http://schemas.openxmlformats.org/drawingml/2006/main" rot="0">
            <a:off x="5086350" y="3219450"/>
            <a:ext cx="194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202522"/>
                </a:solidFill>
                <a:latin typeface="Helvetica Neue"/>
                <a:ea typeface="Helvetica Neue"/>
                <a:cs typeface="Helvetica Neue"/>
              </a:defRPr>
            </a:pPr>
            <a:r>
              <a:rPr sz="1725" b="1" i="0">
                <a:solidFill>
                  <a:srgbClr val="202522"/>
                </a:solidFill>
                <a:latin typeface="Helvetica Neue"/>
                <a:ea typeface="Helvetica Neue"/>
                <a:cs typeface="Helvetica Neue"/>
              </a:rPr>
              <a:t>Python DataFrame</a:t>
            </a:r>
          </a:p>
        </p:txBody>
      </p:sp>
      <p:sp>
        <p:nvSpPr>
          <p:cNvPr id="58" name="">
            <a:extLst xmlns:a="http://schemas.openxmlformats.org/drawingml/2006/main">
              <a:ext uri="{FF2B5EF4-FFF2-40B4-BE49-F238E27FC236}">
                <a16:creationId xmlns:a16="http://schemas.microsoft.com/office/drawing/2014/main" id="{F90CB882-16F4-4AE1-B6F9-E4BC0F7E313E}"/>
              </a:ext>
            </a:extLst>
          </p:cNvPr>
          <p:cNvSpPr>
            <a:spLocks xmlns:a="http://schemas.openxmlformats.org/drawingml/2006/main" noGrp="1"/>
          </p:cNvSpPr>
          <p:nvPr/>
        </p:nvSpPr>
        <p:spPr>
          <a:xfrm xmlns:a="http://schemas.openxmlformats.org/drawingml/2006/main" rot="0">
            <a:off x="5086350" y="3943350"/>
            <a:ext cx="1943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68716B"/>
                </a:solidFill>
                <a:latin typeface="Helvetica Neue"/>
                <a:ea typeface="Helvetica Neue"/>
                <a:cs typeface="Helvetica Neue"/>
              </a:defRPr>
            </a:pPr>
            <a:r>
              <a:rPr sz="1350" b="0" i="0">
                <a:solidFill>
                  <a:srgbClr val="68716B"/>
                </a:solidFill>
                <a:latin typeface="Helvetica Neue"/>
                <a:ea typeface="Helvetica Neue"/>
                <a:cs typeface="Helvetica Neue"/>
              </a:rPr>
              <a:t>in-memory values</a:t>
            </a:r>
          </a:p>
        </p:txBody>
      </p:sp>
      <p:sp>
        <p:nvSpPr>
          <p:cNvPr id="59" name="">
            <a:extLst xmlns:a="http://schemas.openxmlformats.org/drawingml/2006/main">
              <a:ext uri="{FF2B5EF4-FFF2-40B4-BE49-F238E27FC236}">
                <a16:creationId xmlns:a16="http://schemas.microsoft.com/office/drawing/2014/main" id="{52400546-D529-4690-9ADE-0FDFED974E98}"/>
              </a:ext>
            </a:extLst>
          </p:cNvPr>
          <p:cNvSpPr>
            <a:spLocks xmlns:a="http://schemas.openxmlformats.org/drawingml/2006/main" noGrp="1"/>
          </p:cNvSpPr>
          <p:nvPr/>
        </p:nvSpPr>
        <p:spPr>
          <a:xfrm xmlns:a="http://schemas.openxmlformats.org/drawingml/2006/main" flipV="1">
            <a:off x="7639050" y="1981200"/>
            <a:ext cx="492633" cy="521970"/>
          </a:xfrm>
          <a:prstGeom xmlns:a="http://schemas.openxmlformats.org/drawingml/2006/main" prst="line">
            <a:avLst/>
          </a:prstGeom>
          <a:noFill xmlns:a="http://schemas.openxmlformats.org/drawingml/2006/main"/>
          <a:ln xmlns:a="http://schemas.openxmlformats.org/drawingml/2006/main" w="19050">
            <a:solidFill>
              <a:srgbClr val="68716B"/>
            </a:solidFill>
            <a:prstDash val="solid"/>
          </a:ln>
        </p:spPr>
      </p:sp>
      <p:sp>
        <p:nvSpPr>
          <p:cNvPr id="60" name="">
            <a:extLst xmlns:a="http://schemas.openxmlformats.org/drawingml/2006/main">
              <a:ext uri="{FF2B5EF4-FFF2-40B4-BE49-F238E27FC236}">
                <a16:creationId xmlns:a16="http://schemas.microsoft.com/office/drawing/2014/main" id="{1472F9EB-2A6A-4EE8-AD5C-55F4B9FAD8E1}"/>
              </a:ext>
            </a:extLst>
          </p:cNvPr>
          <p:cNvSpPr>
            <a:spLocks xmlns:a="http://schemas.openxmlformats.org/drawingml/2006/main" noGrp="1"/>
          </p:cNvSpPr>
          <p:nvPr/>
        </p:nvSpPr>
        <p:spPr>
          <a:xfrm xmlns:a="http://schemas.openxmlformats.org/drawingml/2006/main" flipV="0">
            <a:off x="8131683" y="1981200"/>
            <a:ext cx="521779" cy="415290"/>
          </a:xfrm>
          <a:prstGeom xmlns:a="http://schemas.openxmlformats.org/drawingml/2006/main" prst="line">
            <a:avLst/>
          </a:prstGeom>
          <a:noFill xmlns:a="http://schemas.openxmlformats.org/drawingml/2006/main"/>
          <a:ln xmlns:a="http://schemas.openxmlformats.org/drawingml/2006/main" w="19050">
            <a:solidFill>
              <a:srgbClr val="68716B"/>
            </a:solidFill>
            <a:prstDash val="solid"/>
          </a:ln>
        </p:spPr>
      </p:sp>
      <p:sp>
        <p:nvSpPr>
          <p:cNvPr id="61" name="">
            <a:extLst xmlns:a="http://schemas.openxmlformats.org/drawingml/2006/main">
              <a:ext uri="{FF2B5EF4-FFF2-40B4-BE49-F238E27FC236}">
                <a16:creationId xmlns:a16="http://schemas.microsoft.com/office/drawing/2014/main" id="{22E40AEF-DF0D-4DCF-A892-06D5E1029CEF}"/>
              </a:ext>
            </a:extLst>
          </p:cNvPr>
          <p:cNvSpPr>
            <a:spLocks xmlns:a="http://schemas.openxmlformats.org/drawingml/2006/main" noGrp="1"/>
          </p:cNvSpPr>
          <p:nvPr/>
        </p:nvSpPr>
        <p:spPr>
          <a:xfrm xmlns:a="http://schemas.openxmlformats.org/drawingml/2006/main" flipV="1">
            <a:off x="8653463" y="2019300"/>
            <a:ext cx="223838" cy="377190"/>
          </a:xfrm>
          <a:prstGeom xmlns:a="http://schemas.openxmlformats.org/drawingml/2006/main" prst="line">
            <a:avLst/>
          </a:prstGeom>
          <a:noFill xmlns:a="http://schemas.openxmlformats.org/drawingml/2006/main"/>
          <a:ln xmlns:a="http://schemas.openxmlformats.org/drawingml/2006/main" w="19050">
            <a:solidFill>
              <a:srgbClr val="68716B"/>
            </a:solidFill>
            <a:prstDash val="solid"/>
          </a:ln>
        </p:spPr>
      </p:sp>
      <p:sp>
        <p:nvSpPr>
          <p:cNvPr id="62" name="">
            <a:extLst xmlns:a="http://schemas.openxmlformats.org/drawingml/2006/main">
              <a:ext uri="{FF2B5EF4-FFF2-40B4-BE49-F238E27FC236}">
                <a16:creationId xmlns:a16="http://schemas.microsoft.com/office/drawing/2014/main" id="{24FBE8B6-12EE-4CB4-AA97-E7B331F4B502}"/>
              </a:ext>
            </a:extLst>
          </p:cNvPr>
          <p:cNvSpPr>
            <a:spLocks xmlns:a="http://schemas.openxmlformats.org/drawingml/2006/main" noGrp="1"/>
          </p:cNvSpPr>
          <p:nvPr/>
        </p:nvSpPr>
        <p:spPr>
          <a:xfrm xmlns:a="http://schemas.openxmlformats.org/drawingml/2006/main" flipV="1">
            <a:off x="7639050" y="2396490"/>
            <a:ext cx="1014413" cy="106680"/>
          </a:xfrm>
          <a:prstGeom xmlns:a="http://schemas.openxmlformats.org/drawingml/2006/main" prst="line">
            <a:avLst/>
          </a:prstGeom>
          <a:noFill xmlns:a="http://schemas.openxmlformats.org/drawingml/2006/main"/>
          <a:ln xmlns:a="http://schemas.openxmlformats.org/drawingml/2006/main" w="19050">
            <a:solidFill>
              <a:srgbClr val="68716B"/>
            </a:solidFill>
            <a:prstDash val="solid"/>
          </a:ln>
        </p:spPr>
      </p:sp>
      <p:sp>
        <p:nvSpPr>
          <p:cNvPr id="63" name="">
            <a:extLst xmlns:a="http://schemas.openxmlformats.org/drawingml/2006/main">
              <a:ext uri="{FF2B5EF4-FFF2-40B4-BE49-F238E27FC236}">
                <a16:creationId xmlns:a16="http://schemas.microsoft.com/office/drawing/2014/main" id="{5D9B0190-D92D-4C26-963B-1EABC7BCF7B8}"/>
              </a:ext>
            </a:extLst>
          </p:cNvPr>
          <p:cNvSpPr>
            <a:spLocks xmlns:a="http://schemas.openxmlformats.org/drawingml/2006/main" noGrp="1"/>
          </p:cNvSpPr>
          <p:nvPr/>
        </p:nvSpPr>
        <p:spPr>
          <a:xfrm xmlns:a="http://schemas.openxmlformats.org/drawingml/2006/main" flipV="0">
            <a:off x="8131683" y="1981200"/>
            <a:ext cx="745617" cy="38100"/>
          </a:xfrm>
          <a:prstGeom xmlns:a="http://schemas.openxmlformats.org/drawingml/2006/main" prst="line">
            <a:avLst/>
          </a:prstGeom>
          <a:noFill xmlns:a="http://schemas.openxmlformats.org/drawingml/2006/main"/>
          <a:ln xmlns:a="http://schemas.openxmlformats.org/drawingml/2006/main" w="19050">
            <a:solidFill>
              <a:srgbClr val="68716B"/>
            </a:solidFill>
            <a:prstDash val="solid"/>
          </a:ln>
        </p:spPr>
      </p:sp>
      <p:sp>
        <p:nvSpPr>
          <p:cNvPr id="64" name="">
            <a:extLst xmlns:a="http://schemas.openxmlformats.org/drawingml/2006/main">
              <a:ext uri="{FF2B5EF4-FFF2-40B4-BE49-F238E27FC236}">
                <a16:creationId xmlns:a16="http://schemas.microsoft.com/office/drawing/2014/main" id="{341547E2-054D-44CE-B530-4E6962E7AB17}"/>
              </a:ext>
            </a:extLst>
          </p:cNvPr>
          <p:cNvSpPr>
            <a:spLocks xmlns:a="http://schemas.openxmlformats.org/drawingml/2006/main" noGrp="1"/>
          </p:cNvSpPr>
          <p:nvPr/>
        </p:nvSpPr>
        <p:spPr>
          <a:xfrm xmlns:a="http://schemas.openxmlformats.org/drawingml/2006/main" rot="0">
            <a:off x="7543800" y="2407920"/>
            <a:ext cx="190500" cy="190500"/>
          </a:xfrm>
          <a:prstGeom xmlns:a="http://schemas.openxmlformats.org/drawingml/2006/main" prst="ellipse">
            <a:avLst/>
          </a:prstGeom>
          <a:solidFill xmlns:a="http://schemas.openxmlformats.org/drawingml/2006/main">
            <a:srgbClr val="FFFDF7"/>
          </a:solidFill>
          <a:ln xmlns:a="http://schemas.openxmlformats.org/drawingml/2006/main" w="19050">
            <a:solidFill>
              <a:srgbClr val="202522"/>
            </a:solidFill>
            <a:prstDash val="solid"/>
          </a:ln>
        </p:spPr>
      </p:sp>
      <p:sp>
        <p:nvSpPr>
          <p:cNvPr id="65" name="">
            <a:extLst xmlns:a="http://schemas.openxmlformats.org/drawingml/2006/main">
              <a:ext uri="{FF2B5EF4-FFF2-40B4-BE49-F238E27FC236}">
                <a16:creationId xmlns:a16="http://schemas.microsoft.com/office/drawing/2014/main" id="{408A426A-856C-4FEB-AC71-29943D90B70F}"/>
              </a:ext>
            </a:extLst>
          </p:cNvPr>
          <p:cNvSpPr>
            <a:spLocks xmlns:a="http://schemas.openxmlformats.org/drawingml/2006/main" noGrp="1"/>
          </p:cNvSpPr>
          <p:nvPr/>
        </p:nvSpPr>
        <p:spPr>
          <a:xfrm xmlns:a="http://schemas.openxmlformats.org/drawingml/2006/main" rot="0">
            <a:off x="8036433" y="1885950"/>
            <a:ext cx="190500" cy="190500"/>
          </a:xfrm>
          <a:prstGeom xmlns:a="http://schemas.openxmlformats.org/drawingml/2006/main" prst="ellipse">
            <a:avLst/>
          </a:prstGeom>
          <a:solidFill xmlns:a="http://schemas.openxmlformats.org/drawingml/2006/main">
            <a:srgbClr val="684F82"/>
          </a:solidFill>
          <a:ln xmlns:a="http://schemas.openxmlformats.org/drawingml/2006/main" w="19050">
            <a:solidFill>
              <a:srgbClr val="202522"/>
            </a:solidFill>
            <a:prstDash val="solid"/>
          </a:ln>
        </p:spPr>
      </p:sp>
      <p:sp>
        <p:nvSpPr>
          <p:cNvPr id="66" name="">
            <a:extLst xmlns:a="http://schemas.openxmlformats.org/drawingml/2006/main">
              <a:ext uri="{FF2B5EF4-FFF2-40B4-BE49-F238E27FC236}">
                <a16:creationId xmlns:a16="http://schemas.microsoft.com/office/drawing/2014/main" id="{DB26F7DA-4759-481A-9DBD-D6A2B543AC91}"/>
              </a:ext>
            </a:extLst>
          </p:cNvPr>
          <p:cNvSpPr>
            <a:spLocks xmlns:a="http://schemas.openxmlformats.org/drawingml/2006/main" noGrp="1"/>
          </p:cNvSpPr>
          <p:nvPr/>
        </p:nvSpPr>
        <p:spPr>
          <a:xfrm xmlns:a="http://schemas.openxmlformats.org/drawingml/2006/main" rot="0">
            <a:off x="8558213" y="2301240"/>
            <a:ext cx="190500" cy="190500"/>
          </a:xfrm>
          <a:prstGeom xmlns:a="http://schemas.openxmlformats.org/drawingml/2006/main" prst="ellipse">
            <a:avLst/>
          </a:prstGeom>
          <a:solidFill xmlns:a="http://schemas.openxmlformats.org/drawingml/2006/main">
            <a:srgbClr val="FFFDF7"/>
          </a:solidFill>
          <a:ln xmlns:a="http://schemas.openxmlformats.org/drawingml/2006/main" w="19050">
            <a:solidFill>
              <a:srgbClr val="202522"/>
            </a:solidFill>
            <a:prstDash val="solid"/>
          </a:ln>
        </p:spPr>
      </p:sp>
      <p:sp>
        <p:nvSpPr>
          <p:cNvPr id="67" name="">
            <a:extLst xmlns:a="http://schemas.openxmlformats.org/drawingml/2006/main">
              <a:ext uri="{FF2B5EF4-FFF2-40B4-BE49-F238E27FC236}">
                <a16:creationId xmlns:a16="http://schemas.microsoft.com/office/drawing/2014/main" id="{EAE0965E-52F9-4F05-8C08-37F71E9EDB2D}"/>
              </a:ext>
            </a:extLst>
          </p:cNvPr>
          <p:cNvSpPr>
            <a:spLocks xmlns:a="http://schemas.openxmlformats.org/drawingml/2006/main" noGrp="1"/>
          </p:cNvSpPr>
          <p:nvPr/>
        </p:nvSpPr>
        <p:spPr>
          <a:xfrm xmlns:a="http://schemas.openxmlformats.org/drawingml/2006/main" rot="0">
            <a:off x="8782050" y="1924050"/>
            <a:ext cx="190500" cy="190500"/>
          </a:xfrm>
          <a:prstGeom xmlns:a="http://schemas.openxmlformats.org/drawingml/2006/main" prst="ellipse">
            <a:avLst/>
          </a:prstGeom>
          <a:solidFill xmlns:a="http://schemas.openxmlformats.org/drawingml/2006/main">
            <a:srgbClr val="FFFDF7"/>
          </a:solidFill>
          <a:ln xmlns:a="http://schemas.openxmlformats.org/drawingml/2006/main" w="19050">
            <a:solidFill>
              <a:srgbClr val="202522"/>
            </a:solidFill>
            <a:prstDash val="solid"/>
          </a:ln>
        </p:spPr>
      </p:sp>
      <p:sp>
        <p:nvSpPr>
          <p:cNvPr id="68" name="">
            <a:extLst xmlns:a="http://schemas.openxmlformats.org/drawingml/2006/main">
              <a:ext uri="{FF2B5EF4-FFF2-40B4-BE49-F238E27FC236}">
                <a16:creationId xmlns:a16="http://schemas.microsoft.com/office/drawing/2014/main" id="{1E195F03-7064-4BBC-9039-78D0E055D17D}"/>
              </a:ext>
            </a:extLst>
          </p:cNvPr>
          <p:cNvSpPr>
            <a:spLocks xmlns:a="http://schemas.openxmlformats.org/drawingml/2006/main" noGrp="1"/>
          </p:cNvSpPr>
          <p:nvPr/>
        </p:nvSpPr>
        <p:spPr>
          <a:xfrm xmlns:a="http://schemas.openxmlformats.org/drawingml/2006/main" rot="0">
            <a:off x="7296150" y="3219450"/>
            <a:ext cx="194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202522"/>
                </a:solidFill>
                <a:latin typeface="Helvetica Neue"/>
                <a:ea typeface="Helvetica Neue"/>
                <a:cs typeface="Helvetica Neue"/>
              </a:defRPr>
            </a:pPr>
            <a:r>
              <a:rPr sz="1725" b="1" i="0">
                <a:solidFill>
                  <a:srgbClr val="202522"/>
                </a:solidFill>
                <a:latin typeface="Helvetica Neue"/>
                <a:ea typeface="Helvetica Neue"/>
                <a:cs typeface="Helvetica Neue"/>
              </a:rPr>
              <a:t>Knowledge graph</a:t>
            </a:r>
          </a:p>
        </p:txBody>
      </p:sp>
      <p:sp>
        <p:nvSpPr>
          <p:cNvPr id="69" name="">
            <a:extLst xmlns:a="http://schemas.openxmlformats.org/drawingml/2006/main">
              <a:ext uri="{FF2B5EF4-FFF2-40B4-BE49-F238E27FC236}">
                <a16:creationId xmlns:a16="http://schemas.microsoft.com/office/drawing/2014/main" id="{31B68A0C-E283-4527-8290-8FC3073129E9}"/>
              </a:ext>
            </a:extLst>
          </p:cNvPr>
          <p:cNvSpPr>
            <a:spLocks xmlns:a="http://schemas.openxmlformats.org/drawingml/2006/main" noGrp="1"/>
          </p:cNvSpPr>
          <p:nvPr/>
        </p:nvSpPr>
        <p:spPr>
          <a:xfrm xmlns:a="http://schemas.openxmlformats.org/drawingml/2006/main" rot="0">
            <a:off x="7296150" y="3943350"/>
            <a:ext cx="1943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68716B"/>
                </a:solidFill>
                <a:latin typeface="Helvetica Neue"/>
                <a:ea typeface="Helvetica Neue"/>
                <a:cs typeface="Helvetica Neue"/>
              </a:defRPr>
            </a:pPr>
            <a:r>
              <a:rPr sz="1350" b="0" i="0">
                <a:solidFill>
                  <a:srgbClr val="68716B"/>
                </a:solidFill>
                <a:latin typeface="Helvetica Neue"/>
                <a:ea typeface="Helvetica Neue"/>
                <a:cs typeface="Helvetica Neue"/>
              </a:rPr>
              <a:t>entities + edges</a:t>
            </a:r>
          </a:p>
        </p:txBody>
      </p:sp>
      <p:sp>
        <p:nvSpPr>
          <p:cNvPr id="70" name="">
            <a:extLst xmlns:a="http://schemas.openxmlformats.org/drawingml/2006/main">
              <a:ext uri="{FF2B5EF4-FFF2-40B4-BE49-F238E27FC236}">
                <a16:creationId xmlns:a16="http://schemas.microsoft.com/office/drawing/2014/main" id="{FD53E2BC-F0FB-4047-A69C-7E30BDC40B49}"/>
              </a:ext>
            </a:extLst>
          </p:cNvPr>
          <p:cNvSpPr>
            <a:spLocks xmlns:a="http://schemas.openxmlformats.org/drawingml/2006/main" noGrp="1"/>
          </p:cNvSpPr>
          <p:nvPr/>
        </p:nvSpPr>
        <p:spPr>
          <a:xfrm xmlns:a="http://schemas.openxmlformats.org/drawingml/2006/main">
            <a:off x="9839325" y="2343150"/>
            <a:ext cx="1238250" cy="0"/>
          </a:xfrm>
          <a:prstGeom xmlns:a="http://schemas.openxmlformats.org/drawingml/2006/main" prst="line">
            <a:avLst/>
          </a:prstGeom>
          <a:noFill xmlns:a="http://schemas.openxmlformats.org/drawingml/2006/main"/>
          <a:ln xmlns:a="http://schemas.openxmlformats.org/drawingml/2006/main" w="19050">
            <a:solidFill>
              <a:srgbClr val="D9D5C9"/>
            </a:solidFill>
            <a:prstDash val="solid"/>
          </a:ln>
        </p:spPr>
      </p:sp>
      <p:sp>
        <p:nvSpPr>
          <p:cNvPr id="71" name="">
            <a:extLst xmlns:a="http://schemas.openxmlformats.org/drawingml/2006/main">
              <a:ext uri="{FF2B5EF4-FFF2-40B4-BE49-F238E27FC236}">
                <a16:creationId xmlns:a16="http://schemas.microsoft.com/office/drawing/2014/main" id="{4D20E9FE-16BA-4B9A-A46F-4287F51EDD96}"/>
              </a:ext>
            </a:extLst>
          </p:cNvPr>
          <p:cNvSpPr>
            <a:spLocks xmlns:a="http://schemas.openxmlformats.org/drawingml/2006/main" noGrp="1"/>
          </p:cNvSpPr>
          <p:nvPr/>
        </p:nvSpPr>
        <p:spPr>
          <a:xfrm xmlns:a="http://schemas.openxmlformats.org/drawingml/2006/main" rot="0">
            <a:off x="9753600" y="2228850"/>
            <a:ext cx="228600" cy="228600"/>
          </a:xfrm>
          <a:prstGeom xmlns:a="http://schemas.openxmlformats.org/drawingml/2006/main" prst="ellipse">
            <a:avLst/>
          </a:prstGeom>
          <a:solidFill xmlns:a="http://schemas.openxmlformats.org/drawingml/2006/main">
            <a:srgbClr val="8A5A18"/>
          </a:solidFill>
          <a:ln xmlns:a="http://schemas.openxmlformats.org/drawingml/2006/main" w="19050">
            <a:solidFill>
              <a:srgbClr val="202522"/>
            </a:solidFill>
            <a:prstDash val="solid"/>
          </a:ln>
        </p:spPr>
      </p:sp>
      <p:sp>
        <p:nvSpPr>
          <p:cNvPr id="72" name="">
            <a:extLst xmlns:a="http://schemas.openxmlformats.org/drawingml/2006/main">
              <a:ext uri="{FF2B5EF4-FFF2-40B4-BE49-F238E27FC236}">
                <a16:creationId xmlns:a16="http://schemas.microsoft.com/office/drawing/2014/main" id="{3D73B7C4-DBCD-4DE2-B288-4C741C8B971C}"/>
              </a:ext>
            </a:extLst>
          </p:cNvPr>
          <p:cNvSpPr>
            <a:spLocks xmlns:a="http://schemas.openxmlformats.org/drawingml/2006/main" noGrp="1"/>
          </p:cNvSpPr>
          <p:nvPr/>
        </p:nvSpPr>
        <p:spPr>
          <a:xfrm xmlns:a="http://schemas.openxmlformats.org/drawingml/2006/main" rot="0">
            <a:off x="10344150" y="2228850"/>
            <a:ext cx="228600" cy="228600"/>
          </a:xfrm>
          <a:prstGeom xmlns:a="http://schemas.openxmlformats.org/drawingml/2006/main" prst="ellipse">
            <a:avLst/>
          </a:prstGeom>
          <a:solidFill xmlns:a="http://schemas.openxmlformats.org/drawingml/2006/main">
            <a:srgbClr val="FFFDF7"/>
          </a:solidFill>
          <a:ln xmlns:a="http://schemas.openxmlformats.org/drawingml/2006/main" w="19050">
            <a:solidFill>
              <a:srgbClr val="202522"/>
            </a:solidFill>
            <a:prstDash val="solid"/>
          </a:ln>
        </p:spPr>
      </p:sp>
      <p:sp>
        <p:nvSpPr>
          <p:cNvPr id="73" name="">
            <a:extLst xmlns:a="http://schemas.openxmlformats.org/drawingml/2006/main">
              <a:ext uri="{FF2B5EF4-FFF2-40B4-BE49-F238E27FC236}">
                <a16:creationId xmlns:a16="http://schemas.microsoft.com/office/drawing/2014/main" id="{0D0D9017-DEFC-4540-BAB1-CD4B4A70B287}"/>
              </a:ext>
            </a:extLst>
          </p:cNvPr>
          <p:cNvSpPr>
            <a:spLocks xmlns:a="http://schemas.openxmlformats.org/drawingml/2006/main" noGrp="1"/>
          </p:cNvSpPr>
          <p:nvPr/>
        </p:nvSpPr>
        <p:spPr>
          <a:xfrm xmlns:a="http://schemas.openxmlformats.org/drawingml/2006/main" rot="0">
            <a:off x="10953750" y="2228850"/>
            <a:ext cx="228600" cy="228600"/>
          </a:xfrm>
          <a:prstGeom xmlns:a="http://schemas.openxmlformats.org/drawingml/2006/main" prst="ellipse">
            <a:avLst/>
          </a:prstGeom>
          <a:solidFill xmlns:a="http://schemas.openxmlformats.org/drawingml/2006/main">
            <a:srgbClr val="FFFDF7"/>
          </a:solidFill>
          <a:ln xmlns:a="http://schemas.openxmlformats.org/drawingml/2006/main" w="19050">
            <a:solidFill>
              <a:srgbClr val="202522"/>
            </a:solidFill>
            <a:prstDash val="solid"/>
          </a:ln>
        </p:spPr>
      </p:sp>
      <p:sp>
        <p:nvSpPr>
          <p:cNvPr id="74" name="">
            <a:extLst xmlns:a="http://schemas.openxmlformats.org/drawingml/2006/main">
              <a:ext uri="{FF2B5EF4-FFF2-40B4-BE49-F238E27FC236}">
                <a16:creationId xmlns:a16="http://schemas.microsoft.com/office/drawing/2014/main" id="{7D996FBB-602C-4AB1-88D5-EFBB6FACE7DD}"/>
              </a:ext>
            </a:extLst>
          </p:cNvPr>
          <p:cNvSpPr>
            <a:spLocks xmlns:a="http://schemas.openxmlformats.org/drawingml/2006/main" noGrp="1"/>
          </p:cNvSpPr>
          <p:nvPr/>
        </p:nvSpPr>
        <p:spPr>
          <a:xfrm xmlns:a="http://schemas.openxmlformats.org/drawingml/2006/main" rot="0">
            <a:off x="9782175" y="224790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ctr">
              <a:defRPr sz="1350" b="1" i="0">
                <a:solidFill>
                  <a:srgbClr val="FFFDF7"/>
                </a:solidFill>
                <a:latin typeface="Helvetica Neue"/>
                <a:ea typeface="Helvetica Neue"/>
                <a:cs typeface="Helvetica Neue"/>
              </a:defRPr>
            </a:pPr>
            <a:r>
              <a:rPr sz="1350" b="1" i="0">
                <a:solidFill>
                  <a:srgbClr val="FFFDF7"/>
                </a:solidFill>
                <a:latin typeface="Helvetica Neue"/>
                <a:ea typeface="Helvetica Neue"/>
                <a:cs typeface="Helvetica Neue"/>
              </a:rPr>
              <a:t>Δ</a:t>
            </a:r>
          </a:p>
        </p:txBody>
      </p:sp>
      <p:sp>
        <p:nvSpPr>
          <p:cNvPr id="75" name="">
            <a:extLst xmlns:a="http://schemas.openxmlformats.org/drawingml/2006/main">
              <a:ext uri="{FF2B5EF4-FFF2-40B4-BE49-F238E27FC236}">
                <a16:creationId xmlns:a16="http://schemas.microsoft.com/office/drawing/2014/main" id="{BDA0ED3D-8173-492C-B51C-FE5C0635C69E}"/>
              </a:ext>
            </a:extLst>
          </p:cNvPr>
          <p:cNvSpPr>
            <a:spLocks xmlns:a="http://schemas.openxmlformats.org/drawingml/2006/main" noGrp="1"/>
          </p:cNvSpPr>
          <p:nvPr/>
        </p:nvSpPr>
        <p:spPr>
          <a:xfrm xmlns:a="http://schemas.openxmlformats.org/drawingml/2006/main" rot="0">
            <a:off x="10172700" y="2590800"/>
            <a:ext cx="619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ctr">
              <a:defRPr sz="2400" b="0" i="0">
                <a:solidFill>
                  <a:srgbClr val="8A5A18"/>
                </a:solidFill>
                <a:latin typeface="Helvetica Neue"/>
                <a:ea typeface="Helvetica Neue"/>
                <a:cs typeface="Helvetica Neue"/>
              </a:defRPr>
            </a:pPr>
            <a:r>
              <a:rPr sz="2400" b="0" i="0">
                <a:solidFill>
                  <a:srgbClr val="8A5A18"/>
                </a:solidFill>
                <a:latin typeface="Helvetica Neue"/>
                <a:ea typeface="Helvetica Neue"/>
                <a:cs typeface="Helvetica Neue"/>
              </a:rPr>
              <a:t>↺</a:t>
            </a:r>
          </a:p>
        </p:txBody>
      </p:sp>
      <p:sp>
        <p:nvSpPr>
          <p:cNvPr id="76" name="">
            <a:extLst xmlns:a="http://schemas.openxmlformats.org/drawingml/2006/main">
              <a:ext uri="{FF2B5EF4-FFF2-40B4-BE49-F238E27FC236}">
                <a16:creationId xmlns:a16="http://schemas.microsoft.com/office/drawing/2014/main" id="{942041A1-731F-45DB-8F3F-D888217C5882}"/>
              </a:ext>
            </a:extLst>
          </p:cNvPr>
          <p:cNvSpPr>
            <a:spLocks xmlns:a="http://schemas.openxmlformats.org/drawingml/2006/main" noGrp="1"/>
          </p:cNvSpPr>
          <p:nvPr/>
        </p:nvSpPr>
        <p:spPr>
          <a:xfrm xmlns:a="http://schemas.openxmlformats.org/drawingml/2006/main" rot="0">
            <a:off x="9505950" y="3219450"/>
            <a:ext cx="194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202522"/>
                </a:solidFill>
                <a:latin typeface="Helvetica Neue"/>
                <a:ea typeface="Helvetica Neue"/>
                <a:cs typeface="Helvetica Neue"/>
              </a:defRPr>
            </a:pPr>
            <a:r>
              <a:rPr sz="1725" b="1" i="0">
                <a:solidFill>
                  <a:srgbClr val="202522"/>
                </a:solidFill>
                <a:latin typeface="Helvetica Neue"/>
                <a:ea typeface="Helvetica Neue"/>
                <a:cs typeface="Helvetica Neue"/>
              </a:rPr>
              <a:t>Recursive rules</a:t>
            </a:r>
          </a:p>
        </p:txBody>
      </p:sp>
      <p:sp>
        <p:nvSpPr>
          <p:cNvPr id="77" name="">
            <a:extLst xmlns:a="http://schemas.openxmlformats.org/drawingml/2006/main">
              <a:ext uri="{FF2B5EF4-FFF2-40B4-BE49-F238E27FC236}">
                <a16:creationId xmlns:a16="http://schemas.microsoft.com/office/drawing/2014/main" id="{9E437085-548D-4B37-9D91-2344BBC0AEB0}"/>
              </a:ext>
            </a:extLst>
          </p:cNvPr>
          <p:cNvSpPr>
            <a:spLocks xmlns:a="http://schemas.openxmlformats.org/drawingml/2006/main" noGrp="1"/>
          </p:cNvSpPr>
          <p:nvPr/>
        </p:nvSpPr>
        <p:spPr>
          <a:xfrm xmlns:a="http://schemas.openxmlformats.org/drawingml/2006/main" rot="0">
            <a:off x="9505950" y="3943350"/>
            <a:ext cx="1943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68716B"/>
                </a:solidFill>
                <a:latin typeface="Helvetica Neue"/>
                <a:ea typeface="Helvetica Neue"/>
                <a:cs typeface="Helvetica Neue"/>
              </a:defRPr>
            </a:pPr>
            <a:r>
              <a:rPr sz="1350" b="0" i="0">
                <a:solidFill>
                  <a:srgbClr val="68716B"/>
                </a:solidFill>
                <a:latin typeface="Helvetica Neue"/>
                <a:ea typeface="Helvetica Neue"/>
                <a:cs typeface="Helvetica Neue"/>
              </a:rPr>
              <a:t>derived facts</a:t>
            </a:r>
          </a:p>
        </p:txBody>
      </p:sp>
      <p:sp>
        <p:nvSpPr>
          <p:cNvPr id="78" name="">
            <a:extLst xmlns:a="http://schemas.openxmlformats.org/drawingml/2006/main">
              <a:ext uri="{FF2B5EF4-FFF2-40B4-BE49-F238E27FC236}">
                <a16:creationId xmlns:a16="http://schemas.microsoft.com/office/drawing/2014/main" id="{CF2761C3-3F02-4E22-B70B-0BEA4813B4DA}"/>
              </a:ext>
            </a:extLst>
          </p:cNvPr>
          <p:cNvSpPr>
            <a:spLocks xmlns:a="http://schemas.openxmlformats.org/drawingml/2006/main" noGrp="1"/>
          </p:cNvSpPr>
          <p:nvPr/>
        </p:nvSpPr>
        <p:spPr>
          <a:xfrm xmlns:a="http://schemas.openxmlformats.org/drawingml/2006/main">
            <a:off x="876300" y="4648200"/>
            <a:ext cx="104394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79" name="">
            <a:extLst xmlns:a="http://schemas.openxmlformats.org/drawingml/2006/main">
              <a:ext uri="{FF2B5EF4-FFF2-40B4-BE49-F238E27FC236}">
                <a16:creationId xmlns:a16="http://schemas.microsoft.com/office/drawing/2014/main" id="{980DD52A-695B-414E-9003-D4F169A24427}"/>
              </a:ext>
            </a:extLst>
          </p:cNvPr>
          <p:cNvSpPr>
            <a:spLocks xmlns:a="http://schemas.openxmlformats.org/drawingml/2006/main" noGrp="1"/>
          </p:cNvSpPr>
          <p:nvPr/>
        </p:nvSpPr>
        <p:spPr>
          <a:xfrm xmlns:a="http://schemas.openxmlformats.org/drawingml/2006/main" rot="0">
            <a:off x="1143000" y="4991100"/>
            <a:ext cx="990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405"/>
          </a:bodyPr>
          <a:lstStyle xmlns:a="http://schemas.openxmlformats.org/drawingml/2006/main"/>
          <a:p xmlns:a="http://schemas.openxmlformats.org/drawingml/2006/main">
            <a:pPr algn="ctr">
              <a:defRPr sz="2400" b="0" i="0">
                <a:solidFill>
                  <a:srgbClr val="176B73"/>
                </a:solidFill>
                <a:latin typeface="Helvetica Neue"/>
                <a:ea typeface="Helvetica Neue"/>
                <a:cs typeface="Helvetica Neue"/>
              </a:defRPr>
            </a:pPr>
            <a:r>
              <a:rPr sz="2400" b="0" i="0">
                <a:solidFill>
                  <a:srgbClr val="176B73"/>
                </a:solidFill>
                <a:latin typeface="Helvetica Neue"/>
                <a:ea typeface="Helvetica Neue"/>
                <a:cs typeface="Helvetica Neue"/>
              </a:rPr>
              <a:t>A database is not defined by one product, one data model, or one place on disk.</a:t>
            </a:r>
          </a:p>
        </p:txBody>
      </p:sp>
    </p:spTree>
    <p:extLst>
      <p:ext uri="{BB962C8B-B14F-4D97-AF65-F5344CB8AC3E}">
        <p14:creationId xmlns:p14="http://schemas.microsoft.com/office/powerpoint/2010/main" val="1377989549"/>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2D7F6A0C-B12A-477B-A839-90DDEAA779D8}"/>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176B73"/>
          </a:solidFill>
          <a:ln xmlns:a="http://schemas.openxmlformats.org/drawingml/2006/main" w="0">
            <a:solidFill>
              <a:srgbClr val="176B73"/>
            </a:solidFill>
            <a:prstDash val="solid"/>
          </a:ln>
        </p:spPr>
      </p:sp>
      <p:sp>
        <p:nvSpPr>
          <p:cNvPr id="2" name="">
            <a:extLst xmlns:a="http://schemas.openxmlformats.org/drawingml/2006/main">
              <a:ext uri="{FF2B5EF4-FFF2-40B4-BE49-F238E27FC236}">
                <a16:creationId xmlns:a16="http://schemas.microsoft.com/office/drawing/2014/main" id="{243BF984-F7BB-4C62-B2C4-711688A8CACA}"/>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6B73"/>
                </a:solidFill>
                <a:latin typeface="Helvetica Neue"/>
                <a:ea typeface="Helvetica Neue"/>
                <a:cs typeface="Helvetica Neue"/>
              </a:defRPr>
            </a:pPr>
            <a:r>
              <a:rPr sz="1050" b="1" i="0">
                <a:solidFill>
                  <a:srgbClr val="176B73"/>
                </a:solidFill>
                <a:latin typeface="Helvetica Neue"/>
                <a:ea typeface="Helvetica Neue"/>
                <a:cs typeface="Helvetica Neue"/>
              </a:rPr>
              <a:t>A VOCABULARY BEFORE PRODUCTS</a:t>
            </a:r>
          </a:p>
        </p:txBody>
      </p:sp>
      <p:sp>
        <p:nvSpPr>
          <p:cNvPr id="3" name="">
            <a:extLst xmlns:a="http://schemas.openxmlformats.org/drawingml/2006/main">
              <a:ext uri="{FF2B5EF4-FFF2-40B4-BE49-F238E27FC236}">
                <a16:creationId xmlns:a16="http://schemas.microsoft.com/office/drawing/2014/main" id="{E5C4E70B-0646-428F-BC42-805AF28C84D9}"/>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A database has several independent characteristics</a:t>
            </a:r>
          </a:p>
        </p:txBody>
      </p:sp>
      <p:sp>
        <p:nvSpPr>
          <p:cNvPr id="4" name="">
            <a:extLst xmlns:a="http://schemas.openxmlformats.org/drawingml/2006/main">
              <a:ext uri="{FF2B5EF4-FFF2-40B4-BE49-F238E27FC236}">
                <a16:creationId xmlns:a16="http://schemas.microsoft.com/office/drawing/2014/main" id="{8B1F22D4-7618-4A1E-BF51-4EA0FD89C1C3}"/>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877A41A6-4079-4E73-B35D-2BF4BA63ABFD}"/>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BA594B7B-449F-4421-856F-99F73CDA762E}"/>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CD247ADF-29C0-4D48-A321-07C460B3195E}"/>
              </a:ext>
            </a:extLst>
          </p:cNvPr>
          <p:cNvSpPr>
            <a:spLocks xmlns:a="http://schemas.openxmlformats.org/drawingml/2006/main" noGrp="1"/>
          </p:cNvSpPr>
          <p:nvPr/>
        </p:nvSpPr>
        <p:spPr>
          <a:xfrm xmlns:a="http://schemas.openxmlformats.org/drawingml/2006/main" rot="0">
            <a:off x="609600" y="179070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6B73"/>
                </a:solidFill>
                <a:latin typeface="Helvetica Neue"/>
                <a:ea typeface="Helvetica Neue"/>
                <a:cs typeface="Helvetica Neue"/>
              </a:defRPr>
            </a:pPr>
            <a:r>
              <a:rPr sz="1050" b="1" i="0">
                <a:solidFill>
                  <a:srgbClr val="176B73"/>
                </a:solidFill>
                <a:latin typeface="Helvetica Neue"/>
                <a:ea typeface="Helvetica Neue"/>
                <a:cs typeface="Helvetica Neue"/>
              </a:rPr>
              <a:t>DATA MODEL</a:t>
            </a:r>
          </a:p>
        </p:txBody>
      </p:sp>
      <p:sp>
        <p:nvSpPr>
          <p:cNvPr id="8" name="">
            <a:extLst xmlns:a="http://schemas.openxmlformats.org/drawingml/2006/main">
              <a:ext uri="{FF2B5EF4-FFF2-40B4-BE49-F238E27FC236}">
                <a16:creationId xmlns:a16="http://schemas.microsoft.com/office/drawing/2014/main" id="{E5FDBDEE-6F93-4BC1-8072-EF43D071B54B}"/>
              </a:ext>
            </a:extLst>
          </p:cNvPr>
          <p:cNvSpPr>
            <a:spLocks xmlns:a="http://schemas.openxmlformats.org/drawingml/2006/main" noGrp="1"/>
          </p:cNvSpPr>
          <p:nvPr/>
        </p:nvSpPr>
        <p:spPr>
          <a:xfrm xmlns:a="http://schemas.openxmlformats.org/drawingml/2006/main">
            <a:off x="2095500" y="1905000"/>
            <a:ext cx="9334500" cy="0"/>
          </a:xfrm>
          <a:prstGeom xmlns:a="http://schemas.openxmlformats.org/drawingml/2006/main" prst="line">
            <a:avLst/>
          </a:prstGeom>
          <a:noFill xmlns:a="http://schemas.openxmlformats.org/drawingml/2006/main"/>
          <a:ln xmlns:a="http://schemas.openxmlformats.org/drawingml/2006/main" w="19050">
            <a:solidFill>
              <a:srgbClr val="D9D5C9"/>
            </a:solidFill>
            <a:prstDash val="solid"/>
          </a:ln>
        </p:spPr>
      </p:sp>
      <p:sp>
        <p:nvSpPr>
          <p:cNvPr id="9" name="">
            <a:extLst xmlns:a="http://schemas.openxmlformats.org/drawingml/2006/main">
              <a:ext uri="{FF2B5EF4-FFF2-40B4-BE49-F238E27FC236}">
                <a16:creationId xmlns:a16="http://schemas.microsoft.com/office/drawing/2014/main" id="{DDEBB86F-DAA9-4E56-9DE6-5E26B750F376}"/>
              </a:ext>
            </a:extLst>
          </p:cNvPr>
          <p:cNvSpPr>
            <a:spLocks xmlns:a="http://schemas.openxmlformats.org/drawingml/2006/main" noGrp="1"/>
          </p:cNvSpPr>
          <p:nvPr/>
        </p:nvSpPr>
        <p:spPr>
          <a:xfrm xmlns:a="http://schemas.openxmlformats.org/drawingml/2006/main" rot="0">
            <a:off x="2276475" y="1857375"/>
            <a:ext cx="95250" cy="95250"/>
          </a:xfrm>
          <a:prstGeom xmlns:a="http://schemas.openxmlformats.org/drawingml/2006/main" prst="ellipse">
            <a:avLst/>
          </a:prstGeom>
          <a:solidFill xmlns:a="http://schemas.openxmlformats.org/drawingml/2006/main">
            <a:srgbClr val="9B4C2F"/>
          </a:solidFill>
          <a:ln xmlns:a="http://schemas.openxmlformats.org/drawingml/2006/main" w="19050">
            <a:solidFill>
              <a:srgbClr val="F5F2E9"/>
            </a:solidFill>
            <a:prstDash val="solid"/>
          </a:ln>
        </p:spPr>
      </p:sp>
      <p:sp>
        <p:nvSpPr>
          <p:cNvPr id="10" name="">
            <a:extLst xmlns:a="http://schemas.openxmlformats.org/drawingml/2006/main">
              <a:ext uri="{FF2B5EF4-FFF2-40B4-BE49-F238E27FC236}">
                <a16:creationId xmlns:a16="http://schemas.microsoft.com/office/drawing/2014/main" id="{EC121E96-6CCB-4778-A94E-7B78B619E105}"/>
              </a:ext>
            </a:extLst>
          </p:cNvPr>
          <p:cNvSpPr>
            <a:spLocks xmlns:a="http://schemas.openxmlformats.org/drawingml/2006/main" noGrp="1"/>
          </p:cNvSpPr>
          <p:nvPr/>
        </p:nvSpPr>
        <p:spPr>
          <a:xfrm xmlns:a="http://schemas.openxmlformats.org/drawingml/2006/main" rot="0">
            <a:off x="1581150" y="16002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Helvetica Neue"/>
                <a:ea typeface="Helvetica Neue"/>
                <a:cs typeface="Helvetica Neue"/>
              </a:defRPr>
            </a:pPr>
            <a:r>
              <a:rPr sz="1275" b="0" i="0">
                <a:solidFill>
                  <a:srgbClr val="202522"/>
                </a:solidFill>
                <a:latin typeface="Helvetica Neue"/>
                <a:ea typeface="Helvetica Neue"/>
                <a:cs typeface="Helvetica Neue"/>
              </a:rPr>
              <a:t>rows</a:t>
            </a:r>
          </a:p>
        </p:txBody>
      </p:sp>
      <p:sp>
        <p:nvSpPr>
          <p:cNvPr id="11" name="">
            <a:extLst xmlns:a="http://schemas.openxmlformats.org/drawingml/2006/main">
              <a:ext uri="{FF2B5EF4-FFF2-40B4-BE49-F238E27FC236}">
                <a16:creationId xmlns:a16="http://schemas.microsoft.com/office/drawing/2014/main" id="{819EAFC6-487F-407A-AEEE-CF6FB5213D7F}"/>
              </a:ext>
            </a:extLst>
          </p:cNvPr>
          <p:cNvSpPr>
            <a:spLocks xmlns:a="http://schemas.openxmlformats.org/drawingml/2006/main" noGrp="1"/>
          </p:cNvSpPr>
          <p:nvPr/>
        </p:nvSpPr>
        <p:spPr>
          <a:xfrm xmlns:a="http://schemas.openxmlformats.org/drawingml/2006/main" rot="0">
            <a:off x="5200650" y="1857375"/>
            <a:ext cx="95250" cy="9525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12" name="">
            <a:extLst xmlns:a="http://schemas.openxmlformats.org/drawingml/2006/main">
              <a:ext uri="{FF2B5EF4-FFF2-40B4-BE49-F238E27FC236}">
                <a16:creationId xmlns:a16="http://schemas.microsoft.com/office/drawing/2014/main" id="{D030FA85-15CC-4B42-AF3C-AC9CF3F0B30F}"/>
              </a:ext>
            </a:extLst>
          </p:cNvPr>
          <p:cNvSpPr>
            <a:spLocks xmlns:a="http://schemas.openxmlformats.org/drawingml/2006/main" noGrp="1"/>
          </p:cNvSpPr>
          <p:nvPr/>
        </p:nvSpPr>
        <p:spPr>
          <a:xfrm xmlns:a="http://schemas.openxmlformats.org/drawingml/2006/main" rot="0">
            <a:off x="4505325" y="16002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Helvetica Neue"/>
                <a:ea typeface="Helvetica Neue"/>
                <a:cs typeface="Helvetica Neue"/>
              </a:defRPr>
            </a:pPr>
            <a:r>
              <a:rPr sz="1275" b="0" i="0">
                <a:solidFill>
                  <a:srgbClr val="202522"/>
                </a:solidFill>
                <a:latin typeface="Helvetica Neue"/>
                <a:ea typeface="Helvetica Neue"/>
                <a:cs typeface="Helvetica Neue"/>
              </a:rPr>
              <a:t>documents</a:t>
            </a:r>
          </a:p>
        </p:txBody>
      </p:sp>
      <p:sp>
        <p:nvSpPr>
          <p:cNvPr id="13" name="">
            <a:extLst xmlns:a="http://schemas.openxmlformats.org/drawingml/2006/main">
              <a:ext uri="{FF2B5EF4-FFF2-40B4-BE49-F238E27FC236}">
                <a16:creationId xmlns:a16="http://schemas.microsoft.com/office/drawing/2014/main" id="{EC545123-502D-4849-97D7-4819FE3DC257}"/>
              </a:ext>
            </a:extLst>
          </p:cNvPr>
          <p:cNvSpPr>
            <a:spLocks xmlns:a="http://schemas.openxmlformats.org/drawingml/2006/main" noGrp="1"/>
          </p:cNvSpPr>
          <p:nvPr/>
        </p:nvSpPr>
        <p:spPr>
          <a:xfrm xmlns:a="http://schemas.openxmlformats.org/drawingml/2006/main" rot="0">
            <a:off x="8124825" y="1857375"/>
            <a:ext cx="95250" cy="9525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14" name="">
            <a:extLst xmlns:a="http://schemas.openxmlformats.org/drawingml/2006/main">
              <a:ext uri="{FF2B5EF4-FFF2-40B4-BE49-F238E27FC236}">
                <a16:creationId xmlns:a16="http://schemas.microsoft.com/office/drawing/2014/main" id="{95E70152-B156-4BF3-9BF3-3069DFF465AC}"/>
              </a:ext>
            </a:extLst>
          </p:cNvPr>
          <p:cNvSpPr>
            <a:spLocks xmlns:a="http://schemas.openxmlformats.org/drawingml/2006/main" noGrp="1"/>
          </p:cNvSpPr>
          <p:nvPr/>
        </p:nvSpPr>
        <p:spPr>
          <a:xfrm xmlns:a="http://schemas.openxmlformats.org/drawingml/2006/main" rot="0">
            <a:off x="7429500" y="16002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Helvetica Neue"/>
                <a:ea typeface="Helvetica Neue"/>
                <a:cs typeface="Helvetica Neue"/>
              </a:defRPr>
            </a:pPr>
            <a:r>
              <a:rPr sz="1275" b="0" i="0">
                <a:solidFill>
                  <a:srgbClr val="202522"/>
                </a:solidFill>
                <a:latin typeface="Helvetica Neue"/>
                <a:ea typeface="Helvetica Neue"/>
                <a:cs typeface="Helvetica Neue"/>
              </a:rPr>
              <a:t>graphs</a:t>
            </a:r>
          </a:p>
        </p:txBody>
      </p:sp>
      <p:sp>
        <p:nvSpPr>
          <p:cNvPr id="15" name="">
            <a:extLst xmlns:a="http://schemas.openxmlformats.org/drawingml/2006/main">
              <a:ext uri="{FF2B5EF4-FFF2-40B4-BE49-F238E27FC236}">
                <a16:creationId xmlns:a16="http://schemas.microsoft.com/office/drawing/2014/main" id="{E18A993F-0B41-4C81-A8E6-B596686BE8A3}"/>
              </a:ext>
            </a:extLst>
          </p:cNvPr>
          <p:cNvSpPr>
            <a:spLocks xmlns:a="http://schemas.openxmlformats.org/drawingml/2006/main" noGrp="1"/>
          </p:cNvSpPr>
          <p:nvPr/>
        </p:nvSpPr>
        <p:spPr>
          <a:xfrm xmlns:a="http://schemas.openxmlformats.org/drawingml/2006/main" rot="0">
            <a:off x="11049000" y="1857375"/>
            <a:ext cx="95250" cy="9525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16" name="">
            <a:extLst xmlns:a="http://schemas.openxmlformats.org/drawingml/2006/main">
              <a:ext uri="{FF2B5EF4-FFF2-40B4-BE49-F238E27FC236}">
                <a16:creationId xmlns:a16="http://schemas.microsoft.com/office/drawing/2014/main" id="{D9CA9887-DB5F-4040-982E-038168DB155C}"/>
              </a:ext>
            </a:extLst>
          </p:cNvPr>
          <p:cNvSpPr>
            <a:spLocks xmlns:a="http://schemas.openxmlformats.org/drawingml/2006/main" noGrp="1"/>
          </p:cNvSpPr>
          <p:nvPr/>
        </p:nvSpPr>
        <p:spPr>
          <a:xfrm xmlns:a="http://schemas.openxmlformats.org/drawingml/2006/main" rot="0">
            <a:off x="10353675" y="16002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Helvetica Neue"/>
                <a:ea typeface="Helvetica Neue"/>
                <a:cs typeface="Helvetica Neue"/>
              </a:defRPr>
            </a:pPr>
            <a:r>
              <a:rPr sz="1275" b="0" i="0">
                <a:solidFill>
                  <a:srgbClr val="202522"/>
                </a:solidFill>
                <a:latin typeface="Helvetica Neue"/>
                <a:ea typeface="Helvetica Neue"/>
                <a:cs typeface="Helvetica Neue"/>
              </a:rPr>
              <a:t>vectors</a:t>
            </a:r>
          </a:p>
        </p:txBody>
      </p:sp>
      <p:sp>
        <p:nvSpPr>
          <p:cNvPr id="17" name="">
            <a:extLst xmlns:a="http://schemas.openxmlformats.org/drawingml/2006/main">
              <a:ext uri="{FF2B5EF4-FFF2-40B4-BE49-F238E27FC236}">
                <a16:creationId xmlns:a16="http://schemas.microsoft.com/office/drawing/2014/main" id="{9B6FF20D-CBF6-4BDF-8B79-24C62E13F72F}"/>
              </a:ext>
            </a:extLst>
          </p:cNvPr>
          <p:cNvSpPr>
            <a:spLocks xmlns:a="http://schemas.openxmlformats.org/drawingml/2006/main" noGrp="1"/>
          </p:cNvSpPr>
          <p:nvPr/>
        </p:nvSpPr>
        <p:spPr>
          <a:xfrm xmlns:a="http://schemas.openxmlformats.org/drawingml/2006/main" rot="0">
            <a:off x="609600" y="259080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6B73"/>
                </a:solidFill>
                <a:latin typeface="Helvetica Neue"/>
                <a:ea typeface="Helvetica Neue"/>
                <a:cs typeface="Helvetica Neue"/>
              </a:defRPr>
            </a:pPr>
            <a:r>
              <a:rPr sz="1050" b="1" i="0">
                <a:solidFill>
                  <a:srgbClr val="176B73"/>
                </a:solidFill>
                <a:latin typeface="Helvetica Neue"/>
                <a:ea typeface="Helvetica Neue"/>
                <a:cs typeface="Helvetica Neue"/>
              </a:rPr>
              <a:t>WORKLOAD</a:t>
            </a:r>
          </a:p>
        </p:txBody>
      </p:sp>
      <p:sp>
        <p:nvSpPr>
          <p:cNvPr id="18" name="">
            <a:extLst xmlns:a="http://schemas.openxmlformats.org/drawingml/2006/main">
              <a:ext uri="{FF2B5EF4-FFF2-40B4-BE49-F238E27FC236}">
                <a16:creationId xmlns:a16="http://schemas.microsoft.com/office/drawing/2014/main" id="{C05B42B0-6A35-4C99-B656-3BAE5CF0E947}"/>
              </a:ext>
            </a:extLst>
          </p:cNvPr>
          <p:cNvSpPr>
            <a:spLocks xmlns:a="http://schemas.openxmlformats.org/drawingml/2006/main" noGrp="1"/>
          </p:cNvSpPr>
          <p:nvPr/>
        </p:nvSpPr>
        <p:spPr>
          <a:xfrm xmlns:a="http://schemas.openxmlformats.org/drawingml/2006/main">
            <a:off x="2095500" y="2705100"/>
            <a:ext cx="9334500" cy="0"/>
          </a:xfrm>
          <a:prstGeom xmlns:a="http://schemas.openxmlformats.org/drawingml/2006/main" prst="line">
            <a:avLst/>
          </a:prstGeom>
          <a:noFill xmlns:a="http://schemas.openxmlformats.org/drawingml/2006/main"/>
          <a:ln xmlns:a="http://schemas.openxmlformats.org/drawingml/2006/main" w="19050">
            <a:solidFill>
              <a:srgbClr val="D9D5C9"/>
            </a:solidFill>
            <a:prstDash val="solid"/>
          </a:ln>
        </p:spPr>
      </p:sp>
      <p:sp>
        <p:nvSpPr>
          <p:cNvPr id="19" name="">
            <a:extLst xmlns:a="http://schemas.openxmlformats.org/drawingml/2006/main">
              <a:ext uri="{FF2B5EF4-FFF2-40B4-BE49-F238E27FC236}">
                <a16:creationId xmlns:a16="http://schemas.microsoft.com/office/drawing/2014/main" id="{3C7F1D3C-EA95-4A5D-8379-AD4EFFDF518A}"/>
              </a:ext>
            </a:extLst>
          </p:cNvPr>
          <p:cNvSpPr>
            <a:spLocks xmlns:a="http://schemas.openxmlformats.org/drawingml/2006/main" noGrp="1"/>
          </p:cNvSpPr>
          <p:nvPr/>
        </p:nvSpPr>
        <p:spPr>
          <a:xfrm xmlns:a="http://schemas.openxmlformats.org/drawingml/2006/main" rot="0">
            <a:off x="2276475" y="2657475"/>
            <a:ext cx="95250" cy="95250"/>
          </a:xfrm>
          <a:prstGeom xmlns:a="http://schemas.openxmlformats.org/drawingml/2006/main" prst="ellipse">
            <a:avLst/>
          </a:prstGeom>
          <a:solidFill xmlns:a="http://schemas.openxmlformats.org/drawingml/2006/main">
            <a:srgbClr val="9B4C2F"/>
          </a:solidFill>
          <a:ln xmlns:a="http://schemas.openxmlformats.org/drawingml/2006/main" w="19050">
            <a:solidFill>
              <a:srgbClr val="F5F2E9"/>
            </a:solidFill>
            <a:prstDash val="solid"/>
          </a:ln>
        </p:spPr>
      </p:sp>
      <p:sp>
        <p:nvSpPr>
          <p:cNvPr id="20" name="">
            <a:extLst xmlns:a="http://schemas.openxmlformats.org/drawingml/2006/main">
              <a:ext uri="{FF2B5EF4-FFF2-40B4-BE49-F238E27FC236}">
                <a16:creationId xmlns:a16="http://schemas.microsoft.com/office/drawing/2014/main" id="{5DF6FE62-9578-4DFE-9776-71DC2A87B578}"/>
              </a:ext>
            </a:extLst>
          </p:cNvPr>
          <p:cNvSpPr>
            <a:spLocks xmlns:a="http://schemas.openxmlformats.org/drawingml/2006/main" noGrp="1"/>
          </p:cNvSpPr>
          <p:nvPr/>
        </p:nvSpPr>
        <p:spPr>
          <a:xfrm xmlns:a="http://schemas.openxmlformats.org/drawingml/2006/main" rot="0">
            <a:off x="1581150" y="24003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Helvetica Neue"/>
                <a:ea typeface="Helvetica Neue"/>
                <a:cs typeface="Helvetica Neue"/>
              </a:defRPr>
            </a:pPr>
            <a:r>
              <a:rPr sz="1275" b="0" i="0">
                <a:solidFill>
                  <a:srgbClr val="202522"/>
                </a:solidFill>
                <a:latin typeface="Helvetica Neue"/>
                <a:ea typeface="Helvetica Neue"/>
                <a:cs typeface="Helvetica Neue"/>
              </a:rPr>
              <a:t>transactions</a:t>
            </a:r>
          </a:p>
        </p:txBody>
      </p:sp>
      <p:sp>
        <p:nvSpPr>
          <p:cNvPr id="21" name="">
            <a:extLst xmlns:a="http://schemas.openxmlformats.org/drawingml/2006/main">
              <a:ext uri="{FF2B5EF4-FFF2-40B4-BE49-F238E27FC236}">
                <a16:creationId xmlns:a16="http://schemas.microsoft.com/office/drawing/2014/main" id="{D7CBDAFE-D1B8-4C35-8E37-D9470937C3EA}"/>
              </a:ext>
            </a:extLst>
          </p:cNvPr>
          <p:cNvSpPr>
            <a:spLocks xmlns:a="http://schemas.openxmlformats.org/drawingml/2006/main" noGrp="1"/>
          </p:cNvSpPr>
          <p:nvPr/>
        </p:nvSpPr>
        <p:spPr>
          <a:xfrm xmlns:a="http://schemas.openxmlformats.org/drawingml/2006/main" rot="0">
            <a:off x="5200650" y="2657475"/>
            <a:ext cx="95250" cy="9525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22" name="">
            <a:extLst xmlns:a="http://schemas.openxmlformats.org/drawingml/2006/main">
              <a:ext uri="{FF2B5EF4-FFF2-40B4-BE49-F238E27FC236}">
                <a16:creationId xmlns:a16="http://schemas.microsoft.com/office/drawing/2014/main" id="{EB47F4FB-9EE1-4954-B7DF-0233F6380FD9}"/>
              </a:ext>
            </a:extLst>
          </p:cNvPr>
          <p:cNvSpPr>
            <a:spLocks xmlns:a="http://schemas.openxmlformats.org/drawingml/2006/main" noGrp="1"/>
          </p:cNvSpPr>
          <p:nvPr/>
        </p:nvSpPr>
        <p:spPr>
          <a:xfrm xmlns:a="http://schemas.openxmlformats.org/drawingml/2006/main" rot="0">
            <a:off x="4505325" y="24003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Helvetica Neue"/>
                <a:ea typeface="Helvetica Neue"/>
                <a:cs typeface="Helvetica Neue"/>
              </a:defRPr>
            </a:pPr>
            <a:r>
              <a:rPr sz="1275" b="0" i="0">
                <a:solidFill>
                  <a:srgbClr val="202522"/>
                </a:solidFill>
                <a:latin typeface="Helvetica Neue"/>
                <a:ea typeface="Helvetica Neue"/>
                <a:cs typeface="Helvetica Neue"/>
              </a:rPr>
              <a:t>analytics</a:t>
            </a:r>
          </a:p>
        </p:txBody>
      </p:sp>
      <p:sp>
        <p:nvSpPr>
          <p:cNvPr id="23" name="">
            <a:extLst xmlns:a="http://schemas.openxmlformats.org/drawingml/2006/main">
              <a:ext uri="{FF2B5EF4-FFF2-40B4-BE49-F238E27FC236}">
                <a16:creationId xmlns:a16="http://schemas.microsoft.com/office/drawing/2014/main" id="{962AF6E7-3CF4-4871-B17D-2D592ECA83C8}"/>
              </a:ext>
            </a:extLst>
          </p:cNvPr>
          <p:cNvSpPr>
            <a:spLocks xmlns:a="http://schemas.openxmlformats.org/drawingml/2006/main" noGrp="1"/>
          </p:cNvSpPr>
          <p:nvPr/>
        </p:nvSpPr>
        <p:spPr>
          <a:xfrm xmlns:a="http://schemas.openxmlformats.org/drawingml/2006/main" rot="0">
            <a:off x="8124825" y="2657475"/>
            <a:ext cx="95250" cy="9525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24" name="">
            <a:extLst xmlns:a="http://schemas.openxmlformats.org/drawingml/2006/main">
              <a:ext uri="{FF2B5EF4-FFF2-40B4-BE49-F238E27FC236}">
                <a16:creationId xmlns:a16="http://schemas.microsoft.com/office/drawing/2014/main" id="{BDC4F360-5DE2-4781-83FA-1F0BEAADF6CF}"/>
              </a:ext>
            </a:extLst>
          </p:cNvPr>
          <p:cNvSpPr>
            <a:spLocks xmlns:a="http://schemas.openxmlformats.org/drawingml/2006/main" noGrp="1"/>
          </p:cNvSpPr>
          <p:nvPr/>
        </p:nvSpPr>
        <p:spPr>
          <a:xfrm xmlns:a="http://schemas.openxmlformats.org/drawingml/2006/main" rot="0">
            <a:off x="7429500" y="24003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Helvetica Neue"/>
                <a:ea typeface="Helvetica Neue"/>
                <a:cs typeface="Helvetica Neue"/>
              </a:defRPr>
            </a:pPr>
            <a:r>
              <a:rPr sz="1275" b="0" i="0">
                <a:solidFill>
                  <a:srgbClr val="202522"/>
                </a:solidFill>
                <a:latin typeface="Helvetica Neue"/>
                <a:ea typeface="Helvetica Neue"/>
                <a:cs typeface="Helvetica Neue"/>
              </a:rPr>
              <a:t>reasoning</a:t>
            </a:r>
          </a:p>
        </p:txBody>
      </p:sp>
      <p:sp>
        <p:nvSpPr>
          <p:cNvPr id="25" name="">
            <a:extLst xmlns:a="http://schemas.openxmlformats.org/drawingml/2006/main">
              <a:ext uri="{FF2B5EF4-FFF2-40B4-BE49-F238E27FC236}">
                <a16:creationId xmlns:a16="http://schemas.microsoft.com/office/drawing/2014/main" id="{F318E61A-F8E0-4C96-94D9-AB2BD5AD92ED}"/>
              </a:ext>
            </a:extLst>
          </p:cNvPr>
          <p:cNvSpPr>
            <a:spLocks xmlns:a="http://schemas.openxmlformats.org/drawingml/2006/main" noGrp="1"/>
          </p:cNvSpPr>
          <p:nvPr/>
        </p:nvSpPr>
        <p:spPr>
          <a:xfrm xmlns:a="http://schemas.openxmlformats.org/drawingml/2006/main" rot="0">
            <a:off x="11049000" y="2657475"/>
            <a:ext cx="95250" cy="9525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26" name="">
            <a:extLst xmlns:a="http://schemas.openxmlformats.org/drawingml/2006/main">
              <a:ext uri="{FF2B5EF4-FFF2-40B4-BE49-F238E27FC236}">
                <a16:creationId xmlns:a16="http://schemas.microsoft.com/office/drawing/2014/main" id="{21336ECE-CE71-477F-8FD1-9DAAA93D8C74}"/>
              </a:ext>
            </a:extLst>
          </p:cNvPr>
          <p:cNvSpPr>
            <a:spLocks xmlns:a="http://schemas.openxmlformats.org/drawingml/2006/main" noGrp="1"/>
          </p:cNvSpPr>
          <p:nvPr/>
        </p:nvSpPr>
        <p:spPr>
          <a:xfrm xmlns:a="http://schemas.openxmlformats.org/drawingml/2006/main" rot="0">
            <a:off x="10353675" y="24003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Helvetica Neue"/>
                <a:ea typeface="Helvetica Neue"/>
                <a:cs typeface="Helvetica Neue"/>
              </a:defRPr>
            </a:pPr>
            <a:r>
              <a:rPr sz="1275" b="0" i="0">
                <a:solidFill>
                  <a:srgbClr val="202522"/>
                </a:solidFill>
                <a:latin typeface="Helvetica Neue"/>
                <a:ea typeface="Helvetica Neue"/>
                <a:cs typeface="Helvetica Neue"/>
              </a:rPr>
              <a:t>search</a:t>
            </a:r>
          </a:p>
        </p:txBody>
      </p:sp>
      <p:sp>
        <p:nvSpPr>
          <p:cNvPr id="27" name="">
            <a:extLst xmlns:a="http://schemas.openxmlformats.org/drawingml/2006/main">
              <a:ext uri="{FF2B5EF4-FFF2-40B4-BE49-F238E27FC236}">
                <a16:creationId xmlns:a16="http://schemas.microsoft.com/office/drawing/2014/main" id="{09ECC362-C1B0-4F1B-8810-960911FAA813}"/>
              </a:ext>
            </a:extLst>
          </p:cNvPr>
          <p:cNvSpPr>
            <a:spLocks xmlns:a="http://schemas.openxmlformats.org/drawingml/2006/main" noGrp="1"/>
          </p:cNvSpPr>
          <p:nvPr/>
        </p:nvSpPr>
        <p:spPr>
          <a:xfrm xmlns:a="http://schemas.openxmlformats.org/drawingml/2006/main" rot="0">
            <a:off x="609600" y="339090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6B73"/>
                </a:solidFill>
                <a:latin typeface="Helvetica Neue"/>
                <a:ea typeface="Helvetica Neue"/>
                <a:cs typeface="Helvetica Neue"/>
              </a:defRPr>
            </a:pPr>
            <a:r>
              <a:rPr sz="1050" b="1" i="0">
                <a:solidFill>
                  <a:srgbClr val="176B73"/>
                </a:solidFill>
                <a:latin typeface="Helvetica Neue"/>
                <a:ea typeface="Helvetica Neue"/>
                <a:cs typeface="Helvetica Neue"/>
              </a:rPr>
              <a:t>DEPLOYMENT</a:t>
            </a:r>
          </a:p>
        </p:txBody>
      </p:sp>
      <p:sp>
        <p:nvSpPr>
          <p:cNvPr id="28" name="">
            <a:extLst xmlns:a="http://schemas.openxmlformats.org/drawingml/2006/main">
              <a:ext uri="{FF2B5EF4-FFF2-40B4-BE49-F238E27FC236}">
                <a16:creationId xmlns:a16="http://schemas.microsoft.com/office/drawing/2014/main" id="{1CA1664A-7EDE-4D3F-9F7A-A2B5BEAD97F8}"/>
              </a:ext>
            </a:extLst>
          </p:cNvPr>
          <p:cNvSpPr>
            <a:spLocks xmlns:a="http://schemas.openxmlformats.org/drawingml/2006/main" noGrp="1"/>
          </p:cNvSpPr>
          <p:nvPr/>
        </p:nvSpPr>
        <p:spPr>
          <a:xfrm xmlns:a="http://schemas.openxmlformats.org/drawingml/2006/main">
            <a:off x="2095500" y="3505200"/>
            <a:ext cx="9334500" cy="0"/>
          </a:xfrm>
          <a:prstGeom xmlns:a="http://schemas.openxmlformats.org/drawingml/2006/main" prst="line">
            <a:avLst/>
          </a:prstGeom>
          <a:noFill xmlns:a="http://schemas.openxmlformats.org/drawingml/2006/main"/>
          <a:ln xmlns:a="http://schemas.openxmlformats.org/drawingml/2006/main" w="19050">
            <a:solidFill>
              <a:srgbClr val="D9D5C9"/>
            </a:solidFill>
            <a:prstDash val="solid"/>
          </a:ln>
        </p:spPr>
      </p:sp>
      <p:sp>
        <p:nvSpPr>
          <p:cNvPr id="29" name="">
            <a:extLst xmlns:a="http://schemas.openxmlformats.org/drawingml/2006/main">
              <a:ext uri="{FF2B5EF4-FFF2-40B4-BE49-F238E27FC236}">
                <a16:creationId xmlns:a16="http://schemas.microsoft.com/office/drawing/2014/main" id="{4CF3FC4C-0480-4D3D-8A35-9BA8FB795A3A}"/>
              </a:ext>
            </a:extLst>
          </p:cNvPr>
          <p:cNvSpPr>
            <a:spLocks xmlns:a="http://schemas.openxmlformats.org/drawingml/2006/main" noGrp="1"/>
          </p:cNvSpPr>
          <p:nvPr/>
        </p:nvSpPr>
        <p:spPr>
          <a:xfrm xmlns:a="http://schemas.openxmlformats.org/drawingml/2006/main" rot="0">
            <a:off x="2276475" y="3457575"/>
            <a:ext cx="95250" cy="95250"/>
          </a:xfrm>
          <a:prstGeom xmlns:a="http://schemas.openxmlformats.org/drawingml/2006/main" prst="ellipse">
            <a:avLst/>
          </a:prstGeom>
          <a:solidFill xmlns:a="http://schemas.openxmlformats.org/drawingml/2006/main">
            <a:srgbClr val="9B4C2F"/>
          </a:solidFill>
          <a:ln xmlns:a="http://schemas.openxmlformats.org/drawingml/2006/main" w="19050">
            <a:solidFill>
              <a:srgbClr val="F5F2E9"/>
            </a:solidFill>
            <a:prstDash val="solid"/>
          </a:ln>
        </p:spPr>
      </p:sp>
      <p:sp>
        <p:nvSpPr>
          <p:cNvPr id="30" name="">
            <a:extLst xmlns:a="http://schemas.openxmlformats.org/drawingml/2006/main">
              <a:ext uri="{FF2B5EF4-FFF2-40B4-BE49-F238E27FC236}">
                <a16:creationId xmlns:a16="http://schemas.microsoft.com/office/drawing/2014/main" id="{723FAF85-C3F0-4241-9896-7CECAFAEE0D8}"/>
              </a:ext>
            </a:extLst>
          </p:cNvPr>
          <p:cNvSpPr>
            <a:spLocks xmlns:a="http://schemas.openxmlformats.org/drawingml/2006/main" noGrp="1"/>
          </p:cNvSpPr>
          <p:nvPr/>
        </p:nvSpPr>
        <p:spPr>
          <a:xfrm xmlns:a="http://schemas.openxmlformats.org/drawingml/2006/main" rot="0">
            <a:off x="1581150" y="32004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Helvetica Neue"/>
                <a:ea typeface="Helvetica Neue"/>
                <a:cs typeface="Helvetica Neue"/>
              </a:defRPr>
            </a:pPr>
            <a:r>
              <a:rPr sz="1275" b="0" i="0">
                <a:solidFill>
                  <a:srgbClr val="202522"/>
                </a:solidFill>
                <a:latin typeface="Helvetica Neue"/>
                <a:ea typeface="Helvetica Neue"/>
                <a:cs typeface="Helvetica Neue"/>
              </a:rPr>
              <a:t>network server</a:t>
            </a:r>
          </a:p>
        </p:txBody>
      </p:sp>
      <p:sp>
        <p:nvSpPr>
          <p:cNvPr id="31" name="">
            <a:extLst xmlns:a="http://schemas.openxmlformats.org/drawingml/2006/main">
              <a:ext uri="{FF2B5EF4-FFF2-40B4-BE49-F238E27FC236}">
                <a16:creationId xmlns:a16="http://schemas.microsoft.com/office/drawing/2014/main" id="{526E6B48-486B-462A-A88E-A58841AB39B2}"/>
              </a:ext>
            </a:extLst>
          </p:cNvPr>
          <p:cNvSpPr>
            <a:spLocks xmlns:a="http://schemas.openxmlformats.org/drawingml/2006/main" noGrp="1"/>
          </p:cNvSpPr>
          <p:nvPr/>
        </p:nvSpPr>
        <p:spPr>
          <a:xfrm xmlns:a="http://schemas.openxmlformats.org/drawingml/2006/main" rot="0">
            <a:off x="5200650" y="3457575"/>
            <a:ext cx="95250" cy="9525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32" name="">
            <a:extLst xmlns:a="http://schemas.openxmlformats.org/drawingml/2006/main">
              <a:ext uri="{FF2B5EF4-FFF2-40B4-BE49-F238E27FC236}">
                <a16:creationId xmlns:a16="http://schemas.microsoft.com/office/drawing/2014/main" id="{92CDBB25-318F-4035-B3E7-CC0AC543C093}"/>
              </a:ext>
            </a:extLst>
          </p:cNvPr>
          <p:cNvSpPr>
            <a:spLocks xmlns:a="http://schemas.openxmlformats.org/drawingml/2006/main" noGrp="1"/>
          </p:cNvSpPr>
          <p:nvPr/>
        </p:nvSpPr>
        <p:spPr>
          <a:xfrm xmlns:a="http://schemas.openxmlformats.org/drawingml/2006/main" rot="0">
            <a:off x="4505325" y="32004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Helvetica Neue"/>
                <a:ea typeface="Helvetica Neue"/>
                <a:cs typeface="Helvetica Neue"/>
              </a:defRPr>
            </a:pPr>
            <a:r>
              <a:rPr sz="1275" b="0" i="0">
                <a:solidFill>
                  <a:srgbClr val="202522"/>
                </a:solidFill>
                <a:latin typeface="Helvetica Neue"/>
                <a:ea typeface="Helvetica Neue"/>
                <a:cs typeface="Helvetica Neue"/>
              </a:rPr>
              <a:t>embedded process</a:t>
            </a:r>
          </a:p>
        </p:txBody>
      </p:sp>
      <p:sp>
        <p:nvSpPr>
          <p:cNvPr id="33" name="">
            <a:extLst xmlns:a="http://schemas.openxmlformats.org/drawingml/2006/main">
              <a:ext uri="{FF2B5EF4-FFF2-40B4-BE49-F238E27FC236}">
                <a16:creationId xmlns:a16="http://schemas.microsoft.com/office/drawing/2014/main" id="{4B7C10C5-FD47-48D9-9A3B-F971014F9BAF}"/>
              </a:ext>
            </a:extLst>
          </p:cNvPr>
          <p:cNvSpPr>
            <a:spLocks xmlns:a="http://schemas.openxmlformats.org/drawingml/2006/main" noGrp="1"/>
          </p:cNvSpPr>
          <p:nvPr/>
        </p:nvSpPr>
        <p:spPr>
          <a:xfrm xmlns:a="http://schemas.openxmlformats.org/drawingml/2006/main" rot="0">
            <a:off x="8124825" y="3457575"/>
            <a:ext cx="95250" cy="9525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34" name="">
            <a:extLst xmlns:a="http://schemas.openxmlformats.org/drawingml/2006/main">
              <a:ext uri="{FF2B5EF4-FFF2-40B4-BE49-F238E27FC236}">
                <a16:creationId xmlns:a16="http://schemas.microsoft.com/office/drawing/2014/main" id="{7D72BD39-EEC3-4F67-8F2F-FDDB1EBB8945}"/>
              </a:ext>
            </a:extLst>
          </p:cNvPr>
          <p:cNvSpPr>
            <a:spLocks xmlns:a="http://schemas.openxmlformats.org/drawingml/2006/main" noGrp="1"/>
          </p:cNvSpPr>
          <p:nvPr/>
        </p:nvSpPr>
        <p:spPr>
          <a:xfrm xmlns:a="http://schemas.openxmlformats.org/drawingml/2006/main" rot="0">
            <a:off x="7429500" y="32004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Helvetica Neue"/>
                <a:ea typeface="Helvetica Neue"/>
                <a:cs typeface="Helvetica Neue"/>
              </a:defRPr>
            </a:pPr>
            <a:r>
              <a:rPr sz="1275" b="0" i="0">
                <a:solidFill>
                  <a:srgbClr val="202522"/>
                </a:solidFill>
                <a:latin typeface="Helvetica Neue"/>
                <a:ea typeface="Helvetica Neue"/>
                <a:cs typeface="Helvetica Neue"/>
              </a:rPr>
              <a:t>cluster</a:t>
            </a:r>
          </a:p>
        </p:txBody>
      </p:sp>
      <p:sp>
        <p:nvSpPr>
          <p:cNvPr id="35" name="">
            <a:extLst xmlns:a="http://schemas.openxmlformats.org/drawingml/2006/main">
              <a:ext uri="{FF2B5EF4-FFF2-40B4-BE49-F238E27FC236}">
                <a16:creationId xmlns:a16="http://schemas.microsoft.com/office/drawing/2014/main" id="{E5E26102-C69E-4CA0-8F04-923CA2461912}"/>
              </a:ext>
            </a:extLst>
          </p:cNvPr>
          <p:cNvSpPr>
            <a:spLocks xmlns:a="http://schemas.openxmlformats.org/drawingml/2006/main" noGrp="1"/>
          </p:cNvSpPr>
          <p:nvPr/>
        </p:nvSpPr>
        <p:spPr>
          <a:xfrm xmlns:a="http://schemas.openxmlformats.org/drawingml/2006/main" rot="0">
            <a:off x="11049000" y="3457575"/>
            <a:ext cx="95250" cy="9525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36" name="">
            <a:extLst xmlns:a="http://schemas.openxmlformats.org/drawingml/2006/main">
              <a:ext uri="{FF2B5EF4-FFF2-40B4-BE49-F238E27FC236}">
                <a16:creationId xmlns:a16="http://schemas.microsoft.com/office/drawing/2014/main" id="{B136B811-9E5D-4D54-B13F-14E8A8AF0BE8}"/>
              </a:ext>
            </a:extLst>
          </p:cNvPr>
          <p:cNvSpPr>
            <a:spLocks xmlns:a="http://schemas.openxmlformats.org/drawingml/2006/main" noGrp="1"/>
          </p:cNvSpPr>
          <p:nvPr/>
        </p:nvSpPr>
        <p:spPr>
          <a:xfrm xmlns:a="http://schemas.openxmlformats.org/drawingml/2006/main" rot="0">
            <a:off x="10353675" y="32004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Helvetica Neue"/>
                <a:ea typeface="Helvetica Neue"/>
                <a:cs typeface="Helvetica Neue"/>
              </a:defRPr>
            </a:pPr>
            <a:r>
              <a:rPr sz="1275" b="0" i="0">
                <a:solidFill>
                  <a:srgbClr val="202522"/>
                </a:solidFill>
                <a:latin typeface="Helvetica Neue"/>
                <a:ea typeface="Helvetica Neue"/>
                <a:cs typeface="Helvetica Neue"/>
              </a:rPr>
              <a:t>edge</a:t>
            </a:r>
          </a:p>
        </p:txBody>
      </p:sp>
      <p:sp>
        <p:nvSpPr>
          <p:cNvPr id="37" name="">
            <a:extLst xmlns:a="http://schemas.openxmlformats.org/drawingml/2006/main">
              <a:ext uri="{FF2B5EF4-FFF2-40B4-BE49-F238E27FC236}">
                <a16:creationId xmlns:a16="http://schemas.microsoft.com/office/drawing/2014/main" id="{56588C1A-5301-42F2-8B9C-37C865FB0D91}"/>
              </a:ext>
            </a:extLst>
          </p:cNvPr>
          <p:cNvSpPr>
            <a:spLocks xmlns:a="http://schemas.openxmlformats.org/drawingml/2006/main" noGrp="1"/>
          </p:cNvSpPr>
          <p:nvPr/>
        </p:nvSpPr>
        <p:spPr>
          <a:xfrm xmlns:a="http://schemas.openxmlformats.org/drawingml/2006/main" rot="0">
            <a:off x="609600" y="419100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6B73"/>
                </a:solidFill>
                <a:latin typeface="Helvetica Neue"/>
                <a:ea typeface="Helvetica Neue"/>
                <a:cs typeface="Helvetica Neue"/>
              </a:defRPr>
            </a:pPr>
            <a:r>
              <a:rPr sz="1050" b="1" i="0">
                <a:solidFill>
                  <a:srgbClr val="176B73"/>
                </a:solidFill>
                <a:latin typeface="Helvetica Neue"/>
                <a:ea typeface="Helvetica Neue"/>
                <a:cs typeface="Helvetica Neue"/>
              </a:rPr>
              <a:t>CHANGE</a:t>
            </a:r>
          </a:p>
        </p:txBody>
      </p:sp>
      <p:sp>
        <p:nvSpPr>
          <p:cNvPr id="38" name="">
            <a:extLst xmlns:a="http://schemas.openxmlformats.org/drawingml/2006/main">
              <a:ext uri="{FF2B5EF4-FFF2-40B4-BE49-F238E27FC236}">
                <a16:creationId xmlns:a16="http://schemas.microsoft.com/office/drawing/2014/main" id="{DD5D45D7-4943-4033-B2CA-7A5F5C3156CB}"/>
              </a:ext>
            </a:extLst>
          </p:cNvPr>
          <p:cNvSpPr>
            <a:spLocks xmlns:a="http://schemas.openxmlformats.org/drawingml/2006/main" noGrp="1"/>
          </p:cNvSpPr>
          <p:nvPr/>
        </p:nvSpPr>
        <p:spPr>
          <a:xfrm xmlns:a="http://schemas.openxmlformats.org/drawingml/2006/main">
            <a:off x="2095500" y="4305300"/>
            <a:ext cx="9334500" cy="0"/>
          </a:xfrm>
          <a:prstGeom xmlns:a="http://schemas.openxmlformats.org/drawingml/2006/main" prst="line">
            <a:avLst/>
          </a:prstGeom>
          <a:noFill xmlns:a="http://schemas.openxmlformats.org/drawingml/2006/main"/>
          <a:ln xmlns:a="http://schemas.openxmlformats.org/drawingml/2006/main" w="19050">
            <a:solidFill>
              <a:srgbClr val="D9D5C9"/>
            </a:solidFill>
            <a:prstDash val="solid"/>
          </a:ln>
        </p:spPr>
      </p:sp>
      <p:sp>
        <p:nvSpPr>
          <p:cNvPr id="39" name="">
            <a:extLst xmlns:a="http://schemas.openxmlformats.org/drawingml/2006/main">
              <a:ext uri="{FF2B5EF4-FFF2-40B4-BE49-F238E27FC236}">
                <a16:creationId xmlns:a16="http://schemas.microsoft.com/office/drawing/2014/main" id="{245F98B7-67D5-4515-8CA0-01035DCDAC66}"/>
              </a:ext>
            </a:extLst>
          </p:cNvPr>
          <p:cNvSpPr>
            <a:spLocks xmlns:a="http://schemas.openxmlformats.org/drawingml/2006/main" noGrp="1"/>
          </p:cNvSpPr>
          <p:nvPr/>
        </p:nvSpPr>
        <p:spPr>
          <a:xfrm xmlns:a="http://schemas.openxmlformats.org/drawingml/2006/main" rot="0">
            <a:off x="2276475" y="4257675"/>
            <a:ext cx="95250" cy="95250"/>
          </a:xfrm>
          <a:prstGeom xmlns:a="http://schemas.openxmlformats.org/drawingml/2006/main" prst="ellipse">
            <a:avLst/>
          </a:prstGeom>
          <a:solidFill xmlns:a="http://schemas.openxmlformats.org/drawingml/2006/main">
            <a:srgbClr val="9B4C2F"/>
          </a:solidFill>
          <a:ln xmlns:a="http://schemas.openxmlformats.org/drawingml/2006/main" w="19050">
            <a:solidFill>
              <a:srgbClr val="F5F2E9"/>
            </a:solidFill>
            <a:prstDash val="solid"/>
          </a:ln>
        </p:spPr>
      </p:sp>
      <p:sp>
        <p:nvSpPr>
          <p:cNvPr id="40" name="">
            <a:extLst xmlns:a="http://schemas.openxmlformats.org/drawingml/2006/main">
              <a:ext uri="{FF2B5EF4-FFF2-40B4-BE49-F238E27FC236}">
                <a16:creationId xmlns:a16="http://schemas.microsoft.com/office/drawing/2014/main" id="{984DD398-4FCC-4820-AD0A-553AC1385E40}"/>
              </a:ext>
            </a:extLst>
          </p:cNvPr>
          <p:cNvSpPr>
            <a:spLocks xmlns:a="http://schemas.openxmlformats.org/drawingml/2006/main" noGrp="1"/>
          </p:cNvSpPr>
          <p:nvPr/>
        </p:nvSpPr>
        <p:spPr>
          <a:xfrm xmlns:a="http://schemas.openxmlformats.org/drawingml/2006/main" rot="0">
            <a:off x="1581150" y="40005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Helvetica Neue"/>
                <a:ea typeface="Helvetica Neue"/>
                <a:cs typeface="Helvetica Neue"/>
              </a:defRPr>
            </a:pPr>
            <a:r>
              <a:rPr sz="1275" b="0" i="0">
                <a:solidFill>
                  <a:srgbClr val="202522"/>
                </a:solidFill>
                <a:latin typeface="Helvetica Neue"/>
                <a:ea typeface="Helvetica Neue"/>
                <a:cs typeface="Helvetica Neue"/>
              </a:rPr>
              <a:t>updates</a:t>
            </a:r>
          </a:p>
        </p:txBody>
      </p:sp>
      <p:sp>
        <p:nvSpPr>
          <p:cNvPr id="41" name="">
            <a:extLst xmlns:a="http://schemas.openxmlformats.org/drawingml/2006/main">
              <a:ext uri="{FF2B5EF4-FFF2-40B4-BE49-F238E27FC236}">
                <a16:creationId xmlns:a16="http://schemas.microsoft.com/office/drawing/2014/main" id="{0781C9B5-D9A9-4E9A-BE31-3B36CAF3ABC0}"/>
              </a:ext>
            </a:extLst>
          </p:cNvPr>
          <p:cNvSpPr>
            <a:spLocks xmlns:a="http://schemas.openxmlformats.org/drawingml/2006/main" noGrp="1"/>
          </p:cNvSpPr>
          <p:nvPr/>
        </p:nvSpPr>
        <p:spPr>
          <a:xfrm xmlns:a="http://schemas.openxmlformats.org/drawingml/2006/main" rot="0">
            <a:off x="5200650" y="4257675"/>
            <a:ext cx="95250" cy="9525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42" name="">
            <a:extLst xmlns:a="http://schemas.openxmlformats.org/drawingml/2006/main">
              <a:ext uri="{FF2B5EF4-FFF2-40B4-BE49-F238E27FC236}">
                <a16:creationId xmlns:a16="http://schemas.microsoft.com/office/drawing/2014/main" id="{8564CD59-F5F3-45A9-9BC0-5614143DCDD6}"/>
              </a:ext>
            </a:extLst>
          </p:cNvPr>
          <p:cNvSpPr>
            <a:spLocks xmlns:a="http://schemas.openxmlformats.org/drawingml/2006/main" noGrp="1"/>
          </p:cNvSpPr>
          <p:nvPr/>
        </p:nvSpPr>
        <p:spPr>
          <a:xfrm xmlns:a="http://schemas.openxmlformats.org/drawingml/2006/main" rot="0">
            <a:off x="4505325" y="40005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Helvetica Neue"/>
                <a:ea typeface="Helvetica Neue"/>
                <a:cs typeface="Helvetica Neue"/>
              </a:defRPr>
            </a:pPr>
            <a:r>
              <a:rPr sz="1275" b="0" i="0">
                <a:solidFill>
                  <a:srgbClr val="202522"/>
                </a:solidFill>
                <a:latin typeface="Helvetica Neue"/>
                <a:ea typeface="Helvetica Neue"/>
                <a:cs typeface="Helvetica Neue"/>
              </a:rPr>
              <a:t>append-only</a:t>
            </a:r>
          </a:p>
        </p:txBody>
      </p:sp>
      <p:sp>
        <p:nvSpPr>
          <p:cNvPr id="43" name="">
            <a:extLst xmlns:a="http://schemas.openxmlformats.org/drawingml/2006/main">
              <a:ext uri="{FF2B5EF4-FFF2-40B4-BE49-F238E27FC236}">
                <a16:creationId xmlns:a16="http://schemas.microsoft.com/office/drawing/2014/main" id="{9D59E7F5-B03B-46BB-9129-09B988EC817E}"/>
              </a:ext>
            </a:extLst>
          </p:cNvPr>
          <p:cNvSpPr>
            <a:spLocks xmlns:a="http://schemas.openxmlformats.org/drawingml/2006/main" noGrp="1"/>
          </p:cNvSpPr>
          <p:nvPr/>
        </p:nvSpPr>
        <p:spPr>
          <a:xfrm xmlns:a="http://schemas.openxmlformats.org/drawingml/2006/main" rot="0">
            <a:off x="8124825" y="4257675"/>
            <a:ext cx="95250" cy="9525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44" name="">
            <a:extLst xmlns:a="http://schemas.openxmlformats.org/drawingml/2006/main">
              <a:ext uri="{FF2B5EF4-FFF2-40B4-BE49-F238E27FC236}">
                <a16:creationId xmlns:a16="http://schemas.microsoft.com/office/drawing/2014/main" id="{61E1AADD-94A6-46F8-AFC4-EC07FB66C6B4}"/>
              </a:ext>
            </a:extLst>
          </p:cNvPr>
          <p:cNvSpPr>
            <a:spLocks xmlns:a="http://schemas.openxmlformats.org/drawingml/2006/main" noGrp="1"/>
          </p:cNvSpPr>
          <p:nvPr/>
        </p:nvSpPr>
        <p:spPr>
          <a:xfrm xmlns:a="http://schemas.openxmlformats.org/drawingml/2006/main" rot="0">
            <a:off x="7429500" y="40005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Helvetica Neue"/>
                <a:ea typeface="Helvetica Neue"/>
                <a:cs typeface="Helvetica Neue"/>
              </a:defRPr>
            </a:pPr>
            <a:r>
              <a:rPr sz="1275" b="0" i="0">
                <a:solidFill>
                  <a:srgbClr val="202522"/>
                </a:solidFill>
                <a:latin typeface="Helvetica Neue"/>
                <a:ea typeface="Helvetica Neue"/>
                <a:cs typeface="Helvetica Neue"/>
              </a:rPr>
              <a:t>snapshot</a:t>
            </a:r>
          </a:p>
        </p:txBody>
      </p:sp>
      <p:sp>
        <p:nvSpPr>
          <p:cNvPr id="45" name="">
            <a:extLst xmlns:a="http://schemas.openxmlformats.org/drawingml/2006/main">
              <a:ext uri="{FF2B5EF4-FFF2-40B4-BE49-F238E27FC236}">
                <a16:creationId xmlns:a16="http://schemas.microsoft.com/office/drawing/2014/main" id="{AC1275FE-8C24-458A-B1B4-F1C59FA635D2}"/>
              </a:ext>
            </a:extLst>
          </p:cNvPr>
          <p:cNvSpPr>
            <a:spLocks xmlns:a="http://schemas.openxmlformats.org/drawingml/2006/main" noGrp="1"/>
          </p:cNvSpPr>
          <p:nvPr/>
        </p:nvSpPr>
        <p:spPr>
          <a:xfrm xmlns:a="http://schemas.openxmlformats.org/drawingml/2006/main" rot="0">
            <a:off x="11049000" y="4257675"/>
            <a:ext cx="95250" cy="9525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46" name="">
            <a:extLst xmlns:a="http://schemas.openxmlformats.org/drawingml/2006/main">
              <a:ext uri="{FF2B5EF4-FFF2-40B4-BE49-F238E27FC236}">
                <a16:creationId xmlns:a16="http://schemas.microsoft.com/office/drawing/2014/main" id="{3D66B165-0891-4369-AF1D-CA99E8D17BC0}"/>
              </a:ext>
            </a:extLst>
          </p:cNvPr>
          <p:cNvSpPr>
            <a:spLocks xmlns:a="http://schemas.openxmlformats.org/drawingml/2006/main" noGrp="1"/>
          </p:cNvSpPr>
          <p:nvPr/>
        </p:nvSpPr>
        <p:spPr>
          <a:xfrm xmlns:a="http://schemas.openxmlformats.org/drawingml/2006/main" rot="0">
            <a:off x="10353675" y="40005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Helvetica Neue"/>
                <a:ea typeface="Helvetica Neue"/>
                <a:cs typeface="Helvetica Neue"/>
              </a:defRPr>
            </a:pPr>
            <a:r>
              <a:rPr sz="1275" b="0" i="0">
                <a:solidFill>
                  <a:srgbClr val="202522"/>
                </a:solidFill>
                <a:latin typeface="Helvetica Neue"/>
                <a:ea typeface="Helvetica Neue"/>
                <a:cs typeface="Helvetica Neue"/>
              </a:rPr>
              <a:t>derived fixpoint</a:t>
            </a:r>
          </a:p>
        </p:txBody>
      </p:sp>
      <p:sp>
        <p:nvSpPr>
          <p:cNvPr id="47" name="">
            <a:extLst xmlns:a="http://schemas.openxmlformats.org/drawingml/2006/main">
              <a:ext uri="{FF2B5EF4-FFF2-40B4-BE49-F238E27FC236}">
                <a16:creationId xmlns:a16="http://schemas.microsoft.com/office/drawing/2014/main" id="{E85E66C8-C802-4AB2-BE47-C862EB17E224}"/>
              </a:ext>
            </a:extLst>
          </p:cNvPr>
          <p:cNvSpPr>
            <a:spLocks xmlns:a="http://schemas.openxmlformats.org/drawingml/2006/main" noGrp="1"/>
          </p:cNvSpPr>
          <p:nvPr/>
        </p:nvSpPr>
        <p:spPr>
          <a:xfrm xmlns:a="http://schemas.openxmlformats.org/drawingml/2006/main" rot="0">
            <a:off x="609600" y="499110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6B73"/>
                </a:solidFill>
                <a:latin typeface="Helvetica Neue"/>
                <a:ea typeface="Helvetica Neue"/>
                <a:cs typeface="Helvetica Neue"/>
              </a:defRPr>
            </a:pPr>
            <a:r>
              <a:rPr sz="1050" b="1" i="0">
                <a:solidFill>
                  <a:srgbClr val="176B73"/>
                </a:solidFill>
                <a:latin typeface="Helvetica Neue"/>
                <a:ea typeface="Helvetica Neue"/>
                <a:cs typeface="Helvetica Neue"/>
              </a:rPr>
              <a:t>CONTRACT</a:t>
            </a:r>
          </a:p>
        </p:txBody>
      </p:sp>
      <p:sp>
        <p:nvSpPr>
          <p:cNvPr id="48" name="">
            <a:extLst xmlns:a="http://schemas.openxmlformats.org/drawingml/2006/main">
              <a:ext uri="{FF2B5EF4-FFF2-40B4-BE49-F238E27FC236}">
                <a16:creationId xmlns:a16="http://schemas.microsoft.com/office/drawing/2014/main" id="{67910392-79DF-43B9-B026-529CD6CA4966}"/>
              </a:ext>
            </a:extLst>
          </p:cNvPr>
          <p:cNvSpPr>
            <a:spLocks xmlns:a="http://schemas.openxmlformats.org/drawingml/2006/main" noGrp="1"/>
          </p:cNvSpPr>
          <p:nvPr/>
        </p:nvSpPr>
        <p:spPr>
          <a:xfrm xmlns:a="http://schemas.openxmlformats.org/drawingml/2006/main">
            <a:off x="2095500" y="5105400"/>
            <a:ext cx="9334500" cy="0"/>
          </a:xfrm>
          <a:prstGeom xmlns:a="http://schemas.openxmlformats.org/drawingml/2006/main" prst="line">
            <a:avLst/>
          </a:prstGeom>
          <a:noFill xmlns:a="http://schemas.openxmlformats.org/drawingml/2006/main"/>
          <a:ln xmlns:a="http://schemas.openxmlformats.org/drawingml/2006/main" w="19050">
            <a:solidFill>
              <a:srgbClr val="D9D5C9"/>
            </a:solidFill>
            <a:prstDash val="solid"/>
          </a:ln>
        </p:spPr>
      </p:sp>
      <p:sp>
        <p:nvSpPr>
          <p:cNvPr id="49" name="">
            <a:extLst xmlns:a="http://schemas.openxmlformats.org/drawingml/2006/main">
              <a:ext uri="{FF2B5EF4-FFF2-40B4-BE49-F238E27FC236}">
                <a16:creationId xmlns:a16="http://schemas.microsoft.com/office/drawing/2014/main" id="{1D561E50-1E7C-4397-964E-5B9855B04542}"/>
              </a:ext>
            </a:extLst>
          </p:cNvPr>
          <p:cNvSpPr>
            <a:spLocks xmlns:a="http://schemas.openxmlformats.org/drawingml/2006/main" noGrp="1"/>
          </p:cNvSpPr>
          <p:nvPr/>
        </p:nvSpPr>
        <p:spPr>
          <a:xfrm xmlns:a="http://schemas.openxmlformats.org/drawingml/2006/main" rot="0">
            <a:off x="2276475" y="5057775"/>
            <a:ext cx="95250" cy="95250"/>
          </a:xfrm>
          <a:prstGeom xmlns:a="http://schemas.openxmlformats.org/drawingml/2006/main" prst="ellipse">
            <a:avLst/>
          </a:prstGeom>
          <a:solidFill xmlns:a="http://schemas.openxmlformats.org/drawingml/2006/main">
            <a:srgbClr val="9B4C2F"/>
          </a:solidFill>
          <a:ln xmlns:a="http://schemas.openxmlformats.org/drawingml/2006/main" w="19050">
            <a:solidFill>
              <a:srgbClr val="F5F2E9"/>
            </a:solidFill>
            <a:prstDash val="solid"/>
          </a:ln>
        </p:spPr>
      </p:sp>
      <p:sp>
        <p:nvSpPr>
          <p:cNvPr id="50" name="">
            <a:extLst xmlns:a="http://schemas.openxmlformats.org/drawingml/2006/main">
              <a:ext uri="{FF2B5EF4-FFF2-40B4-BE49-F238E27FC236}">
                <a16:creationId xmlns:a16="http://schemas.microsoft.com/office/drawing/2014/main" id="{473B8D9D-407A-4E1D-A5C1-CA0FDFBFD92B}"/>
              </a:ext>
            </a:extLst>
          </p:cNvPr>
          <p:cNvSpPr>
            <a:spLocks xmlns:a="http://schemas.openxmlformats.org/drawingml/2006/main" noGrp="1"/>
          </p:cNvSpPr>
          <p:nvPr/>
        </p:nvSpPr>
        <p:spPr>
          <a:xfrm xmlns:a="http://schemas.openxmlformats.org/drawingml/2006/main" rot="0">
            <a:off x="1581150" y="4800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Helvetica Neue"/>
                <a:ea typeface="Helvetica Neue"/>
                <a:cs typeface="Helvetica Neue"/>
              </a:defRPr>
            </a:pPr>
            <a:r>
              <a:rPr sz="1275" b="0" i="0">
                <a:solidFill>
                  <a:srgbClr val="202522"/>
                </a:solidFill>
                <a:latin typeface="Helvetica Neue"/>
                <a:ea typeface="Helvetica Neue"/>
                <a:cs typeface="Helvetica Neue"/>
              </a:rPr>
              <a:t>ACID</a:t>
            </a:r>
          </a:p>
        </p:txBody>
      </p:sp>
      <p:sp>
        <p:nvSpPr>
          <p:cNvPr id="51" name="">
            <a:extLst xmlns:a="http://schemas.openxmlformats.org/drawingml/2006/main">
              <a:ext uri="{FF2B5EF4-FFF2-40B4-BE49-F238E27FC236}">
                <a16:creationId xmlns:a16="http://schemas.microsoft.com/office/drawing/2014/main" id="{2A9E12BB-1CFD-4304-B14C-6854691AE123}"/>
              </a:ext>
            </a:extLst>
          </p:cNvPr>
          <p:cNvSpPr>
            <a:spLocks xmlns:a="http://schemas.openxmlformats.org/drawingml/2006/main" noGrp="1"/>
          </p:cNvSpPr>
          <p:nvPr/>
        </p:nvSpPr>
        <p:spPr>
          <a:xfrm xmlns:a="http://schemas.openxmlformats.org/drawingml/2006/main" rot="0">
            <a:off x="5200650" y="5057775"/>
            <a:ext cx="95250" cy="9525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52" name="">
            <a:extLst xmlns:a="http://schemas.openxmlformats.org/drawingml/2006/main">
              <a:ext uri="{FF2B5EF4-FFF2-40B4-BE49-F238E27FC236}">
                <a16:creationId xmlns:a16="http://schemas.microsoft.com/office/drawing/2014/main" id="{DFB04A39-BF30-4FDA-9243-DA6223E92790}"/>
              </a:ext>
            </a:extLst>
          </p:cNvPr>
          <p:cNvSpPr>
            <a:spLocks xmlns:a="http://schemas.openxmlformats.org/drawingml/2006/main" noGrp="1"/>
          </p:cNvSpPr>
          <p:nvPr/>
        </p:nvSpPr>
        <p:spPr>
          <a:xfrm xmlns:a="http://schemas.openxmlformats.org/drawingml/2006/main" rot="0">
            <a:off x="4505325" y="4800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Helvetica Neue"/>
                <a:ea typeface="Helvetica Neue"/>
                <a:cs typeface="Helvetica Neue"/>
              </a:defRPr>
            </a:pPr>
            <a:r>
              <a:rPr sz="1275" b="0" i="0">
                <a:solidFill>
                  <a:srgbClr val="202522"/>
                </a:solidFill>
                <a:latin typeface="Helvetica Neue"/>
                <a:ea typeface="Helvetica Neue"/>
                <a:cs typeface="Helvetica Neue"/>
              </a:rPr>
              <a:t>set/bag</a:t>
            </a:r>
          </a:p>
        </p:txBody>
      </p:sp>
      <p:sp>
        <p:nvSpPr>
          <p:cNvPr id="53" name="">
            <a:extLst xmlns:a="http://schemas.openxmlformats.org/drawingml/2006/main">
              <a:ext uri="{FF2B5EF4-FFF2-40B4-BE49-F238E27FC236}">
                <a16:creationId xmlns:a16="http://schemas.microsoft.com/office/drawing/2014/main" id="{36D175BD-3011-4DD4-96B7-FCD8D2809D4F}"/>
              </a:ext>
            </a:extLst>
          </p:cNvPr>
          <p:cNvSpPr>
            <a:spLocks xmlns:a="http://schemas.openxmlformats.org/drawingml/2006/main" noGrp="1"/>
          </p:cNvSpPr>
          <p:nvPr/>
        </p:nvSpPr>
        <p:spPr>
          <a:xfrm xmlns:a="http://schemas.openxmlformats.org/drawingml/2006/main" rot="0">
            <a:off x="8124825" y="5057775"/>
            <a:ext cx="95250" cy="9525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54" name="">
            <a:extLst xmlns:a="http://schemas.openxmlformats.org/drawingml/2006/main">
              <a:ext uri="{FF2B5EF4-FFF2-40B4-BE49-F238E27FC236}">
                <a16:creationId xmlns:a16="http://schemas.microsoft.com/office/drawing/2014/main" id="{0E584277-DA2C-4F6D-987B-9F727D589C65}"/>
              </a:ext>
            </a:extLst>
          </p:cNvPr>
          <p:cNvSpPr>
            <a:spLocks xmlns:a="http://schemas.openxmlformats.org/drawingml/2006/main" noGrp="1"/>
          </p:cNvSpPr>
          <p:nvPr/>
        </p:nvSpPr>
        <p:spPr>
          <a:xfrm xmlns:a="http://schemas.openxmlformats.org/drawingml/2006/main" rot="0">
            <a:off x="7429500" y="4800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Helvetica Neue"/>
                <a:ea typeface="Helvetica Neue"/>
                <a:cs typeface="Helvetica Neue"/>
              </a:defRPr>
            </a:pPr>
            <a:r>
              <a:rPr sz="1275" b="0" i="0">
                <a:solidFill>
                  <a:srgbClr val="202522"/>
                </a:solidFill>
                <a:latin typeface="Helvetica Neue"/>
                <a:ea typeface="Helvetica Neue"/>
                <a:cs typeface="Helvetica Neue"/>
              </a:rPr>
              <a:t>open/closed world</a:t>
            </a:r>
          </a:p>
        </p:txBody>
      </p:sp>
      <p:sp>
        <p:nvSpPr>
          <p:cNvPr id="55" name="">
            <a:extLst xmlns:a="http://schemas.openxmlformats.org/drawingml/2006/main">
              <a:ext uri="{FF2B5EF4-FFF2-40B4-BE49-F238E27FC236}">
                <a16:creationId xmlns:a16="http://schemas.microsoft.com/office/drawing/2014/main" id="{60E04001-3030-436D-920C-6B4F9EF5BE0E}"/>
              </a:ext>
            </a:extLst>
          </p:cNvPr>
          <p:cNvSpPr>
            <a:spLocks xmlns:a="http://schemas.openxmlformats.org/drawingml/2006/main" noGrp="1"/>
          </p:cNvSpPr>
          <p:nvPr/>
        </p:nvSpPr>
        <p:spPr>
          <a:xfrm xmlns:a="http://schemas.openxmlformats.org/drawingml/2006/main" rot="0">
            <a:off x="11049000" y="5057775"/>
            <a:ext cx="95250" cy="9525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56" name="">
            <a:extLst xmlns:a="http://schemas.openxmlformats.org/drawingml/2006/main">
              <a:ext uri="{FF2B5EF4-FFF2-40B4-BE49-F238E27FC236}">
                <a16:creationId xmlns:a16="http://schemas.microsoft.com/office/drawing/2014/main" id="{E37755C2-D708-4A30-BF7E-D8DA9F49F330}"/>
              </a:ext>
            </a:extLst>
          </p:cNvPr>
          <p:cNvSpPr>
            <a:spLocks xmlns:a="http://schemas.openxmlformats.org/drawingml/2006/main" noGrp="1"/>
          </p:cNvSpPr>
          <p:nvPr/>
        </p:nvSpPr>
        <p:spPr>
          <a:xfrm xmlns:a="http://schemas.openxmlformats.org/drawingml/2006/main" rot="0">
            <a:off x="10353675" y="4800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Helvetica Neue"/>
                <a:ea typeface="Helvetica Neue"/>
                <a:cs typeface="Helvetica Neue"/>
              </a:defRPr>
            </a:pPr>
            <a:r>
              <a:rPr sz="1275" b="0" i="0">
                <a:solidFill>
                  <a:srgbClr val="202522"/>
                </a:solidFill>
                <a:latin typeface="Helvetica Neue"/>
                <a:ea typeface="Helvetica Neue"/>
                <a:cs typeface="Helvetica Neue"/>
              </a:rPr>
              <a:t>approximate</a:t>
            </a:r>
          </a:p>
        </p:txBody>
      </p:sp>
      <p:sp>
        <p:nvSpPr>
          <p:cNvPr id="57" name="">
            <a:extLst xmlns:a="http://schemas.openxmlformats.org/drawingml/2006/main">
              <a:ext uri="{FF2B5EF4-FFF2-40B4-BE49-F238E27FC236}">
                <a16:creationId xmlns:a16="http://schemas.microsoft.com/office/drawing/2014/main" id="{F24996F3-C417-44B3-BDC9-A61C2A8EA4B6}"/>
              </a:ext>
            </a:extLst>
          </p:cNvPr>
          <p:cNvSpPr>
            <a:spLocks xmlns:a="http://schemas.openxmlformats.org/drawingml/2006/main" noGrp="1"/>
          </p:cNvSpPr>
          <p:nvPr/>
        </p:nvSpPr>
        <p:spPr>
          <a:xfrm xmlns:a="http://schemas.openxmlformats.org/drawingml/2006/main" rot="0">
            <a:off x="2095500" y="5734050"/>
            <a:ext cx="933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523"/>
          </a:bodyPr>
          <a:lstStyle xmlns:a="http://schemas.openxmlformats.org/drawingml/2006/main"/>
          <a:p xmlns:a="http://schemas.openxmlformats.org/drawingml/2006/main">
            <a:pPr algn="l">
              <a:defRPr sz="1800" b="0" i="0">
                <a:solidFill>
                  <a:srgbClr val="684F82"/>
                </a:solidFill>
                <a:latin typeface="Helvetica Neue"/>
                <a:ea typeface="Helvetica Neue"/>
                <a:cs typeface="Helvetica Neue"/>
              </a:defRPr>
            </a:pPr>
            <a:r>
              <a:rPr sz="1800" b="0" i="0">
                <a:solidFill>
                  <a:srgbClr val="684F82"/>
                </a:solidFill>
                <a:latin typeface="Helvetica Neue"/>
                <a:ea typeface="Helvetica Neue"/>
                <a:cs typeface="Helvetica Neue"/>
              </a:rPr>
              <a:t>Products choose points in this space. Query processing asks what remains invariant as those points move.</a:t>
            </a:r>
          </a:p>
        </p:txBody>
      </p:sp>
    </p:spTree>
    <p:extLst>
      <p:ext uri="{BB962C8B-B14F-4D97-AF65-F5344CB8AC3E}">
        <p14:creationId xmlns:p14="http://schemas.microsoft.com/office/powerpoint/2010/main" val="555952851"/>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555BAD2-0DAF-4120-8D70-B039C625A7B6}"/>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286D91"/>
          </a:solidFill>
          <a:ln xmlns:a="http://schemas.openxmlformats.org/drawingml/2006/main" w="0">
            <a:solidFill>
              <a:srgbClr val="286D91"/>
            </a:solidFill>
            <a:prstDash val="solid"/>
          </a:ln>
        </p:spPr>
      </p:sp>
      <p:sp>
        <p:nvSpPr>
          <p:cNvPr id="2" name="">
            <a:extLst xmlns:a="http://schemas.openxmlformats.org/drawingml/2006/main">
              <a:ext uri="{FF2B5EF4-FFF2-40B4-BE49-F238E27FC236}">
                <a16:creationId xmlns:a16="http://schemas.microsoft.com/office/drawing/2014/main" id="{6D932F3A-E6B9-425A-9661-E2EF1F917602}"/>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286D91"/>
                </a:solidFill>
                <a:latin typeface="Helvetica Neue"/>
                <a:ea typeface="Helvetica Neue"/>
                <a:cs typeface="Helvetica Neue"/>
              </a:defRPr>
            </a:pPr>
            <a:r>
              <a:rPr sz="1050" b="1" i="0">
                <a:solidFill>
                  <a:srgbClr val="286D91"/>
                </a:solidFill>
                <a:latin typeface="Helvetica Neue"/>
                <a:ea typeface="Helvetica Neue"/>
                <a:cs typeface="Helvetica Neue"/>
              </a:rPr>
              <a:t>ONE FAMILIAR POINT IN THE SPACE</a:t>
            </a:r>
          </a:p>
        </p:txBody>
      </p:sp>
      <p:sp>
        <p:nvSpPr>
          <p:cNvPr id="3" name="">
            <a:extLst xmlns:a="http://schemas.openxmlformats.org/drawingml/2006/main">
              <a:ext uri="{FF2B5EF4-FFF2-40B4-BE49-F238E27FC236}">
                <a16:creationId xmlns:a16="http://schemas.microsoft.com/office/drawing/2014/main" id="{0D4203E8-7F90-4CD2-AB11-AD3ED1738534}"/>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MySQL centers a shared transactional server</a:t>
            </a:r>
          </a:p>
        </p:txBody>
      </p:sp>
      <p:sp>
        <p:nvSpPr>
          <p:cNvPr id="4" name="">
            <a:extLst xmlns:a="http://schemas.openxmlformats.org/drawingml/2006/main">
              <a:ext uri="{FF2B5EF4-FFF2-40B4-BE49-F238E27FC236}">
                <a16:creationId xmlns:a16="http://schemas.microsoft.com/office/drawing/2014/main" id="{AD9AA539-2EC7-455D-9013-96ADD7250BD0}"/>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D668123C-C256-4B07-9B83-C2CD858C83B8}"/>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56668F9A-C769-417F-B339-6B4C28EF330A}"/>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04</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8381dc9a9deb444e"/>
          <a:stretch xmlns:a="http://schemas.openxmlformats.org/drawingml/2006/main"/>
        </p:blipFill>
        <p:spPr>
          <a:xfrm xmlns:a="http://schemas.openxmlformats.org/drawingml/2006/main">
            <a:off x="1040342" y="1600200"/>
            <a:ext cx="1557867" cy="10668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8F9D61D-939C-470E-B7CB-5A12DB073066}"/>
              </a:ext>
            </a:extLst>
          </p:cNvPr>
          <p:cNvSpPr>
            <a:spLocks xmlns:a="http://schemas.openxmlformats.org/drawingml/2006/main" noGrp="1"/>
          </p:cNvSpPr>
          <p:nvPr/>
        </p:nvSpPr>
        <p:spPr>
          <a:xfrm xmlns:a="http://schemas.openxmlformats.org/drawingml/2006/main" rot="0">
            <a:off x="742950" y="2857500"/>
            <a:ext cx="228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i="0">
                <a:solidFill>
                  <a:srgbClr val="286D91"/>
                </a:solidFill>
                <a:latin typeface="Helvetica Neue"/>
                <a:ea typeface="Helvetica Neue"/>
                <a:cs typeface="Helvetica Neue"/>
              </a:defRPr>
            </a:pPr>
            <a:r>
              <a:rPr sz="2025" b="0" i="0">
                <a:solidFill>
                  <a:srgbClr val="286D91"/>
                </a:solidFill>
                <a:latin typeface="Helvetica Neue"/>
                <a:ea typeface="Helvetica Neue"/>
                <a:cs typeface="Helvetica Neue"/>
              </a:rPr>
              <a:t>Clients cross a protocol boundary</a:t>
            </a:r>
          </a:p>
        </p:txBody>
      </p:sp>
      <p:sp>
        <p:nvSpPr>
          <p:cNvPr id="9" name="">
            <a:extLst xmlns:a="http://schemas.openxmlformats.org/drawingml/2006/main">
              <a:ext uri="{FF2B5EF4-FFF2-40B4-BE49-F238E27FC236}">
                <a16:creationId xmlns:a16="http://schemas.microsoft.com/office/drawing/2014/main" id="{F036E194-6FF1-465F-9753-35E48B341D00}"/>
              </a:ext>
            </a:extLst>
          </p:cNvPr>
          <p:cNvSpPr>
            <a:spLocks xmlns:a="http://schemas.openxmlformats.org/drawingml/2006/main" noGrp="1"/>
          </p:cNvSpPr>
          <p:nvPr/>
        </p:nvSpPr>
        <p:spPr>
          <a:xfrm xmlns:a="http://schemas.openxmlformats.org/drawingml/2006/main" rot="0">
            <a:off x="742950" y="3638550"/>
            <a:ext cx="238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68716B"/>
                </a:solidFill>
                <a:latin typeface="Helvetica Neue"/>
                <a:ea typeface="Helvetica Neue"/>
                <a:cs typeface="Helvetica Neue"/>
              </a:defRPr>
            </a:pPr>
            <a:r>
              <a:rPr sz="1650" b="0" i="0">
                <a:solidFill>
                  <a:srgbClr val="68716B"/>
                </a:solidFill>
                <a:latin typeface="Helvetica Neue"/>
                <a:ea typeface="Helvetica Neue"/>
                <a:cs typeface="Helvetica Neue"/>
              </a:rPr>
              <a:t>The server owns concurrency, recovery, and durable state.</a:t>
            </a:r>
          </a:p>
        </p:txBody>
      </p:sp>
      <p:sp>
        <p:nvSpPr>
          <p:cNvPr id="10" name="">
            <a:extLst xmlns:a="http://schemas.openxmlformats.org/drawingml/2006/main">
              <a:ext uri="{FF2B5EF4-FFF2-40B4-BE49-F238E27FC236}">
                <a16:creationId xmlns:a16="http://schemas.microsoft.com/office/drawing/2014/main" id="{7907CEDE-D867-4A98-91B6-27E3658B4419}"/>
              </a:ext>
            </a:extLst>
          </p:cNvPr>
          <p:cNvSpPr>
            <a:spLocks xmlns:a="http://schemas.openxmlformats.org/drawingml/2006/main" noGrp="1"/>
          </p:cNvSpPr>
          <p:nvPr/>
        </p:nvSpPr>
        <p:spPr>
          <a:xfrm xmlns:a="http://schemas.openxmlformats.org/drawingml/2006/main" rot="0">
            <a:off x="5048250" y="2209800"/>
            <a:ext cx="952500" cy="266700"/>
          </a:xfrm>
          <a:prstGeom xmlns:a="http://schemas.openxmlformats.org/drawingml/2006/main" prst="rightArrow">
            <a:avLst/>
          </a:prstGeom>
          <a:solidFill xmlns:a="http://schemas.openxmlformats.org/drawingml/2006/main">
            <a:srgbClr val="286D91"/>
          </a:solidFill>
          <a:ln xmlns:a="http://schemas.openxmlformats.org/drawingml/2006/main" w="0">
            <a:solidFill>
              <a:srgbClr val="286D91"/>
            </a:solidFill>
            <a:prstDash val="solid"/>
          </a:ln>
        </p:spPr>
      </p:sp>
      <p:sp>
        <p:nvSpPr>
          <p:cNvPr id="11" name="">
            <a:extLst xmlns:a="http://schemas.openxmlformats.org/drawingml/2006/main">
              <a:ext uri="{FF2B5EF4-FFF2-40B4-BE49-F238E27FC236}">
                <a16:creationId xmlns:a16="http://schemas.microsoft.com/office/drawing/2014/main" id="{F13C7C03-CE3F-4040-BF6D-56C170C0DC99}"/>
              </a:ext>
            </a:extLst>
          </p:cNvPr>
          <p:cNvSpPr>
            <a:spLocks xmlns:a="http://schemas.openxmlformats.org/drawingml/2006/main" noGrp="1"/>
          </p:cNvSpPr>
          <p:nvPr/>
        </p:nvSpPr>
        <p:spPr>
          <a:xfrm xmlns:a="http://schemas.openxmlformats.org/drawingml/2006/main" rot="0">
            <a:off x="5048250" y="3200400"/>
            <a:ext cx="952500" cy="266700"/>
          </a:xfrm>
          <a:prstGeom xmlns:a="http://schemas.openxmlformats.org/drawingml/2006/main" prst="rightArrow">
            <a:avLst/>
          </a:prstGeom>
          <a:solidFill xmlns:a="http://schemas.openxmlformats.org/drawingml/2006/main">
            <a:srgbClr val="286D91"/>
          </a:solidFill>
          <a:ln xmlns:a="http://schemas.openxmlformats.org/drawingml/2006/main" w="0">
            <a:solidFill>
              <a:srgbClr val="286D91"/>
            </a:solidFill>
            <a:prstDash val="solid"/>
          </a:ln>
        </p:spPr>
      </p:sp>
      <p:sp>
        <p:nvSpPr>
          <p:cNvPr id="12" name="">
            <a:extLst xmlns:a="http://schemas.openxmlformats.org/drawingml/2006/main">
              <a:ext uri="{FF2B5EF4-FFF2-40B4-BE49-F238E27FC236}">
                <a16:creationId xmlns:a16="http://schemas.microsoft.com/office/drawing/2014/main" id="{7B2B895B-B29A-42DA-BA17-82B52308E8B4}"/>
              </a:ext>
            </a:extLst>
          </p:cNvPr>
          <p:cNvSpPr>
            <a:spLocks xmlns:a="http://schemas.openxmlformats.org/drawingml/2006/main" noGrp="1"/>
          </p:cNvSpPr>
          <p:nvPr/>
        </p:nvSpPr>
        <p:spPr>
          <a:xfrm xmlns:a="http://schemas.openxmlformats.org/drawingml/2006/main" rot="0">
            <a:off x="5048250" y="4191000"/>
            <a:ext cx="952500" cy="266700"/>
          </a:xfrm>
          <a:prstGeom xmlns:a="http://schemas.openxmlformats.org/drawingml/2006/main" prst="rightArrow">
            <a:avLst/>
          </a:prstGeom>
          <a:solidFill xmlns:a="http://schemas.openxmlformats.org/drawingml/2006/main">
            <a:srgbClr val="286D91"/>
          </a:solidFill>
          <a:ln xmlns:a="http://schemas.openxmlformats.org/drawingml/2006/main" w="0">
            <a:solidFill>
              <a:srgbClr val="286D91"/>
            </a:solidFill>
            <a:prstDash val="solid"/>
          </a:ln>
        </p:spPr>
      </p:sp>
      <p:sp>
        <p:nvSpPr>
          <p:cNvPr id="13" name="">
            <a:extLst xmlns:a="http://schemas.openxmlformats.org/drawingml/2006/main">
              <a:ext uri="{FF2B5EF4-FFF2-40B4-BE49-F238E27FC236}">
                <a16:creationId xmlns:a16="http://schemas.microsoft.com/office/drawing/2014/main" id="{C80009E5-A1CA-4DA4-BC61-7BD12EF03E2A}"/>
              </a:ext>
            </a:extLst>
          </p:cNvPr>
          <p:cNvSpPr>
            <a:spLocks xmlns:a="http://schemas.openxmlformats.org/drawingml/2006/main" noGrp="1"/>
          </p:cNvSpPr>
          <p:nvPr/>
        </p:nvSpPr>
        <p:spPr>
          <a:xfrm xmlns:a="http://schemas.openxmlformats.org/drawingml/2006/main" rot="0">
            <a:off x="3600450" y="1952625"/>
            <a:ext cx="1428750" cy="723900"/>
          </a:xfrm>
          <a:prstGeom xmlns:a="http://schemas.openxmlformats.org/drawingml/2006/main" prst="roundRect">
            <a:avLst>
              <a:gd name="adj" fmla="val 10526"/>
            </a:avLst>
          </a:prstGeom>
          <a:solidFill xmlns:a="http://schemas.openxmlformats.org/drawingml/2006/main">
            <a:srgbClr val="FFFDF7"/>
          </a:solidFill>
          <a:ln xmlns:a="http://schemas.openxmlformats.org/drawingml/2006/main" w="14288">
            <a:solidFill>
              <a:srgbClr val="D9D5C9"/>
            </a:solidFill>
            <a:prstDash val="solid"/>
          </a:ln>
        </p:spPr>
      </p:sp>
      <p:sp>
        <p:nvSpPr>
          <p:cNvPr id="14" name="">
            <a:extLst xmlns:a="http://schemas.openxmlformats.org/drawingml/2006/main">
              <a:ext uri="{FF2B5EF4-FFF2-40B4-BE49-F238E27FC236}">
                <a16:creationId xmlns:a16="http://schemas.microsoft.com/office/drawing/2014/main" id="{5AC9DF2A-4859-46D6-AD7A-CE9367B752EC}"/>
              </a:ext>
            </a:extLst>
          </p:cNvPr>
          <p:cNvSpPr>
            <a:spLocks xmlns:a="http://schemas.openxmlformats.org/drawingml/2006/main" noGrp="1"/>
          </p:cNvSpPr>
          <p:nvPr/>
        </p:nvSpPr>
        <p:spPr>
          <a:xfrm xmlns:a="http://schemas.openxmlformats.org/drawingml/2006/main" rot="0">
            <a:off x="3752850" y="2181225"/>
            <a:ext cx="1123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i="0">
                <a:solidFill>
                  <a:srgbClr val="202522"/>
                </a:solidFill>
                <a:latin typeface="Helvetica Neue"/>
                <a:ea typeface="Helvetica Neue"/>
                <a:cs typeface="Helvetica Neue"/>
              </a:defRPr>
            </a:pPr>
            <a:r>
              <a:rPr sz="1500" b="0" i="0">
                <a:solidFill>
                  <a:srgbClr val="202522"/>
                </a:solidFill>
                <a:latin typeface="Helvetica Neue"/>
                <a:ea typeface="Helvetica Neue"/>
                <a:cs typeface="Helvetica Neue"/>
              </a:rPr>
              <a:t>web app</a:t>
            </a:r>
          </a:p>
        </p:txBody>
      </p:sp>
      <p:sp>
        <p:nvSpPr>
          <p:cNvPr id="15" name="">
            <a:extLst xmlns:a="http://schemas.openxmlformats.org/drawingml/2006/main">
              <a:ext uri="{FF2B5EF4-FFF2-40B4-BE49-F238E27FC236}">
                <a16:creationId xmlns:a16="http://schemas.microsoft.com/office/drawing/2014/main" id="{879F5BED-E604-4099-BD99-561A045409BD}"/>
              </a:ext>
            </a:extLst>
          </p:cNvPr>
          <p:cNvSpPr>
            <a:spLocks xmlns:a="http://schemas.openxmlformats.org/drawingml/2006/main" noGrp="1"/>
          </p:cNvSpPr>
          <p:nvPr/>
        </p:nvSpPr>
        <p:spPr>
          <a:xfrm xmlns:a="http://schemas.openxmlformats.org/drawingml/2006/main" rot="0">
            <a:off x="3600450" y="2943225"/>
            <a:ext cx="1428750" cy="723900"/>
          </a:xfrm>
          <a:prstGeom xmlns:a="http://schemas.openxmlformats.org/drawingml/2006/main" prst="roundRect">
            <a:avLst>
              <a:gd name="adj" fmla="val 10526"/>
            </a:avLst>
          </a:prstGeom>
          <a:solidFill xmlns:a="http://schemas.openxmlformats.org/drawingml/2006/main">
            <a:srgbClr val="FFFDF7"/>
          </a:solidFill>
          <a:ln xmlns:a="http://schemas.openxmlformats.org/drawingml/2006/main" w="14288">
            <a:solidFill>
              <a:srgbClr val="D9D5C9"/>
            </a:solidFill>
            <a:prstDash val="solid"/>
          </a:ln>
        </p:spPr>
      </p:sp>
      <p:sp>
        <p:nvSpPr>
          <p:cNvPr id="16" name="">
            <a:extLst xmlns:a="http://schemas.openxmlformats.org/drawingml/2006/main">
              <a:ext uri="{FF2B5EF4-FFF2-40B4-BE49-F238E27FC236}">
                <a16:creationId xmlns:a16="http://schemas.microsoft.com/office/drawing/2014/main" id="{9EF1B1FF-8E15-4DD3-9278-4ECCB77D81CA}"/>
              </a:ext>
            </a:extLst>
          </p:cNvPr>
          <p:cNvSpPr>
            <a:spLocks xmlns:a="http://schemas.openxmlformats.org/drawingml/2006/main" noGrp="1"/>
          </p:cNvSpPr>
          <p:nvPr/>
        </p:nvSpPr>
        <p:spPr>
          <a:xfrm xmlns:a="http://schemas.openxmlformats.org/drawingml/2006/main" rot="0">
            <a:off x="3752850" y="3171825"/>
            <a:ext cx="1123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i="0">
                <a:solidFill>
                  <a:srgbClr val="202522"/>
                </a:solidFill>
                <a:latin typeface="Helvetica Neue"/>
                <a:ea typeface="Helvetica Neue"/>
                <a:cs typeface="Helvetica Neue"/>
              </a:defRPr>
            </a:pPr>
            <a:r>
              <a:rPr sz="1500" b="0" i="0">
                <a:solidFill>
                  <a:srgbClr val="202522"/>
                </a:solidFill>
                <a:latin typeface="Helvetica Neue"/>
                <a:ea typeface="Helvetica Neue"/>
                <a:cs typeface="Helvetica Neue"/>
              </a:rPr>
              <a:t>admin tool</a:t>
            </a:r>
          </a:p>
        </p:txBody>
      </p:sp>
      <p:sp>
        <p:nvSpPr>
          <p:cNvPr id="17" name="">
            <a:extLst xmlns:a="http://schemas.openxmlformats.org/drawingml/2006/main">
              <a:ext uri="{FF2B5EF4-FFF2-40B4-BE49-F238E27FC236}">
                <a16:creationId xmlns:a16="http://schemas.microsoft.com/office/drawing/2014/main" id="{5C30BB17-052E-47C7-9D65-56E540F36E3D}"/>
              </a:ext>
            </a:extLst>
          </p:cNvPr>
          <p:cNvSpPr>
            <a:spLocks xmlns:a="http://schemas.openxmlformats.org/drawingml/2006/main" noGrp="1"/>
          </p:cNvSpPr>
          <p:nvPr/>
        </p:nvSpPr>
        <p:spPr>
          <a:xfrm xmlns:a="http://schemas.openxmlformats.org/drawingml/2006/main" rot="0">
            <a:off x="3600450" y="3933825"/>
            <a:ext cx="1428750" cy="723900"/>
          </a:xfrm>
          <a:prstGeom xmlns:a="http://schemas.openxmlformats.org/drawingml/2006/main" prst="roundRect">
            <a:avLst>
              <a:gd name="adj" fmla="val 10526"/>
            </a:avLst>
          </a:prstGeom>
          <a:solidFill xmlns:a="http://schemas.openxmlformats.org/drawingml/2006/main">
            <a:srgbClr val="FFFDF7"/>
          </a:solidFill>
          <a:ln xmlns:a="http://schemas.openxmlformats.org/drawingml/2006/main" w="14288">
            <a:solidFill>
              <a:srgbClr val="D9D5C9"/>
            </a:solidFill>
            <a:prstDash val="solid"/>
          </a:ln>
        </p:spPr>
      </p:sp>
      <p:sp>
        <p:nvSpPr>
          <p:cNvPr id="18" name="">
            <a:extLst xmlns:a="http://schemas.openxmlformats.org/drawingml/2006/main">
              <a:ext uri="{FF2B5EF4-FFF2-40B4-BE49-F238E27FC236}">
                <a16:creationId xmlns:a16="http://schemas.microsoft.com/office/drawing/2014/main" id="{31CDC69C-422A-475C-82EA-4A0442914BCE}"/>
              </a:ext>
            </a:extLst>
          </p:cNvPr>
          <p:cNvSpPr>
            <a:spLocks xmlns:a="http://schemas.openxmlformats.org/drawingml/2006/main" noGrp="1"/>
          </p:cNvSpPr>
          <p:nvPr/>
        </p:nvSpPr>
        <p:spPr>
          <a:xfrm xmlns:a="http://schemas.openxmlformats.org/drawingml/2006/main" rot="0">
            <a:off x="3752850" y="4162425"/>
            <a:ext cx="1123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i="0">
                <a:solidFill>
                  <a:srgbClr val="202522"/>
                </a:solidFill>
                <a:latin typeface="Helvetica Neue"/>
                <a:ea typeface="Helvetica Neue"/>
                <a:cs typeface="Helvetica Neue"/>
              </a:defRPr>
            </a:pPr>
            <a:r>
              <a:rPr sz="1500" b="0" i="0">
                <a:solidFill>
                  <a:srgbClr val="202522"/>
                </a:solidFill>
                <a:latin typeface="Helvetica Neue"/>
                <a:ea typeface="Helvetica Neue"/>
                <a:cs typeface="Helvetica Neue"/>
              </a:rPr>
              <a:t>service</a:t>
            </a:r>
          </a:p>
        </p:txBody>
      </p:sp>
      <p:sp>
        <p:nvSpPr>
          <p:cNvPr id="19" name="">
            <a:extLst xmlns:a="http://schemas.openxmlformats.org/drawingml/2006/main">
              <a:ext uri="{FF2B5EF4-FFF2-40B4-BE49-F238E27FC236}">
                <a16:creationId xmlns:a16="http://schemas.microsoft.com/office/drawing/2014/main" id="{A808E610-7A66-4822-B5D4-6B64F9269B6A}"/>
              </a:ext>
            </a:extLst>
          </p:cNvPr>
          <p:cNvSpPr>
            <a:spLocks xmlns:a="http://schemas.openxmlformats.org/drawingml/2006/main" noGrp="1"/>
          </p:cNvSpPr>
          <p:nvPr/>
        </p:nvSpPr>
        <p:spPr>
          <a:xfrm xmlns:a="http://schemas.openxmlformats.org/drawingml/2006/main" rot="0">
            <a:off x="6019800" y="1714500"/>
            <a:ext cx="4914900" cy="3390900"/>
          </a:xfrm>
          <a:prstGeom xmlns:a="http://schemas.openxmlformats.org/drawingml/2006/main" prst="roundRect">
            <a:avLst>
              <a:gd name="adj" fmla="val 3933"/>
            </a:avLst>
          </a:prstGeom>
          <a:solidFill xmlns:a="http://schemas.openxmlformats.org/drawingml/2006/main">
            <a:srgbClr val="EDF5F8"/>
          </a:solidFill>
          <a:ln xmlns:a="http://schemas.openxmlformats.org/drawingml/2006/main" w="19050">
            <a:solidFill>
              <a:srgbClr val="286D91"/>
            </a:solidFill>
            <a:prstDash val="solid"/>
          </a:ln>
        </p:spPr>
      </p:sp>
      <p:sp>
        <p:nvSpPr>
          <p:cNvPr id="20" name="">
            <a:extLst xmlns:a="http://schemas.openxmlformats.org/drawingml/2006/main">
              <a:ext uri="{FF2B5EF4-FFF2-40B4-BE49-F238E27FC236}">
                <a16:creationId xmlns:a16="http://schemas.microsoft.com/office/drawing/2014/main" id="{E9CA6C72-B40A-48DE-B027-38C9B2B21C17}"/>
              </a:ext>
            </a:extLst>
          </p:cNvPr>
          <p:cNvSpPr>
            <a:spLocks xmlns:a="http://schemas.openxmlformats.org/drawingml/2006/main" noGrp="1"/>
          </p:cNvSpPr>
          <p:nvPr/>
        </p:nvSpPr>
        <p:spPr>
          <a:xfrm xmlns:a="http://schemas.openxmlformats.org/drawingml/2006/main" rot="0">
            <a:off x="6305550" y="19431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286D91"/>
                </a:solidFill>
                <a:latin typeface="Helvetica Neue"/>
                <a:ea typeface="Helvetica Neue"/>
                <a:cs typeface="Helvetica Neue"/>
              </a:defRPr>
            </a:pPr>
            <a:r>
              <a:rPr sz="1125" b="1" i="0">
                <a:solidFill>
                  <a:srgbClr val="286D91"/>
                </a:solidFill>
                <a:latin typeface="Helvetica Neue"/>
                <a:ea typeface="Helvetica Neue"/>
                <a:cs typeface="Helvetica Neue"/>
              </a:rPr>
              <a:t>MYSQL SERVER</a:t>
            </a:r>
          </a:p>
        </p:txBody>
      </p:sp>
      <p:sp>
        <p:nvSpPr>
          <p:cNvPr id="21" name="">
            <a:extLst xmlns:a="http://schemas.openxmlformats.org/drawingml/2006/main">
              <a:ext uri="{FF2B5EF4-FFF2-40B4-BE49-F238E27FC236}">
                <a16:creationId xmlns:a16="http://schemas.microsoft.com/office/drawing/2014/main" id="{C2BC93A9-9612-491D-9186-8DD6EE56CB48}"/>
              </a:ext>
            </a:extLst>
          </p:cNvPr>
          <p:cNvSpPr>
            <a:spLocks xmlns:a="http://schemas.openxmlformats.org/drawingml/2006/main" noGrp="1"/>
          </p:cNvSpPr>
          <p:nvPr/>
        </p:nvSpPr>
        <p:spPr>
          <a:xfrm xmlns:a="http://schemas.openxmlformats.org/drawingml/2006/main" rot="0">
            <a:off x="6305550" y="2400300"/>
            <a:ext cx="2019300" cy="990600"/>
          </a:xfrm>
          <a:prstGeom xmlns:a="http://schemas.openxmlformats.org/drawingml/2006/main" prst="roundRect">
            <a:avLst>
              <a:gd name="adj" fmla="val 7692"/>
            </a:avLst>
          </a:prstGeom>
          <a:solidFill xmlns:a="http://schemas.openxmlformats.org/drawingml/2006/main">
            <a:srgbClr val="FFFDF7"/>
          </a:solidFill>
          <a:ln xmlns:a="http://schemas.openxmlformats.org/drawingml/2006/main" w="9525">
            <a:solidFill>
              <a:srgbClr val="D9D5C9"/>
            </a:solidFill>
            <a:prstDash val="solid"/>
          </a:ln>
        </p:spPr>
      </p:sp>
      <p:sp>
        <p:nvSpPr>
          <p:cNvPr id="22" name="">
            <a:extLst xmlns:a="http://schemas.openxmlformats.org/drawingml/2006/main">
              <a:ext uri="{FF2B5EF4-FFF2-40B4-BE49-F238E27FC236}">
                <a16:creationId xmlns:a16="http://schemas.microsoft.com/office/drawing/2014/main" id="{FDD0B68C-BA93-4B8D-A53B-8D6F00A09000}"/>
              </a:ext>
            </a:extLst>
          </p:cNvPr>
          <p:cNvSpPr>
            <a:spLocks xmlns:a="http://schemas.openxmlformats.org/drawingml/2006/main" noGrp="1"/>
          </p:cNvSpPr>
          <p:nvPr/>
        </p:nvSpPr>
        <p:spPr>
          <a:xfrm xmlns:a="http://schemas.openxmlformats.org/drawingml/2006/main" rot="0">
            <a:off x="6496050" y="2647950"/>
            <a:ext cx="1638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202522"/>
                </a:solidFill>
                <a:latin typeface="Helvetica Neue"/>
                <a:ea typeface="Helvetica Neue"/>
                <a:cs typeface="Helvetica Neue"/>
              </a:defRPr>
            </a:pPr>
            <a:r>
              <a:rPr sz="1725" b="1" i="0">
                <a:solidFill>
                  <a:srgbClr val="202522"/>
                </a:solidFill>
                <a:latin typeface="Helvetica Neue"/>
                <a:ea typeface="Helvetica Neue"/>
                <a:cs typeface="Helvetica Neue"/>
              </a:rPr>
              <a:t>SQL execution</a:t>
            </a:r>
          </a:p>
          <a:p xmlns:a="http://schemas.openxmlformats.org/drawingml/2006/main">
            <a:pPr algn="ctr">
              <a:defRPr sz="1725" b="1" i="0">
                <a:solidFill>
                  <a:srgbClr val="202522"/>
                </a:solidFill>
                <a:latin typeface="Helvetica Neue"/>
                <a:ea typeface="Helvetica Neue"/>
                <a:cs typeface="Helvetica Neue"/>
              </a:defRPr>
            </a:pPr>
            <a:r>
              <a:rPr sz="1725" b="1" i="0">
                <a:solidFill>
                  <a:srgbClr val="202522"/>
                </a:solidFill>
                <a:latin typeface="Helvetica Neue"/>
                <a:ea typeface="Helvetica Neue"/>
                <a:cs typeface="Helvetica Neue"/>
              </a:rPr>
              <a:t>+ optimization</a:t>
            </a:r>
          </a:p>
        </p:txBody>
      </p:sp>
      <p:sp>
        <p:nvSpPr>
          <p:cNvPr id="23" name="">
            <a:extLst xmlns:a="http://schemas.openxmlformats.org/drawingml/2006/main">
              <a:ext uri="{FF2B5EF4-FFF2-40B4-BE49-F238E27FC236}">
                <a16:creationId xmlns:a16="http://schemas.microsoft.com/office/drawing/2014/main" id="{9C5DAB57-950C-450B-815E-CDAD52E1D8B7}"/>
              </a:ext>
            </a:extLst>
          </p:cNvPr>
          <p:cNvSpPr>
            <a:spLocks xmlns:a="http://schemas.openxmlformats.org/drawingml/2006/main" noGrp="1"/>
          </p:cNvSpPr>
          <p:nvPr/>
        </p:nvSpPr>
        <p:spPr>
          <a:xfrm xmlns:a="http://schemas.openxmlformats.org/drawingml/2006/main" rot="0">
            <a:off x="8591550" y="2400300"/>
            <a:ext cx="2038350" cy="990600"/>
          </a:xfrm>
          <a:prstGeom xmlns:a="http://schemas.openxmlformats.org/drawingml/2006/main" prst="roundRect">
            <a:avLst>
              <a:gd name="adj" fmla="val 7692"/>
            </a:avLst>
          </a:prstGeom>
          <a:solidFill xmlns:a="http://schemas.openxmlformats.org/drawingml/2006/main">
            <a:srgbClr val="FFFDF7"/>
          </a:solidFill>
          <a:ln xmlns:a="http://schemas.openxmlformats.org/drawingml/2006/main" w="9525">
            <a:solidFill>
              <a:srgbClr val="D9D5C9"/>
            </a:solidFill>
            <a:prstDash val="solid"/>
          </a:ln>
        </p:spPr>
      </p:sp>
      <p:sp>
        <p:nvSpPr>
          <p:cNvPr id="24" name="">
            <a:extLst xmlns:a="http://schemas.openxmlformats.org/drawingml/2006/main">
              <a:ext uri="{FF2B5EF4-FFF2-40B4-BE49-F238E27FC236}">
                <a16:creationId xmlns:a16="http://schemas.microsoft.com/office/drawing/2014/main" id="{E77624FA-C2A6-49C4-A091-6EFD4466405F}"/>
              </a:ext>
            </a:extLst>
          </p:cNvPr>
          <p:cNvSpPr>
            <a:spLocks xmlns:a="http://schemas.openxmlformats.org/drawingml/2006/main" noGrp="1"/>
          </p:cNvSpPr>
          <p:nvPr/>
        </p:nvSpPr>
        <p:spPr>
          <a:xfrm xmlns:a="http://schemas.openxmlformats.org/drawingml/2006/main" rot="0">
            <a:off x="8782050" y="2647950"/>
            <a:ext cx="1657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202522"/>
                </a:solidFill>
                <a:latin typeface="Helvetica Neue"/>
                <a:ea typeface="Helvetica Neue"/>
                <a:cs typeface="Helvetica Neue"/>
              </a:defRPr>
            </a:pPr>
            <a:r>
              <a:rPr sz="1725" b="1" i="0">
                <a:solidFill>
                  <a:srgbClr val="202522"/>
                </a:solidFill>
                <a:latin typeface="Helvetica Neue"/>
                <a:ea typeface="Helvetica Neue"/>
                <a:cs typeface="Helvetica Neue"/>
              </a:rPr>
              <a:t>locks · MVCC</a:t>
            </a:r>
          </a:p>
          <a:p xmlns:a="http://schemas.openxmlformats.org/drawingml/2006/main">
            <a:pPr algn="ctr">
              <a:defRPr sz="1725" b="1" i="0">
                <a:solidFill>
                  <a:srgbClr val="202522"/>
                </a:solidFill>
                <a:latin typeface="Helvetica Neue"/>
                <a:ea typeface="Helvetica Neue"/>
                <a:cs typeface="Helvetica Neue"/>
              </a:defRPr>
            </a:pPr>
            <a:r>
              <a:rPr sz="1725" b="1" i="0">
                <a:solidFill>
                  <a:srgbClr val="202522"/>
                </a:solidFill>
                <a:latin typeface="Helvetica Neue"/>
                <a:ea typeface="Helvetica Neue"/>
                <a:cs typeface="Helvetica Neue"/>
              </a:rPr>
              <a:t>transactions</a:t>
            </a:r>
          </a:p>
        </p:txBody>
      </p:sp>
      <p:sp>
        <p:nvSpPr>
          <p:cNvPr id="25" name="">
            <a:extLst xmlns:a="http://schemas.openxmlformats.org/drawingml/2006/main">
              <a:ext uri="{FF2B5EF4-FFF2-40B4-BE49-F238E27FC236}">
                <a16:creationId xmlns:a16="http://schemas.microsoft.com/office/drawing/2014/main" id="{4D8AD2C5-0F88-497A-966F-536470B42923}"/>
              </a:ext>
            </a:extLst>
          </p:cNvPr>
          <p:cNvSpPr>
            <a:spLocks xmlns:a="http://schemas.openxmlformats.org/drawingml/2006/main" noGrp="1"/>
          </p:cNvSpPr>
          <p:nvPr/>
        </p:nvSpPr>
        <p:spPr>
          <a:xfrm xmlns:a="http://schemas.openxmlformats.org/drawingml/2006/main" rot="0">
            <a:off x="6305550" y="3714750"/>
            <a:ext cx="43243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5C9"/>
            </a:solidFill>
            <a:prstDash val="solid"/>
          </a:ln>
        </p:spPr>
      </p:sp>
      <p:sp>
        <p:nvSpPr>
          <p:cNvPr id="26" name="">
            <a:extLst xmlns:a="http://schemas.openxmlformats.org/drawingml/2006/main">
              <a:ext uri="{FF2B5EF4-FFF2-40B4-BE49-F238E27FC236}">
                <a16:creationId xmlns:a16="http://schemas.microsoft.com/office/drawing/2014/main" id="{236D707E-1283-40F1-8336-E501EDE55B4E}"/>
              </a:ext>
            </a:extLst>
          </p:cNvPr>
          <p:cNvSpPr>
            <a:spLocks xmlns:a="http://schemas.openxmlformats.org/drawingml/2006/main" noGrp="1"/>
          </p:cNvSpPr>
          <p:nvPr/>
        </p:nvSpPr>
        <p:spPr>
          <a:xfrm xmlns:a="http://schemas.openxmlformats.org/drawingml/2006/main" rot="0">
            <a:off x="6496050" y="3924300"/>
            <a:ext cx="1524000" cy="609600"/>
          </a:xfrm>
          <a:prstGeom xmlns:a="http://schemas.openxmlformats.org/drawingml/2006/main" prst="rect">
            <a:avLst/>
          </a:prstGeom>
          <a:solidFill xmlns:a="http://schemas.openxmlformats.org/drawingml/2006/main">
            <a:srgbClr val="FFFDF7"/>
          </a:solidFill>
          <a:ln xmlns:a="http://schemas.openxmlformats.org/drawingml/2006/main" w="19050">
            <a:solidFill>
              <a:srgbClr val="202522"/>
            </a:solidFill>
            <a:prstDash val="solid"/>
          </a:ln>
        </p:spPr>
      </p:sp>
      <p:sp>
        <p:nvSpPr>
          <p:cNvPr id="27" name="">
            <a:extLst xmlns:a="http://schemas.openxmlformats.org/drawingml/2006/main">
              <a:ext uri="{FF2B5EF4-FFF2-40B4-BE49-F238E27FC236}">
                <a16:creationId xmlns:a16="http://schemas.microsoft.com/office/drawing/2014/main" id="{C667DFF7-F2A4-4D6A-92BE-D56E4A7E2A9C}"/>
              </a:ext>
            </a:extLst>
          </p:cNvPr>
          <p:cNvSpPr>
            <a:spLocks xmlns:a="http://schemas.openxmlformats.org/drawingml/2006/main" noGrp="1"/>
          </p:cNvSpPr>
          <p:nvPr/>
        </p:nvSpPr>
        <p:spPr>
          <a:xfrm xmlns:a="http://schemas.openxmlformats.org/drawingml/2006/main">
            <a:off x="6877050" y="3924300"/>
            <a:ext cx="0" cy="60960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8" name="">
            <a:extLst xmlns:a="http://schemas.openxmlformats.org/drawingml/2006/main">
              <a:ext uri="{FF2B5EF4-FFF2-40B4-BE49-F238E27FC236}">
                <a16:creationId xmlns:a16="http://schemas.microsoft.com/office/drawing/2014/main" id="{AA52487E-E221-49AD-9692-DFE1632E2BE1}"/>
              </a:ext>
            </a:extLst>
          </p:cNvPr>
          <p:cNvSpPr>
            <a:spLocks xmlns:a="http://schemas.openxmlformats.org/drawingml/2006/main" noGrp="1"/>
          </p:cNvSpPr>
          <p:nvPr/>
        </p:nvSpPr>
        <p:spPr>
          <a:xfrm xmlns:a="http://schemas.openxmlformats.org/drawingml/2006/main">
            <a:off x="7258050" y="3924300"/>
            <a:ext cx="0" cy="60960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9" name="">
            <a:extLst xmlns:a="http://schemas.openxmlformats.org/drawingml/2006/main">
              <a:ext uri="{FF2B5EF4-FFF2-40B4-BE49-F238E27FC236}">
                <a16:creationId xmlns:a16="http://schemas.microsoft.com/office/drawing/2014/main" id="{12B7FBC2-2F05-444C-B74D-EB5708505862}"/>
              </a:ext>
            </a:extLst>
          </p:cNvPr>
          <p:cNvSpPr>
            <a:spLocks xmlns:a="http://schemas.openxmlformats.org/drawingml/2006/main" noGrp="1"/>
          </p:cNvSpPr>
          <p:nvPr/>
        </p:nvSpPr>
        <p:spPr>
          <a:xfrm xmlns:a="http://schemas.openxmlformats.org/drawingml/2006/main">
            <a:off x="7639050" y="3924300"/>
            <a:ext cx="0" cy="60960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30" name="">
            <a:extLst xmlns:a="http://schemas.openxmlformats.org/drawingml/2006/main">
              <a:ext uri="{FF2B5EF4-FFF2-40B4-BE49-F238E27FC236}">
                <a16:creationId xmlns:a16="http://schemas.microsoft.com/office/drawing/2014/main" id="{77780EA8-A1B3-4095-B27F-F72105DDF043}"/>
              </a:ext>
            </a:extLst>
          </p:cNvPr>
          <p:cNvSpPr>
            <a:spLocks xmlns:a="http://schemas.openxmlformats.org/drawingml/2006/main" noGrp="1"/>
          </p:cNvSpPr>
          <p:nvPr/>
        </p:nvSpPr>
        <p:spPr>
          <a:xfrm xmlns:a="http://schemas.openxmlformats.org/drawingml/2006/main">
            <a:off x="6496050" y="4127500"/>
            <a:ext cx="15240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31" name="">
            <a:extLst xmlns:a="http://schemas.openxmlformats.org/drawingml/2006/main">
              <a:ext uri="{FF2B5EF4-FFF2-40B4-BE49-F238E27FC236}">
                <a16:creationId xmlns:a16="http://schemas.microsoft.com/office/drawing/2014/main" id="{43235949-5DC0-4C03-8692-52480224601F}"/>
              </a:ext>
            </a:extLst>
          </p:cNvPr>
          <p:cNvSpPr>
            <a:spLocks xmlns:a="http://schemas.openxmlformats.org/drawingml/2006/main" noGrp="1"/>
          </p:cNvSpPr>
          <p:nvPr/>
        </p:nvSpPr>
        <p:spPr>
          <a:xfrm xmlns:a="http://schemas.openxmlformats.org/drawingml/2006/main">
            <a:off x="6496050" y="4330700"/>
            <a:ext cx="15240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32" name="">
            <a:extLst xmlns:a="http://schemas.openxmlformats.org/drawingml/2006/main">
              <a:ext uri="{FF2B5EF4-FFF2-40B4-BE49-F238E27FC236}">
                <a16:creationId xmlns:a16="http://schemas.microsoft.com/office/drawing/2014/main" id="{89CE23FE-0CEA-44E5-978F-2601606BFE8A}"/>
              </a:ext>
            </a:extLst>
          </p:cNvPr>
          <p:cNvSpPr>
            <a:spLocks xmlns:a="http://schemas.openxmlformats.org/drawingml/2006/main" noGrp="1"/>
          </p:cNvSpPr>
          <p:nvPr/>
        </p:nvSpPr>
        <p:spPr>
          <a:xfrm xmlns:a="http://schemas.openxmlformats.org/drawingml/2006/main" rot="0">
            <a:off x="6877050" y="4127500"/>
            <a:ext cx="381000" cy="203200"/>
          </a:xfrm>
          <a:prstGeom xmlns:a="http://schemas.openxmlformats.org/drawingml/2006/main" prst="rect">
            <a:avLst/>
          </a:prstGeom>
          <a:solidFill xmlns:a="http://schemas.openxmlformats.org/drawingml/2006/main">
            <a:srgbClr val="286D91"/>
          </a:solidFill>
          <a:ln xmlns:a="http://schemas.openxmlformats.org/drawingml/2006/main" w="0">
            <a:solidFill>
              <a:srgbClr val="286D91"/>
            </a:solidFill>
            <a:prstDash val="solid"/>
          </a:ln>
        </p:spPr>
      </p:sp>
      <p:sp>
        <p:nvSpPr>
          <p:cNvPr id="33" name="">
            <a:extLst xmlns:a="http://schemas.openxmlformats.org/drawingml/2006/main">
              <a:ext uri="{FF2B5EF4-FFF2-40B4-BE49-F238E27FC236}">
                <a16:creationId xmlns:a16="http://schemas.microsoft.com/office/drawing/2014/main" id="{D151A7D7-E8D5-4650-BD31-8C5AC2351C58}"/>
              </a:ext>
            </a:extLst>
          </p:cNvPr>
          <p:cNvSpPr>
            <a:spLocks xmlns:a="http://schemas.openxmlformats.org/drawingml/2006/main" noGrp="1"/>
          </p:cNvSpPr>
          <p:nvPr/>
        </p:nvSpPr>
        <p:spPr>
          <a:xfrm xmlns:a="http://schemas.openxmlformats.org/drawingml/2006/main" rot="0">
            <a:off x="8305800" y="4029075"/>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l">
              <a:defRPr sz="1650" b="0" i="0">
                <a:solidFill>
                  <a:srgbClr val="202522"/>
                </a:solidFill>
                <a:latin typeface="Helvetica Neue"/>
                <a:ea typeface="Helvetica Neue"/>
                <a:cs typeface="Helvetica Neue"/>
              </a:defRPr>
            </a:pPr>
            <a:r>
              <a:rPr sz="1650" b="0" i="0">
                <a:solidFill>
                  <a:srgbClr val="202522"/>
                </a:solidFill>
                <a:latin typeface="Helvetica Neue"/>
                <a:ea typeface="Helvetica Neue"/>
                <a:cs typeface="Helvetica Neue"/>
              </a:rPr>
              <a:t>durable tables + indexes + log</a:t>
            </a:r>
          </a:p>
        </p:txBody>
      </p:sp>
    </p:spTree>
    <p:extLst>
      <p:ext uri="{BB962C8B-B14F-4D97-AF65-F5344CB8AC3E}">
        <p14:creationId xmlns:p14="http://schemas.microsoft.com/office/powerpoint/2010/main" val="1216526710"/>
      </p:ext>
    </p:extLst>
  </p:cSld>
</p:sld>
</file>

<file path=ppt/slides/slide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46C7C516-5CEF-4DA4-A580-B5221F70D15B}"/>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8A5A18"/>
          </a:solidFill>
          <a:ln xmlns:a="http://schemas.openxmlformats.org/drawingml/2006/main" w="0">
            <a:solidFill>
              <a:srgbClr val="8A5A18"/>
            </a:solidFill>
            <a:prstDash val="solid"/>
          </a:ln>
        </p:spPr>
      </p:sp>
      <p:sp>
        <p:nvSpPr>
          <p:cNvPr id="2" name="">
            <a:extLst xmlns:a="http://schemas.openxmlformats.org/drawingml/2006/main">
              <a:ext uri="{FF2B5EF4-FFF2-40B4-BE49-F238E27FC236}">
                <a16:creationId xmlns:a16="http://schemas.microsoft.com/office/drawing/2014/main" id="{BCA32B57-4FBA-4CB2-A37C-5563C1FDEC4A}"/>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8A5A18"/>
                </a:solidFill>
                <a:latin typeface="Helvetica Neue"/>
                <a:ea typeface="Helvetica Neue"/>
                <a:cs typeface="Helvetica Neue"/>
              </a:defRPr>
            </a:pPr>
            <a:r>
              <a:rPr sz="1050" b="1" i="0">
                <a:solidFill>
                  <a:srgbClr val="8A5A18"/>
                </a:solidFill>
                <a:latin typeface="Helvetica Neue"/>
                <a:ea typeface="Helvetica Neue"/>
                <a:cs typeface="Helvetica Neue"/>
              </a:rPr>
              <a:t>SAME SQL FAMILY, DIFFERENT CONTRACT</a:t>
            </a:r>
          </a:p>
        </p:txBody>
      </p:sp>
      <p:sp>
        <p:nvSpPr>
          <p:cNvPr id="3" name="">
            <a:extLst xmlns:a="http://schemas.openxmlformats.org/drawingml/2006/main">
              <a:ext uri="{FF2B5EF4-FFF2-40B4-BE49-F238E27FC236}">
                <a16:creationId xmlns:a16="http://schemas.microsoft.com/office/drawing/2014/main" id="{53E180D5-DB87-43F0-A070-F39ED46C8EBF}"/>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DuckDB brings analytics into the process</a:t>
            </a:r>
          </a:p>
        </p:txBody>
      </p:sp>
      <p:sp>
        <p:nvSpPr>
          <p:cNvPr id="4" name="">
            <a:extLst xmlns:a="http://schemas.openxmlformats.org/drawingml/2006/main">
              <a:ext uri="{FF2B5EF4-FFF2-40B4-BE49-F238E27FC236}">
                <a16:creationId xmlns:a16="http://schemas.microsoft.com/office/drawing/2014/main" id="{9417160A-3C0B-4815-9AC4-26D720E6DB6B}"/>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E6354524-E3CA-4AAA-B717-961B7754C9DE}"/>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9493669D-99D8-4682-B46F-13B44604AD1F}"/>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D0433EBF-CF56-40A7-BC4D-6399BDCC2E07}"/>
              </a:ext>
            </a:extLst>
          </p:cNvPr>
          <p:cNvSpPr>
            <a:spLocks xmlns:a="http://schemas.openxmlformats.org/drawingml/2006/main" noGrp="1"/>
          </p:cNvSpPr>
          <p:nvPr/>
        </p:nvSpPr>
        <p:spPr>
          <a:xfrm xmlns:a="http://schemas.openxmlformats.org/drawingml/2006/main" rot="0">
            <a:off x="666750" y="1562100"/>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8A5A18"/>
                </a:solidFill>
                <a:latin typeface="Helvetica Neue"/>
                <a:ea typeface="Helvetica Neue"/>
                <a:cs typeface="Helvetica Neue"/>
              </a:defRPr>
            </a:pPr>
            <a:r>
              <a:rPr sz="1875" b="0" i="0">
                <a:solidFill>
                  <a:srgbClr val="8A5A18"/>
                </a:solidFill>
                <a:latin typeface="Helvetica Neue"/>
                <a:ea typeface="Helvetica Neue"/>
                <a:cs typeface="Helvetica Neue"/>
              </a:rPr>
              <a:t>No database server is required for the default in-memory connection.</a:t>
            </a:r>
          </a:p>
        </p:txBody>
      </p:sp>
      <p:sp>
        <p:nvSpPr>
          <p:cNvPr id="8" name="">
            <a:extLst xmlns:a="http://schemas.openxmlformats.org/drawingml/2006/main">
              <a:ext uri="{FF2B5EF4-FFF2-40B4-BE49-F238E27FC236}">
                <a16:creationId xmlns:a16="http://schemas.microsoft.com/office/drawing/2014/main" id="{287E508D-210D-41B1-B4AE-A40D2F3CC04F}"/>
              </a:ext>
            </a:extLst>
          </p:cNvPr>
          <p:cNvSpPr>
            <a:spLocks xmlns:a="http://schemas.openxmlformats.org/drawingml/2006/main" noGrp="1"/>
          </p:cNvSpPr>
          <p:nvPr/>
        </p:nvSpPr>
        <p:spPr>
          <a:xfrm xmlns:a="http://schemas.openxmlformats.org/drawingml/2006/main" rot="0">
            <a:off x="666750" y="2419350"/>
            <a:ext cx="3429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68716B"/>
                </a:solidFill>
                <a:latin typeface="Helvetica Neue"/>
                <a:ea typeface="Helvetica Neue"/>
                <a:cs typeface="Helvetica Neue"/>
              </a:defRPr>
            </a:pPr>
            <a:r>
              <a:rPr sz="1725" b="0" i="0">
                <a:solidFill>
                  <a:srgbClr val="68716B"/>
                </a:solidFill>
                <a:latin typeface="Helvetica Neue"/>
                <a:ea typeface="Helvetica Neue"/>
                <a:cs typeface="Helvetica Neue"/>
              </a:rPr>
              <a:t>SQL can name files and in-memory DataFrames directly.</a:t>
            </a:r>
          </a:p>
        </p:txBody>
      </p:sp>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abddc5e821b44adc"/>
          <a:stretch xmlns:a="http://schemas.openxmlformats.org/drawingml/2006/main"/>
        </p:blipFill>
        <p:spPr>
          <a:xfrm xmlns:a="http://schemas.openxmlformats.org/drawingml/2006/main">
            <a:off x="1391037" y="3695700"/>
            <a:ext cx="1980426" cy="15240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A891144-BD9C-435A-ADA7-72A79EF61E11}"/>
              </a:ext>
            </a:extLst>
          </p:cNvPr>
          <p:cNvSpPr>
            <a:spLocks xmlns:a="http://schemas.openxmlformats.org/drawingml/2006/main" noGrp="1"/>
          </p:cNvSpPr>
          <p:nvPr/>
        </p:nvSpPr>
        <p:spPr>
          <a:xfrm xmlns:a="http://schemas.openxmlformats.org/drawingml/2006/main" rot="0">
            <a:off x="4953000" y="2085975"/>
            <a:ext cx="990600" cy="247650"/>
          </a:xfrm>
          <a:prstGeom xmlns:a="http://schemas.openxmlformats.org/drawingml/2006/main" prst="rightArrow">
            <a:avLst/>
          </a:prstGeom>
          <a:solidFill xmlns:a="http://schemas.openxmlformats.org/drawingml/2006/main">
            <a:srgbClr val="8A5A18"/>
          </a:solidFill>
          <a:ln xmlns:a="http://schemas.openxmlformats.org/drawingml/2006/main" w="0">
            <a:solidFill>
              <a:srgbClr val="8A5A18"/>
            </a:solidFill>
            <a:prstDash val="solid"/>
          </a:ln>
        </p:spPr>
      </p:sp>
      <p:sp>
        <p:nvSpPr>
          <p:cNvPr id="11" name="">
            <a:extLst xmlns:a="http://schemas.openxmlformats.org/drawingml/2006/main">
              <a:ext uri="{FF2B5EF4-FFF2-40B4-BE49-F238E27FC236}">
                <a16:creationId xmlns:a16="http://schemas.microsoft.com/office/drawing/2014/main" id="{11F38A24-1579-436A-B727-2C54D26A654E}"/>
              </a:ext>
            </a:extLst>
          </p:cNvPr>
          <p:cNvSpPr>
            <a:spLocks xmlns:a="http://schemas.openxmlformats.org/drawingml/2006/main" noGrp="1"/>
          </p:cNvSpPr>
          <p:nvPr/>
        </p:nvSpPr>
        <p:spPr>
          <a:xfrm xmlns:a="http://schemas.openxmlformats.org/drawingml/2006/main" rot="0">
            <a:off x="4953000" y="3209925"/>
            <a:ext cx="990600" cy="247650"/>
          </a:xfrm>
          <a:prstGeom xmlns:a="http://schemas.openxmlformats.org/drawingml/2006/main" prst="rightArrow">
            <a:avLst/>
          </a:prstGeom>
          <a:solidFill xmlns:a="http://schemas.openxmlformats.org/drawingml/2006/main">
            <a:srgbClr val="8A5A18"/>
          </a:solidFill>
          <a:ln xmlns:a="http://schemas.openxmlformats.org/drawingml/2006/main" w="0">
            <a:solidFill>
              <a:srgbClr val="8A5A18"/>
            </a:solidFill>
            <a:prstDash val="solid"/>
          </a:ln>
        </p:spPr>
      </p:sp>
      <p:sp>
        <p:nvSpPr>
          <p:cNvPr id="12" name="">
            <a:extLst xmlns:a="http://schemas.openxmlformats.org/drawingml/2006/main">
              <a:ext uri="{FF2B5EF4-FFF2-40B4-BE49-F238E27FC236}">
                <a16:creationId xmlns:a16="http://schemas.microsoft.com/office/drawing/2014/main" id="{252B2EE9-2590-42F9-B184-9EE8507FA8C2}"/>
              </a:ext>
            </a:extLst>
          </p:cNvPr>
          <p:cNvSpPr>
            <a:spLocks xmlns:a="http://schemas.openxmlformats.org/drawingml/2006/main" noGrp="1"/>
          </p:cNvSpPr>
          <p:nvPr/>
        </p:nvSpPr>
        <p:spPr>
          <a:xfrm xmlns:a="http://schemas.openxmlformats.org/drawingml/2006/main" rot="0">
            <a:off x="4953000" y="4333875"/>
            <a:ext cx="990600" cy="247650"/>
          </a:xfrm>
          <a:prstGeom xmlns:a="http://schemas.openxmlformats.org/drawingml/2006/main" prst="rightArrow">
            <a:avLst/>
          </a:prstGeom>
          <a:solidFill xmlns:a="http://schemas.openxmlformats.org/drawingml/2006/main">
            <a:srgbClr val="8A5A18"/>
          </a:solidFill>
          <a:ln xmlns:a="http://schemas.openxmlformats.org/drawingml/2006/main" w="0">
            <a:solidFill>
              <a:srgbClr val="8A5A18"/>
            </a:solidFill>
            <a:prstDash val="solid"/>
          </a:ln>
        </p:spPr>
      </p:sp>
      <p:sp>
        <p:nvSpPr>
          <p:cNvPr id="13" name="">
            <a:extLst xmlns:a="http://schemas.openxmlformats.org/drawingml/2006/main">
              <a:ext uri="{FF2B5EF4-FFF2-40B4-BE49-F238E27FC236}">
                <a16:creationId xmlns:a16="http://schemas.microsoft.com/office/drawing/2014/main" id="{80A0FB87-A84E-4168-A427-2328145E6209}"/>
              </a:ext>
            </a:extLst>
          </p:cNvPr>
          <p:cNvSpPr>
            <a:spLocks xmlns:a="http://schemas.openxmlformats.org/drawingml/2006/main" noGrp="1"/>
          </p:cNvSpPr>
          <p:nvPr/>
        </p:nvSpPr>
        <p:spPr>
          <a:xfrm xmlns:a="http://schemas.openxmlformats.org/drawingml/2006/main" rot="0">
            <a:off x="4229100" y="1733550"/>
            <a:ext cx="1123950" cy="742950"/>
          </a:xfrm>
          <a:prstGeom xmlns:a="http://schemas.openxmlformats.org/drawingml/2006/main" prst="rect">
            <a:avLst/>
          </a:prstGeom>
          <a:solidFill xmlns:a="http://schemas.openxmlformats.org/drawingml/2006/main">
            <a:srgbClr val="FFFDF7"/>
          </a:solidFill>
          <a:ln xmlns:a="http://schemas.openxmlformats.org/drawingml/2006/main" w="19050">
            <a:solidFill>
              <a:srgbClr val="202522"/>
            </a:solidFill>
            <a:prstDash val="solid"/>
          </a:ln>
        </p:spPr>
      </p:sp>
      <p:sp>
        <p:nvSpPr>
          <p:cNvPr id="14" name="">
            <a:extLst xmlns:a="http://schemas.openxmlformats.org/drawingml/2006/main">
              <a:ext uri="{FF2B5EF4-FFF2-40B4-BE49-F238E27FC236}">
                <a16:creationId xmlns:a16="http://schemas.microsoft.com/office/drawing/2014/main" id="{7AB05667-36A2-4550-A034-86FAF54087A3}"/>
              </a:ext>
            </a:extLst>
          </p:cNvPr>
          <p:cNvSpPr>
            <a:spLocks xmlns:a="http://schemas.openxmlformats.org/drawingml/2006/main" noGrp="1"/>
          </p:cNvSpPr>
          <p:nvPr/>
        </p:nvSpPr>
        <p:spPr>
          <a:xfrm xmlns:a="http://schemas.openxmlformats.org/drawingml/2006/main" rot="0">
            <a:off x="4343400" y="1828800"/>
            <a:ext cx="266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0" i="0">
                <a:solidFill>
                  <a:srgbClr val="8A5A18"/>
                </a:solidFill>
                <a:latin typeface="SFMono-Regular"/>
                <a:ea typeface="SFMono-Regular"/>
                <a:cs typeface="SFMono-Regular"/>
              </a:defRPr>
            </a:pPr>
            <a:r>
              <a:rPr sz="3150" b="0" i="0">
                <a:solidFill>
                  <a:srgbClr val="8A5A18"/>
                </a:solidFill>
                <a:latin typeface="SFMono-Regular"/>
                <a:ea typeface="SFMono-Regular"/>
                <a:cs typeface="SFMono-Regular"/>
              </a:rPr>
              <a:t>{</a:t>
            </a:r>
          </a:p>
        </p:txBody>
      </p:sp>
      <p:sp>
        <p:nvSpPr>
          <p:cNvPr id="15" name="">
            <a:extLst xmlns:a="http://schemas.openxmlformats.org/drawingml/2006/main">
              <a:ext uri="{FF2B5EF4-FFF2-40B4-BE49-F238E27FC236}">
                <a16:creationId xmlns:a16="http://schemas.microsoft.com/office/drawing/2014/main" id="{7AB0795B-517B-475F-B611-044D09FFAC8F}"/>
              </a:ext>
            </a:extLst>
          </p:cNvPr>
          <p:cNvSpPr>
            <a:spLocks xmlns:a="http://schemas.openxmlformats.org/drawingml/2006/main" noGrp="1"/>
          </p:cNvSpPr>
          <p:nvPr/>
        </p:nvSpPr>
        <p:spPr>
          <a:xfrm xmlns:a="http://schemas.openxmlformats.org/drawingml/2006/main" rot="0">
            <a:off x="4648200" y="1962150"/>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58823"/>
          </a:bodyPr>
          <a:lstStyle xmlns:a="http://schemas.openxmlformats.org/drawingml/2006/main"/>
          <a:p xmlns:a="http://schemas.openxmlformats.org/drawingml/2006/main">
            <a:pPr algn="l">
              <a:defRPr sz="1275" b="0" i="0">
                <a:solidFill>
                  <a:srgbClr val="202522"/>
                </a:solidFill>
                <a:latin typeface="SFMono-Regular"/>
                <a:ea typeface="SFMono-Regular"/>
                <a:cs typeface="SFMono-Regular"/>
              </a:defRPr>
            </a:pPr>
            <a:r>
              <a:rPr sz="1275" b="0" i="0">
                <a:solidFill>
                  <a:srgbClr val="202522"/>
                </a:solidFill>
                <a:latin typeface="SFMono-Regular"/>
                <a:ea typeface="SFMono-Regular"/>
                <a:cs typeface="SFMono-Regular"/>
              </a:rPr>
              <a:t>"city": "Logan",</a:t>
            </a:r>
          </a:p>
          <a:p xmlns:a="http://schemas.openxmlformats.org/drawingml/2006/main">
            <a:pPr algn="l">
              <a:defRPr sz="1275" b="0" i="0">
                <a:solidFill>
                  <a:srgbClr val="202522"/>
                </a:solidFill>
                <a:latin typeface="SFMono-Regular"/>
                <a:ea typeface="SFMono-Regular"/>
                <a:cs typeface="SFMono-Regular"/>
              </a:defRPr>
            </a:pPr>
            <a:r>
              <a:rPr sz="1275" b="0" i="0">
                <a:solidFill>
                  <a:srgbClr val="202522"/>
                </a:solidFill>
                <a:latin typeface="SFMono-Regular"/>
                <a:ea typeface="SFMono-Regular"/>
                <a:cs typeface="SFMono-Regular"/>
              </a:rPr>
              <a:t>"road": [ … ]</a:t>
            </a:r>
          </a:p>
        </p:txBody>
      </p:sp>
      <p:sp>
        <p:nvSpPr>
          <p:cNvPr id="16" name="">
            <a:extLst xmlns:a="http://schemas.openxmlformats.org/drawingml/2006/main">
              <a:ext uri="{FF2B5EF4-FFF2-40B4-BE49-F238E27FC236}">
                <a16:creationId xmlns:a16="http://schemas.microsoft.com/office/drawing/2014/main" id="{B3BE7D03-2F67-4137-A3DF-8A3774A72B63}"/>
              </a:ext>
            </a:extLst>
          </p:cNvPr>
          <p:cNvSpPr>
            <a:spLocks xmlns:a="http://schemas.openxmlformats.org/drawingml/2006/main" noGrp="1"/>
          </p:cNvSpPr>
          <p:nvPr/>
        </p:nvSpPr>
        <p:spPr>
          <a:xfrm xmlns:a="http://schemas.openxmlformats.org/drawingml/2006/main" rot="0">
            <a:off x="4229100" y="2571750"/>
            <a:ext cx="1123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202522"/>
                </a:solidFill>
                <a:latin typeface="Helvetica Neue"/>
                <a:ea typeface="Helvetica Neue"/>
                <a:cs typeface="Helvetica Neue"/>
              </a:defRPr>
            </a:pPr>
            <a:r>
              <a:rPr sz="1350" b="0" i="0">
                <a:solidFill>
                  <a:srgbClr val="202522"/>
                </a:solidFill>
                <a:latin typeface="Helvetica Neue"/>
                <a:ea typeface="Helvetica Neue"/>
                <a:cs typeface="Helvetica Neue"/>
              </a:rPr>
              <a:t>Parquet</a:t>
            </a:r>
          </a:p>
        </p:txBody>
      </p:sp>
      <p:sp>
        <p:nvSpPr>
          <p:cNvPr id="17" name="">
            <a:extLst xmlns:a="http://schemas.openxmlformats.org/drawingml/2006/main">
              <a:ext uri="{FF2B5EF4-FFF2-40B4-BE49-F238E27FC236}">
                <a16:creationId xmlns:a16="http://schemas.microsoft.com/office/drawing/2014/main" id="{BF4D97B5-6852-44C5-81FA-11703237ECC4}"/>
              </a:ext>
            </a:extLst>
          </p:cNvPr>
          <p:cNvSpPr>
            <a:spLocks xmlns:a="http://schemas.openxmlformats.org/drawingml/2006/main" noGrp="1"/>
          </p:cNvSpPr>
          <p:nvPr/>
        </p:nvSpPr>
        <p:spPr>
          <a:xfrm xmlns:a="http://schemas.openxmlformats.org/drawingml/2006/main" rot="0">
            <a:off x="4229100" y="2952750"/>
            <a:ext cx="1123950" cy="742950"/>
          </a:xfrm>
          <a:prstGeom xmlns:a="http://schemas.openxmlformats.org/drawingml/2006/main" prst="rect">
            <a:avLst/>
          </a:prstGeom>
          <a:solidFill xmlns:a="http://schemas.openxmlformats.org/drawingml/2006/main">
            <a:srgbClr val="FFFDF7"/>
          </a:solidFill>
          <a:ln xmlns:a="http://schemas.openxmlformats.org/drawingml/2006/main" w="19050">
            <a:solidFill>
              <a:srgbClr val="202522"/>
            </a:solidFill>
            <a:prstDash val="solid"/>
          </a:ln>
        </p:spPr>
      </p:sp>
      <p:sp>
        <p:nvSpPr>
          <p:cNvPr id="18" name="">
            <a:extLst xmlns:a="http://schemas.openxmlformats.org/drawingml/2006/main">
              <a:ext uri="{FF2B5EF4-FFF2-40B4-BE49-F238E27FC236}">
                <a16:creationId xmlns:a16="http://schemas.microsoft.com/office/drawing/2014/main" id="{E9CB63E4-8D5E-4555-87A4-D8CD89CB89B1}"/>
              </a:ext>
            </a:extLst>
          </p:cNvPr>
          <p:cNvSpPr>
            <a:spLocks xmlns:a="http://schemas.openxmlformats.org/drawingml/2006/main" noGrp="1"/>
          </p:cNvSpPr>
          <p:nvPr/>
        </p:nvSpPr>
        <p:spPr>
          <a:xfrm xmlns:a="http://schemas.openxmlformats.org/drawingml/2006/main">
            <a:off x="4510088" y="2952750"/>
            <a:ext cx="0" cy="74295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19" name="">
            <a:extLst xmlns:a="http://schemas.openxmlformats.org/drawingml/2006/main">
              <a:ext uri="{FF2B5EF4-FFF2-40B4-BE49-F238E27FC236}">
                <a16:creationId xmlns:a16="http://schemas.microsoft.com/office/drawing/2014/main" id="{67EF2DCA-96AE-4E47-B8DA-EA79A1C42A13}"/>
              </a:ext>
            </a:extLst>
          </p:cNvPr>
          <p:cNvSpPr>
            <a:spLocks xmlns:a="http://schemas.openxmlformats.org/drawingml/2006/main" noGrp="1"/>
          </p:cNvSpPr>
          <p:nvPr/>
        </p:nvSpPr>
        <p:spPr>
          <a:xfrm xmlns:a="http://schemas.openxmlformats.org/drawingml/2006/main">
            <a:off x="4791075" y="2952750"/>
            <a:ext cx="0" cy="74295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0" name="">
            <a:extLst xmlns:a="http://schemas.openxmlformats.org/drawingml/2006/main">
              <a:ext uri="{FF2B5EF4-FFF2-40B4-BE49-F238E27FC236}">
                <a16:creationId xmlns:a16="http://schemas.microsoft.com/office/drawing/2014/main" id="{19213C4F-0E17-4A98-B2AA-132F60216A97}"/>
              </a:ext>
            </a:extLst>
          </p:cNvPr>
          <p:cNvSpPr>
            <a:spLocks xmlns:a="http://schemas.openxmlformats.org/drawingml/2006/main" noGrp="1"/>
          </p:cNvSpPr>
          <p:nvPr/>
        </p:nvSpPr>
        <p:spPr>
          <a:xfrm xmlns:a="http://schemas.openxmlformats.org/drawingml/2006/main">
            <a:off x="5072063" y="2952750"/>
            <a:ext cx="0" cy="74295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1" name="">
            <a:extLst xmlns:a="http://schemas.openxmlformats.org/drawingml/2006/main">
              <a:ext uri="{FF2B5EF4-FFF2-40B4-BE49-F238E27FC236}">
                <a16:creationId xmlns:a16="http://schemas.microsoft.com/office/drawing/2014/main" id="{A49D19FD-5CF9-4F34-AD0F-36DA4AB4E34E}"/>
              </a:ext>
            </a:extLst>
          </p:cNvPr>
          <p:cNvSpPr>
            <a:spLocks xmlns:a="http://schemas.openxmlformats.org/drawingml/2006/main" noGrp="1"/>
          </p:cNvSpPr>
          <p:nvPr/>
        </p:nvSpPr>
        <p:spPr>
          <a:xfrm xmlns:a="http://schemas.openxmlformats.org/drawingml/2006/main">
            <a:off x="4229100" y="3138488"/>
            <a:ext cx="11239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2" name="">
            <a:extLst xmlns:a="http://schemas.openxmlformats.org/drawingml/2006/main">
              <a:ext uri="{FF2B5EF4-FFF2-40B4-BE49-F238E27FC236}">
                <a16:creationId xmlns:a16="http://schemas.microsoft.com/office/drawing/2014/main" id="{818303F5-488B-49CB-8DCB-AB48CC6D9A9F}"/>
              </a:ext>
            </a:extLst>
          </p:cNvPr>
          <p:cNvSpPr>
            <a:spLocks xmlns:a="http://schemas.openxmlformats.org/drawingml/2006/main" noGrp="1"/>
          </p:cNvSpPr>
          <p:nvPr/>
        </p:nvSpPr>
        <p:spPr>
          <a:xfrm xmlns:a="http://schemas.openxmlformats.org/drawingml/2006/main">
            <a:off x="4229100" y="3324225"/>
            <a:ext cx="11239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3" name="">
            <a:extLst xmlns:a="http://schemas.openxmlformats.org/drawingml/2006/main">
              <a:ext uri="{FF2B5EF4-FFF2-40B4-BE49-F238E27FC236}">
                <a16:creationId xmlns:a16="http://schemas.microsoft.com/office/drawing/2014/main" id="{D99E5711-1A61-4386-AEF9-FBF5BF48A08C}"/>
              </a:ext>
            </a:extLst>
          </p:cNvPr>
          <p:cNvSpPr>
            <a:spLocks xmlns:a="http://schemas.openxmlformats.org/drawingml/2006/main" noGrp="1"/>
          </p:cNvSpPr>
          <p:nvPr/>
        </p:nvSpPr>
        <p:spPr>
          <a:xfrm xmlns:a="http://schemas.openxmlformats.org/drawingml/2006/main">
            <a:off x="4229100" y="3509963"/>
            <a:ext cx="11239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4" name="">
            <a:extLst xmlns:a="http://schemas.openxmlformats.org/drawingml/2006/main">
              <a:ext uri="{FF2B5EF4-FFF2-40B4-BE49-F238E27FC236}">
                <a16:creationId xmlns:a16="http://schemas.microsoft.com/office/drawing/2014/main" id="{5FA470AF-76E5-4E59-BB10-382AD8B1844C}"/>
              </a:ext>
            </a:extLst>
          </p:cNvPr>
          <p:cNvSpPr>
            <a:spLocks xmlns:a="http://schemas.openxmlformats.org/drawingml/2006/main" noGrp="1"/>
          </p:cNvSpPr>
          <p:nvPr/>
        </p:nvSpPr>
        <p:spPr>
          <a:xfrm xmlns:a="http://schemas.openxmlformats.org/drawingml/2006/main" rot="0">
            <a:off x="4510088" y="3138488"/>
            <a:ext cx="280988" cy="185738"/>
          </a:xfrm>
          <a:prstGeom xmlns:a="http://schemas.openxmlformats.org/drawingml/2006/main" prst="rect">
            <a:avLst/>
          </a:prstGeom>
          <a:solidFill xmlns:a="http://schemas.openxmlformats.org/drawingml/2006/main">
            <a:srgbClr val="286D91"/>
          </a:solidFill>
          <a:ln xmlns:a="http://schemas.openxmlformats.org/drawingml/2006/main" w="0">
            <a:solidFill>
              <a:srgbClr val="286D91"/>
            </a:solidFill>
            <a:prstDash val="solid"/>
          </a:ln>
        </p:spPr>
      </p:sp>
      <p:sp>
        <p:nvSpPr>
          <p:cNvPr id="25" name="">
            <a:extLst xmlns:a="http://schemas.openxmlformats.org/drawingml/2006/main">
              <a:ext uri="{FF2B5EF4-FFF2-40B4-BE49-F238E27FC236}">
                <a16:creationId xmlns:a16="http://schemas.microsoft.com/office/drawing/2014/main" id="{EFCA00DF-1795-4612-B111-E70C190AE041}"/>
              </a:ext>
            </a:extLst>
          </p:cNvPr>
          <p:cNvSpPr>
            <a:spLocks xmlns:a="http://schemas.openxmlformats.org/drawingml/2006/main" noGrp="1"/>
          </p:cNvSpPr>
          <p:nvPr/>
        </p:nvSpPr>
        <p:spPr>
          <a:xfrm xmlns:a="http://schemas.openxmlformats.org/drawingml/2006/main" rot="0">
            <a:off x="4229100" y="3790950"/>
            <a:ext cx="1123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202522"/>
                </a:solidFill>
                <a:latin typeface="Helvetica Neue"/>
                <a:ea typeface="Helvetica Neue"/>
                <a:cs typeface="Helvetica Neue"/>
              </a:defRPr>
            </a:pPr>
            <a:r>
              <a:rPr sz="1350" b="0" i="0">
                <a:solidFill>
                  <a:srgbClr val="202522"/>
                </a:solidFill>
                <a:latin typeface="Helvetica Neue"/>
                <a:ea typeface="Helvetica Neue"/>
                <a:cs typeface="Helvetica Neue"/>
              </a:rPr>
              <a:t>DataFrame</a:t>
            </a:r>
          </a:p>
        </p:txBody>
      </p:sp>
      <p:sp>
        <p:nvSpPr>
          <p:cNvPr id="26" name="">
            <a:extLst xmlns:a="http://schemas.openxmlformats.org/drawingml/2006/main">
              <a:ext uri="{FF2B5EF4-FFF2-40B4-BE49-F238E27FC236}">
                <a16:creationId xmlns:a16="http://schemas.microsoft.com/office/drawing/2014/main" id="{B6263CBA-4D31-4228-9B03-2943D0B0666C}"/>
              </a:ext>
            </a:extLst>
          </p:cNvPr>
          <p:cNvSpPr>
            <a:spLocks xmlns:a="http://schemas.openxmlformats.org/drawingml/2006/main" noGrp="1"/>
          </p:cNvSpPr>
          <p:nvPr/>
        </p:nvSpPr>
        <p:spPr>
          <a:xfrm xmlns:a="http://schemas.openxmlformats.org/drawingml/2006/main" rot="0">
            <a:off x="4229100" y="4076700"/>
            <a:ext cx="171450" cy="742950"/>
          </a:xfrm>
          <a:prstGeom xmlns:a="http://schemas.openxmlformats.org/drawingml/2006/main" prst="rect">
            <a:avLst/>
          </a:prstGeom>
          <a:solidFill xmlns:a="http://schemas.openxmlformats.org/drawingml/2006/main">
            <a:srgbClr val="FFFDF7"/>
          </a:solidFill>
          <a:ln xmlns:a="http://schemas.openxmlformats.org/drawingml/2006/main" w="14288">
            <a:solidFill>
              <a:srgbClr val="202522"/>
            </a:solidFill>
            <a:prstDash val="solid"/>
          </a:ln>
        </p:spPr>
      </p:sp>
      <p:sp>
        <p:nvSpPr>
          <p:cNvPr id="27" name="">
            <a:extLst xmlns:a="http://schemas.openxmlformats.org/drawingml/2006/main">
              <a:ext uri="{FF2B5EF4-FFF2-40B4-BE49-F238E27FC236}">
                <a16:creationId xmlns:a16="http://schemas.microsoft.com/office/drawing/2014/main" id="{A2C06E84-0A0E-4BFA-A531-7CC054E25783}"/>
              </a:ext>
            </a:extLst>
          </p:cNvPr>
          <p:cNvSpPr>
            <a:spLocks xmlns:a="http://schemas.openxmlformats.org/drawingml/2006/main" noGrp="1"/>
          </p:cNvSpPr>
          <p:nvPr/>
        </p:nvSpPr>
        <p:spPr>
          <a:xfrm xmlns:a="http://schemas.openxmlformats.org/drawingml/2006/main">
            <a:off x="4229100" y="4200525"/>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8" name="">
            <a:extLst xmlns:a="http://schemas.openxmlformats.org/drawingml/2006/main">
              <a:ext uri="{FF2B5EF4-FFF2-40B4-BE49-F238E27FC236}">
                <a16:creationId xmlns:a16="http://schemas.microsoft.com/office/drawing/2014/main" id="{805EA8ED-8D40-406C-823C-4731C83D2307}"/>
              </a:ext>
            </a:extLst>
          </p:cNvPr>
          <p:cNvSpPr>
            <a:spLocks xmlns:a="http://schemas.openxmlformats.org/drawingml/2006/main" noGrp="1"/>
          </p:cNvSpPr>
          <p:nvPr/>
        </p:nvSpPr>
        <p:spPr>
          <a:xfrm xmlns:a="http://schemas.openxmlformats.org/drawingml/2006/main">
            <a:off x="4229100" y="4324350"/>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9" name="">
            <a:extLst xmlns:a="http://schemas.openxmlformats.org/drawingml/2006/main">
              <a:ext uri="{FF2B5EF4-FFF2-40B4-BE49-F238E27FC236}">
                <a16:creationId xmlns:a16="http://schemas.microsoft.com/office/drawing/2014/main" id="{858C4768-98A1-466A-B7B5-536A9A5ACF14}"/>
              </a:ext>
            </a:extLst>
          </p:cNvPr>
          <p:cNvSpPr>
            <a:spLocks xmlns:a="http://schemas.openxmlformats.org/drawingml/2006/main" noGrp="1"/>
          </p:cNvSpPr>
          <p:nvPr/>
        </p:nvSpPr>
        <p:spPr>
          <a:xfrm xmlns:a="http://schemas.openxmlformats.org/drawingml/2006/main">
            <a:off x="4229100" y="4448175"/>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30" name="">
            <a:extLst xmlns:a="http://schemas.openxmlformats.org/drawingml/2006/main">
              <a:ext uri="{FF2B5EF4-FFF2-40B4-BE49-F238E27FC236}">
                <a16:creationId xmlns:a16="http://schemas.microsoft.com/office/drawing/2014/main" id="{82F444CA-1941-46A7-B97B-CABFAEB98FBB}"/>
              </a:ext>
            </a:extLst>
          </p:cNvPr>
          <p:cNvSpPr>
            <a:spLocks xmlns:a="http://schemas.openxmlformats.org/drawingml/2006/main" noGrp="1"/>
          </p:cNvSpPr>
          <p:nvPr/>
        </p:nvSpPr>
        <p:spPr>
          <a:xfrm xmlns:a="http://schemas.openxmlformats.org/drawingml/2006/main">
            <a:off x="4229100" y="4572000"/>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31" name="">
            <a:extLst xmlns:a="http://schemas.openxmlformats.org/drawingml/2006/main">
              <a:ext uri="{FF2B5EF4-FFF2-40B4-BE49-F238E27FC236}">
                <a16:creationId xmlns:a16="http://schemas.microsoft.com/office/drawing/2014/main" id="{8AF1BBF7-1B9B-4FB0-AE63-97D6F06B002C}"/>
              </a:ext>
            </a:extLst>
          </p:cNvPr>
          <p:cNvSpPr>
            <a:spLocks xmlns:a="http://schemas.openxmlformats.org/drawingml/2006/main" noGrp="1"/>
          </p:cNvSpPr>
          <p:nvPr/>
        </p:nvSpPr>
        <p:spPr>
          <a:xfrm xmlns:a="http://schemas.openxmlformats.org/drawingml/2006/main">
            <a:off x="4229100" y="4695825"/>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32" name="">
            <a:extLst xmlns:a="http://schemas.openxmlformats.org/drawingml/2006/main">
              <a:ext uri="{FF2B5EF4-FFF2-40B4-BE49-F238E27FC236}">
                <a16:creationId xmlns:a16="http://schemas.microsoft.com/office/drawing/2014/main" id="{5BF87606-D327-4DDC-B6D1-4CF6DB6A3239}"/>
              </a:ext>
            </a:extLst>
          </p:cNvPr>
          <p:cNvSpPr>
            <a:spLocks xmlns:a="http://schemas.openxmlformats.org/drawingml/2006/main" noGrp="1"/>
          </p:cNvSpPr>
          <p:nvPr/>
        </p:nvSpPr>
        <p:spPr>
          <a:xfrm xmlns:a="http://schemas.openxmlformats.org/drawingml/2006/main" rot="0">
            <a:off x="4467225" y="4076700"/>
            <a:ext cx="171450" cy="742950"/>
          </a:xfrm>
          <a:prstGeom xmlns:a="http://schemas.openxmlformats.org/drawingml/2006/main" prst="rect">
            <a:avLst/>
          </a:prstGeom>
          <a:solidFill xmlns:a="http://schemas.openxmlformats.org/drawingml/2006/main">
            <a:srgbClr val="FFFDF7"/>
          </a:solidFill>
          <a:ln xmlns:a="http://schemas.openxmlformats.org/drawingml/2006/main" w="14288">
            <a:solidFill>
              <a:srgbClr val="202522"/>
            </a:solidFill>
            <a:prstDash val="solid"/>
          </a:ln>
        </p:spPr>
      </p:sp>
      <p:sp>
        <p:nvSpPr>
          <p:cNvPr id="33" name="">
            <a:extLst xmlns:a="http://schemas.openxmlformats.org/drawingml/2006/main">
              <a:ext uri="{FF2B5EF4-FFF2-40B4-BE49-F238E27FC236}">
                <a16:creationId xmlns:a16="http://schemas.microsoft.com/office/drawing/2014/main" id="{076E3624-5A31-4609-B769-F130325DF527}"/>
              </a:ext>
            </a:extLst>
          </p:cNvPr>
          <p:cNvSpPr>
            <a:spLocks xmlns:a="http://schemas.openxmlformats.org/drawingml/2006/main" noGrp="1"/>
          </p:cNvSpPr>
          <p:nvPr/>
        </p:nvSpPr>
        <p:spPr>
          <a:xfrm xmlns:a="http://schemas.openxmlformats.org/drawingml/2006/main">
            <a:off x="4467225" y="4200525"/>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34" name="">
            <a:extLst xmlns:a="http://schemas.openxmlformats.org/drawingml/2006/main">
              <a:ext uri="{FF2B5EF4-FFF2-40B4-BE49-F238E27FC236}">
                <a16:creationId xmlns:a16="http://schemas.microsoft.com/office/drawing/2014/main" id="{BA37702D-066F-413C-A0C0-53C396FBD9D7}"/>
              </a:ext>
            </a:extLst>
          </p:cNvPr>
          <p:cNvSpPr>
            <a:spLocks xmlns:a="http://schemas.openxmlformats.org/drawingml/2006/main" noGrp="1"/>
          </p:cNvSpPr>
          <p:nvPr/>
        </p:nvSpPr>
        <p:spPr>
          <a:xfrm xmlns:a="http://schemas.openxmlformats.org/drawingml/2006/main">
            <a:off x="4467225" y="4324350"/>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35" name="">
            <a:extLst xmlns:a="http://schemas.openxmlformats.org/drawingml/2006/main">
              <a:ext uri="{FF2B5EF4-FFF2-40B4-BE49-F238E27FC236}">
                <a16:creationId xmlns:a16="http://schemas.microsoft.com/office/drawing/2014/main" id="{BED24600-4786-43AC-BCE0-D01059958729}"/>
              </a:ext>
            </a:extLst>
          </p:cNvPr>
          <p:cNvSpPr>
            <a:spLocks xmlns:a="http://schemas.openxmlformats.org/drawingml/2006/main" noGrp="1"/>
          </p:cNvSpPr>
          <p:nvPr/>
        </p:nvSpPr>
        <p:spPr>
          <a:xfrm xmlns:a="http://schemas.openxmlformats.org/drawingml/2006/main">
            <a:off x="4467225" y="4448175"/>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36" name="">
            <a:extLst xmlns:a="http://schemas.openxmlformats.org/drawingml/2006/main">
              <a:ext uri="{FF2B5EF4-FFF2-40B4-BE49-F238E27FC236}">
                <a16:creationId xmlns:a16="http://schemas.microsoft.com/office/drawing/2014/main" id="{B15BED4D-32D1-47F0-AB41-3B9ED18CE80E}"/>
              </a:ext>
            </a:extLst>
          </p:cNvPr>
          <p:cNvSpPr>
            <a:spLocks xmlns:a="http://schemas.openxmlformats.org/drawingml/2006/main" noGrp="1"/>
          </p:cNvSpPr>
          <p:nvPr/>
        </p:nvSpPr>
        <p:spPr>
          <a:xfrm xmlns:a="http://schemas.openxmlformats.org/drawingml/2006/main">
            <a:off x="4467225" y="4572000"/>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37" name="">
            <a:extLst xmlns:a="http://schemas.openxmlformats.org/drawingml/2006/main">
              <a:ext uri="{FF2B5EF4-FFF2-40B4-BE49-F238E27FC236}">
                <a16:creationId xmlns:a16="http://schemas.microsoft.com/office/drawing/2014/main" id="{FC3C119C-17F0-4B3B-849E-F6A84FE7FCBB}"/>
              </a:ext>
            </a:extLst>
          </p:cNvPr>
          <p:cNvSpPr>
            <a:spLocks xmlns:a="http://schemas.openxmlformats.org/drawingml/2006/main" noGrp="1"/>
          </p:cNvSpPr>
          <p:nvPr/>
        </p:nvSpPr>
        <p:spPr>
          <a:xfrm xmlns:a="http://schemas.openxmlformats.org/drawingml/2006/main">
            <a:off x="4467225" y="4695825"/>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38" name="">
            <a:extLst xmlns:a="http://schemas.openxmlformats.org/drawingml/2006/main">
              <a:ext uri="{FF2B5EF4-FFF2-40B4-BE49-F238E27FC236}">
                <a16:creationId xmlns:a16="http://schemas.microsoft.com/office/drawing/2014/main" id="{0585DA6B-FA20-4C47-9C2A-9363AB17B08B}"/>
              </a:ext>
            </a:extLst>
          </p:cNvPr>
          <p:cNvSpPr>
            <a:spLocks xmlns:a="http://schemas.openxmlformats.org/drawingml/2006/main" noGrp="1"/>
          </p:cNvSpPr>
          <p:nvPr/>
        </p:nvSpPr>
        <p:spPr>
          <a:xfrm xmlns:a="http://schemas.openxmlformats.org/drawingml/2006/main" rot="0">
            <a:off x="4705350" y="4076700"/>
            <a:ext cx="171450" cy="742950"/>
          </a:xfrm>
          <a:prstGeom xmlns:a="http://schemas.openxmlformats.org/drawingml/2006/main" prst="rect">
            <a:avLst/>
          </a:prstGeom>
          <a:solidFill xmlns:a="http://schemas.openxmlformats.org/drawingml/2006/main">
            <a:srgbClr val="176B73"/>
          </a:solidFill>
          <a:ln xmlns:a="http://schemas.openxmlformats.org/drawingml/2006/main" w="14288">
            <a:solidFill>
              <a:srgbClr val="202522"/>
            </a:solidFill>
            <a:prstDash val="solid"/>
          </a:ln>
        </p:spPr>
      </p:sp>
      <p:sp>
        <p:nvSpPr>
          <p:cNvPr id="39" name="">
            <a:extLst xmlns:a="http://schemas.openxmlformats.org/drawingml/2006/main">
              <a:ext uri="{FF2B5EF4-FFF2-40B4-BE49-F238E27FC236}">
                <a16:creationId xmlns:a16="http://schemas.microsoft.com/office/drawing/2014/main" id="{5C2D93E8-239E-4403-A6A0-93F89F9089E0}"/>
              </a:ext>
            </a:extLst>
          </p:cNvPr>
          <p:cNvSpPr>
            <a:spLocks xmlns:a="http://schemas.openxmlformats.org/drawingml/2006/main" noGrp="1"/>
          </p:cNvSpPr>
          <p:nvPr/>
        </p:nvSpPr>
        <p:spPr>
          <a:xfrm xmlns:a="http://schemas.openxmlformats.org/drawingml/2006/main">
            <a:off x="4705350" y="4200525"/>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40" name="">
            <a:extLst xmlns:a="http://schemas.openxmlformats.org/drawingml/2006/main">
              <a:ext uri="{FF2B5EF4-FFF2-40B4-BE49-F238E27FC236}">
                <a16:creationId xmlns:a16="http://schemas.microsoft.com/office/drawing/2014/main" id="{6C62921C-C402-4464-8BD2-0B0F848AE3C5}"/>
              </a:ext>
            </a:extLst>
          </p:cNvPr>
          <p:cNvSpPr>
            <a:spLocks xmlns:a="http://schemas.openxmlformats.org/drawingml/2006/main" noGrp="1"/>
          </p:cNvSpPr>
          <p:nvPr/>
        </p:nvSpPr>
        <p:spPr>
          <a:xfrm xmlns:a="http://schemas.openxmlformats.org/drawingml/2006/main">
            <a:off x="4705350" y="4324350"/>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41" name="">
            <a:extLst xmlns:a="http://schemas.openxmlformats.org/drawingml/2006/main">
              <a:ext uri="{FF2B5EF4-FFF2-40B4-BE49-F238E27FC236}">
                <a16:creationId xmlns:a16="http://schemas.microsoft.com/office/drawing/2014/main" id="{23CC9005-6408-44AE-BE40-1F07F1E3BBB7}"/>
              </a:ext>
            </a:extLst>
          </p:cNvPr>
          <p:cNvSpPr>
            <a:spLocks xmlns:a="http://schemas.openxmlformats.org/drawingml/2006/main" noGrp="1"/>
          </p:cNvSpPr>
          <p:nvPr/>
        </p:nvSpPr>
        <p:spPr>
          <a:xfrm xmlns:a="http://schemas.openxmlformats.org/drawingml/2006/main">
            <a:off x="4705350" y="4448175"/>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42" name="">
            <a:extLst xmlns:a="http://schemas.openxmlformats.org/drawingml/2006/main">
              <a:ext uri="{FF2B5EF4-FFF2-40B4-BE49-F238E27FC236}">
                <a16:creationId xmlns:a16="http://schemas.microsoft.com/office/drawing/2014/main" id="{691FDA0C-BE56-4BBF-BAC6-00B5402D64CB}"/>
              </a:ext>
            </a:extLst>
          </p:cNvPr>
          <p:cNvSpPr>
            <a:spLocks xmlns:a="http://schemas.openxmlformats.org/drawingml/2006/main" noGrp="1"/>
          </p:cNvSpPr>
          <p:nvPr/>
        </p:nvSpPr>
        <p:spPr>
          <a:xfrm xmlns:a="http://schemas.openxmlformats.org/drawingml/2006/main">
            <a:off x="4705350" y="4572000"/>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43" name="">
            <a:extLst xmlns:a="http://schemas.openxmlformats.org/drawingml/2006/main">
              <a:ext uri="{FF2B5EF4-FFF2-40B4-BE49-F238E27FC236}">
                <a16:creationId xmlns:a16="http://schemas.microsoft.com/office/drawing/2014/main" id="{9FCDFE32-082E-4583-B571-357BB8CA97CB}"/>
              </a:ext>
            </a:extLst>
          </p:cNvPr>
          <p:cNvSpPr>
            <a:spLocks xmlns:a="http://schemas.openxmlformats.org/drawingml/2006/main" noGrp="1"/>
          </p:cNvSpPr>
          <p:nvPr/>
        </p:nvSpPr>
        <p:spPr>
          <a:xfrm xmlns:a="http://schemas.openxmlformats.org/drawingml/2006/main">
            <a:off x="4705350" y="4695825"/>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44" name="">
            <a:extLst xmlns:a="http://schemas.openxmlformats.org/drawingml/2006/main">
              <a:ext uri="{FF2B5EF4-FFF2-40B4-BE49-F238E27FC236}">
                <a16:creationId xmlns:a16="http://schemas.microsoft.com/office/drawing/2014/main" id="{0B39BA86-642B-4C7F-A15D-793A13F7BEE1}"/>
              </a:ext>
            </a:extLst>
          </p:cNvPr>
          <p:cNvSpPr>
            <a:spLocks xmlns:a="http://schemas.openxmlformats.org/drawingml/2006/main" noGrp="1"/>
          </p:cNvSpPr>
          <p:nvPr/>
        </p:nvSpPr>
        <p:spPr>
          <a:xfrm xmlns:a="http://schemas.openxmlformats.org/drawingml/2006/main" rot="0">
            <a:off x="4943475" y="4076700"/>
            <a:ext cx="171450" cy="742950"/>
          </a:xfrm>
          <a:prstGeom xmlns:a="http://schemas.openxmlformats.org/drawingml/2006/main" prst="rect">
            <a:avLst/>
          </a:prstGeom>
          <a:solidFill xmlns:a="http://schemas.openxmlformats.org/drawingml/2006/main">
            <a:srgbClr val="FFFDF7"/>
          </a:solidFill>
          <a:ln xmlns:a="http://schemas.openxmlformats.org/drawingml/2006/main" w="14288">
            <a:solidFill>
              <a:srgbClr val="202522"/>
            </a:solidFill>
            <a:prstDash val="solid"/>
          </a:ln>
        </p:spPr>
      </p:sp>
      <p:sp>
        <p:nvSpPr>
          <p:cNvPr id="45" name="">
            <a:extLst xmlns:a="http://schemas.openxmlformats.org/drawingml/2006/main">
              <a:ext uri="{FF2B5EF4-FFF2-40B4-BE49-F238E27FC236}">
                <a16:creationId xmlns:a16="http://schemas.microsoft.com/office/drawing/2014/main" id="{23D0C19E-216F-4D85-924D-181A147FCF58}"/>
              </a:ext>
            </a:extLst>
          </p:cNvPr>
          <p:cNvSpPr>
            <a:spLocks xmlns:a="http://schemas.openxmlformats.org/drawingml/2006/main" noGrp="1"/>
          </p:cNvSpPr>
          <p:nvPr/>
        </p:nvSpPr>
        <p:spPr>
          <a:xfrm xmlns:a="http://schemas.openxmlformats.org/drawingml/2006/main">
            <a:off x="4943475" y="4200525"/>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46" name="">
            <a:extLst xmlns:a="http://schemas.openxmlformats.org/drawingml/2006/main">
              <a:ext uri="{FF2B5EF4-FFF2-40B4-BE49-F238E27FC236}">
                <a16:creationId xmlns:a16="http://schemas.microsoft.com/office/drawing/2014/main" id="{5601615B-4B31-4391-99E3-AA50B4D69D9C}"/>
              </a:ext>
            </a:extLst>
          </p:cNvPr>
          <p:cNvSpPr>
            <a:spLocks xmlns:a="http://schemas.openxmlformats.org/drawingml/2006/main" noGrp="1"/>
          </p:cNvSpPr>
          <p:nvPr/>
        </p:nvSpPr>
        <p:spPr>
          <a:xfrm xmlns:a="http://schemas.openxmlformats.org/drawingml/2006/main">
            <a:off x="4943475" y="4324350"/>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47" name="">
            <a:extLst xmlns:a="http://schemas.openxmlformats.org/drawingml/2006/main">
              <a:ext uri="{FF2B5EF4-FFF2-40B4-BE49-F238E27FC236}">
                <a16:creationId xmlns:a16="http://schemas.microsoft.com/office/drawing/2014/main" id="{F2C231F7-2DC8-43B6-B881-19F2A0413ECC}"/>
              </a:ext>
            </a:extLst>
          </p:cNvPr>
          <p:cNvSpPr>
            <a:spLocks xmlns:a="http://schemas.openxmlformats.org/drawingml/2006/main" noGrp="1"/>
          </p:cNvSpPr>
          <p:nvPr/>
        </p:nvSpPr>
        <p:spPr>
          <a:xfrm xmlns:a="http://schemas.openxmlformats.org/drawingml/2006/main">
            <a:off x="4943475" y="4448175"/>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48" name="">
            <a:extLst xmlns:a="http://schemas.openxmlformats.org/drawingml/2006/main">
              <a:ext uri="{FF2B5EF4-FFF2-40B4-BE49-F238E27FC236}">
                <a16:creationId xmlns:a16="http://schemas.microsoft.com/office/drawing/2014/main" id="{09402792-CB67-430E-99E2-37449C841019}"/>
              </a:ext>
            </a:extLst>
          </p:cNvPr>
          <p:cNvSpPr>
            <a:spLocks xmlns:a="http://schemas.openxmlformats.org/drawingml/2006/main" noGrp="1"/>
          </p:cNvSpPr>
          <p:nvPr/>
        </p:nvSpPr>
        <p:spPr>
          <a:xfrm xmlns:a="http://schemas.openxmlformats.org/drawingml/2006/main">
            <a:off x="4943475" y="4572000"/>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49" name="">
            <a:extLst xmlns:a="http://schemas.openxmlformats.org/drawingml/2006/main">
              <a:ext uri="{FF2B5EF4-FFF2-40B4-BE49-F238E27FC236}">
                <a16:creationId xmlns:a16="http://schemas.microsoft.com/office/drawing/2014/main" id="{964EFE5C-5087-41FD-82F5-66B607A84137}"/>
              </a:ext>
            </a:extLst>
          </p:cNvPr>
          <p:cNvSpPr>
            <a:spLocks xmlns:a="http://schemas.openxmlformats.org/drawingml/2006/main" noGrp="1"/>
          </p:cNvSpPr>
          <p:nvPr/>
        </p:nvSpPr>
        <p:spPr>
          <a:xfrm xmlns:a="http://schemas.openxmlformats.org/drawingml/2006/main">
            <a:off x="4943475" y="4695825"/>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0" name="">
            <a:extLst xmlns:a="http://schemas.openxmlformats.org/drawingml/2006/main">
              <a:ext uri="{FF2B5EF4-FFF2-40B4-BE49-F238E27FC236}">
                <a16:creationId xmlns:a16="http://schemas.microsoft.com/office/drawing/2014/main" id="{8825799E-2784-4513-8C4A-6B2D0533BD7D}"/>
              </a:ext>
            </a:extLst>
          </p:cNvPr>
          <p:cNvSpPr>
            <a:spLocks xmlns:a="http://schemas.openxmlformats.org/drawingml/2006/main" noGrp="1"/>
          </p:cNvSpPr>
          <p:nvPr/>
        </p:nvSpPr>
        <p:spPr>
          <a:xfrm xmlns:a="http://schemas.openxmlformats.org/drawingml/2006/main" rot="0">
            <a:off x="5181600" y="4076700"/>
            <a:ext cx="171450" cy="742950"/>
          </a:xfrm>
          <a:prstGeom xmlns:a="http://schemas.openxmlformats.org/drawingml/2006/main" prst="rect">
            <a:avLst/>
          </a:prstGeom>
          <a:solidFill xmlns:a="http://schemas.openxmlformats.org/drawingml/2006/main">
            <a:srgbClr val="FFFDF7"/>
          </a:solidFill>
          <a:ln xmlns:a="http://schemas.openxmlformats.org/drawingml/2006/main" w="14288">
            <a:solidFill>
              <a:srgbClr val="202522"/>
            </a:solidFill>
            <a:prstDash val="solid"/>
          </a:ln>
        </p:spPr>
      </p:sp>
      <p:sp>
        <p:nvSpPr>
          <p:cNvPr id="51" name="">
            <a:extLst xmlns:a="http://schemas.openxmlformats.org/drawingml/2006/main">
              <a:ext uri="{FF2B5EF4-FFF2-40B4-BE49-F238E27FC236}">
                <a16:creationId xmlns:a16="http://schemas.microsoft.com/office/drawing/2014/main" id="{6FFA1000-AFDE-4E5E-822B-E1F97195B389}"/>
              </a:ext>
            </a:extLst>
          </p:cNvPr>
          <p:cNvSpPr>
            <a:spLocks xmlns:a="http://schemas.openxmlformats.org/drawingml/2006/main" noGrp="1"/>
          </p:cNvSpPr>
          <p:nvPr/>
        </p:nvSpPr>
        <p:spPr>
          <a:xfrm xmlns:a="http://schemas.openxmlformats.org/drawingml/2006/main">
            <a:off x="5181600" y="4200525"/>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2" name="">
            <a:extLst xmlns:a="http://schemas.openxmlformats.org/drawingml/2006/main">
              <a:ext uri="{FF2B5EF4-FFF2-40B4-BE49-F238E27FC236}">
                <a16:creationId xmlns:a16="http://schemas.microsoft.com/office/drawing/2014/main" id="{6C508BB7-4362-4439-AF97-18609251E428}"/>
              </a:ext>
            </a:extLst>
          </p:cNvPr>
          <p:cNvSpPr>
            <a:spLocks xmlns:a="http://schemas.openxmlformats.org/drawingml/2006/main" noGrp="1"/>
          </p:cNvSpPr>
          <p:nvPr/>
        </p:nvSpPr>
        <p:spPr>
          <a:xfrm xmlns:a="http://schemas.openxmlformats.org/drawingml/2006/main">
            <a:off x="5181600" y="4324350"/>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3" name="">
            <a:extLst xmlns:a="http://schemas.openxmlformats.org/drawingml/2006/main">
              <a:ext uri="{FF2B5EF4-FFF2-40B4-BE49-F238E27FC236}">
                <a16:creationId xmlns:a16="http://schemas.microsoft.com/office/drawing/2014/main" id="{06B5C387-9778-4BE2-B9F4-C0FBF3119207}"/>
              </a:ext>
            </a:extLst>
          </p:cNvPr>
          <p:cNvSpPr>
            <a:spLocks xmlns:a="http://schemas.openxmlformats.org/drawingml/2006/main" noGrp="1"/>
          </p:cNvSpPr>
          <p:nvPr/>
        </p:nvSpPr>
        <p:spPr>
          <a:xfrm xmlns:a="http://schemas.openxmlformats.org/drawingml/2006/main">
            <a:off x="5181600" y="4448175"/>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4" name="">
            <a:extLst xmlns:a="http://schemas.openxmlformats.org/drawingml/2006/main">
              <a:ext uri="{FF2B5EF4-FFF2-40B4-BE49-F238E27FC236}">
                <a16:creationId xmlns:a16="http://schemas.microsoft.com/office/drawing/2014/main" id="{EBAB4B6C-211D-4EE6-9631-E45606871ACE}"/>
              </a:ext>
            </a:extLst>
          </p:cNvPr>
          <p:cNvSpPr>
            <a:spLocks xmlns:a="http://schemas.openxmlformats.org/drawingml/2006/main" noGrp="1"/>
          </p:cNvSpPr>
          <p:nvPr/>
        </p:nvSpPr>
        <p:spPr>
          <a:xfrm xmlns:a="http://schemas.openxmlformats.org/drawingml/2006/main">
            <a:off x="5181600" y="4572000"/>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5" name="">
            <a:extLst xmlns:a="http://schemas.openxmlformats.org/drawingml/2006/main">
              <a:ext uri="{FF2B5EF4-FFF2-40B4-BE49-F238E27FC236}">
                <a16:creationId xmlns:a16="http://schemas.microsoft.com/office/drawing/2014/main" id="{EAB1BE60-91AF-42A0-8365-5CED92A31E78}"/>
              </a:ext>
            </a:extLst>
          </p:cNvPr>
          <p:cNvSpPr>
            <a:spLocks xmlns:a="http://schemas.openxmlformats.org/drawingml/2006/main" noGrp="1"/>
          </p:cNvSpPr>
          <p:nvPr/>
        </p:nvSpPr>
        <p:spPr>
          <a:xfrm xmlns:a="http://schemas.openxmlformats.org/drawingml/2006/main">
            <a:off x="5181600" y="4695825"/>
            <a:ext cx="1714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6" name="">
            <a:extLst xmlns:a="http://schemas.openxmlformats.org/drawingml/2006/main">
              <a:ext uri="{FF2B5EF4-FFF2-40B4-BE49-F238E27FC236}">
                <a16:creationId xmlns:a16="http://schemas.microsoft.com/office/drawing/2014/main" id="{DDD241AA-15E9-440E-A5F2-1C3865C93EA5}"/>
              </a:ext>
            </a:extLst>
          </p:cNvPr>
          <p:cNvSpPr>
            <a:spLocks xmlns:a="http://schemas.openxmlformats.org/drawingml/2006/main" noGrp="1"/>
          </p:cNvSpPr>
          <p:nvPr/>
        </p:nvSpPr>
        <p:spPr>
          <a:xfrm xmlns:a="http://schemas.openxmlformats.org/drawingml/2006/main" rot="0">
            <a:off x="4229100" y="4914900"/>
            <a:ext cx="1123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202522"/>
                </a:solidFill>
                <a:latin typeface="Helvetica Neue"/>
                <a:ea typeface="Helvetica Neue"/>
                <a:cs typeface="Helvetica Neue"/>
              </a:defRPr>
            </a:pPr>
            <a:r>
              <a:rPr sz="1350" b="0" i="0">
                <a:solidFill>
                  <a:srgbClr val="202522"/>
                </a:solidFill>
                <a:latin typeface="Helvetica Neue"/>
                <a:ea typeface="Helvetica Neue"/>
                <a:cs typeface="Helvetica Neue"/>
              </a:rPr>
              <a:t>Arrow</a:t>
            </a:r>
          </a:p>
        </p:txBody>
      </p:sp>
      <p:sp>
        <p:nvSpPr>
          <p:cNvPr id="57" name="">
            <a:extLst xmlns:a="http://schemas.openxmlformats.org/drawingml/2006/main">
              <a:ext uri="{FF2B5EF4-FFF2-40B4-BE49-F238E27FC236}">
                <a16:creationId xmlns:a16="http://schemas.microsoft.com/office/drawing/2014/main" id="{D0D28520-06CF-4F5E-84EE-50DBE7364945}"/>
              </a:ext>
            </a:extLst>
          </p:cNvPr>
          <p:cNvSpPr>
            <a:spLocks xmlns:a="http://schemas.openxmlformats.org/drawingml/2006/main" noGrp="1"/>
          </p:cNvSpPr>
          <p:nvPr/>
        </p:nvSpPr>
        <p:spPr>
          <a:xfrm xmlns:a="http://schemas.openxmlformats.org/drawingml/2006/main" rot="0">
            <a:off x="5943600" y="1619250"/>
            <a:ext cx="5143500" cy="3714750"/>
          </a:xfrm>
          <a:prstGeom xmlns:a="http://schemas.openxmlformats.org/drawingml/2006/main" prst="roundRect">
            <a:avLst>
              <a:gd name="adj" fmla="val 3590"/>
            </a:avLst>
          </a:prstGeom>
          <a:solidFill xmlns:a="http://schemas.openxmlformats.org/drawingml/2006/main">
            <a:srgbClr val="FFFDF7"/>
          </a:solidFill>
          <a:ln xmlns:a="http://schemas.openxmlformats.org/drawingml/2006/main" w="19050">
            <a:solidFill>
              <a:srgbClr val="202522"/>
            </a:solidFill>
            <a:prstDash val="solid"/>
          </a:ln>
        </p:spPr>
      </p:sp>
      <p:sp>
        <p:nvSpPr>
          <p:cNvPr id="58" name="">
            <a:extLst xmlns:a="http://schemas.openxmlformats.org/drawingml/2006/main">
              <a:ext uri="{FF2B5EF4-FFF2-40B4-BE49-F238E27FC236}">
                <a16:creationId xmlns:a16="http://schemas.microsoft.com/office/drawing/2014/main" id="{3DEF93D4-4AA5-4F31-8050-197C7247DBC1}"/>
              </a:ext>
            </a:extLst>
          </p:cNvPr>
          <p:cNvSpPr>
            <a:spLocks xmlns:a="http://schemas.openxmlformats.org/drawingml/2006/main" noGrp="1"/>
          </p:cNvSpPr>
          <p:nvPr/>
        </p:nvSpPr>
        <p:spPr>
          <a:xfrm xmlns:a="http://schemas.openxmlformats.org/drawingml/2006/main" rot="0">
            <a:off x="5943600" y="1619250"/>
            <a:ext cx="5143500" cy="400050"/>
          </a:xfrm>
          <a:prstGeom xmlns:a="http://schemas.openxmlformats.org/drawingml/2006/main" prst="roundRect">
            <a:avLst>
              <a:gd name="adj" fmla="val 33333"/>
            </a:avLst>
          </a:prstGeom>
          <a:solidFill xmlns:a="http://schemas.openxmlformats.org/drawingml/2006/main">
            <a:srgbClr val="8A5A18"/>
          </a:solidFill>
          <a:ln xmlns:a="http://schemas.openxmlformats.org/drawingml/2006/main" w="0">
            <a:solidFill>
              <a:srgbClr val="8A5A18"/>
            </a:solidFill>
            <a:prstDash val="solid"/>
          </a:ln>
        </p:spPr>
      </p:sp>
      <p:sp>
        <p:nvSpPr>
          <p:cNvPr id="59" name="">
            <a:extLst xmlns:a="http://schemas.openxmlformats.org/drawingml/2006/main">
              <a:ext uri="{FF2B5EF4-FFF2-40B4-BE49-F238E27FC236}">
                <a16:creationId xmlns:a16="http://schemas.microsoft.com/office/drawing/2014/main" id="{06F36E55-5B8B-4C12-91A8-DB74C4240FA2}"/>
              </a:ext>
            </a:extLst>
          </p:cNvPr>
          <p:cNvSpPr>
            <a:spLocks xmlns:a="http://schemas.openxmlformats.org/drawingml/2006/main" noGrp="1"/>
          </p:cNvSpPr>
          <p:nvPr/>
        </p:nvSpPr>
        <p:spPr>
          <a:xfrm xmlns:a="http://schemas.openxmlformats.org/drawingml/2006/main" rot="0">
            <a:off x="5943600" y="1885950"/>
            <a:ext cx="5143500" cy="133350"/>
          </a:xfrm>
          <a:prstGeom xmlns:a="http://schemas.openxmlformats.org/drawingml/2006/main" prst="rect">
            <a:avLst/>
          </a:prstGeom>
          <a:solidFill xmlns:a="http://schemas.openxmlformats.org/drawingml/2006/main">
            <a:srgbClr val="8A5A18"/>
          </a:solidFill>
          <a:ln xmlns:a="http://schemas.openxmlformats.org/drawingml/2006/main" w="0">
            <a:solidFill>
              <a:srgbClr val="8A5A18"/>
            </a:solidFill>
            <a:prstDash val="solid"/>
          </a:ln>
        </p:spPr>
      </p:sp>
      <p:sp>
        <p:nvSpPr>
          <p:cNvPr id="60" name="">
            <a:extLst xmlns:a="http://schemas.openxmlformats.org/drawingml/2006/main">
              <a:ext uri="{FF2B5EF4-FFF2-40B4-BE49-F238E27FC236}">
                <a16:creationId xmlns:a16="http://schemas.microsoft.com/office/drawing/2014/main" id="{B083A133-FE95-43FB-B2CE-4C0F4754A0FC}"/>
              </a:ext>
            </a:extLst>
          </p:cNvPr>
          <p:cNvSpPr>
            <a:spLocks xmlns:a="http://schemas.openxmlformats.org/drawingml/2006/main" noGrp="1"/>
          </p:cNvSpPr>
          <p:nvPr/>
        </p:nvSpPr>
        <p:spPr>
          <a:xfrm xmlns:a="http://schemas.openxmlformats.org/drawingml/2006/main" rot="0">
            <a:off x="6115050" y="1714500"/>
            <a:ext cx="4800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FFFFFF"/>
                </a:solidFill>
                <a:latin typeface="Helvetica Neue"/>
                <a:ea typeface="Helvetica Neue"/>
                <a:cs typeface="Helvetica Neue"/>
              </a:defRPr>
            </a:pPr>
            <a:r>
              <a:rPr sz="1350" b="1" i="0">
                <a:solidFill>
                  <a:srgbClr val="FFFFFF"/>
                </a:solidFill>
                <a:latin typeface="Helvetica Neue"/>
                <a:ea typeface="Helvetica Neue"/>
                <a:cs typeface="Helvetica Neue"/>
              </a:rPr>
              <a:t>PYTHON / R / RUST PROCESS</a:t>
            </a:r>
          </a:p>
        </p:txBody>
      </p:sp>
      <p:sp>
        <p:nvSpPr>
          <p:cNvPr id="61" name="">
            <a:extLst xmlns:a="http://schemas.openxmlformats.org/drawingml/2006/main">
              <a:ext uri="{FF2B5EF4-FFF2-40B4-BE49-F238E27FC236}">
                <a16:creationId xmlns:a16="http://schemas.microsoft.com/office/drawing/2014/main" id="{9FE68463-DC05-43D0-A1C6-46167EC5D2A1}"/>
              </a:ext>
            </a:extLst>
          </p:cNvPr>
          <p:cNvSpPr>
            <a:spLocks xmlns:a="http://schemas.openxmlformats.org/drawingml/2006/main" noGrp="1"/>
          </p:cNvSpPr>
          <p:nvPr/>
        </p:nvSpPr>
        <p:spPr>
          <a:xfrm xmlns:a="http://schemas.openxmlformats.org/drawingml/2006/main" rot="0">
            <a:off x="6572250" y="2286000"/>
            <a:ext cx="3867150" cy="2095500"/>
          </a:xfrm>
          <a:prstGeom xmlns:a="http://schemas.openxmlformats.org/drawingml/2006/main" prst="roundRect">
            <a:avLst>
              <a:gd name="adj" fmla="val 6364"/>
            </a:avLst>
          </a:prstGeom>
          <a:solidFill xmlns:a="http://schemas.openxmlformats.org/drawingml/2006/main">
            <a:srgbClr val="FBF1DC"/>
          </a:solidFill>
          <a:ln xmlns:a="http://schemas.openxmlformats.org/drawingml/2006/main" w="19050">
            <a:solidFill>
              <a:srgbClr val="8A5A18"/>
            </a:solidFill>
            <a:prstDash val="solid"/>
          </a:ln>
        </p:spPr>
      </p:sp>
      <p:sp>
        <p:nvSpPr>
          <p:cNvPr id="62" name="">
            <a:extLst xmlns:a="http://schemas.openxmlformats.org/drawingml/2006/main">
              <a:ext uri="{FF2B5EF4-FFF2-40B4-BE49-F238E27FC236}">
                <a16:creationId xmlns:a16="http://schemas.microsoft.com/office/drawing/2014/main" id="{8263C26B-768D-4E84-A770-653C36BB0FEE}"/>
              </a:ext>
            </a:extLst>
          </p:cNvPr>
          <p:cNvSpPr>
            <a:spLocks xmlns:a="http://schemas.openxmlformats.org/drawingml/2006/main" noGrp="1"/>
          </p:cNvSpPr>
          <p:nvPr/>
        </p:nvSpPr>
        <p:spPr>
          <a:xfrm xmlns:a="http://schemas.openxmlformats.org/drawingml/2006/main" rot="0">
            <a:off x="6858000" y="2571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8A5A18"/>
                </a:solidFill>
                <a:latin typeface="Helvetica Neue"/>
                <a:ea typeface="Helvetica Neue"/>
                <a:cs typeface="Helvetica Neue"/>
              </a:defRPr>
            </a:pPr>
            <a:r>
              <a:rPr sz="1425" b="1" i="0">
                <a:solidFill>
                  <a:srgbClr val="8A5A18"/>
                </a:solidFill>
                <a:latin typeface="Helvetica Neue"/>
                <a:ea typeface="Helvetica Neue"/>
                <a:cs typeface="Helvetica Neue"/>
              </a:rPr>
              <a:t>DUCKDB</a:t>
            </a:r>
          </a:p>
        </p:txBody>
      </p:sp>
      <p:sp>
        <p:nvSpPr>
          <p:cNvPr id="63" name="">
            <a:extLst xmlns:a="http://schemas.openxmlformats.org/drawingml/2006/main">
              <a:ext uri="{FF2B5EF4-FFF2-40B4-BE49-F238E27FC236}">
                <a16:creationId xmlns:a16="http://schemas.microsoft.com/office/drawing/2014/main" id="{E886DF0A-731A-4715-A156-6045699452ED}"/>
              </a:ext>
            </a:extLst>
          </p:cNvPr>
          <p:cNvSpPr>
            <a:spLocks xmlns:a="http://schemas.openxmlformats.org/drawingml/2006/main" noGrp="1"/>
          </p:cNvSpPr>
          <p:nvPr/>
        </p:nvSpPr>
        <p:spPr>
          <a:xfrm xmlns:a="http://schemas.openxmlformats.org/drawingml/2006/main" rot="0">
            <a:off x="6858000" y="3028950"/>
            <a:ext cx="3295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810"/>
          </a:bodyPr>
          <a:lstStyle xmlns:a="http://schemas.openxmlformats.org/drawingml/2006/main"/>
          <a:p xmlns:a="http://schemas.openxmlformats.org/drawingml/2006/main">
            <a:pPr algn="ctr">
              <a:defRPr sz="1800" b="0" i="0">
                <a:solidFill>
                  <a:srgbClr val="202522"/>
                </a:solidFill>
                <a:latin typeface="Helvetica Neue"/>
                <a:ea typeface="Helvetica Neue"/>
                <a:cs typeface="Helvetica Neue"/>
              </a:defRPr>
            </a:pPr>
            <a:r>
              <a:rPr sz="1800" b="0" i="0">
                <a:solidFill>
                  <a:srgbClr val="202522"/>
                </a:solidFill>
                <a:latin typeface="Helvetica Neue"/>
                <a:ea typeface="Helvetica Neue"/>
                <a:cs typeface="Helvetica Neue"/>
              </a:rPr>
              <a:t>parse → optimize → vectorized execute</a:t>
            </a:r>
          </a:p>
        </p:txBody>
      </p:sp>
      <p:sp>
        <p:nvSpPr>
          <p:cNvPr id="64" name="">
            <a:extLst xmlns:a="http://schemas.openxmlformats.org/drawingml/2006/main">
              <a:ext uri="{FF2B5EF4-FFF2-40B4-BE49-F238E27FC236}">
                <a16:creationId xmlns:a16="http://schemas.microsoft.com/office/drawing/2014/main" id="{EF40AE1E-BB20-4FB3-9690-07D0BB806496}"/>
              </a:ext>
            </a:extLst>
          </p:cNvPr>
          <p:cNvSpPr>
            <a:spLocks xmlns:a="http://schemas.openxmlformats.org/drawingml/2006/main" noGrp="1"/>
          </p:cNvSpPr>
          <p:nvPr/>
        </p:nvSpPr>
        <p:spPr>
          <a:xfrm xmlns:a="http://schemas.openxmlformats.org/drawingml/2006/main" rot="0">
            <a:off x="7048500" y="3638550"/>
            <a:ext cx="2914650" cy="400050"/>
          </a:xfrm>
          <a:prstGeom xmlns:a="http://schemas.openxmlformats.org/drawingml/2006/main" prst="roundRect">
            <a:avLst>
              <a:gd name="adj" fmla="val 14286"/>
            </a:avLst>
          </a:prstGeom>
          <a:solidFill xmlns:a="http://schemas.openxmlformats.org/drawingml/2006/main">
            <a:srgbClr val="FFFDF7"/>
          </a:solidFill>
          <a:ln xmlns:a="http://schemas.openxmlformats.org/drawingml/2006/main" w="9525">
            <a:solidFill>
              <a:srgbClr val="D9D5C9"/>
            </a:solidFill>
            <a:prstDash val="solid"/>
          </a:ln>
        </p:spPr>
      </p:sp>
      <p:sp>
        <p:nvSpPr>
          <p:cNvPr id="65" name="">
            <a:extLst xmlns:a="http://schemas.openxmlformats.org/drawingml/2006/main">
              <a:ext uri="{FF2B5EF4-FFF2-40B4-BE49-F238E27FC236}">
                <a16:creationId xmlns:a16="http://schemas.microsoft.com/office/drawing/2014/main" id="{5EC28F7D-B445-470C-84F3-1913068209A0}"/>
              </a:ext>
            </a:extLst>
          </p:cNvPr>
          <p:cNvSpPr>
            <a:spLocks xmlns:a="http://schemas.openxmlformats.org/drawingml/2006/main" noGrp="1"/>
          </p:cNvSpPr>
          <p:nvPr/>
        </p:nvSpPr>
        <p:spPr>
          <a:xfrm xmlns:a="http://schemas.openxmlformats.org/drawingml/2006/main" rot="0">
            <a:off x="7219950" y="375285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593"/>
          </a:bodyPr>
          <a:lstStyle xmlns:a="http://schemas.openxmlformats.org/drawingml/2006/main"/>
          <a:p xmlns:a="http://schemas.openxmlformats.org/drawingml/2006/main">
            <a:pPr algn="ctr">
              <a:defRPr sz="1350" b="0" i="0">
                <a:solidFill>
                  <a:srgbClr val="202522"/>
                </a:solidFill>
                <a:latin typeface="Helvetica Neue"/>
                <a:ea typeface="Helvetica Neue"/>
                <a:cs typeface="Helvetica Neue"/>
              </a:defRPr>
            </a:pPr>
            <a:r>
              <a:rPr sz="1350" b="0" i="0">
                <a:solidFill>
                  <a:srgbClr val="202522"/>
                </a:solidFill>
                <a:latin typeface="Helvetica Neue"/>
                <a:ea typeface="Helvetica Neue"/>
                <a:cs typeface="Helvetica Neue"/>
              </a:rPr>
              <a:t>result as DataFrame / Arrow / rows</a:t>
            </a:r>
          </a:p>
        </p:txBody>
      </p:sp>
    </p:spTree>
    <p:extLst>
      <p:ext uri="{BB962C8B-B14F-4D97-AF65-F5344CB8AC3E}">
        <p14:creationId xmlns:p14="http://schemas.microsoft.com/office/powerpoint/2010/main" val="1635494672"/>
      </p:ext>
    </p:extLst>
  </p:cSld>
</p:sld>
</file>

<file path=ppt/slides/slide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9E50D35-AC75-4F51-86D8-F2C3809F0708}"/>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176B73"/>
          </a:solidFill>
          <a:ln xmlns:a="http://schemas.openxmlformats.org/drawingml/2006/main" w="0">
            <a:solidFill>
              <a:srgbClr val="176B73"/>
            </a:solidFill>
            <a:prstDash val="solid"/>
          </a:ln>
        </p:spPr>
      </p:sp>
      <p:sp>
        <p:nvSpPr>
          <p:cNvPr id="2" name="">
            <a:extLst xmlns:a="http://schemas.openxmlformats.org/drawingml/2006/main">
              <a:ext uri="{FF2B5EF4-FFF2-40B4-BE49-F238E27FC236}">
                <a16:creationId xmlns:a16="http://schemas.microsoft.com/office/drawing/2014/main" id="{4C494FA8-D02B-442E-9E85-A11753BE05FB}"/>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6B73"/>
                </a:solidFill>
                <a:latin typeface="Helvetica Neue"/>
                <a:ea typeface="Helvetica Neue"/>
                <a:cs typeface="Helvetica Neue"/>
              </a:defRPr>
            </a:pPr>
            <a:r>
              <a:rPr sz="1050" b="1" i="0">
                <a:solidFill>
                  <a:srgbClr val="176B73"/>
                </a:solidFill>
                <a:latin typeface="Helvetica Neue"/>
                <a:ea typeface="Helvetica Neue"/>
                <a:cs typeface="Helvetica Neue"/>
              </a:rPr>
              <a:t>MYSQL → DUCKDB</a:t>
            </a:r>
          </a:p>
        </p:txBody>
      </p:sp>
      <p:sp>
        <p:nvSpPr>
          <p:cNvPr id="3" name="">
            <a:extLst xmlns:a="http://schemas.openxmlformats.org/drawingml/2006/main">
              <a:ext uri="{FF2B5EF4-FFF2-40B4-BE49-F238E27FC236}">
                <a16:creationId xmlns:a16="http://schemas.microsoft.com/office/drawing/2014/main" id="{17D2C1A2-E5B0-4AF9-BA91-685983D8AA88}"/>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The same word “database” hides different obligations</a:t>
            </a:r>
          </a:p>
        </p:txBody>
      </p:sp>
      <p:sp>
        <p:nvSpPr>
          <p:cNvPr id="4" name="">
            <a:extLst xmlns:a="http://schemas.openxmlformats.org/drawingml/2006/main">
              <a:ext uri="{FF2B5EF4-FFF2-40B4-BE49-F238E27FC236}">
                <a16:creationId xmlns:a16="http://schemas.microsoft.com/office/drawing/2014/main" id="{165B7DDA-6BCD-47B5-8ECB-7C032A6D3F52}"/>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F63A37EB-8310-4C2A-9FB9-77281E783245}"/>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7444D4A4-7F6B-4766-8F5F-36ED3EE445C7}"/>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23EA5D73-07AF-4B9D-94A6-D78895747638}"/>
              </a:ext>
            </a:extLst>
          </p:cNvPr>
          <p:cNvSpPr>
            <a:spLocks xmlns:a="http://schemas.openxmlformats.org/drawingml/2006/main" noGrp="1"/>
          </p:cNvSpPr>
          <p:nvPr/>
        </p:nvSpPr>
        <p:spPr>
          <a:xfrm xmlns:a="http://schemas.openxmlformats.org/drawingml/2006/main">
            <a:off x="6096000" y="1562100"/>
            <a:ext cx="0" cy="400050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2059750638164299"/>
          <a:stretch xmlns:a="http://schemas.openxmlformats.org/drawingml/2006/main"/>
        </p:blipFill>
        <p:spPr>
          <a:xfrm xmlns:a="http://schemas.openxmlformats.org/drawingml/2006/main">
            <a:off x="1575858" y="1485900"/>
            <a:ext cx="1363133" cy="933450"/>
          </a:xfrm>
          <a:prstGeom xmlns:a="http://schemas.openxmlformats.org/drawingml/2006/main" prst="rect">
            <a:avLst/>
          </a:prstGeom>
        </p:spPr>
      </p:pic>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cc9740112b3e4d98"/>
          <a:stretch xmlns:a="http://schemas.openxmlformats.org/drawingml/2006/main"/>
        </p:blipFill>
        <p:spPr>
          <a:xfrm xmlns:a="http://schemas.openxmlformats.org/drawingml/2006/main">
            <a:off x="7825053" y="1428750"/>
            <a:ext cx="1361543" cy="10477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48EB8AE-0222-4D22-8875-61967DFD9CBD}"/>
              </a:ext>
            </a:extLst>
          </p:cNvPr>
          <p:cNvSpPr>
            <a:spLocks xmlns:a="http://schemas.openxmlformats.org/drawingml/2006/main" noGrp="1"/>
          </p:cNvSpPr>
          <p:nvPr/>
        </p:nvSpPr>
        <p:spPr>
          <a:xfrm xmlns:a="http://schemas.openxmlformats.org/drawingml/2006/main" rot="0">
            <a:off x="781050" y="2743200"/>
            <a:ext cx="1200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86D91"/>
                </a:solidFill>
                <a:latin typeface="Helvetica Neue"/>
                <a:ea typeface="Helvetica Neue"/>
                <a:cs typeface="Helvetica Neue"/>
              </a:defRPr>
            </a:pPr>
            <a:r>
              <a:rPr sz="975" b="1" i="0">
                <a:solidFill>
                  <a:srgbClr val="286D91"/>
                </a:solidFill>
                <a:latin typeface="Helvetica Neue"/>
                <a:ea typeface="Helvetica Neue"/>
                <a:cs typeface="Helvetica Neue"/>
              </a:rPr>
              <a:t>LIVES</a:t>
            </a:r>
          </a:p>
        </p:txBody>
      </p:sp>
      <p:sp>
        <p:nvSpPr>
          <p:cNvPr id="11" name="">
            <a:extLst xmlns:a="http://schemas.openxmlformats.org/drawingml/2006/main">
              <a:ext uri="{FF2B5EF4-FFF2-40B4-BE49-F238E27FC236}">
                <a16:creationId xmlns:a16="http://schemas.microsoft.com/office/drawing/2014/main" id="{04E1AB01-674B-4A70-8A3A-5DE77E359B3E}"/>
              </a:ext>
            </a:extLst>
          </p:cNvPr>
          <p:cNvSpPr>
            <a:spLocks xmlns:a="http://schemas.openxmlformats.org/drawingml/2006/main" noGrp="1"/>
          </p:cNvSpPr>
          <p:nvPr/>
        </p:nvSpPr>
        <p:spPr>
          <a:xfrm xmlns:a="http://schemas.openxmlformats.org/drawingml/2006/main" rot="0">
            <a:off x="2038350" y="2705100"/>
            <a:ext cx="329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202522"/>
                </a:solidFill>
                <a:latin typeface="Helvetica Neue"/>
                <a:ea typeface="Helvetica Neue"/>
                <a:cs typeface="Helvetica Neue"/>
              </a:defRPr>
            </a:pPr>
            <a:r>
              <a:rPr sz="1725" b="0" i="0">
                <a:solidFill>
                  <a:srgbClr val="202522"/>
                </a:solidFill>
                <a:latin typeface="Helvetica Neue"/>
                <a:ea typeface="Helvetica Neue"/>
                <a:cs typeface="Helvetica Neue"/>
              </a:rPr>
              <a:t>as a shared server</a:t>
            </a:r>
          </a:p>
        </p:txBody>
      </p:sp>
      <p:sp>
        <p:nvSpPr>
          <p:cNvPr id="12" name="">
            <a:extLst xmlns:a="http://schemas.openxmlformats.org/drawingml/2006/main">
              <a:ext uri="{FF2B5EF4-FFF2-40B4-BE49-F238E27FC236}">
                <a16:creationId xmlns:a16="http://schemas.microsoft.com/office/drawing/2014/main" id="{90EC30EB-56AB-4E2B-ACF6-47A2526FAFE6}"/>
              </a:ext>
            </a:extLst>
          </p:cNvPr>
          <p:cNvSpPr>
            <a:spLocks xmlns:a="http://schemas.openxmlformats.org/drawingml/2006/main" noGrp="1"/>
          </p:cNvSpPr>
          <p:nvPr/>
        </p:nvSpPr>
        <p:spPr>
          <a:xfrm xmlns:a="http://schemas.openxmlformats.org/drawingml/2006/main" rot="0">
            <a:off x="6667500" y="2743200"/>
            <a:ext cx="1276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8A5A18"/>
                </a:solidFill>
                <a:latin typeface="Helvetica Neue"/>
                <a:ea typeface="Helvetica Neue"/>
                <a:cs typeface="Helvetica Neue"/>
              </a:defRPr>
            </a:pPr>
            <a:r>
              <a:rPr sz="975" b="1" i="0">
                <a:solidFill>
                  <a:srgbClr val="8A5A18"/>
                </a:solidFill>
                <a:latin typeface="Helvetica Neue"/>
                <a:ea typeface="Helvetica Neue"/>
                <a:cs typeface="Helvetica Neue"/>
              </a:rPr>
              <a:t>LIVES</a:t>
            </a:r>
          </a:p>
        </p:txBody>
      </p:sp>
      <p:sp>
        <p:nvSpPr>
          <p:cNvPr id="13" name="">
            <a:extLst xmlns:a="http://schemas.openxmlformats.org/drawingml/2006/main">
              <a:ext uri="{FF2B5EF4-FFF2-40B4-BE49-F238E27FC236}">
                <a16:creationId xmlns:a16="http://schemas.microsoft.com/office/drawing/2014/main" id="{E4ECC2D8-6E0B-40F9-B86C-23FDFA33D879}"/>
              </a:ext>
            </a:extLst>
          </p:cNvPr>
          <p:cNvSpPr>
            <a:spLocks xmlns:a="http://schemas.openxmlformats.org/drawingml/2006/main" noGrp="1"/>
          </p:cNvSpPr>
          <p:nvPr/>
        </p:nvSpPr>
        <p:spPr>
          <a:xfrm xmlns:a="http://schemas.openxmlformats.org/drawingml/2006/main" rot="0">
            <a:off x="8001000" y="27051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202522"/>
                </a:solidFill>
                <a:latin typeface="Helvetica Neue"/>
                <a:ea typeface="Helvetica Neue"/>
                <a:cs typeface="Helvetica Neue"/>
              </a:defRPr>
            </a:pPr>
            <a:r>
              <a:rPr sz="1725" b="0" i="0">
                <a:solidFill>
                  <a:srgbClr val="202522"/>
                </a:solidFill>
                <a:latin typeface="Helvetica Neue"/>
                <a:ea typeface="Helvetica Neue"/>
                <a:cs typeface="Helvetica Neue"/>
              </a:rPr>
              <a:t>inside an application</a:t>
            </a:r>
          </a:p>
        </p:txBody>
      </p:sp>
      <p:sp>
        <p:nvSpPr>
          <p:cNvPr id="14" name="">
            <a:extLst xmlns:a="http://schemas.openxmlformats.org/drawingml/2006/main">
              <a:ext uri="{FF2B5EF4-FFF2-40B4-BE49-F238E27FC236}">
                <a16:creationId xmlns:a16="http://schemas.microsoft.com/office/drawing/2014/main" id="{F4704803-52E1-4C94-AD04-D24AAA978F41}"/>
              </a:ext>
            </a:extLst>
          </p:cNvPr>
          <p:cNvSpPr>
            <a:spLocks xmlns:a="http://schemas.openxmlformats.org/drawingml/2006/main" noGrp="1"/>
          </p:cNvSpPr>
          <p:nvPr/>
        </p:nvSpPr>
        <p:spPr>
          <a:xfrm xmlns:a="http://schemas.openxmlformats.org/drawingml/2006/main">
            <a:off x="781050" y="3190875"/>
            <a:ext cx="45529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15" name="">
            <a:extLst xmlns:a="http://schemas.openxmlformats.org/drawingml/2006/main">
              <a:ext uri="{FF2B5EF4-FFF2-40B4-BE49-F238E27FC236}">
                <a16:creationId xmlns:a16="http://schemas.microsoft.com/office/drawing/2014/main" id="{842E466F-5209-4ED0-B00A-A0B6E2D44242}"/>
              </a:ext>
            </a:extLst>
          </p:cNvPr>
          <p:cNvSpPr>
            <a:spLocks xmlns:a="http://schemas.openxmlformats.org/drawingml/2006/main" noGrp="1"/>
          </p:cNvSpPr>
          <p:nvPr/>
        </p:nvSpPr>
        <p:spPr>
          <a:xfrm xmlns:a="http://schemas.openxmlformats.org/drawingml/2006/main">
            <a:off x="6667500" y="3190875"/>
            <a:ext cx="46672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16" name="">
            <a:extLst xmlns:a="http://schemas.openxmlformats.org/drawingml/2006/main">
              <a:ext uri="{FF2B5EF4-FFF2-40B4-BE49-F238E27FC236}">
                <a16:creationId xmlns:a16="http://schemas.microsoft.com/office/drawing/2014/main" id="{3D839FA0-CE26-440C-9D96-A09F193CD4EC}"/>
              </a:ext>
            </a:extLst>
          </p:cNvPr>
          <p:cNvSpPr>
            <a:spLocks xmlns:a="http://schemas.openxmlformats.org/drawingml/2006/main" noGrp="1"/>
          </p:cNvSpPr>
          <p:nvPr/>
        </p:nvSpPr>
        <p:spPr>
          <a:xfrm xmlns:a="http://schemas.openxmlformats.org/drawingml/2006/main" rot="0">
            <a:off x="781050" y="3467100"/>
            <a:ext cx="1200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86D91"/>
                </a:solidFill>
                <a:latin typeface="Helvetica Neue"/>
                <a:ea typeface="Helvetica Neue"/>
                <a:cs typeface="Helvetica Neue"/>
              </a:defRPr>
            </a:pPr>
            <a:r>
              <a:rPr sz="975" b="1" i="0">
                <a:solidFill>
                  <a:srgbClr val="286D91"/>
                </a:solidFill>
                <a:latin typeface="Helvetica Neue"/>
                <a:ea typeface="Helvetica Neue"/>
                <a:cs typeface="Helvetica Neue"/>
              </a:rPr>
              <a:t>OPTIMIZES FOR</a:t>
            </a:r>
          </a:p>
        </p:txBody>
      </p:sp>
      <p:sp>
        <p:nvSpPr>
          <p:cNvPr id="17" name="">
            <a:extLst xmlns:a="http://schemas.openxmlformats.org/drawingml/2006/main">
              <a:ext uri="{FF2B5EF4-FFF2-40B4-BE49-F238E27FC236}">
                <a16:creationId xmlns:a16="http://schemas.microsoft.com/office/drawing/2014/main" id="{9F650657-58CE-40DB-AF38-69D1C1FDED66}"/>
              </a:ext>
            </a:extLst>
          </p:cNvPr>
          <p:cNvSpPr>
            <a:spLocks xmlns:a="http://schemas.openxmlformats.org/drawingml/2006/main" noGrp="1"/>
          </p:cNvSpPr>
          <p:nvPr/>
        </p:nvSpPr>
        <p:spPr>
          <a:xfrm xmlns:a="http://schemas.openxmlformats.org/drawingml/2006/main" rot="0">
            <a:off x="2038350" y="3429000"/>
            <a:ext cx="329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202522"/>
                </a:solidFill>
                <a:latin typeface="Helvetica Neue"/>
                <a:ea typeface="Helvetica Neue"/>
                <a:cs typeface="Helvetica Neue"/>
              </a:defRPr>
            </a:pPr>
            <a:r>
              <a:rPr sz="1725" b="0" i="0">
                <a:solidFill>
                  <a:srgbClr val="202522"/>
                </a:solidFill>
                <a:latin typeface="Helvetica Neue"/>
                <a:ea typeface="Helvetica Neue"/>
                <a:cs typeface="Helvetica Neue"/>
              </a:rPr>
              <a:t>concurrent transactions</a:t>
            </a:r>
          </a:p>
        </p:txBody>
      </p:sp>
      <p:sp>
        <p:nvSpPr>
          <p:cNvPr id="18" name="">
            <a:extLst xmlns:a="http://schemas.openxmlformats.org/drawingml/2006/main">
              <a:ext uri="{FF2B5EF4-FFF2-40B4-BE49-F238E27FC236}">
                <a16:creationId xmlns:a16="http://schemas.microsoft.com/office/drawing/2014/main" id="{0761BA02-0519-45AA-9D37-125B8BEED201}"/>
              </a:ext>
            </a:extLst>
          </p:cNvPr>
          <p:cNvSpPr>
            <a:spLocks xmlns:a="http://schemas.openxmlformats.org/drawingml/2006/main" noGrp="1"/>
          </p:cNvSpPr>
          <p:nvPr/>
        </p:nvSpPr>
        <p:spPr>
          <a:xfrm xmlns:a="http://schemas.openxmlformats.org/drawingml/2006/main" rot="0">
            <a:off x="6667500" y="3467100"/>
            <a:ext cx="1276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8A5A18"/>
                </a:solidFill>
                <a:latin typeface="Helvetica Neue"/>
                <a:ea typeface="Helvetica Neue"/>
                <a:cs typeface="Helvetica Neue"/>
              </a:defRPr>
            </a:pPr>
            <a:r>
              <a:rPr sz="975" b="1" i="0">
                <a:solidFill>
                  <a:srgbClr val="8A5A18"/>
                </a:solidFill>
                <a:latin typeface="Helvetica Neue"/>
                <a:ea typeface="Helvetica Neue"/>
                <a:cs typeface="Helvetica Neue"/>
              </a:rPr>
              <a:t>OPTIMIZES FOR</a:t>
            </a:r>
          </a:p>
        </p:txBody>
      </p:sp>
      <p:sp>
        <p:nvSpPr>
          <p:cNvPr id="19" name="">
            <a:extLst xmlns:a="http://schemas.openxmlformats.org/drawingml/2006/main">
              <a:ext uri="{FF2B5EF4-FFF2-40B4-BE49-F238E27FC236}">
                <a16:creationId xmlns:a16="http://schemas.microsoft.com/office/drawing/2014/main" id="{24FC1BEF-7740-474F-802E-2F4071821F79}"/>
              </a:ext>
            </a:extLst>
          </p:cNvPr>
          <p:cNvSpPr>
            <a:spLocks xmlns:a="http://schemas.openxmlformats.org/drawingml/2006/main" noGrp="1"/>
          </p:cNvSpPr>
          <p:nvPr/>
        </p:nvSpPr>
        <p:spPr>
          <a:xfrm xmlns:a="http://schemas.openxmlformats.org/drawingml/2006/main" rot="0">
            <a:off x="8001000" y="34290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202522"/>
                </a:solidFill>
                <a:latin typeface="Helvetica Neue"/>
                <a:ea typeface="Helvetica Neue"/>
                <a:cs typeface="Helvetica Neue"/>
              </a:defRPr>
            </a:pPr>
            <a:r>
              <a:rPr sz="1725" b="0" i="0">
                <a:solidFill>
                  <a:srgbClr val="202522"/>
                </a:solidFill>
                <a:latin typeface="Helvetica Neue"/>
                <a:ea typeface="Helvetica Neue"/>
                <a:cs typeface="Helvetica Neue"/>
              </a:rPr>
              <a:t>analytical scans</a:t>
            </a:r>
          </a:p>
        </p:txBody>
      </p:sp>
      <p:sp>
        <p:nvSpPr>
          <p:cNvPr id="20" name="">
            <a:extLst xmlns:a="http://schemas.openxmlformats.org/drawingml/2006/main">
              <a:ext uri="{FF2B5EF4-FFF2-40B4-BE49-F238E27FC236}">
                <a16:creationId xmlns:a16="http://schemas.microsoft.com/office/drawing/2014/main" id="{FB4E0C27-A3CD-44E5-8CFD-7D7C63BDA8D5}"/>
              </a:ext>
            </a:extLst>
          </p:cNvPr>
          <p:cNvSpPr>
            <a:spLocks xmlns:a="http://schemas.openxmlformats.org/drawingml/2006/main" noGrp="1"/>
          </p:cNvSpPr>
          <p:nvPr/>
        </p:nvSpPr>
        <p:spPr>
          <a:xfrm xmlns:a="http://schemas.openxmlformats.org/drawingml/2006/main">
            <a:off x="781050" y="3914775"/>
            <a:ext cx="45529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1" name="">
            <a:extLst xmlns:a="http://schemas.openxmlformats.org/drawingml/2006/main">
              <a:ext uri="{FF2B5EF4-FFF2-40B4-BE49-F238E27FC236}">
                <a16:creationId xmlns:a16="http://schemas.microsoft.com/office/drawing/2014/main" id="{F5F2B8B3-6955-474F-A5F9-E8DD3C9CA29E}"/>
              </a:ext>
            </a:extLst>
          </p:cNvPr>
          <p:cNvSpPr>
            <a:spLocks xmlns:a="http://schemas.openxmlformats.org/drawingml/2006/main" noGrp="1"/>
          </p:cNvSpPr>
          <p:nvPr/>
        </p:nvSpPr>
        <p:spPr>
          <a:xfrm xmlns:a="http://schemas.openxmlformats.org/drawingml/2006/main">
            <a:off x="6667500" y="3914775"/>
            <a:ext cx="46672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2" name="">
            <a:extLst xmlns:a="http://schemas.openxmlformats.org/drawingml/2006/main">
              <a:ext uri="{FF2B5EF4-FFF2-40B4-BE49-F238E27FC236}">
                <a16:creationId xmlns:a16="http://schemas.microsoft.com/office/drawing/2014/main" id="{04A169C3-8CE3-407F-8C13-777F94BA4326}"/>
              </a:ext>
            </a:extLst>
          </p:cNvPr>
          <p:cNvSpPr>
            <a:spLocks xmlns:a="http://schemas.openxmlformats.org/drawingml/2006/main" noGrp="1"/>
          </p:cNvSpPr>
          <p:nvPr/>
        </p:nvSpPr>
        <p:spPr>
          <a:xfrm xmlns:a="http://schemas.openxmlformats.org/drawingml/2006/main" rot="0">
            <a:off x="781050" y="4191000"/>
            <a:ext cx="1200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86D91"/>
                </a:solidFill>
                <a:latin typeface="Helvetica Neue"/>
                <a:ea typeface="Helvetica Neue"/>
                <a:cs typeface="Helvetica Neue"/>
              </a:defRPr>
            </a:pPr>
            <a:r>
              <a:rPr sz="975" b="1" i="0">
                <a:solidFill>
                  <a:srgbClr val="286D91"/>
                </a:solidFill>
                <a:latin typeface="Helvetica Neue"/>
                <a:ea typeface="Helvetica Neue"/>
                <a:cs typeface="Helvetica Neue"/>
              </a:rPr>
              <a:t>OWNS</a:t>
            </a:r>
          </a:p>
        </p:txBody>
      </p:sp>
      <p:sp>
        <p:nvSpPr>
          <p:cNvPr id="23" name="">
            <a:extLst xmlns:a="http://schemas.openxmlformats.org/drawingml/2006/main">
              <a:ext uri="{FF2B5EF4-FFF2-40B4-BE49-F238E27FC236}">
                <a16:creationId xmlns:a16="http://schemas.microsoft.com/office/drawing/2014/main" id="{F87407F0-5791-4070-809A-CFD675E41645}"/>
              </a:ext>
            </a:extLst>
          </p:cNvPr>
          <p:cNvSpPr>
            <a:spLocks xmlns:a="http://schemas.openxmlformats.org/drawingml/2006/main" noGrp="1"/>
          </p:cNvSpPr>
          <p:nvPr/>
        </p:nvSpPr>
        <p:spPr>
          <a:xfrm xmlns:a="http://schemas.openxmlformats.org/drawingml/2006/main" rot="0">
            <a:off x="2038350" y="4152900"/>
            <a:ext cx="329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202522"/>
                </a:solidFill>
                <a:latin typeface="Helvetica Neue"/>
                <a:ea typeface="Helvetica Neue"/>
                <a:cs typeface="Helvetica Neue"/>
              </a:defRPr>
            </a:pPr>
            <a:r>
              <a:rPr sz="1725" b="0" i="0">
                <a:solidFill>
                  <a:srgbClr val="202522"/>
                </a:solidFill>
                <a:latin typeface="Helvetica Neue"/>
                <a:ea typeface="Helvetica Neue"/>
                <a:cs typeface="Helvetica Neue"/>
              </a:rPr>
              <a:t>durability + isolation</a:t>
            </a:r>
          </a:p>
        </p:txBody>
      </p:sp>
      <p:sp>
        <p:nvSpPr>
          <p:cNvPr id="24" name="">
            <a:extLst xmlns:a="http://schemas.openxmlformats.org/drawingml/2006/main">
              <a:ext uri="{FF2B5EF4-FFF2-40B4-BE49-F238E27FC236}">
                <a16:creationId xmlns:a16="http://schemas.microsoft.com/office/drawing/2014/main" id="{45ACBF01-10C4-4341-AD35-CE3086BF29F5}"/>
              </a:ext>
            </a:extLst>
          </p:cNvPr>
          <p:cNvSpPr>
            <a:spLocks xmlns:a="http://schemas.openxmlformats.org/drawingml/2006/main" noGrp="1"/>
          </p:cNvSpPr>
          <p:nvPr/>
        </p:nvSpPr>
        <p:spPr>
          <a:xfrm xmlns:a="http://schemas.openxmlformats.org/drawingml/2006/main" rot="0">
            <a:off x="6667500" y="4191000"/>
            <a:ext cx="1276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8A5A18"/>
                </a:solidFill>
                <a:latin typeface="Helvetica Neue"/>
                <a:ea typeface="Helvetica Neue"/>
                <a:cs typeface="Helvetica Neue"/>
              </a:defRPr>
            </a:pPr>
            <a:r>
              <a:rPr sz="975" b="1" i="0">
                <a:solidFill>
                  <a:srgbClr val="8A5A18"/>
                </a:solidFill>
                <a:latin typeface="Helvetica Neue"/>
                <a:ea typeface="Helvetica Neue"/>
                <a:cs typeface="Helvetica Neue"/>
              </a:rPr>
              <a:t>READS</a:t>
            </a:r>
          </a:p>
        </p:txBody>
      </p:sp>
      <p:sp>
        <p:nvSpPr>
          <p:cNvPr id="25" name="">
            <a:extLst xmlns:a="http://schemas.openxmlformats.org/drawingml/2006/main">
              <a:ext uri="{FF2B5EF4-FFF2-40B4-BE49-F238E27FC236}">
                <a16:creationId xmlns:a16="http://schemas.microsoft.com/office/drawing/2014/main" id="{768F94F4-EB52-4DCD-B6B4-ACE6E8122A59}"/>
              </a:ext>
            </a:extLst>
          </p:cNvPr>
          <p:cNvSpPr>
            <a:spLocks xmlns:a="http://schemas.openxmlformats.org/drawingml/2006/main" noGrp="1"/>
          </p:cNvSpPr>
          <p:nvPr/>
        </p:nvSpPr>
        <p:spPr>
          <a:xfrm xmlns:a="http://schemas.openxmlformats.org/drawingml/2006/main" rot="0">
            <a:off x="8001000" y="41529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202522"/>
                </a:solidFill>
                <a:latin typeface="Helvetica Neue"/>
                <a:ea typeface="Helvetica Neue"/>
                <a:cs typeface="Helvetica Neue"/>
              </a:defRPr>
            </a:pPr>
            <a:r>
              <a:rPr sz="1725" b="0" i="0">
                <a:solidFill>
                  <a:srgbClr val="202522"/>
                </a:solidFill>
                <a:latin typeface="Helvetica Neue"/>
                <a:ea typeface="Helvetica Neue"/>
                <a:cs typeface="Helvetica Neue"/>
              </a:rPr>
              <a:t>files + in-memory objects</a:t>
            </a:r>
          </a:p>
        </p:txBody>
      </p:sp>
      <p:sp>
        <p:nvSpPr>
          <p:cNvPr id="26" name="">
            <a:extLst xmlns:a="http://schemas.openxmlformats.org/drawingml/2006/main">
              <a:ext uri="{FF2B5EF4-FFF2-40B4-BE49-F238E27FC236}">
                <a16:creationId xmlns:a16="http://schemas.microsoft.com/office/drawing/2014/main" id="{F9B2B78F-63B7-4DDB-8EE2-F601767CAFD5}"/>
              </a:ext>
            </a:extLst>
          </p:cNvPr>
          <p:cNvSpPr>
            <a:spLocks xmlns:a="http://schemas.openxmlformats.org/drawingml/2006/main" noGrp="1"/>
          </p:cNvSpPr>
          <p:nvPr/>
        </p:nvSpPr>
        <p:spPr>
          <a:xfrm xmlns:a="http://schemas.openxmlformats.org/drawingml/2006/main">
            <a:off x="781050" y="4638675"/>
            <a:ext cx="45529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7" name="">
            <a:extLst xmlns:a="http://schemas.openxmlformats.org/drawingml/2006/main">
              <a:ext uri="{FF2B5EF4-FFF2-40B4-BE49-F238E27FC236}">
                <a16:creationId xmlns:a16="http://schemas.microsoft.com/office/drawing/2014/main" id="{7945917B-CF90-454B-AFA7-1FA4489B509F}"/>
              </a:ext>
            </a:extLst>
          </p:cNvPr>
          <p:cNvSpPr>
            <a:spLocks xmlns:a="http://schemas.openxmlformats.org/drawingml/2006/main" noGrp="1"/>
          </p:cNvSpPr>
          <p:nvPr/>
        </p:nvSpPr>
        <p:spPr>
          <a:xfrm xmlns:a="http://schemas.openxmlformats.org/drawingml/2006/main">
            <a:off x="6667500" y="4638675"/>
            <a:ext cx="466725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8" name="">
            <a:extLst xmlns:a="http://schemas.openxmlformats.org/drawingml/2006/main">
              <a:ext uri="{FF2B5EF4-FFF2-40B4-BE49-F238E27FC236}">
                <a16:creationId xmlns:a16="http://schemas.microsoft.com/office/drawing/2014/main" id="{20BB6C36-BF65-483D-AB75-765B7C06EEF9}"/>
              </a:ext>
            </a:extLst>
          </p:cNvPr>
          <p:cNvSpPr>
            <a:spLocks xmlns:a="http://schemas.openxmlformats.org/drawingml/2006/main" noGrp="1"/>
          </p:cNvSpPr>
          <p:nvPr/>
        </p:nvSpPr>
        <p:spPr>
          <a:xfrm xmlns:a="http://schemas.openxmlformats.org/drawingml/2006/main" rot="0">
            <a:off x="781050" y="4914900"/>
            <a:ext cx="1200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86D91"/>
                </a:solidFill>
                <a:latin typeface="Helvetica Neue"/>
                <a:ea typeface="Helvetica Neue"/>
                <a:cs typeface="Helvetica Neue"/>
              </a:defRPr>
            </a:pPr>
            <a:r>
              <a:rPr sz="975" b="1" i="0">
                <a:solidFill>
                  <a:srgbClr val="286D91"/>
                </a:solidFill>
                <a:latin typeface="Helvetica Neue"/>
                <a:ea typeface="Helvetica Neue"/>
                <a:cs typeface="Helvetica Neue"/>
              </a:rPr>
              <a:t>QUERY CROSSES</a:t>
            </a:r>
          </a:p>
        </p:txBody>
      </p:sp>
      <p:sp>
        <p:nvSpPr>
          <p:cNvPr id="29" name="">
            <a:extLst xmlns:a="http://schemas.openxmlformats.org/drawingml/2006/main">
              <a:ext uri="{FF2B5EF4-FFF2-40B4-BE49-F238E27FC236}">
                <a16:creationId xmlns:a16="http://schemas.microsoft.com/office/drawing/2014/main" id="{24A9DBEF-85E9-41F2-80AD-056D19C3E993}"/>
              </a:ext>
            </a:extLst>
          </p:cNvPr>
          <p:cNvSpPr>
            <a:spLocks xmlns:a="http://schemas.openxmlformats.org/drawingml/2006/main" noGrp="1"/>
          </p:cNvSpPr>
          <p:nvPr/>
        </p:nvSpPr>
        <p:spPr>
          <a:xfrm xmlns:a="http://schemas.openxmlformats.org/drawingml/2006/main" rot="0">
            <a:off x="2038350" y="4876800"/>
            <a:ext cx="329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202522"/>
                </a:solidFill>
                <a:latin typeface="Helvetica Neue"/>
                <a:ea typeface="Helvetica Neue"/>
                <a:cs typeface="Helvetica Neue"/>
              </a:defRPr>
            </a:pPr>
            <a:r>
              <a:rPr sz="1725" b="0" i="0">
                <a:solidFill>
                  <a:srgbClr val="202522"/>
                </a:solidFill>
                <a:latin typeface="Helvetica Neue"/>
                <a:ea typeface="Helvetica Neue"/>
                <a:cs typeface="Helvetica Neue"/>
              </a:rPr>
              <a:t>a client/server protocol</a:t>
            </a:r>
          </a:p>
        </p:txBody>
      </p:sp>
      <p:sp>
        <p:nvSpPr>
          <p:cNvPr id="30" name="">
            <a:extLst xmlns:a="http://schemas.openxmlformats.org/drawingml/2006/main">
              <a:ext uri="{FF2B5EF4-FFF2-40B4-BE49-F238E27FC236}">
                <a16:creationId xmlns:a16="http://schemas.microsoft.com/office/drawing/2014/main" id="{929F197A-D808-4AEA-AA66-F21824580FD2}"/>
              </a:ext>
            </a:extLst>
          </p:cNvPr>
          <p:cNvSpPr>
            <a:spLocks xmlns:a="http://schemas.openxmlformats.org/drawingml/2006/main" noGrp="1"/>
          </p:cNvSpPr>
          <p:nvPr/>
        </p:nvSpPr>
        <p:spPr>
          <a:xfrm xmlns:a="http://schemas.openxmlformats.org/drawingml/2006/main" rot="0">
            <a:off x="6667500" y="4914900"/>
            <a:ext cx="1276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8A5A18"/>
                </a:solidFill>
                <a:latin typeface="Helvetica Neue"/>
                <a:ea typeface="Helvetica Neue"/>
                <a:cs typeface="Helvetica Neue"/>
              </a:defRPr>
            </a:pPr>
            <a:r>
              <a:rPr sz="975" b="1" i="0">
                <a:solidFill>
                  <a:srgbClr val="8A5A18"/>
                </a:solidFill>
                <a:latin typeface="Helvetica Neue"/>
                <a:ea typeface="Helvetica Neue"/>
                <a:cs typeface="Helvetica Neue"/>
              </a:rPr>
              <a:t>QUERY CROSSES</a:t>
            </a:r>
          </a:p>
        </p:txBody>
      </p:sp>
      <p:sp>
        <p:nvSpPr>
          <p:cNvPr id="31" name="">
            <a:extLst xmlns:a="http://schemas.openxmlformats.org/drawingml/2006/main">
              <a:ext uri="{FF2B5EF4-FFF2-40B4-BE49-F238E27FC236}">
                <a16:creationId xmlns:a16="http://schemas.microsoft.com/office/drawing/2014/main" id="{60D05339-82A9-4C1D-AF34-CDAD533ED882}"/>
              </a:ext>
            </a:extLst>
          </p:cNvPr>
          <p:cNvSpPr>
            <a:spLocks xmlns:a="http://schemas.openxmlformats.org/drawingml/2006/main" noGrp="1"/>
          </p:cNvSpPr>
          <p:nvPr/>
        </p:nvSpPr>
        <p:spPr>
          <a:xfrm xmlns:a="http://schemas.openxmlformats.org/drawingml/2006/main" rot="0">
            <a:off x="8001000" y="48768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19"/>
          </a:bodyPr>
          <a:lstStyle xmlns:a="http://schemas.openxmlformats.org/drawingml/2006/main"/>
          <a:p xmlns:a="http://schemas.openxmlformats.org/drawingml/2006/main">
            <a:pPr algn="l">
              <a:defRPr sz="1725" b="0" i="0">
                <a:solidFill>
                  <a:srgbClr val="202522"/>
                </a:solidFill>
                <a:latin typeface="Helvetica Neue"/>
                <a:ea typeface="Helvetica Neue"/>
                <a:cs typeface="Helvetica Neue"/>
              </a:defRPr>
            </a:pPr>
            <a:r>
              <a:rPr sz="1725" b="0" i="0">
                <a:solidFill>
                  <a:srgbClr val="202522"/>
                </a:solidFill>
                <a:latin typeface="Helvetica Neue"/>
                <a:ea typeface="Helvetica Neue"/>
                <a:cs typeface="Helvetica Neue"/>
              </a:rPr>
              <a:t>language + data-format boundaries</a:t>
            </a:r>
          </a:p>
        </p:txBody>
      </p:sp>
    </p:spTree>
    <p:extLst>
      <p:ext uri="{BB962C8B-B14F-4D97-AF65-F5344CB8AC3E}">
        <p14:creationId xmlns:p14="http://schemas.microsoft.com/office/powerpoint/2010/main" val="1854563982"/>
      </p:ext>
    </p:extLst>
  </p:cSld>
</p:sld>
</file>

<file path=ppt/slides/slide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95BFB9D-77D6-4415-9526-85F1023797AB}"/>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684F82"/>
          </a:solidFill>
          <a:ln xmlns:a="http://schemas.openxmlformats.org/drawingml/2006/main" w="0">
            <a:solidFill>
              <a:srgbClr val="684F82"/>
            </a:solidFill>
            <a:prstDash val="solid"/>
          </a:ln>
        </p:spPr>
      </p:sp>
      <p:sp>
        <p:nvSpPr>
          <p:cNvPr id="2" name="">
            <a:extLst xmlns:a="http://schemas.openxmlformats.org/drawingml/2006/main">
              <a:ext uri="{FF2B5EF4-FFF2-40B4-BE49-F238E27FC236}">
                <a16:creationId xmlns:a16="http://schemas.microsoft.com/office/drawing/2014/main" id="{2011E060-F92B-493B-9E51-572439E73E4A}"/>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684F82"/>
                </a:solidFill>
                <a:latin typeface="Helvetica Neue"/>
                <a:ea typeface="Helvetica Neue"/>
                <a:cs typeface="Helvetica Neue"/>
              </a:defRPr>
            </a:pPr>
            <a:r>
              <a:rPr sz="1050" b="1" i="0">
                <a:solidFill>
                  <a:srgbClr val="684F82"/>
                </a:solidFill>
                <a:latin typeface="Helvetica Neue"/>
                <a:ea typeface="Helvetica Neue"/>
                <a:cs typeface="Helvetica Neue"/>
              </a:rPr>
              <a:t>WHY QUERY LANGUAGES MATTER AGAIN</a:t>
            </a:r>
          </a:p>
        </p:txBody>
      </p:sp>
      <p:sp>
        <p:nvSpPr>
          <p:cNvPr id="3" name="">
            <a:extLst xmlns:a="http://schemas.openxmlformats.org/drawingml/2006/main">
              <a:ext uri="{FF2B5EF4-FFF2-40B4-BE49-F238E27FC236}">
                <a16:creationId xmlns:a16="http://schemas.microsoft.com/office/drawing/2014/main" id="{91257486-1AB4-475E-BC75-7356915A8A11}"/>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The query’s target is expanding</a:t>
            </a:r>
          </a:p>
        </p:txBody>
      </p:sp>
      <p:sp>
        <p:nvSpPr>
          <p:cNvPr id="4" name="">
            <a:extLst xmlns:a="http://schemas.openxmlformats.org/drawingml/2006/main">
              <a:ext uri="{FF2B5EF4-FFF2-40B4-BE49-F238E27FC236}">
                <a16:creationId xmlns:a16="http://schemas.microsoft.com/office/drawing/2014/main" id="{52E29CB3-3F03-46D4-9A79-13A9E9BBD1C0}"/>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BA7ABEA6-E924-4BAC-A52F-CDBEF02DC00D}"/>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83A0C164-C7A5-4C7B-9DC2-5EC2F1C3EA30}"/>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4DEF58CD-B47F-4051-ACFD-3DCADAD022C3}"/>
              </a:ext>
            </a:extLst>
          </p:cNvPr>
          <p:cNvSpPr>
            <a:spLocks xmlns:a="http://schemas.openxmlformats.org/drawingml/2006/main" noGrp="1"/>
          </p:cNvSpPr>
          <p:nvPr/>
        </p:nvSpPr>
        <p:spPr>
          <a:xfrm xmlns:a="http://schemas.openxmlformats.org/drawingml/2006/main" rot="0">
            <a:off x="533400" y="1676400"/>
            <a:ext cx="2190750" cy="1466850"/>
          </a:xfrm>
          <a:prstGeom xmlns:a="http://schemas.openxmlformats.org/drawingml/2006/main" prst="roundRect">
            <a:avLst>
              <a:gd name="adj" fmla="val 6494"/>
            </a:avLst>
          </a:prstGeom>
          <a:solidFill xmlns:a="http://schemas.openxmlformats.org/drawingml/2006/main">
            <a:srgbClr val="161A18"/>
          </a:solidFill>
          <a:ln xmlns:a="http://schemas.openxmlformats.org/drawingml/2006/main" w="9525">
            <a:solidFill>
              <a:srgbClr val="161A18"/>
            </a:solidFill>
            <a:prstDash val="solid"/>
          </a:ln>
        </p:spPr>
      </p:sp>
      <p:sp>
        <p:nvSpPr>
          <p:cNvPr id="8" name="">
            <a:extLst xmlns:a="http://schemas.openxmlformats.org/drawingml/2006/main">
              <a:ext uri="{FF2B5EF4-FFF2-40B4-BE49-F238E27FC236}">
                <a16:creationId xmlns:a16="http://schemas.microsoft.com/office/drawing/2014/main" id="{41286D0D-880A-45EF-8FA4-A70D7A148E0B}"/>
              </a:ext>
            </a:extLst>
          </p:cNvPr>
          <p:cNvSpPr>
            <a:spLocks xmlns:a="http://schemas.openxmlformats.org/drawingml/2006/main" noGrp="1"/>
          </p:cNvSpPr>
          <p:nvPr/>
        </p:nvSpPr>
        <p:spPr>
          <a:xfrm xmlns:a="http://schemas.openxmlformats.org/drawingml/2006/main" rot="0">
            <a:off x="704850" y="1828800"/>
            <a:ext cx="18478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FFFDF7"/>
                </a:solidFill>
                <a:latin typeface="SFMono-Regular"/>
                <a:ea typeface="SFMono-Regular"/>
                <a:cs typeface="SFMono-Regular"/>
              </a:defRPr>
            </a:pPr>
            <a:r>
              <a:rPr sz="1575" b="0" i="0">
                <a:solidFill>
                  <a:srgbClr val="FFFDF7"/>
                </a:solidFill>
                <a:latin typeface="SFMono-Regular"/>
                <a:ea typeface="SFMono-Regular"/>
                <a:cs typeface="SFMono-Regular"/>
              </a:rPr>
              <a:t>SELECT city</a:t>
            </a:r>
          </a:p>
          <a:p xmlns:a="http://schemas.openxmlformats.org/drawingml/2006/main">
            <a:pPr algn="l">
              <a:lnSpc>
                <a:spcPct val="108000"/>
              </a:lnSpc>
              <a:buNone/>
              <a:defRPr sz="1575" b="0" i="0">
                <a:solidFill>
                  <a:srgbClr val="FFFDF7"/>
                </a:solidFill>
                <a:latin typeface="SFMono-Regular"/>
                <a:ea typeface="SFMono-Regular"/>
                <a:cs typeface="SFMono-Regular"/>
              </a:defRPr>
            </a:pPr>
            <a:r>
              <a:rPr sz="1575" b="0" i="0">
                <a:solidFill>
                  <a:srgbClr val="FFFDF7"/>
                </a:solidFill>
                <a:latin typeface="SFMono-Regular"/>
                <a:ea typeface="SFMono-Regular"/>
                <a:cs typeface="SFMono-Regular"/>
              </a:rPr>
              <a:t>FROM roads</a:t>
            </a:r>
          </a:p>
          <a:p xmlns:a="http://schemas.openxmlformats.org/drawingml/2006/main">
            <a:pPr algn="l">
              <a:lnSpc>
                <a:spcPct val="108000"/>
              </a:lnSpc>
              <a:buNone/>
              <a:defRPr sz="1575" b="0" i="0">
                <a:solidFill>
                  <a:srgbClr val="FFFDF7"/>
                </a:solidFill>
                <a:latin typeface="SFMono-Regular"/>
                <a:ea typeface="SFMono-Regular"/>
                <a:cs typeface="SFMono-Regular"/>
              </a:defRPr>
            </a:pPr>
            <a:r>
              <a:rPr sz="1575" b="0" i="0">
                <a:solidFill>
                  <a:srgbClr val="FFFDF7"/>
                </a:solidFill>
                <a:latin typeface="SFMono-Regular"/>
                <a:ea typeface="SFMono-Regular"/>
                <a:cs typeface="SFMono-Regular"/>
              </a:rPr>
              <a:t>WHERE open;</a:t>
            </a:r>
          </a:p>
        </p:txBody>
      </p:sp>
      <p:sp>
        <p:nvSpPr>
          <p:cNvPr id="9" name="">
            <a:extLst xmlns:a="http://schemas.openxmlformats.org/drawingml/2006/main">
              <a:ext uri="{FF2B5EF4-FFF2-40B4-BE49-F238E27FC236}">
                <a16:creationId xmlns:a16="http://schemas.microsoft.com/office/drawing/2014/main" id="{ED6DD9C2-1A81-4AEE-A182-F52C21D73D2F}"/>
              </a:ext>
            </a:extLst>
          </p:cNvPr>
          <p:cNvSpPr>
            <a:spLocks xmlns:a="http://schemas.openxmlformats.org/drawingml/2006/main" noGrp="1"/>
          </p:cNvSpPr>
          <p:nvPr/>
        </p:nvSpPr>
        <p:spPr>
          <a:xfrm xmlns:a="http://schemas.openxmlformats.org/drawingml/2006/main" rot="0">
            <a:off x="3009900" y="1676400"/>
            <a:ext cx="2381250" cy="1466850"/>
          </a:xfrm>
          <a:prstGeom xmlns:a="http://schemas.openxmlformats.org/drawingml/2006/main" prst="roundRect">
            <a:avLst>
              <a:gd name="adj" fmla="val 6494"/>
            </a:avLst>
          </a:prstGeom>
          <a:solidFill xmlns:a="http://schemas.openxmlformats.org/drawingml/2006/main">
            <a:srgbClr val="161A18"/>
          </a:solidFill>
          <a:ln xmlns:a="http://schemas.openxmlformats.org/drawingml/2006/main" w="9525">
            <a:solidFill>
              <a:srgbClr val="161A18"/>
            </a:solidFill>
            <a:prstDash val="solid"/>
          </a:ln>
        </p:spPr>
      </p:sp>
      <p:sp>
        <p:nvSpPr>
          <p:cNvPr id="10" name="">
            <a:extLst xmlns:a="http://schemas.openxmlformats.org/drawingml/2006/main">
              <a:ext uri="{FF2B5EF4-FFF2-40B4-BE49-F238E27FC236}">
                <a16:creationId xmlns:a16="http://schemas.microsoft.com/office/drawing/2014/main" id="{1A37488A-EF08-4605-871A-13FB6CC795CD}"/>
              </a:ext>
            </a:extLst>
          </p:cNvPr>
          <p:cNvSpPr>
            <a:spLocks xmlns:a="http://schemas.openxmlformats.org/drawingml/2006/main" noGrp="1"/>
          </p:cNvSpPr>
          <p:nvPr/>
        </p:nvSpPr>
        <p:spPr>
          <a:xfrm xmlns:a="http://schemas.openxmlformats.org/drawingml/2006/main" rot="0">
            <a:off x="3181350" y="1828800"/>
            <a:ext cx="20383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FFFDF7"/>
                </a:solidFill>
                <a:latin typeface="SFMono-Regular"/>
                <a:ea typeface="SFMono-Regular"/>
                <a:cs typeface="SFMono-Regular"/>
              </a:defRPr>
            </a:pPr>
            <a:r>
              <a:rPr sz="1575" b="0" i="0">
                <a:solidFill>
                  <a:srgbClr val="FFFDF7"/>
                </a:solidFill>
                <a:latin typeface="SFMono-Regular"/>
                <a:ea typeface="SFMono-Regular"/>
                <a:cs typeface="SFMono-Regular"/>
              </a:rPr>
              <a:t>SELECT *</a:t>
            </a:r>
          </a:p>
          <a:p xmlns:a="http://schemas.openxmlformats.org/drawingml/2006/main">
            <a:pPr algn="l">
              <a:lnSpc>
                <a:spcPct val="108000"/>
              </a:lnSpc>
              <a:buNone/>
              <a:defRPr sz="1575" b="0" i="0">
                <a:solidFill>
                  <a:srgbClr val="FFFDF7"/>
                </a:solidFill>
                <a:latin typeface="SFMono-Regular"/>
                <a:ea typeface="SFMono-Regular"/>
                <a:cs typeface="SFMono-Regular"/>
              </a:defRPr>
            </a:pPr>
            <a:r>
              <a:rPr sz="1575" b="0" i="0">
                <a:solidFill>
                  <a:srgbClr val="FFFDF7"/>
                </a:solidFill>
                <a:latin typeface="SFMono-Regular"/>
                <a:ea typeface="SFMono-Regular"/>
                <a:cs typeface="SFMono-Regular"/>
              </a:rPr>
              <a:t>FROM 'roads.parquet';</a:t>
            </a:r>
          </a:p>
        </p:txBody>
      </p:sp>
      <p:sp>
        <p:nvSpPr>
          <p:cNvPr id="11" name="">
            <a:extLst xmlns:a="http://schemas.openxmlformats.org/drawingml/2006/main">
              <a:ext uri="{FF2B5EF4-FFF2-40B4-BE49-F238E27FC236}">
                <a16:creationId xmlns:a16="http://schemas.microsoft.com/office/drawing/2014/main" id="{0D9E7B89-D09F-45E9-81F1-6733F68A6063}"/>
              </a:ext>
            </a:extLst>
          </p:cNvPr>
          <p:cNvSpPr>
            <a:spLocks xmlns:a="http://schemas.openxmlformats.org/drawingml/2006/main" noGrp="1"/>
          </p:cNvSpPr>
          <p:nvPr/>
        </p:nvSpPr>
        <p:spPr>
          <a:xfrm xmlns:a="http://schemas.openxmlformats.org/drawingml/2006/main" rot="0">
            <a:off x="5676900" y="1676400"/>
            <a:ext cx="2381250" cy="1466850"/>
          </a:xfrm>
          <a:prstGeom xmlns:a="http://schemas.openxmlformats.org/drawingml/2006/main" prst="roundRect">
            <a:avLst>
              <a:gd name="adj" fmla="val 6494"/>
            </a:avLst>
          </a:prstGeom>
          <a:solidFill xmlns:a="http://schemas.openxmlformats.org/drawingml/2006/main">
            <a:srgbClr val="161A18"/>
          </a:solidFill>
          <a:ln xmlns:a="http://schemas.openxmlformats.org/drawingml/2006/main" w="9525">
            <a:solidFill>
              <a:srgbClr val="161A18"/>
            </a:solidFill>
            <a:prstDash val="solid"/>
          </a:ln>
        </p:spPr>
      </p:sp>
      <p:sp>
        <p:nvSpPr>
          <p:cNvPr id="12" name="">
            <a:extLst xmlns:a="http://schemas.openxmlformats.org/drawingml/2006/main">
              <a:ext uri="{FF2B5EF4-FFF2-40B4-BE49-F238E27FC236}">
                <a16:creationId xmlns:a16="http://schemas.microsoft.com/office/drawing/2014/main" id="{3300EAC2-49DD-4EA0-A62F-EA62C1EF0138}"/>
              </a:ext>
            </a:extLst>
          </p:cNvPr>
          <p:cNvSpPr>
            <a:spLocks xmlns:a="http://schemas.openxmlformats.org/drawingml/2006/main" noGrp="1"/>
          </p:cNvSpPr>
          <p:nvPr/>
        </p:nvSpPr>
        <p:spPr>
          <a:xfrm xmlns:a="http://schemas.openxmlformats.org/drawingml/2006/main" rot="0">
            <a:off x="5848350" y="1828800"/>
            <a:ext cx="20383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FFFDF7"/>
                </a:solidFill>
                <a:latin typeface="SFMono-Regular"/>
                <a:ea typeface="SFMono-Regular"/>
                <a:cs typeface="SFMono-Regular"/>
              </a:defRPr>
            </a:pPr>
            <a:r>
              <a:rPr sz="1575" b="0" i="0">
                <a:solidFill>
                  <a:srgbClr val="FFFDF7"/>
                </a:solidFill>
                <a:latin typeface="SFMono-Regular"/>
                <a:ea typeface="SFMono-Regular"/>
                <a:cs typeface="SFMono-Regular"/>
              </a:rPr>
              <a:t>duckdb.sql(</a:t>
            </a:r>
          </a:p>
          <a:p xmlns:a="http://schemas.openxmlformats.org/drawingml/2006/main">
            <a:pPr algn="l">
              <a:lnSpc>
                <a:spcPct val="108000"/>
              </a:lnSpc>
              <a:buNone/>
              <a:defRPr sz="1575" b="0" i="0">
                <a:solidFill>
                  <a:srgbClr val="FFFDF7"/>
                </a:solidFill>
                <a:latin typeface="SFMono-Regular"/>
                <a:ea typeface="SFMono-Regular"/>
                <a:cs typeface="SFMono-Regular"/>
              </a:defRPr>
            </a:pPr>
            <a:r>
              <a:rPr sz="1575" b="0" i="0">
                <a:solidFill>
                  <a:srgbClr val="FFFDF7"/>
                </a:solidFill>
                <a:latin typeface="SFMono-Regular"/>
                <a:ea typeface="SFMono-Regular"/>
                <a:cs typeface="SFMono-Regular"/>
              </a:rPr>
              <a:t>  "FROM roads_df"</a:t>
            </a:r>
          </a:p>
          <a:p xmlns:a="http://schemas.openxmlformats.org/drawingml/2006/main">
            <a:pPr algn="l">
              <a:lnSpc>
                <a:spcPct val="108000"/>
              </a:lnSpc>
              <a:buNone/>
              <a:defRPr sz="1575" b="0" i="0">
                <a:solidFill>
                  <a:srgbClr val="FFFDF7"/>
                </a:solidFill>
                <a:latin typeface="SFMono-Regular"/>
                <a:ea typeface="SFMono-Regular"/>
                <a:cs typeface="SFMono-Regular"/>
              </a:defRPr>
            </a:pPr>
            <a:r>
              <a:rPr sz="1575" b="0" i="0">
                <a:solidFill>
                  <a:srgbClr val="FFFDF7"/>
                </a:solidFill>
                <a:latin typeface="SFMono-Regular"/>
                <a:ea typeface="SFMono-Regular"/>
                <a:cs typeface="SFMono-Regular"/>
              </a:rPr>
              <a:t>)</a:t>
            </a:r>
          </a:p>
        </p:txBody>
      </p:sp>
      <p:sp>
        <p:nvSpPr>
          <p:cNvPr id="13" name="">
            <a:extLst xmlns:a="http://schemas.openxmlformats.org/drawingml/2006/main">
              <a:ext uri="{FF2B5EF4-FFF2-40B4-BE49-F238E27FC236}">
                <a16:creationId xmlns:a16="http://schemas.microsoft.com/office/drawing/2014/main" id="{BD5D5127-C2BF-4D94-9564-1B0FE6D3A370}"/>
              </a:ext>
            </a:extLst>
          </p:cNvPr>
          <p:cNvSpPr>
            <a:spLocks xmlns:a="http://schemas.openxmlformats.org/drawingml/2006/main" noGrp="1"/>
          </p:cNvSpPr>
          <p:nvPr/>
        </p:nvSpPr>
        <p:spPr>
          <a:xfrm xmlns:a="http://schemas.openxmlformats.org/drawingml/2006/main" rot="0">
            <a:off x="8343900" y="1676400"/>
            <a:ext cx="3143250" cy="1466850"/>
          </a:xfrm>
          <a:prstGeom xmlns:a="http://schemas.openxmlformats.org/drawingml/2006/main" prst="roundRect">
            <a:avLst>
              <a:gd name="adj" fmla="val 6494"/>
            </a:avLst>
          </a:prstGeom>
          <a:solidFill xmlns:a="http://schemas.openxmlformats.org/drawingml/2006/main">
            <a:srgbClr val="161A18"/>
          </a:solidFill>
          <a:ln xmlns:a="http://schemas.openxmlformats.org/drawingml/2006/main" w="9525">
            <a:solidFill>
              <a:srgbClr val="161A18"/>
            </a:solidFill>
            <a:prstDash val="solid"/>
          </a:ln>
        </p:spPr>
      </p:sp>
      <p:sp>
        <p:nvSpPr>
          <p:cNvPr id="14" name="">
            <a:extLst xmlns:a="http://schemas.openxmlformats.org/drawingml/2006/main">
              <a:ext uri="{FF2B5EF4-FFF2-40B4-BE49-F238E27FC236}">
                <a16:creationId xmlns:a16="http://schemas.microsoft.com/office/drawing/2014/main" id="{7F40BAD7-76B9-4E4E-98A9-EAD5CD7BF7E9}"/>
              </a:ext>
            </a:extLst>
          </p:cNvPr>
          <p:cNvSpPr>
            <a:spLocks xmlns:a="http://schemas.openxmlformats.org/drawingml/2006/main" noGrp="1"/>
          </p:cNvSpPr>
          <p:nvPr/>
        </p:nvSpPr>
        <p:spPr>
          <a:xfrm xmlns:a="http://schemas.openxmlformats.org/drawingml/2006/main" rot="0">
            <a:off x="8515350" y="1828800"/>
            <a:ext cx="28003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FFFDF7"/>
                </a:solidFill>
                <a:latin typeface="SFMono-Regular"/>
                <a:ea typeface="SFMono-Regular"/>
                <a:cs typeface="SFMono-Regular"/>
              </a:defRPr>
            </a:pPr>
            <a:r>
              <a:rPr sz="1425" b="0" i="0">
                <a:solidFill>
                  <a:srgbClr val="FFFDF7"/>
                </a:solidFill>
                <a:latin typeface="SFMono-Regular"/>
                <a:ea typeface="SFMono-Regular"/>
                <a:cs typeface="SFMono-Regular"/>
              </a:rPr>
              <a:t>MATCH (a)-[:ROAD]-&gt;(b)</a:t>
            </a:r>
          </a:p>
          <a:p xmlns:a="http://schemas.openxmlformats.org/drawingml/2006/main">
            <a:pPr algn="l">
              <a:lnSpc>
                <a:spcPct val="108000"/>
              </a:lnSpc>
              <a:buNone/>
              <a:defRPr sz="1425" b="0" i="0">
                <a:solidFill>
                  <a:srgbClr val="FFFDF7"/>
                </a:solidFill>
                <a:latin typeface="SFMono-Regular"/>
                <a:ea typeface="SFMono-Regular"/>
                <a:cs typeface="SFMono-Regular"/>
              </a:defRPr>
            </a:pPr>
            <a:r>
              <a:rPr sz="1425" b="0" i="0">
                <a:solidFill>
                  <a:srgbClr val="FFFDF7"/>
                </a:solidFill>
                <a:latin typeface="SFMono-Regular"/>
                <a:ea typeface="SFMono-Regular"/>
                <a:cs typeface="SFMono-Regular"/>
              </a:rPr>
              <a:t>RETURN a, b</a:t>
            </a:r>
          </a:p>
        </p:txBody>
      </p:sp>
      <p:sp>
        <p:nvSpPr>
          <p:cNvPr id="15" name="">
            <a:extLst xmlns:a="http://schemas.openxmlformats.org/drawingml/2006/main">
              <a:ext uri="{FF2B5EF4-FFF2-40B4-BE49-F238E27FC236}">
                <a16:creationId xmlns:a16="http://schemas.microsoft.com/office/drawing/2014/main" id="{71611BC7-7E8D-48CF-BCBB-0A897A6A9E28}"/>
              </a:ext>
            </a:extLst>
          </p:cNvPr>
          <p:cNvSpPr>
            <a:spLocks xmlns:a="http://schemas.openxmlformats.org/drawingml/2006/main" noGrp="1"/>
          </p:cNvSpPr>
          <p:nvPr/>
        </p:nvSpPr>
        <p:spPr>
          <a:xfrm xmlns:a="http://schemas.openxmlformats.org/drawingml/2006/main" rot="0">
            <a:off x="1619250" y="3486150"/>
            <a:ext cx="628650" cy="228600"/>
          </a:xfrm>
          <a:prstGeom xmlns:a="http://schemas.openxmlformats.org/drawingml/2006/main" prst="rightArrow">
            <a:avLst/>
          </a:prstGeom>
          <a:solidFill xmlns:a="http://schemas.openxmlformats.org/drawingml/2006/main">
            <a:srgbClr val="684F82"/>
          </a:solidFill>
          <a:ln xmlns:a="http://schemas.openxmlformats.org/drawingml/2006/main" w="0">
            <a:solidFill>
              <a:srgbClr val="684F82"/>
            </a:solidFill>
            <a:prstDash val="solid"/>
          </a:ln>
        </p:spPr>
      </p:sp>
      <p:sp>
        <p:nvSpPr>
          <p:cNvPr id="16" name="">
            <a:extLst xmlns:a="http://schemas.openxmlformats.org/drawingml/2006/main">
              <a:ext uri="{FF2B5EF4-FFF2-40B4-BE49-F238E27FC236}">
                <a16:creationId xmlns:a16="http://schemas.microsoft.com/office/drawing/2014/main" id="{22E5FABD-DD6B-4C52-A74F-CE764ADC3229}"/>
              </a:ext>
            </a:extLst>
          </p:cNvPr>
          <p:cNvSpPr>
            <a:spLocks xmlns:a="http://schemas.openxmlformats.org/drawingml/2006/main" noGrp="1"/>
          </p:cNvSpPr>
          <p:nvPr/>
        </p:nvSpPr>
        <p:spPr>
          <a:xfrm xmlns:a="http://schemas.openxmlformats.org/drawingml/2006/main" rot="0">
            <a:off x="4248150" y="3486150"/>
            <a:ext cx="628650" cy="228600"/>
          </a:xfrm>
          <a:prstGeom xmlns:a="http://schemas.openxmlformats.org/drawingml/2006/main" prst="rightArrow">
            <a:avLst/>
          </a:prstGeom>
          <a:solidFill xmlns:a="http://schemas.openxmlformats.org/drawingml/2006/main">
            <a:srgbClr val="684F82"/>
          </a:solidFill>
          <a:ln xmlns:a="http://schemas.openxmlformats.org/drawingml/2006/main" w="0">
            <a:solidFill>
              <a:srgbClr val="684F82"/>
            </a:solidFill>
            <a:prstDash val="solid"/>
          </a:ln>
        </p:spPr>
      </p:sp>
      <p:sp>
        <p:nvSpPr>
          <p:cNvPr id="17" name="">
            <a:extLst xmlns:a="http://schemas.openxmlformats.org/drawingml/2006/main">
              <a:ext uri="{FF2B5EF4-FFF2-40B4-BE49-F238E27FC236}">
                <a16:creationId xmlns:a16="http://schemas.microsoft.com/office/drawing/2014/main" id="{4DB160A5-CA0E-4783-94AF-85FDE3F121FF}"/>
              </a:ext>
            </a:extLst>
          </p:cNvPr>
          <p:cNvSpPr>
            <a:spLocks xmlns:a="http://schemas.openxmlformats.org/drawingml/2006/main" noGrp="1"/>
          </p:cNvSpPr>
          <p:nvPr/>
        </p:nvSpPr>
        <p:spPr>
          <a:xfrm xmlns:a="http://schemas.openxmlformats.org/drawingml/2006/main" rot="0">
            <a:off x="6915150" y="3486150"/>
            <a:ext cx="628650" cy="228600"/>
          </a:xfrm>
          <a:prstGeom xmlns:a="http://schemas.openxmlformats.org/drawingml/2006/main" prst="rightArrow">
            <a:avLst/>
          </a:prstGeom>
          <a:solidFill xmlns:a="http://schemas.openxmlformats.org/drawingml/2006/main">
            <a:srgbClr val="684F82"/>
          </a:solidFill>
          <a:ln xmlns:a="http://schemas.openxmlformats.org/drawingml/2006/main" w="0">
            <a:solidFill>
              <a:srgbClr val="684F82"/>
            </a:solidFill>
            <a:prstDash val="solid"/>
          </a:ln>
        </p:spPr>
      </p:sp>
      <p:sp>
        <p:nvSpPr>
          <p:cNvPr id="18" name="">
            <a:extLst xmlns:a="http://schemas.openxmlformats.org/drawingml/2006/main">
              <a:ext uri="{FF2B5EF4-FFF2-40B4-BE49-F238E27FC236}">
                <a16:creationId xmlns:a16="http://schemas.microsoft.com/office/drawing/2014/main" id="{3A48220A-6A5E-4092-9918-36D57DAE9496}"/>
              </a:ext>
            </a:extLst>
          </p:cNvPr>
          <p:cNvSpPr>
            <a:spLocks xmlns:a="http://schemas.openxmlformats.org/drawingml/2006/main" noGrp="1"/>
          </p:cNvSpPr>
          <p:nvPr/>
        </p:nvSpPr>
        <p:spPr>
          <a:xfrm xmlns:a="http://schemas.openxmlformats.org/drawingml/2006/main" rot="0">
            <a:off x="9906000" y="3486150"/>
            <a:ext cx="628650" cy="228600"/>
          </a:xfrm>
          <a:prstGeom xmlns:a="http://schemas.openxmlformats.org/drawingml/2006/main" prst="rightArrow">
            <a:avLst/>
          </a:prstGeom>
          <a:solidFill xmlns:a="http://schemas.openxmlformats.org/drawingml/2006/main">
            <a:srgbClr val="684F82"/>
          </a:solidFill>
          <a:ln xmlns:a="http://schemas.openxmlformats.org/drawingml/2006/main" w="0">
            <a:solidFill>
              <a:srgbClr val="684F82"/>
            </a:solidFill>
            <a:prstDash val="solid"/>
          </a:ln>
        </p:spPr>
      </p:sp>
      <p:sp>
        <p:nvSpPr>
          <p:cNvPr id="19" name="">
            <a:extLst xmlns:a="http://schemas.openxmlformats.org/drawingml/2006/main">
              <a:ext uri="{FF2B5EF4-FFF2-40B4-BE49-F238E27FC236}">
                <a16:creationId xmlns:a16="http://schemas.microsoft.com/office/drawing/2014/main" id="{43AB91A6-2244-482C-BD0B-4FAA8B8939FB}"/>
              </a:ext>
            </a:extLst>
          </p:cNvPr>
          <p:cNvSpPr>
            <a:spLocks xmlns:a="http://schemas.openxmlformats.org/drawingml/2006/main" noGrp="1"/>
          </p:cNvSpPr>
          <p:nvPr/>
        </p:nvSpPr>
        <p:spPr>
          <a:xfrm xmlns:a="http://schemas.openxmlformats.org/drawingml/2006/main" rot="0">
            <a:off x="781050" y="39433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202522"/>
                </a:solidFill>
                <a:latin typeface="Helvetica Neue"/>
                <a:ea typeface="Helvetica Neue"/>
                <a:cs typeface="Helvetica Neue"/>
              </a:defRPr>
            </a:pPr>
            <a:r>
              <a:rPr sz="1575" b="1" i="0">
                <a:solidFill>
                  <a:srgbClr val="202522"/>
                </a:solidFill>
                <a:latin typeface="Helvetica Neue"/>
                <a:ea typeface="Helvetica Neue"/>
                <a:cs typeface="Helvetica Neue"/>
              </a:rPr>
              <a:t>stored table</a:t>
            </a:r>
          </a:p>
        </p:txBody>
      </p:sp>
      <p:sp>
        <p:nvSpPr>
          <p:cNvPr id="20" name="">
            <a:extLst xmlns:a="http://schemas.openxmlformats.org/drawingml/2006/main">
              <a:ext uri="{FF2B5EF4-FFF2-40B4-BE49-F238E27FC236}">
                <a16:creationId xmlns:a16="http://schemas.microsoft.com/office/drawing/2014/main" id="{76618522-D107-45A5-8049-FEA0C5ACBE09}"/>
              </a:ext>
            </a:extLst>
          </p:cNvPr>
          <p:cNvSpPr>
            <a:spLocks xmlns:a="http://schemas.openxmlformats.org/drawingml/2006/main" noGrp="1"/>
          </p:cNvSpPr>
          <p:nvPr/>
        </p:nvSpPr>
        <p:spPr>
          <a:xfrm xmlns:a="http://schemas.openxmlformats.org/drawingml/2006/main" rot="0">
            <a:off x="3352800" y="39433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202522"/>
                </a:solidFill>
                <a:latin typeface="Helvetica Neue"/>
                <a:ea typeface="Helvetica Neue"/>
                <a:cs typeface="Helvetica Neue"/>
              </a:defRPr>
            </a:pPr>
            <a:r>
              <a:rPr sz="1575" b="1" i="0">
                <a:solidFill>
                  <a:srgbClr val="202522"/>
                </a:solidFill>
                <a:latin typeface="Helvetica Neue"/>
                <a:ea typeface="Helvetica Neue"/>
                <a:cs typeface="Helvetica Neue"/>
              </a:rPr>
              <a:t>file</a:t>
            </a:r>
          </a:p>
        </p:txBody>
      </p:sp>
      <p:sp>
        <p:nvSpPr>
          <p:cNvPr id="21" name="">
            <a:extLst xmlns:a="http://schemas.openxmlformats.org/drawingml/2006/main">
              <a:ext uri="{FF2B5EF4-FFF2-40B4-BE49-F238E27FC236}">
                <a16:creationId xmlns:a16="http://schemas.microsoft.com/office/drawing/2014/main" id="{70204A5E-260A-408E-98B1-C0589F9373BA}"/>
              </a:ext>
            </a:extLst>
          </p:cNvPr>
          <p:cNvSpPr>
            <a:spLocks xmlns:a="http://schemas.openxmlformats.org/drawingml/2006/main" noGrp="1"/>
          </p:cNvSpPr>
          <p:nvPr/>
        </p:nvSpPr>
        <p:spPr>
          <a:xfrm xmlns:a="http://schemas.openxmlformats.org/drawingml/2006/main" rot="0">
            <a:off x="6019800" y="39433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202522"/>
                </a:solidFill>
                <a:latin typeface="Helvetica Neue"/>
                <a:ea typeface="Helvetica Neue"/>
                <a:cs typeface="Helvetica Neue"/>
              </a:defRPr>
            </a:pPr>
            <a:r>
              <a:rPr sz="1575" b="1" i="0">
                <a:solidFill>
                  <a:srgbClr val="202522"/>
                </a:solidFill>
                <a:latin typeface="Helvetica Neue"/>
                <a:ea typeface="Helvetica Neue"/>
                <a:cs typeface="Helvetica Neue"/>
              </a:rPr>
              <a:t>program value</a:t>
            </a:r>
          </a:p>
        </p:txBody>
      </p:sp>
      <p:sp>
        <p:nvSpPr>
          <p:cNvPr id="22" name="">
            <a:extLst xmlns:a="http://schemas.openxmlformats.org/drawingml/2006/main">
              <a:ext uri="{FF2B5EF4-FFF2-40B4-BE49-F238E27FC236}">
                <a16:creationId xmlns:a16="http://schemas.microsoft.com/office/drawing/2014/main" id="{4D3A4E28-71C3-4D66-A7D0-DBDE068D80F8}"/>
              </a:ext>
            </a:extLst>
          </p:cNvPr>
          <p:cNvSpPr>
            <a:spLocks xmlns:a="http://schemas.openxmlformats.org/drawingml/2006/main" noGrp="1"/>
          </p:cNvSpPr>
          <p:nvPr/>
        </p:nvSpPr>
        <p:spPr>
          <a:xfrm xmlns:a="http://schemas.openxmlformats.org/drawingml/2006/main" rot="0">
            <a:off x="8858250" y="39433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202522"/>
                </a:solidFill>
                <a:latin typeface="Helvetica Neue"/>
                <a:ea typeface="Helvetica Neue"/>
                <a:cs typeface="Helvetica Neue"/>
              </a:defRPr>
            </a:pPr>
            <a:r>
              <a:rPr sz="1575" b="1" i="0">
                <a:solidFill>
                  <a:srgbClr val="202522"/>
                </a:solidFill>
                <a:latin typeface="Helvetica Neue"/>
                <a:ea typeface="Helvetica Neue"/>
                <a:cs typeface="Helvetica Neue"/>
              </a:rPr>
              <a:t>graph pattern</a:t>
            </a:r>
          </a:p>
        </p:txBody>
      </p:sp>
      <p:sp>
        <p:nvSpPr>
          <p:cNvPr id="23" name="">
            <a:extLst xmlns:a="http://schemas.openxmlformats.org/drawingml/2006/main">
              <a:ext uri="{FF2B5EF4-FFF2-40B4-BE49-F238E27FC236}">
                <a16:creationId xmlns:a16="http://schemas.microsoft.com/office/drawing/2014/main" id="{B80AEB0D-8DC7-4976-A2E5-4A5C92A9C334}"/>
              </a:ext>
            </a:extLst>
          </p:cNvPr>
          <p:cNvSpPr>
            <a:spLocks xmlns:a="http://schemas.openxmlformats.org/drawingml/2006/main" noGrp="1"/>
          </p:cNvSpPr>
          <p:nvPr/>
        </p:nvSpPr>
        <p:spPr>
          <a:xfrm xmlns:a="http://schemas.openxmlformats.org/drawingml/2006/main">
            <a:off x="800100" y="4705350"/>
            <a:ext cx="104013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4" name="">
            <a:extLst xmlns:a="http://schemas.openxmlformats.org/drawingml/2006/main">
              <a:ext uri="{FF2B5EF4-FFF2-40B4-BE49-F238E27FC236}">
                <a16:creationId xmlns:a16="http://schemas.microsoft.com/office/drawing/2014/main" id="{BBFCA5DB-216A-41C0-A660-77D74E8F4A3F}"/>
              </a:ext>
            </a:extLst>
          </p:cNvPr>
          <p:cNvSpPr>
            <a:spLocks xmlns:a="http://schemas.openxmlformats.org/drawingml/2006/main" noGrp="1"/>
          </p:cNvSpPr>
          <p:nvPr/>
        </p:nvSpPr>
        <p:spPr>
          <a:xfrm xmlns:a="http://schemas.openxmlformats.org/drawingml/2006/main" rot="0">
            <a:off x="1028700" y="5010150"/>
            <a:ext cx="9944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75" b="0" i="0">
                <a:solidFill>
                  <a:srgbClr val="684F82"/>
                </a:solidFill>
                <a:latin typeface="Helvetica Neue"/>
                <a:ea typeface="Helvetica Neue"/>
                <a:cs typeface="Helvetica Neue"/>
              </a:defRPr>
            </a:pPr>
            <a:r>
              <a:rPr sz="2175" b="0" i="0">
                <a:solidFill>
                  <a:srgbClr val="684F82"/>
                </a:solidFill>
                <a:latin typeface="Helvetica Neue"/>
                <a:ea typeface="Helvetica Neue"/>
                <a:cs typeface="Helvetica Neue"/>
              </a:rPr>
              <a:t>One declarative surface can outlive any one storage location—if a compiler can translate meaning into each target’s operations.</a:t>
            </a:r>
          </a:p>
        </p:txBody>
      </p:sp>
    </p:spTree>
    <p:extLst>
      <p:ext uri="{BB962C8B-B14F-4D97-AF65-F5344CB8AC3E}">
        <p14:creationId xmlns:p14="http://schemas.microsoft.com/office/powerpoint/2010/main" val="1714566610"/>
      </p:ext>
    </p:extLst>
  </p:cSld>
</p:sld>
</file>

<file path=ppt/slides/slide8.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3824BDEB-A825-4D58-9E71-1993199F0747}"/>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176B73"/>
          </a:solidFill>
          <a:ln xmlns:a="http://schemas.openxmlformats.org/drawingml/2006/main" w="0">
            <a:solidFill>
              <a:srgbClr val="176B73"/>
            </a:solidFill>
            <a:prstDash val="solid"/>
          </a:ln>
        </p:spPr>
      </p:sp>
      <p:sp>
        <p:nvSpPr>
          <p:cNvPr id="2" name="">
            <a:extLst xmlns:a="http://schemas.openxmlformats.org/drawingml/2006/main">
              <a:ext uri="{FF2B5EF4-FFF2-40B4-BE49-F238E27FC236}">
                <a16:creationId xmlns:a16="http://schemas.microsoft.com/office/drawing/2014/main" id="{16E2D9D9-9AE5-469A-B890-601427F1802E}"/>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6B73"/>
                </a:solidFill>
                <a:latin typeface="Helvetica Neue"/>
                <a:ea typeface="Helvetica Neue"/>
                <a:cs typeface="Helvetica Neue"/>
              </a:defRPr>
            </a:pPr>
            <a:r>
              <a:rPr sz="1050" b="1" i="0">
                <a:solidFill>
                  <a:srgbClr val="176B73"/>
                </a:solidFill>
                <a:latin typeface="Helvetica Neue"/>
                <a:ea typeface="Helvetica Neue"/>
                <a:cs typeface="Helvetica Neue"/>
              </a:rPr>
              <a:t>DECLARATIVE LEVERAGE</a:t>
            </a:r>
          </a:p>
        </p:txBody>
      </p:sp>
      <p:sp>
        <p:nvSpPr>
          <p:cNvPr id="3" name="">
            <a:extLst xmlns:a="http://schemas.openxmlformats.org/drawingml/2006/main">
              <a:ext uri="{FF2B5EF4-FFF2-40B4-BE49-F238E27FC236}">
                <a16:creationId xmlns:a16="http://schemas.microsoft.com/office/drawing/2014/main" id="{EABCFBF6-F1A9-4E9C-8B22-77ACA77B74B4}"/>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559"/>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The compiler absorbs variation the query should not mention</a:t>
            </a:r>
          </a:p>
        </p:txBody>
      </p:sp>
      <p:sp>
        <p:nvSpPr>
          <p:cNvPr id="4" name="">
            <a:extLst xmlns:a="http://schemas.openxmlformats.org/drawingml/2006/main">
              <a:ext uri="{FF2B5EF4-FFF2-40B4-BE49-F238E27FC236}">
                <a16:creationId xmlns:a16="http://schemas.microsoft.com/office/drawing/2014/main" id="{3B3A554D-994B-4D93-9439-305C65524D75}"/>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5A3346A3-497A-4DBA-A5C0-1DE7EBD1D0DF}"/>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9A340065-5162-4AF0-80E9-0795A87AAEF8}"/>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1BEC3D32-BE40-48D8-B90F-010DD68D61B6}"/>
              </a:ext>
            </a:extLst>
          </p:cNvPr>
          <p:cNvSpPr>
            <a:spLocks xmlns:a="http://schemas.openxmlformats.org/drawingml/2006/main" noGrp="1"/>
          </p:cNvSpPr>
          <p:nvPr/>
        </p:nvSpPr>
        <p:spPr>
          <a:xfrm xmlns:a="http://schemas.openxmlformats.org/drawingml/2006/main" rot="0">
            <a:off x="666750" y="1809750"/>
            <a:ext cx="3771900" cy="1390650"/>
          </a:xfrm>
          <a:prstGeom xmlns:a="http://schemas.openxmlformats.org/drawingml/2006/main" prst="roundRect">
            <a:avLst>
              <a:gd name="adj" fmla="val 6849"/>
            </a:avLst>
          </a:prstGeom>
          <a:solidFill xmlns:a="http://schemas.openxmlformats.org/drawingml/2006/main">
            <a:srgbClr val="161A18"/>
          </a:solidFill>
          <a:ln xmlns:a="http://schemas.openxmlformats.org/drawingml/2006/main" w="9525">
            <a:solidFill>
              <a:srgbClr val="161A18"/>
            </a:solidFill>
            <a:prstDash val="solid"/>
          </a:ln>
        </p:spPr>
      </p:sp>
      <p:sp>
        <p:nvSpPr>
          <p:cNvPr id="8" name="">
            <a:extLst xmlns:a="http://schemas.openxmlformats.org/drawingml/2006/main">
              <a:ext uri="{FF2B5EF4-FFF2-40B4-BE49-F238E27FC236}">
                <a16:creationId xmlns:a16="http://schemas.microsoft.com/office/drawing/2014/main" id="{C40AC57A-EC13-4F67-A4BF-5C3DBD82C789}"/>
              </a:ext>
            </a:extLst>
          </p:cNvPr>
          <p:cNvSpPr>
            <a:spLocks xmlns:a="http://schemas.openxmlformats.org/drawingml/2006/main" noGrp="1"/>
          </p:cNvSpPr>
          <p:nvPr/>
        </p:nvSpPr>
        <p:spPr>
          <a:xfrm xmlns:a="http://schemas.openxmlformats.org/drawingml/2006/main" rot="0">
            <a:off x="838200" y="1962150"/>
            <a:ext cx="3429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DF7"/>
                </a:solidFill>
                <a:latin typeface="SFMono-Regular"/>
                <a:ea typeface="SFMono-Regular"/>
                <a:cs typeface="SFMono-Regular"/>
              </a:defRPr>
            </a:pPr>
            <a:r>
              <a:rPr sz="1500" b="0" i="0">
                <a:solidFill>
                  <a:srgbClr val="FFFDF7"/>
                </a:solidFill>
                <a:latin typeface="SFMono-Regular"/>
                <a:ea typeface="SFMono-Regular"/>
                <a:cs typeface="SFMono-Regular"/>
              </a:rPr>
              <a:t>triangle(x, y, z) :-</a:t>
            </a:r>
          </a:p>
          <a:p xmlns:a="http://schemas.openxmlformats.org/drawingml/2006/main">
            <a:pPr algn="l">
              <a:lnSpc>
                <a:spcPct val="108000"/>
              </a:lnSpc>
              <a:buNone/>
              <a:defRPr sz="1500" b="0" i="0">
                <a:solidFill>
                  <a:srgbClr val="FFFDF7"/>
                </a:solidFill>
                <a:latin typeface="SFMono-Regular"/>
                <a:ea typeface="SFMono-Regular"/>
                <a:cs typeface="SFMono-Regular"/>
              </a:defRPr>
            </a:pPr>
            <a:r>
              <a:rPr sz="1500" b="0" i="0">
                <a:solidFill>
                  <a:srgbClr val="FFFDF7"/>
                </a:solidFill>
                <a:latin typeface="SFMono-Regular"/>
                <a:ea typeface="SFMono-Regular"/>
                <a:cs typeface="SFMono-Regular"/>
              </a:rPr>
              <a:t>  R(x, y), S(y, z), T(z, x).</a:t>
            </a:r>
          </a:p>
        </p:txBody>
      </p:sp>
      <p:sp>
        <p:nvSpPr>
          <p:cNvPr id="9" name="">
            <a:extLst xmlns:a="http://schemas.openxmlformats.org/drawingml/2006/main">
              <a:ext uri="{FF2B5EF4-FFF2-40B4-BE49-F238E27FC236}">
                <a16:creationId xmlns:a16="http://schemas.microsoft.com/office/drawing/2014/main" id="{95196DD2-BD67-4516-9D7B-26E0F0C31863}"/>
              </a:ext>
            </a:extLst>
          </p:cNvPr>
          <p:cNvSpPr>
            <a:spLocks xmlns:a="http://schemas.openxmlformats.org/drawingml/2006/main" noGrp="1"/>
          </p:cNvSpPr>
          <p:nvPr/>
        </p:nvSpPr>
        <p:spPr>
          <a:xfrm xmlns:a="http://schemas.openxmlformats.org/drawingml/2006/main" rot="0">
            <a:off x="4762500" y="2305050"/>
            <a:ext cx="1066800" cy="304800"/>
          </a:xfrm>
          <a:prstGeom xmlns:a="http://schemas.openxmlformats.org/drawingml/2006/main" prst="rightArrow">
            <a:avLst/>
          </a:prstGeom>
          <a:solidFill xmlns:a="http://schemas.openxmlformats.org/drawingml/2006/main">
            <a:srgbClr val="176B73"/>
          </a:solidFill>
          <a:ln xmlns:a="http://schemas.openxmlformats.org/drawingml/2006/main" w="0">
            <a:solidFill>
              <a:srgbClr val="176B73"/>
            </a:solidFill>
            <a:prstDash val="solid"/>
          </a:ln>
        </p:spPr>
      </p:sp>
      <p:sp>
        <p:nvSpPr>
          <p:cNvPr id="10" name="">
            <a:extLst xmlns:a="http://schemas.openxmlformats.org/drawingml/2006/main">
              <a:ext uri="{FF2B5EF4-FFF2-40B4-BE49-F238E27FC236}">
                <a16:creationId xmlns:a16="http://schemas.microsoft.com/office/drawing/2014/main" id="{F7BEE81B-631B-4324-909F-A09512F4BA4D}"/>
              </a:ext>
            </a:extLst>
          </p:cNvPr>
          <p:cNvSpPr>
            <a:spLocks xmlns:a="http://schemas.openxmlformats.org/drawingml/2006/main" noGrp="1"/>
          </p:cNvSpPr>
          <p:nvPr/>
        </p:nvSpPr>
        <p:spPr>
          <a:xfrm xmlns:a="http://schemas.openxmlformats.org/drawingml/2006/main" rot="0">
            <a:off x="5962650" y="1619250"/>
            <a:ext cx="2095500" cy="1790700"/>
          </a:xfrm>
          <a:prstGeom xmlns:a="http://schemas.openxmlformats.org/drawingml/2006/main" prst="roundRect">
            <a:avLst>
              <a:gd name="adj" fmla="val 6383"/>
            </a:avLst>
          </a:prstGeom>
          <a:solidFill xmlns:a="http://schemas.openxmlformats.org/drawingml/2006/main">
            <a:srgbClr val="E7F0EF"/>
          </a:solidFill>
          <a:ln xmlns:a="http://schemas.openxmlformats.org/drawingml/2006/main" w="19050">
            <a:solidFill>
              <a:srgbClr val="176B73"/>
            </a:solidFill>
            <a:prstDash val="solid"/>
          </a:ln>
        </p:spPr>
      </p:sp>
      <p:sp>
        <p:nvSpPr>
          <p:cNvPr id="11" name="">
            <a:extLst xmlns:a="http://schemas.openxmlformats.org/drawingml/2006/main">
              <a:ext uri="{FF2B5EF4-FFF2-40B4-BE49-F238E27FC236}">
                <a16:creationId xmlns:a16="http://schemas.microsoft.com/office/drawing/2014/main" id="{5D75A440-8C22-4EC3-AF0C-651744530BEF}"/>
              </a:ext>
            </a:extLst>
          </p:cNvPr>
          <p:cNvSpPr>
            <a:spLocks xmlns:a="http://schemas.openxmlformats.org/drawingml/2006/main" noGrp="1"/>
          </p:cNvSpPr>
          <p:nvPr/>
        </p:nvSpPr>
        <p:spPr>
          <a:xfrm xmlns:a="http://schemas.openxmlformats.org/drawingml/2006/main" rot="0">
            <a:off x="6267450" y="18669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176B73"/>
                </a:solidFill>
                <a:latin typeface="Helvetica Neue"/>
                <a:ea typeface="Helvetica Neue"/>
                <a:cs typeface="Helvetica Neue"/>
              </a:defRPr>
            </a:pPr>
            <a:r>
              <a:rPr sz="1200" b="1" i="0">
                <a:solidFill>
                  <a:srgbClr val="176B73"/>
                </a:solidFill>
                <a:latin typeface="Helvetica Neue"/>
                <a:ea typeface="Helvetica Neue"/>
                <a:cs typeface="Helvetica Neue"/>
              </a:rPr>
              <a:t>COMPILER</a:t>
            </a:r>
          </a:p>
        </p:txBody>
      </p:sp>
      <p:sp>
        <p:nvSpPr>
          <p:cNvPr id="12" name="">
            <a:extLst xmlns:a="http://schemas.openxmlformats.org/drawingml/2006/main">
              <a:ext uri="{FF2B5EF4-FFF2-40B4-BE49-F238E27FC236}">
                <a16:creationId xmlns:a16="http://schemas.microsoft.com/office/drawing/2014/main" id="{E2249564-E68A-4FFE-A227-63774434D2C8}"/>
              </a:ext>
            </a:extLst>
          </p:cNvPr>
          <p:cNvSpPr>
            <a:spLocks xmlns:a="http://schemas.openxmlformats.org/drawingml/2006/main" noGrp="1"/>
          </p:cNvSpPr>
          <p:nvPr/>
        </p:nvSpPr>
        <p:spPr>
          <a:xfrm xmlns:a="http://schemas.openxmlformats.org/drawingml/2006/main" rot="0">
            <a:off x="6267450" y="2324100"/>
            <a:ext cx="1485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650"/>
          </a:bodyPr>
          <a:lstStyle xmlns:a="http://schemas.openxmlformats.org/drawingml/2006/main"/>
          <a:p xmlns:a="http://schemas.openxmlformats.org/drawingml/2006/main">
            <a:pPr algn="ctr">
              <a:defRPr sz="2025" b="0" i="0">
                <a:solidFill>
                  <a:srgbClr val="202522"/>
                </a:solidFill>
                <a:latin typeface="Helvetica Neue"/>
                <a:ea typeface="Helvetica Neue"/>
                <a:cs typeface="Helvetica Neue"/>
              </a:defRPr>
            </a:pPr>
            <a:r>
              <a:rPr sz="2025" b="0" i="0">
                <a:solidFill>
                  <a:srgbClr val="202522"/>
                </a:solidFill>
                <a:latin typeface="Helvetica Neue"/>
                <a:ea typeface="Helvetica Neue"/>
                <a:cs typeface="Helvetica Neue"/>
              </a:rPr>
              <a:t>meaning</a:t>
            </a:r>
          </a:p>
          <a:p xmlns:a="http://schemas.openxmlformats.org/drawingml/2006/main">
            <a:pPr algn="ctr">
              <a:defRPr sz="2025" b="0" i="0">
                <a:solidFill>
                  <a:srgbClr val="202522"/>
                </a:solidFill>
                <a:latin typeface="Helvetica Neue"/>
                <a:ea typeface="Helvetica Neue"/>
                <a:cs typeface="Helvetica Neue"/>
              </a:defRPr>
            </a:pPr>
            <a:r>
              <a:rPr sz="2025" b="0" i="0">
                <a:solidFill>
                  <a:srgbClr val="202522"/>
                </a:solidFill>
                <a:latin typeface="Helvetica Neue"/>
                <a:ea typeface="Helvetica Neue"/>
                <a:cs typeface="Helvetica Neue"/>
              </a:rPr>
              <a:t>+ facts</a:t>
            </a:r>
          </a:p>
          <a:p xmlns:a="http://schemas.openxmlformats.org/drawingml/2006/main">
            <a:pPr algn="ctr">
              <a:defRPr sz="2025" b="0" i="0">
                <a:solidFill>
                  <a:srgbClr val="202522"/>
                </a:solidFill>
                <a:latin typeface="Helvetica Neue"/>
                <a:ea typeface="Helvetica Neue"/>
                <a:cs typeface="Helvetica Neue"/>
              </a:defRPr>
            </a:pPr>
            <a:r>
              <a:rPr sz="2025" b="0" i="0">
                <a:solidFill>
                  <a:srgbClr val="202522"/>
                </a:solidFill>
                <a:latin typeface="Helvetica Neue"/>
                <a:ea typeface="Helvetica Neue"/>
                <a:cs typeface="Helvetica Neue"/>
              </a:rPr>
              <a:t>+ target</a:t>
            </a:r>
          </a:p>
        </p:txBody>
      </p:sp>
      <p:sp>
        <p:nvSpPr>
          <p:cNvPr id="13" name="">
            <a:extLst xmlns:a="http://schemas.openxmlformats.org/drawingml/2006/main">
              <a:ext uri="{FF2B5EF4-FFF2-40B4-BE49-F238E27FC236}">
                <a16:creationId xmlns:a16="http://schemas.microsoft.com/office/drawing/2014/main" id="{EF1F92D9-4A82-4928-B351-B85144362BFA}"/>
              </a:ext>
            </a:extLst>
          </p:cNvPr>
          <p:cNvSpPr>
            <a:spLocks xmlns:a="http://schemas.openxmlformats.org/drawingml/2006/main" noGrp="1"/>
          </p:cNvSpPr>
          <p:nvPr/>
        </p:nvSpPr>
        <p:spPr>
          <a:xfrm xmlns:a="http://schemas.openxmlformats.org/drawingml/2006/main" rot="0">
            <a:off x="8191500" y="1657350"/>
            <a:ext cx="1066800" cy="247650"/>
          </a:xfrm>
          <a:prstGeom xmlns:a="http://schemas.openxmlformats.org/drawingml/2006/main" prst="rightArrow">
            <a:avLst/>
          </a:prstGeom>
          <a:solidFill xmlns:a="http://schemas.openxmlformats.org/drawingml/2006/main">
            <a:srgbClr val="286D91"/>
          </a:solidFill>
          <a:ln xmlns:a="http://schemas.openxmlformats.org/drawingml/2006/main" w="0">
            <a:solidFill>
              <a:srgbClr val="286D91"/>
            </a:solidFill>
            <a:prstDash val="solid"/>
          </a:ln>
        </p:spPr>
      </p:sp>
      <p:sp>
        <p:nvSpPr>
          <p:cNvPr id="14" name="">
            <a:extLst xmlns:a="http://schemas.openxmlformats.org/drawingml/2006/main">
              <a:ext uri="{FF2B5EF4-FFF2-40B4-BE49-F238E27FC236}">
                <a16:creationId xmlns:a16="http://schemas.microsoft.com/office/drawing/2014/main" id="{D90F75EB-ABC6-4AAD-AF1D-E0628CE79B98}"/>
              </a:ext>
            </a:extLst>
          </p:cNvPr>
          <p:cNvSpPr>
            <a:spLocks xmlns:a="http://schemas.openxmlformats.org/drawingml/2006/main" noGrp="1"/>
          </p:cNvSpPr>
          <p:nvPr/>
        </p:nvSpPr>
        <p:spPr>
          <a:xfrm xmlns:a="http://schemas.openxmlformats.org/drawingml/2006/main" rot="0">
            <a:off x="8191500" y="2476500"/>
            <a:ext cx="1066800" cy="247650"/>
          </a:xfrm>
          <a:prstGeom xmlns:a="http://schemas.openxmlformats.org/drawingml/2006/main" prst="rightArrow">
            <a:avLst/>
          </a:prstGeom>
          <a:solidFill xmlns:a="http://schemas.openxmlformats.org/drawingml/2006/main">
            <a:srgbClr val="9B4C2F"/>
          </a:solidFill>
          <a:ln xmlns:a="http://schemas.openxmlformats.org/drawingml/2006/main" w="0">
            <a:solidFill>
              <a:srgbClr val="9B4C2F"/>
            </a:solidFill>
            <a:prstDash val="solid"/>
          </a:ln>
        </p:spPr>
      </p:sp>
      <p:sp>
        <p:nvSpPr>
          <p:cNvPr id="15" name="">
            <a:extLst xmlns:a="http://schemas.openxmlformats.org/drawingml/2006/main">
              <a:ext uri="{FF2B5EF4-FFF2-40B4-BE49-F238E27FC236}">
                <a16:creationId xmlns:a16="http://schemas.microsoft.com/office/drawing/2014/main" id="{6DC34E44-72EC-4ED5-8A28-BA9638FB19BC}"/>
              </a:ext>
            </a:extLst>
          </p:cNvPr>
          <p:cNvSpPr>
            <a:spLocks xmlns:a="http://schemas.openxmlformats.org/drawingml/2006/main" noGrp="1"/>
          </p:cNvSpPr>
          <p:nvPr/>
        </p:nvSpPr>
        <p:spPr>
          <a:xfrm xmlns:a="http://schemas.openxmlformats.org/drawingml/2006/main" rot="0">
            <a:off x="8191500" y="3295650"/>
            <a:ext cx="1066800" cy="247650"/>
          </a:xfrm>
          <a:prstGeom xmlns:a="http://schemas.openxmlformats.org/drawingml/2006/main" prst="rightArrow">
            <a:avLst/>
          </a:prstGeom>
          <a:solidFill xmlns:a="http://schemas.openxmlformats.org/drawingml/2006/main">
            <a:srgbClr val="684F82"/>
          </a:solidFill>
          <a:ln xmlns:a="http://schemas.openxmlformats.org/drawingml/2006/main" w="0">
            <a:solidFill>
              <a:srgbClr val="684F82"/>
            </a:solidFill>
            <a:prstDash val="solid"/>
          </a:ln>
        </p:spPr>
      </p:sp>
      <p:sp>
        <p:nvSpPr>
          <p:cNvPr id="16" name="">
            <a:extLst xmlns:a="http://schemas.openxmlformats.org/drawingml/2006/main">
              <a:ext uri="{FF2B5EF4-FFF2-40B4-BE49-F238E27FC236}">
                <a16:creationId xmlns:a16="http://schemas.microsoft.com/office/drawing/2014/main" id="{5313636C-3B61-4F84-B215-21ED48659269}"/>
              </a:ext>
            </a:extLst>
          </p:cNvPr>
          <p:cNvSpPr>
            <a:spLocks xmlns:a="http://schemas.openxmlformats.org/drawingml/2006/main" noGrp="1"/>
          </p:cNvSpPr>
          <p:nvPr/>
        </p:nvSpPr>
        <p:spPr>
          <a:xfrm xmlns:a="http://schemas.openxmlformats.org/drawingml/2006/main" rot="0">
            <a:off x="9334500" y="1428750"/>
            <a:ext cx="2133600" cy="685800"/>
          </a:xfrm>
          <a:prstGeom xmlns:a="http://schemas.openxmlformats.org/drawingml/2006/main" prst="roundRect">
            <a:avLst>
              <a:gd name="adj" fmla="val 11111"/>
            </a:avLst>
          </a:prstGeom>
          <a:solidFill xmlns:a="http://schemas.openxmlformats.org/drawingml/2006/main">
            <a:srgbClr val="EDF5F8"/>
          </a:solidFill>
          <a:ln xmlns:a="http://schemas.openxmlformats.org/drawingml/2006/main" w="14288">
            <a:solidFill>
              <a:srgbClr val="286D91"/>
            </a:solidFill>
            <a:prstDash val="solid"/>
          </a:ln>
        </p:spPr>
      </p:sp>
      <p:sp>
        <p:nvSpPr>
          <p:cNvPr id="17" name="">
            <a:extLst xmlns:a="http://schemas.openxmlformats.org/drawingml/2006/main">
              <a:ext uri="{FF2B5EF4-FFF2-40B4-BE49-F238E27FC236}">
                <a16:creationId xmlns:a16="http://schemas.microsoft.com/office/drawing/2014/main" id="{3C49751A-729A-47DF-B7E4-4BFC0C1FE1F9}"/>
              </a:ext>
            </a:extLst>
          </p:cNvPr>
          <p:cNvSpPr>
            <a:spLocks xmlns:a="http://schemas.openxmlformats.org/drawingml/2006/main" noGrp="1"/>
          </p:cNvSpPr>
          <p:nvPr/>
        </p:nvSpPr>
        <p:spPr>
          <a:xfrm xmlns:a="http://schemas.openxmlformats.org/drawingml/2006/main" rot="0">
            <a:off x="9505950" y="15430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956"/>
          </a:bodyPr>
          <a:lstStyle xmlns:a="http://schemas.openxmlformats.org/drawingml/2006/main"/>
          <a:p xmlns:a="http://schemas.openxmlformats.org/drawingml/2006/main">
            <a:pPr algn="l">
              <a:defRPr sz="1725" b="1" i="0">
                <a:solidFill>
                  <a:srgbClr val="286D91"/>
                </a:solidFill>
                <a:latin typeface="Helvetica Neue"/>
                <a:ea typeface="Helvetica Neue"/>
                <a:cs typeface="Helvetica Neue"/>
              </a:defRPr>
            </a:pPr>
            <a:r>
              <a:rPr sz="1725" b="1" i="0">
                <a:solidFill>
                  <a:srgbClr val="286D91"/>
                </a:solidFill>
                <a:latin typeface="Helvetica Neue"/>
                <a:ea typeface="Helvetica Neue"/>
                <a:cs typeface="Helvetica Neue"/>
              </a:rPr>
              <a:t>hash join</a:t>
            </a:r>
          </a:p>
        </p:txBody>
      </p:sp>
      <p:sp>
        <p:nvSpPr>
          <p:cNvPr id="18" name="">
            <a:extLst xmlns:a="http://schemas.openxmlformats.org/drawingml/2006/main">
              <a:ext uri="{FF2B5EF4-FFF2-40B4-BE49-F238E27FC236}">
                <a16:creationId xmlns:a16="http://schemas.microsoft.com/office/drawing/2014/main" id="{6A13E68B-01C1-441C-95B3-D1D984068C33}"/>
              </a:ext>
            </a:extLst>
          </p:cNvPr>
          <p:cNvSpPr>
            <a:spLocks xmlns:a="http://schemas.openxmlformats.org/drawingml/2006/main" noGrp="1"/>
          </p:cNvSpPr>
          <p:nvPr/>
        </p:nvSpPr>
        <p:spPr>
          <a:xfrm xmlns:a="http://schemas.openxmlformats.org/drawingml/2006/main" rot="0">
            <a:off x="9505950" y="182880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defRPr sz="1200" b="0" i="0">
                <a:solidFill>
                  <a:srgbClr val="68716B"/>
                </a:solidFill>
                <a:latin typeface="Helvetica Neue"/>
                <a:ea typeface="Helvetica Neue"/>
                <a:cs typeface="Helvetica Neue"/>
              </a:defRPr>
            </a:pPr>
            <a:r>
              <a:rPr sz="1200" b="0" i="0">
                <a:solidFill>
                  <a:srgbClr val="68716B"/>
                </a:solidFill>
                <a:latin typeface="Helvetica Neue"/>
                <a:ea typeface="Helvetica Neue"/>
                <a:cs typeface="Helvetica Neue"/>
              </a:rPr>
              <a:t>build · probe</a:t>
            </a:r>
          </a:p>
        </p:txBody>
      </p:sp>
      <p:sp>
        <p:nvSpPr>
          <p:cNvPr id="19" name="">
            <a:extLst xmlns:a="http://schemas.openxmlformats.org/drawingml/2006/main">
              <a:ext uri="{FF2B5EF4-FFF2-40B4-BE49-F238E27FC236}">
                <a16:creationId xmlns:a16="http://schemas.microsoft.com/office/drawing/2014/main" id="{6DCD11D9-ADB3-48A5-BE8E-B843559680AF}"/>
              </a:ext>
            </a:extLst>
          </p:cNvPr>
          <p:cNvSpPr>
            <a:spLocks xmlns:a="http://schemas.openxmlformats.org/drawingml/2006/main" noGrp="1"/>
          </p:cNvSpPr>
          <p:nvPr/>
        </p:nvSpPr>
        <p:spPr>
          <a:xfrm xmlns:a="http://schemas.openxmlformats.org/drawingml/2006/main" rot="0">
            <a:off x="9334500" y="2247900"/>
            <a:ext cx="2133600" cy="685800"/>
          </a:xfrm>
          <a:prstGeom xmlns:a="http://schemas.openxmlformats.org/drawingml/2006/main" prst="roundRect">
            <a:avLst>
              <a:gd name="adj" fmla="val 11111"/>
            </a:avLst>
          </a:prstGeom>
          <a:solidFill xmlns:a="http://schemas.openxmlformats.org/drawingml/2006/main">
            <a:srgbClr val="F8EEE9"/>
          </a:solidFill>
          <a:ln xmlns:a="http://schemas.openxmlformats.org/drawingml/2006/main" w="14288">
            <a:solidFill>
              <a:srgbClr val="9B4C2F"/>
            </a:solidFill>
            <a:prstDash val="solid"/>
          </a:ln>
        </p:spPr>
      </p:sp>
      <p:sp>
        <p:nvSpPr>
          <p:cNvPr id="20" name="">
            <a:extLst xmlns:a="http://schemas.openxmlformats.org/drawingml/2006/main">
              <a:ext uri="{FF2B5EF4-FFF2-40B4-BE49-F238E27FC236}">
                <a16:creationId xmlns:a16="http://schemas.microsoft.com/office/drawing/2014/main" id="{72DE61B7-1F4F-43EA-9140-50FD01C65BCD}"/>
              </a:ext>
            </a:extLst>
          </p:cNvPr>
          <p:cNvSpPr>
            <a:spLocks xmlns:a="http://schemas.openxmlformats.org/drawingml/2006/main" noGrp="1"/>
          </p:cNvSpPr>
          <p:nvPr/>
        </p:nvSpPr>
        <p:spPr>
          <a:xfrm xmlns:a="http://schemas.openxmlformats.org/drawingml/2006/main" rot="0">
            <a:off x="9505950" y="2362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956"/>
          </a:bodyPr>
          <a:lstStyle xmlns:a="http://schemas.openxmlformats.org/drawingml/2006/main"/>
          <a:p xmlns:a="http://schemas.openxmlformats.org/drawingml/2006/main">
            <a:pPr algn="l">
              <a:defRPr sz="1725" b="1" i="0">
                <a:solidFill>
                  <a:srgbClr val="9B4C2F"/>
                </a:solidFill>
                <a:latin typeface="Helvetica Neue"/>
                <a:ea typeface="Helvetica Neue"/>
                <a:cs typeface="Helvetica Neue"/>
              </a:defRPr>
            </a:pPr>
            <a:r>
              <a:rPr sz="1725" b="1" i="0">
                <a:solidFill>
                  <a:srgbClr val="9B4C2F"/>
                </a:solidFill>
                <a:latin typeface="Helvetica Neue"/>
                <a:ea typeface="Helvetica Neue"/>
                <a:cs typeface="Helvetica Neue"/>
              </a:rPr>
              <a:t>trie join</a:t>
            </a:r>
          </a:p>
        </p:txBody>
      </p:sp>
      <p:sp>
        <p:nvSpPr>
          <p:cNvPr id="21" name="">
            <a:extLst xmlns:a="http://schemas.openxmlformats.org/drawingml/2006/main">
              <a:ext uri="{FF2B5EF4-FFF2-40B4-BE49-F238E27FC236}">
                <a16:creationId xmlns:a16="http://schemas.microsoft.com/office/drawing/2014/main" id="{BE73EC2E-F9AA-4FA9-8F70-F826EFF1FD87}"/>
              </a:ext>
            </a:extLst>
          </p:cNvPr>
          <p:cNvSpPr>
            <a:spLocks xmlns:a="http://schemas.openxmlformats.org/drawingml/2006/main" noGrp="1"/>
          </p:cNvSpPr>
          <p:nvPr/>
        </p:nvSpPr>
        <p:spPr>
          <a:xfrm xmlns:a="http://schemas.openxmlformats.org/drawingml/2006/main" rot="0">
            <a:off x="9505950" y="26479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defRPr sz="1200" b="0" i="0">
                <a:solidFill>
                  <a:srgbClr val="68716B"/>
                </a:solidFill>
                <a:latin typeface="Helvetica Neue"/>
                <a:ea typeface="Helvetica Neue"/>
                <a:cs typeface="Helvetica Neue"/>
              </a:defRPr>
            </a:pPr>
            <a:r>
              <a:rPr sz="1200" b="0" i="0">
                <a:solidFill>
                  <a:srgbClr val="68716B"/>
                </a:solidFill>
                <a:latin typeface="Helvetica Neue"/>
                <a:ea typeface="Helvetica Neue"/>
                <a:cs typeface="Helvetica Neue"/>
              </a:rPr>
              <a:t>seek · intersect</a:t>
            </a:r>
          </a:p>
        </p:txBody>
      </p:sp>
      <p:sp>
        <p:nvSpPr>
          <p:cNvPr id="22" name="">
            <a:extLst xmlns:a="http://schemas.openxmlformats.org/drawingml/2006/main">
              <a:ext uri="{FF2B5EF4-FFF2-40B4-BE49-F238E27FC236}">
                <a16:creationId xmlns:a16="http://schemas.microsoft.com/office/drawing/2014/main" id="{4C35B818-4ADC-4194-9EA4-548CBB79473D}"/>
              </a:ext>
            </a:extLst>
          </p:cNvPr>
          <p:cNvSpPr>
            <a:spLocks xmlns:a="http://schemas.openxmlformats.org/drawingml/2006/main" noGrp="1"/>
          </p:cNvSpPr>
          <p:nvPr/>
        </p:nvSpPr>
        <p:spPr>
          <a:xfrm xmlns:a="http://schemas.openxmlformats.org/drawingml/2006/main" rot="0">
            <a:off x="9334500" y="3067050"/>
            <a:ext cx="2133600" cy="685800"/>
          </a:xfrm>
          <a:prstGeom xmlns:a="http://schemas.openxmlformats.org/drawingml/2006/main" prst="roundRect">
            <a:avLst>
              <a:gd name="adj" fmla="val 11111"/>
            </a:avLst>
          </a:prstGeom>
          <a:solidFill xmlns:a="http://schemas.openxmlformats.org/drawingml/2006/main">
            <a:srgbClr val="F3EEF8"/>
          </a:solidFill>
          <a:ln xmlns:a="http://schemas.openxmlformats.org/drawingml/2006/main" w="14288">
            <a:solidFill>
              <a:srgbClr val="684F82"/>
            </a:solidFill>
            <a:prstDash val="solid"/>
          </a:ln>
        </p:spPr>
      </p:sp>
      <p:sp>
        <p:nvSpPr>
          <p:cNvPr id="23" name="">
            <a:extLst xmlns:a="http://schemas.openxmlformats.org/drawingml/2006/main">
              <a:ext uri="{FF2B5EF4-FFF2-40B4-BE49-F238E27FC236}">
                <a16:creationId xmlns:a16="http://schemas.microsoft.com/office/drawing/2014/main" id="{E3F381F0-4EF9-4ECB-9183-4268D79209C2}"/>
              </a:ext>
            </a:extLst>
          </p:cNvPr>
          <p:cNvSpPr>
            <a:spLocks xmlns:a="http://schemas.openxmlformats.org/drawingml/2006/main" noGrp="1"/>
          </p:cNvSpPr>
          <p:nvPr/>
        </p:nvSpPr>
        <p:spPr>
          <a:xfrm xmlns:a="http://schemas.openxmlformats.org/drawingml/2006/main" rot="0">
            <a:off x="9505950" y="31813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956"/>
          </a:bodyPr>
          <a:lstStyle xmlns:a="http://schemas.openxmlformats.org/drawingml/2006/main"/>
          <a:p xmlns:a="http://schemas.openxmlformats.org/drawingml/2006/main">
            <a:pPr algn="l">
              <a:defRPr sz="1725" b="1" i="0">
                <a:solidFill>
                  <a:srgbClr val="684F82"/>
                </a:solidFill>
                <a:latin typeface="Helvetica Neue"/>
                <a:ea typeface="Helvetica Neue"/>
                <a:cs typeface="Helvetica Neue"/>
              </a:defRPr>
            </a:pPr>
            <a:r>
              <a:rPr sz="1725" b="1" i="0">
                <a:solidFill>
                  <a:srgbClr val="684F82"/>
                </a:solidFill>
                <a:latin typeface="Helvetica Neue"/>
                <a:ea typeface="Helvetica Neue"/>
                <a:cs typeface="Helvetica Neue"/>
              </a:rPr>
              <a:t>semijoin</a:t>
            </a:r>
          </a:p>
        </p:txBody>
      </p:sp>
      <p:sp>
        <p:nvSpPr>
          <p:cNvPr id="24" name="">
            <a:extLst xmlns:a="http://schemas.openxmlformats.org/drawingml/2006/main">
              <a:ext uri="{FF2B5EF4-FFF2-40B4-BE49-F238E27FC236}">
                <a16:creationId xmlns:a16="http://schemas.microsoft.com/office/drawing/2014/main" id="{1C6674F3-E959-4DD5-A301-68FE022E0B1F}"/>
              </a:ext>
            </a:extLst>
          </p:cNvPr>
          <p:cNvSpPr>
            <a:spLocks xmlns:a="http://schemas.openxmlformats.org/drawingml/2006/main" noGrp="1"/>
          </p:cNvSpPr>
          <p:nvPr/>
        </p:nvSpPr>
        <p:spPr>
          <a:xfrm xmlns:a="http://schemas.openxmlformats.org/drawingml/2006/main" rot="0">
            <a:off x="9505950" y="346710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defRPr sz="1200" b="0" i="0">
                <a:solidFill>
                  <a:srgbClr val="68716B"/>
                </a:solidFill>
                <a:latin typeface="Helvetica Neue"/>
                <a:ea typeface="Helvetica Neue"/>
                <a:cs typeface="Helvetica Neue"/>
              </a:defRPr>
            </a:pPr>
            <a:r>
              <a:rPr sz="1200" b="0" i="0">
                <a:solidFill>
                  <a:srgbClr val="68716B"/>
                </a:solidFill>
                <a:latin typeface="Helvetica Neue"/>
                <a:ea typeface="Helvetica Neue"/>
                <a:cs typeface="Helvetica Neue"/>
              </a:rPr>
              <a:t>reduce · enumerate</a:t>
            </a:r>
          </a:p>
        </p:txBody>
      </p:sp>
      <p:sp>
        <p:nvSpPr>
          <p:cNvPr id="25" name="">
            <a:extLst xmlns:a="http://schemas.openxmlformats.org/drawingml/2006/main">
              <a:ext uri="{FF2B5EF4-FFF2-40B4-BE49-F238E27FC236}">
                <a16:creationId xmlns:a16="http://schemas.microsoft.com/office/drawing/2014/main" id="{AACBE101-E83B-4B70-AD62-F2622CBD4608}"/>
              </a:ext>
            </a:extLst>
          </p:cNvPr>
          <p:cNvSpPr>
            <a:spLocks xmlns:a="http://schemas.openxmlformats.org/drawingml/2006/main" noGrp="1"/>
          </p:cNvSpPr>
          <p:nvPr/>
        </p:nvSpPr>
        <p:spPr>
          <a:xfrm xmlns:a="http://schemas.openxmlformats.org/drawingml/2006/main" rot="0">
            <a:off x="819150" y="4743450"/>
            <a:ext cx="1428750" cy="285750"/>
          </a:xfrm>
          <a:prstGeom xmlns:a="http://schemas.openxmlformats.org/drawingml/2006/main" prst="roundRect">
            <a:avLst>
              <a:gd name="adj" fmla="val 50000"/>
            </a:avLst>
          </a:prstGeom>
          <a:solidFill xmlns:a="http://schemas.openxmlformats.org/drawingml/2006/main">
            <a:srgbClr val="E7F0EF"/>
          </a:solidFill>
          <a:ln xmlns:a="http://schemas.openxmlformats.org/drawingml/2006/main" w="0">
            <a:solidFill>
              <a:srgbClr val="E7F0EF"/>
            </a:solidFill>
            <a:prstDash val="solid"/>
          </a:ln>
        </p:spPr>
      </p:sp>
      <p:sp>
        <p:nvSpPr>
          <p:cNvPr id="26" name="">
            <a:extLst xmlns:a="http://schemas.openxmlformats.org/drawingml/2006/main">
              <a:ext uri="{FF2B5EF4-FFF2-40B4-BE49-F238E27FC236}">
                <a16:creationId xmlns:a16="http://schemas.microsoft.com/office/drawing/2014/main" id="{61C44DFB-DB22-4792-ABFB-1D542EF4ED6A}"/>
              </a:ext>
            </a:extLst>
          </p:cNvPr>
          <p:cNvSpPr>
            <a:spLocks xmlns:a="http://schemas.openxmlformats.org/drawingml/2006/main" noGrp="1"/>
          </p:cNvSpPr>
          <p:nvPr/>
        </p:nvSpPr>
        <p:spPr>
          <a:xfrm xmlns:a="http://schemas.openxmlformats.org/drawingml/2006/main" rot="0">
            <a:off x="933450" y="4810125"/>
            <a:ext cx="1200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176B73"/>
                </a:solidFill>
                <a:latin typeface="Helvetica Neue"/>
                <a:ea typeface="Helvetica Neue"/>
                <a:cs typeface="Helvetica Neue"/>
              </a:defRPr>
            </a:pPr>
            <a:r>
              <a:rPr sz="975" b="1" i="0">
                <a:solidFill>
                  <a:srgbClr val="176B73"/>
                </a:solidFill>
                <a:latin typeface="Helvetica Neue"/>
                <a:ea typeface="Helvetica Neue"/>
                <a:cs typeface="Helvetica Neue"/>
              </a:rPr>
              <a:t>JOIN ORDER</a:t>
            </a:r>
          </a:p>
        </p:txBody>
      </p:sp>
      <p:sp>
        <p:nvSpPr>
          <p:cNvPr id="27" name="">
            <a:extLst xmlns:a="http://schemas.openxmlformats.org/drawingml/2006/main">
              <a:ext uri="{FF2B5EF4-FFF2-40B4-BE49-F238E27FC236}">
                <a16:creationId xmlns:a16="http://schemas.microsoft.com/office/drawing/2014/main" id="{4D8DDE01-9D65-4536-98C8-FEC059332EC6}"/>
              </a:ext>
            </a:extLst>
          </p:cNvPr>
          <p:cNvSpPr>
            <a:spLocks xmlns:a="http://schemas.openxmlformats.org/drawingml/2006/main" noGrp="1"/>
          </p:cNvSpPr>
          <p:nvPr/>
        </p:nvSpPr>
        <p:spPr>
          <a:xfrm xmlns:a="http://schemas.openxmlformats.org/drawingml/2006/main" rot="0">
            <a:off x="2628900" y="4743450"/>
            <a:ext cx="1428750" cy="285750"/>
          </a:xfrm>
          <a:prstGeom xmlns:a="http://schemas.openxmlformats.org/drawingml/2006/main" prst="roundRect">
            <a:avLst>
              <a:gd name="adj" fmla="val 50000"/>
            </a:avLst>
          </a:prstGeom>
          <a:solidFill xmlns:a="http://schemas.openxmlformats.org/drawingml/2006/main">
            <a:srgbClr val="F8EEE9"/>
          </a:solidFill>
          <a:ln xmlns:a="http://schemas.openxmlformats.org/drawingml/2006/main" w="0">
            <a:solidFill>
              <a:srgbClr val="F8EEE9"/>
            </a:solidFill>
            <a:prstDash val="solid"/>
          </a:ln>
        </p:spPr>
      </p:sp>
      <p:sp>
        <p:nvSpPr>
          <p:cNvPr id="28" name="">
            <a:extLst xmlns:a="http://schemas.openxmlformats.org/drawingml/2006/main">
              <a:ext uri="{FF2B5EF4-FFF2-40B4-BE49-F238E27FC236}">
                <a16:creationId xmlns:a16="http://schemas.microsoft.com/office/drawing/2014/main" id="{CDA24F75-9719-44F5-9033-5B49837F5565}"/>
              </a:ext>
            </a:extLst>
          </p:cNvPr>
          <p:cNvSpPr>
            <a:spLocks xmlns:a="http://schemas.openxmlformats.org/drawingml/2006/main" noGrp="1"/>
          </p:cNvSpPr>
          <p:nvPr/>
        </p:nvSpPr>
        <p:spPr>
          <a:xfrm xmlns:a="http://schemas.openxmlformats.org/drawingml/2006/main" rot="0">
            <a:off x="2743200" y="4810125"/>
            <a:ext cx="1200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9B4C2F"/>
                </a:solidFill>
                <a:latin typeface="Helvetica Neue"/>
                <a:ea typeface="Helvetica Neue"/>
                <a:cs typeface="Helvetica Neue"/>
              </a:defRPr>
            </a:pPr>
            <a:r>
              <a:rPr sz="975" b="1" i="0">
                <a:solidFill>
                  <a:srgbClr val="9B4C2F"/>
                </a:solidFill>
                <a:latin typeface="Helvetica Neue"/>
                <a:ea typeface="Helvetica Neue"/>
                <a:cs typeface="Helvetica Neue"/>
              </a:rPr>
              <a:t>INDEXES</a:t>
            </a:r>
          </a:p>
        </p:txBody>
      </p:sp>
      <p:sp>
        <p:nvSpPr>
          <p:cNvPr id="29" name="">
            <a:extLst xmlns:a="http://schemas.openxmlformats.org/drawingml/2006/main">
              <a:ext uri="{FF2B5EF4-FFF2-40B4-BE49-F238E27FC236}">
                <a16:creationId xmlns:a16="http://schemas.microsoft.com/office/drawing/2014/main" id="{E7300C19-3DBA-492C-951D-880FC97124D2}"/>
              </a:ext>
            </a:extLst>
          </p:cNvPr>
          <p:cNvSpPr>
            <a:spLocks xmlns:a="http://schemas.openxmlformats.org/drawingml/2006/main" noGrp="1"/>
          </p:cNvSpPr>
          <p:nvPr/>
        </p:nvSpPr>
        <p:spPr>
          <a:xfrm xmlns:a="http://schemas.openxmlformats.org/drawingml/2006/main" rot="0">
            <a:off x="4438650" y="4743450"/>
            <a:ext cx="1428750" cy="285750"/>
          </a:xfrm>
          <a:prstGeom xmlns:a="http://schemas.openxmlformats.org/drawingml/2006/main" prst="roundRect">
            <a:avLst>
              <a:gd name="adj" fmla="val 50000"/>
            </a:avLst>
          </a:prstGeom>
          <a:solidFill xmlns:a="http://schemas.openxmlformats.org/drawingml/2006/main">
            <a:srgbClr val="E7F0EF"/>
          </a:solidFill>
          <a:ln xmlns:a="http://schemas.openxmlformats.org/drawingml/2006/main" w="0">
            <a:solidFill>
              <a:srgbClr val="E7F0EF"/>
            </a:solidFill>
            <a:prstDash val="solid"/>
          </a:ln>
        </p:spPr>
      </p:sp>
      <p:sp>
        <p:nvSpPr>
          <p:cNvPr id="30" name="">
            <a:extLst xmlns:a="http://schemas.openxmlformats.org/drawingml/2006/main">
              <a:ext uri="{FF2B5EF4-FFF2-40B4-BE49-F238E27FC236}">
                <a16:creationId xmlns:a16="http://schemas.microsoft.com/office/drawing/2014/main" id="{55453F8A-04F1-48D0-945E-931F3DEB84CB}"/>
              </a:ext>
            </a:extLst>
          </p:cNvPr>
          <p:cNvSpPr>
            <a:spLocks xmlns:a="http://schemas.openxmlformats.org/drawingml/2006/main" noGrp="1"/>
          </p:cNvSpPr>
          <p:nvPr/>
        </p:nvSpPr>
        <p:spPr>
          <a:xfrm xmlns:a="http://schemas.openxmlformats.org/drawingml/2006/main" rot="0">
            <a:off x="4552950" y="4810125"/>
            <a:ext cx="1200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176B73"/>
                </a:solidFill>
                <a:latin typeface="Helvetica Neue"/>
                <a:ea typeface="Helvetica Neue"/>
                <a:cs typeface="Helvetica Neue"/>
              </a:defRPr>
            </a:pPr>
            <a:r>
              <a:rPr sz="975" b="1" i="0">
                <a:solidFill>
                  <a:srgbClr val="176B73"/>
                </a:solidFill>
                <a:latin typeface="Helvetica Neue"/>
                <a:ea typeface="Helvetica Neue"/>
                <a:cs typeface="Helvetica Neue"/>
              </a:rPr>
              <a:t>CONTROL</a:t>
            </a:r>
          </a:p>
        </p:txBody>
      </p:sp>
      <p:sp>
        <p:nvSpPr>
          <p:cNvPr id="31" name="">
            <a:extLst xmlns:a="http://schemas.openxmlformats.org/drawingml/2006/main">
              <a:ext uri="{FF2B5EF4-FFF2-40B4-BE49-F238E27FC236}">
                <a16:creationId xmlns:a16="http://schemas.microsoft.com/office/drawing/2014/main" id="{B6F8DB99-A6DB-411A-9E9C-EBA2EED67DBB}"/>
              </a:ext>
            </a:extLst>
          </p:cNvPr>
          <p:cNvSpPr>
            <a:spLocks xmlns:a="http://schemas.openxmlformats.org/drawingml/2006/main" noGrp="1"/>
          </p:cNvSpPr>
          <p:nvPr/>
        </p:nvSpPr>
        <p:spPr>
          <a:xfrm xmlns:a="http://schemas.openxmlformats.org/drawingml/2006/main" rot="0">
            <a:off x="6248400" y="4743450"/>
            <a:ext cx="1428750" cy="285750"/>
          </a:xfrm>
          <a:prstGeom xmlns:a="http://schemas.openxmlformats.org/drawingml/2006/main" prst="roundRect">
            <a:avLst>
              <a:gd name="adj" fmla="val 50000"/>
            </a:avLst>
          </a:prstGeom>
          <a:solidFill xmlns:a="http://schemas.openxmlformats.org/drawingml/2006/main">
            <a:srgbClr val="F8EEE9"/>
          </a:solidFill>
          <a:ln xmlns:a="http://schemas.openxmlformats.org/drawingml/2006/main" w="0">
            <a:solidFill>
              <a:srgbClr val="F8EEE9"/>
            </a:solidFill>
            <a:prstDash val="solid"/>
          </a:ln>
        </p:spPr>
      </p:sp>
      <p:sp>
        <p:nvSpPr>
          <p:cNvPr id="32" name="">
            <a:extLst xmlns:a="http://schemas.openxmlformats.org/drawingml/2006/main">
              <a:ext uri="{FF2B5EF4-FFF2-40B4-BE49-F238E27FC236}">
                <a16:creationId xmlns:a16="http://schemas.microsoft.com/office/drawing/2014/main" id="{D0656021-F51D-4F83-B13D-B701163DFFC7}"/>
              </a:ext>
            </a:extLst>
          </p:cNvPr>
          <p:cNvSpPr>
            <a:spLocks xmlns:a="http://schemas.openxmlformats.org/drawingml/2006/main" noGrp="1"/>
          </p:cNvSpPr>
          <p:nvPr/>
        </p:nvSpPr>
        <p:spPr>
          <a:xfrm xmlns:a="http://schemas.openxmlformats.org/drawingml/2006/main" rot="0">
            <a:off x="6362700" y="4810125"/>
            <a:ext cx="1200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9B4C2F"/>
                </a:solidFill>
                <a:latin typeface="Helvetica Neue"/>
                <a:ea typeface="Helvetica Neue"/>
                <a:cs typeface="Helvetica Neue"/>
              </a:defRPr>
            </a:pPr>
            <a:r>
              <a:rPr sz="975" b="1" i="0">
                <a:solidFill>
                  <a:srgbClr val="9B4C2F"/>
                </a:solidFill>
                <a:latin typeface="Helvetica Neue"/>
                <a:ea typeface="Helvetica Neue"/>
                <a:cs typeface="Helvetica Neue"/>
              </a:rPr>
              <a:t>PARALLELISM</a:t>
            </a:r>
          </a:p>
        </p:txBody>
      </p:sp>
      <p:sp>
        <p:nvSpPr>
          <p:cNvPr id="33" name="">
            <a:extLst xmlns:a="http://schemas.openxmlformats.org/drawingml/2006/main">
              <a:ext uri="{FF2B5EF4-FFF2-40B4-BE49-F238E27FC236}">
                <a16:creationId xmlns:a16="http://schemas.microsoft.com/office/drawing/2014/main" id="{388819ED-0FC8-451A-80CE-8EBED42A0AC2}"/>
              </a:ext>
            </a:extLst>
          </p:cNvPr>
          <p:cNvSpPr>
            <a:spLocks xmlns:a="http://schemas.openxmlformats.org/drawingml/2006/main" noGrp="1"/>
          </p:cNvSpPr>
          <p:nvPr/>
        </p:nvSpPr>
        <p:spPr>
          <a:xfrm xmlns:a="http://schemas.openxmlformats.org/drawingml/2006/main" rot="0">
            <a:off x="8058150" y="4743450"/>
            <a:ext cx="1428750" cy="285750"/>
          </a:xfrm>
          <a:prstGeom xmlns:a="http://schemas.openxmlformats.org/drawingml/2006/main" prst="roundRect">
            <a:avLst>
              <a:gd name="adj" fmla="val 50000"/>
            </a:avLst>
          </a:prstGeom>
          <a:solidFill xmlns:a="http://schemas.openxmlformats.org/drawingml/2006/main">
            <a:srgbClr val="E7F0EF"/>
          </a:solidFill>
          <a:ln xmlns:a="http://schemas.openxmlformats.org/drawingml/2006/main" w="0">
            <a:solidFill>
              <a:srgbClr val="E7F0EF"/>
            </a:solidFill>
            <a:prstDash val="solid"/>
          </a:ln>
        </p:spPr>
      </p:sp>
      <p:sp>
        <p:nvSpPr>
          <p:cNvPr id="34" name="">
            <a:extLst xmlns:a="http://schemas.openxmlformats.org/drawingml/2006/main">
              <a:ext uri="{FF2B5EF4-FFF2-40B4-BE49-F238E27FC236}">
                <a16:creationId xmlns:a16="http://schemas.microsoft.com/office/drawing/2014/main" id="{396F0DDE-3F03-4015-98E5-E49B09FF8345}"/>
              </a:ext>
            </a:extLst>
          </p:cNvPr>
          <p:cNvSpPr>
            <a:spLocks xmlns:a="http://schemas.openxmlformats.org/drawingml/2006/main" noGrp="1"/>
          </p:cNvSpPr>
          <p:nvPr/>
        </p:nvSpPr>
        <p:spPr>
          <a:xfrm xmlns:a="http://schemas.openxmlformats.org/drawingml/2006/main" rot="0">
            <a:off x="8172450" y="4810125"/>
            <a:ext cx="1200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176B73"/>
                </a:solidFill>
                <a:latin typeface="Helvetica Neue"/>
                <a:ea typeface="Helvetica Neue"/>
                <a:cs typeface="Helvetica Neue"/>
              </a:defRPr>
            </a:pPr>
            <a:r>
              <a:rPr sz="975" b="1" i="0">
                <a:solidFill>
                  <a:srgbClr val="176B73"/>
                </a:solidFill>
                <a:latin typeface="Helvetica Neue"/>
                <a:ea typeface="Helvetica Neue"/>
                <a:cs typeface="Helvetica Neue"/>
              </a:rPr>
              <a:t>DEVICE</a:t>
            </a:r>
          </a:p>
        </p:txBody>
      </p:sp>
      <p:sp>
        <p:nvSpPr>
          <p:cNvPr id="35" name="">
            <a:extLst xmlns:a="http://schemas.openxmlformats.org/drawingml/2006/main">
              <a:ext uri="{FF2B5EF4-FFF2-40B4-BE49-F238E27FC236}">
                <a16:creationId xmlns:a16="http://schemas.microsoft.com/office/drawing/2014/main" id="{96370509-B18F-48AB-9AA1-9C74CA75022C}"/>
              </a:ext>
            </a:extLst>
          </p:cNvPr>
          <p:cNvSpPr>
            <a:spLocks xmlns:a="http://schemas.openxmlformats.org/drawingml/2006/main" noGrp="1"/>
          </p:cNvSpPr>
          <p:nvPr/>
        </p:nvSpPr>
        <p:spPr>
          <a:xfrm xmlns:a="http://schemas.openxmlformats.org/drawingml/2006/main" rot="0">
            <a:off x="9867900" y="4743450"/>
            <a:ext cx="1428750" cy="285750"/>
          </a:xfrm>
          <a:prstGeom xmlns:a="http://schemas.openxmlformats.org/drawingml/2006/main" prst="roundRect">
            <a:avLst>
              <a:gd name="adj" fmla="val 50000"/>
            </a:avLst>
          </a:prstGeom>
          <a:solidFill xmlns:a="http://schemas.openxmlformats.org/drawingml/2006/main">
            <a:srgbClr val="F8EEE9"/>
          </a:solidFill>
          <a:ln xmlns:a="http://schemas.openxmlformats.org/drawingml/2006/main" w="0">
            <a:solidFill>
              <a:srgbClr val="F8EEE9"/>
            </a:solidFill>
            <a:prstDash val="solid"/>
          </a:ln>
        </p:spPr>
      </p:sp>
      <p:sp>
        <p:nvSpPr>
          <p:cNvPr id="36" name="">
            <a:extLst xmlns:a="http://schemas.openxmlformats.org/drawingml/2006/main">
              <a:ext uri="{FF2B5EF4-FFF2-40B4-BE49-F238E27FC236}">
                <a16:creationId xmlns:a16="http://schemas.microsoft.com/office/drawing/2014/main" id="{272DE9FE-7FBF-4523-9DB8-EC637F66D612}"/>
              </a:ext>
            </a:extLst>
          </p:cNvPr>
          <p:cNvSpPr>
            <a:spLocks xmlns:a="http://schemas.openxmlformats.org/drawingml/2006/main" noGrp="1"/>
          </p:cNvSpPr>
          <p:nvPr/>
        </p:nvSpPr>
        <p:spPr>
          <a:xfrm xmlns:a="http://schemas.openxmlformats.org/drawingml/2006/main" rot="0">
            <a:off x="9982200" y="4810125"/>
            <a:ext cx="1200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9B4C2F"/>
                </a:solidFill>
                <a:latin typeface="Helvetica Neue"/>
                <a:ea typeface="Helvetica Neue"/>
                <a:cs typeface="Helvetica Neue"/>
              </a:defRPr>
            </a:pPr>
            <a:r>
              <a:rPr sz="975" b="1" i="0">
                <a:solidFill>
                  <a:srgbClr val="9B4C2F"/>
                </a:solidFill>
                <a:latin typeface="Helvetica Neue"/>
                <a:ea typeface="Helvetica Neue"/>
                <a:cs typeface="Helvetica Neue"/>
              </a:rPr>
              <a:t>MATERIALIZATION</a:t>
            </a:r>
          </a:p>
        </p:txBody>
      </p:sp>
      <p:sp>
        <p:nvSpPr>
          <p:cNvPr id="37" name="">
            <a:extLst xmlns:a="http://schemas.openxmlformats.org/drawingml/2006/main">
              <a:ext uri="{FF2B5EF4-FFF2-40B4-BE49-F238E27FC236}">
                <a16:creationId xmlns:a16="http://schemas.microsoft.com/office/drawing/2014/main" id="{EA06B368-6330-4E0E-AD9B-C77067387273}"/>
              </a:ext>
            </a:extLst>
          </p:cNvPr>
          <p:cNvSpPr>
            <a:spLocks xmlns:a="http://schemas.openxmlformats.org/drawingml/2006/main" noGrp="1"/>
          </p:cNvSpPr>
          <p:nvPr/>
        </p:nvSpPr>
        <p:spPr>
          <a:xfrm xmlns:a="http://schemas.openxmlformats.org/drawingml/2006/main" rot="0">
            <a:off x="1047750" y="5467350"/>
            <a:ext cx="1009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777"/>
          </a:bodyPr>
          <a:lstStyle xmlns:a="http://schemas.openxmlformats.org/drawingml/2006/main"/>
          <a:p xmlns:a="http://schemas.openxmlformats.org/drawingml/2006/main">
            <a:pPr algn="ctr">
              <a:defRPr sz="2100" b="0" i="0">
                <a:solidFill>
                  <a:srgbClr val="202522"/>
                </a:solidFill>
                <a:latin typeface="Helvetica Neue"/>
                <a:ea typeface="Helvetica Neue"/>
                <a:cs typeface="Helvetica Neue"/>
              </a:defRPr>
            </a:pPr>
            <a:r>
              <a:rPr sz="2100" b="0" i="0">
                <a:solidFill>
                  <a:srgbClr val="202522"/>
                </a:solidFill>
                <a:latin typeface="Helvetica Neue"/>
                <a:ea typeface="Helvetica Neue"/>
                <a:cs typeface="Helvetica Neue"/>
              </a:rPr>
              <a:t>The query says what must be true. The compiler decides how the machine will make it true.</a:t>
            </a:r>
          </a:p>
        </p:txBody>
      </p:sp>
    </p:spTree>
    <p:extLst>
      <p:ext uri="{BB962C8B-B14F-4D97-AF65-F5344CB8AC3E}">
        <p14:creationId xmlns:p14="http://schemas.microsoft.com/office/powerpoint/2010/main" val="279562288"/>
      </p:ext>
    </p:extLst>
  </p:cSld>
</p:sld>
</file>

<file path=ppt/slides/slide9.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A9F9D57-7A7B-49A6-B51D-5A5C2ADC4F5E}"/>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9B4C2F"/>
          </a:solidFill>
          <a:ln xmlns:a="http://schemas.openxmlformats.org/drawingml/2006/main" w="0">
            <a:solidFill>
              <a:srgbClr val="9B4C2F"/>
            </a:solidFill>
            <a:prstDash val="solid"/>
          </a:ln>
        </p:spPr>
      </p:sp>
      <p:sp>
        <p:nvSpPr>
          <p:cNvPr id="2" name="">
            <a:extLst xmlns:a="http://schemas.openxmlformats.org/drawingml/2006/main">
              <a:ext uri="{FF2B5EF4-FFF2-40B4-BE49-F238E27FC236}">
                <a16:creationId xmlns:a16="http://schemas.microsoft.com/office/drawing/2014/main" id="{B07886C6-9695-45B1-975F-9E26502A453F}"/>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9B4C2F"/>
                </a:solidFill>
                <a:latin typeface="Helvetica Neue"/>
                <a:ea typeface="Helvetica Neue"/>
                <a:cs typeface="Helvetica Neue"/>
              </a:defRPr>
            </a:pPr>
            <a:r>
              <a:rPr sz="1050" b="1" i="0">
                <a:solidFill>
                  <a:srgbClr val="9B4C2F"/>
                </a:solidFill>
                <a:latin typeface="Helvetica Neue"/>
                <a:ea typeface="Helvetica Neue"/>
                <a:cs typeface="Helvetica Neue"/>
              </a:rPr>
              <a:t>THE MISSING PIECES ARE THE COURSE</a:t>
            </a:r>
          </a:p>
        </p:txBody>
      </p:sp>
      <p:sp>
        <p:nvSpPr>
          <p:cNvPr id="3" name="">
            <a:extLst xmlns:a="http://schemas.openxmlformats.org/drawingml/2006/main">
              <a:ext uri="{FF2B5EF4-FFF2-40B4-BE49-F238E27FC236}">
                <a16:creationId xmlns:a16="http://schemas.microsoft.com/office/drawing/2014/main" id="{63B02ECE-7881-4D9D-A419-69A9B4ABA3DD}"/>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A query is a program with control decisions left open</a:t>
            </a:r>
          </a:p>
        </p:txBody>
      </p:sp>
      <p:sp>
        <p:nvSpPr>
          <p:cNvPr id="4" name="">
            <a:extLst xmlns:a="http://schemas.openxmlformats.org/drawingml/2006/main">
              <a:ext uri="{FF2B5EF4-FFF2-40B4-BE49-F238E27FC236}">
                <a16:creationId xmlns:a16="http://schemas.microsoft.com/office/drawing/2014/main" id="{4E19F63F-5233-49A9-8257-F81AC682E6B9}"/>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917DF240-0CD2-421E-87AE-C0E6AE2CEAC4}"/>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835ACB03-AEBE-4A9A-9F43-4E22A1381094}"/>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28485DC4-E039-475B-BEC9-B528487D3E3C}"/>
              </a:ext>
            </a:extLst>
          </p:cNvPr>
          <p:cNvSpPr>
            <a:spLocks xmlns:a="http://schemas.openxmlformats.org/drawingml/2006/main" noGrp="1"/>
          </p:cNvSpPr>
          <p:nvPr/>
        </p:nvSpPr>
        <p:spPr>
          <a:xfrm xmlns:a="http://schemas.openxmlformats.org/drawingml/2006/main" rot="0">
            <a:off x="704850" y="1714500"/>
            <a:ext cx="3714750" cy="2571750"/>
          </a:xfrm>
          <a:prstGeom xmlns:a="http://schemas.openxmlformats.org/drawingml/2006/main" prst="roundRect">
            <a:avLst>
              <a:gd name="adj" fmla="val 3704"/>
            </a:avLst>
          </a:prstGeom>
          <a:solidFill xmlns:a="http://schemas.openxmlformats.org/drawingml/2006/main">
            <a:srgbClr val="161A18"/>
          </a:solidFill>
          <a:ln xmlns:a="http://schemas.openxmlformats.org/drawingml/2006/main" w="9525">
            <a:solidFill>
              <a:srgbClr val="161A18"/>
            </a:solidFill>
            <a:prstDash val="solid"/>
          </a:ln>
        </p:spPr>
      </p:sp>
      <p:sp>
        <p:nvSpPr>
          <p:cNvPr id="8" name="">
            <a:extLst xmlns:a="http://schemas.openxmlformats.org/drawingml/2006/main">
              <a:ext uri="{FF2B5EF4-FFF2-40B4-BE49-F238E27FC236}">
                <a16:creationId xmlns:a16="http://schemas.microsoft.com/office/drawing/2014/main" id="{C6C46DAD-7804-4721-BFF2-0E6B76BF1F9F}"/>
              </a:ext>
            </a:extLst>
          </p:cNvPr>
          <p:cNvSpPr>
            <a:spLocks xmlns:a="http://schemas.openxmlformats.org/drawingml/2006/main" noGrp="1"/>
          </p:cNvSpPr>
          <p:nvPr/>
        </p:nvSpPr>
        <p:spPr>
          <a:xfrm xmlns:a="http://schemas.openxmlformats.org/drawingml/2006/main" rot="0">
            <a:off x="876300" y="1866900"/>
            <a:ext cx="33718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0" i="0">
                <a:solidFill>
                  <a:srgbClr val="FFFDF7"/>
                </a:solidFill>
                <a:latin typeface="SFMono-Regular"/>
                <a:ea typeface="SFMono-Regular"/>
                <a:cs typeface="SFMono-Regular"/>
              </a:defRPr>
            </a:pPr>
            <a:r>
              <a:rPr sz="1800" b="0" i="0">
                <a:solidFill>
                  <a:srgbClr val="FFFDF7"/>
                </a:solidFill>
                <a:latin typeface="SFMono-Regular"/>
                <a:ea typeface="SFMono-Regular"/>
                <a:cs typeface="SFMono-Regular"/>
              </a:rPr>
              <a:t>triangle(x, y, z) :-</a:t>
            </a:r>
          </a:p>
          <a:p xmlns:a="http://schemas.openxmlformats.org/drawingml/2006/main">
            <a:pPr algn="l">
              <a:lnSpc>
                <a:spcPct val="108000"/>
              </a:lnSpc>
              <a:buNone/>
              <a:defRPr sz="1800" b="0" i="0">
                <a:solidFill>
                  <a:srgbClr val="FFFDF7"/>
                </a:solidFill>
                <a:latin typeface="SFMono-Regular"/>
                <a:ea typeface="SFMono-Regular"/>
                <a:cs typeface="SFMono-Regular"/>
              </a:defRPr>
            </a:pPr>
            <a:r>
              <a:rPr sz="1800" b="0" i="0">
                <a:solidFill>
                  <a:srgbClr val="FFFDF7"/>
                </a:solidFill>
                <a:latin typeface="SFMono-Regular"/>
                <a:ea typeface="SFMono-Regular"/>
                <a:cs typeface="SFMono-Regular"/>
              </a:rPr>
              <a:t>  R(x, y),</a:t>
            </a:r>
          </a:p>
          <a:p xmlns:a="http://schemas.openxmlformats.org/drawingml/2006/main">
            <a:pPr algn="l">
              <a:lnSpc>
                <a:spcPct val="108000"/>
              </a:lnSpc>
              <a:buNone/>
              <a:defRPr sz="1800" b="0" i="0">
                <a:solidFill>
                  <a:srgbClr val="FFFDF7"/>
                </a:solidFill>
                <a:latin typeface="SFMono-Regular"/>
                <a:ea typeface="SFMono-Regular"/>
                <a:cs typeface="SFMono-Regular"/>
              </a:defRPr>
            </a:pPr>
            <a:r>
              <a:rPr sz="1800" b="0" i="0">
                <a:solidFill>
                  <a:srgbClr val="FFFDF7"/>
                </a:solidFill>
                <a:latin typeface="SFMono-Regular"/>
                <a:ea typeface="SFMono-Regular"/>
                <a:cs typeface="SFMono-Regular"/>
              </a:rPr>
              <a:t>  S(y, z),</a:t>
            </a:r>
          </a:p>
          <a:p xmlns:a="http://schemas.openxmlformats.org/drawingml/2006/main">
            <a:pPr algn="l">
              <a:lnSpc>
                <a:spcPct val="108000"/>
              </a:lnSpc>
              <a:buNone/>
              <a:defRPr sz="1800" b="0" i="0">
                <a:solidFill>
                  <a:srgbClr val="FFFDF7"/>
                </a:solidFill>
                <a:latin typeface="SFMono-Regular"/>
                <a:ea typeface="SFMono-Regular"/>
                <a:cs typeface="SFMono-Regular"/>
              </a:defRPr>
            </a:pPr>
            <a:r>
              <a:rPr sz="1800" b="0" i="0">
                <a:solidFill>
                  <a:srgbClr val="FFFDF7"/>
                </a:solidFill>
                <a:latin typeface="SFMono-Regular"/>
                <a:ea typeface="SFMono-Regular"/>
                <a:cs typeface="SFMono-Regular"/>
              </a:rPr>
              <a:t>  T(z, x).</a:t>
            </a:r>
          </a:p>
        </p:txBody>
      </p:sp>
      <p:sp>
        <p:nvSpPr>
          <p:cNvPr id="9" name="">
            <a:extLst xmlns:a="http://schemas.openxmlformats.org/drawingml/2006/main">
              <a:ext uri="{FF2B5EF4-FFF2-40B4-BE49-F238E27FC236}">
                <a16:creationId xmlns:a16="http://schemas.microsoft.com/office/drawing/2014/main" id="{9E562DC8-6A7F-449A-B802-6AE29CCE34D1}"/>
              </a:ext>
            </a:extLst>
          </p:cNvPr>
          <p:cNvSpPr>
            <a:spLocks xmlns:a="http://schemas.openxmlformats.org/drawingml/2006/main" noGrp="1"/>
          </p:cNvSpPr>
          <p:nvPr/>
        </p:nvSpPr>
        <p:spPr>
          <a:xfrm xmlns:a="http://schemas.openxmlformats.org/drawingml/2006/main" rot="0">
            <a:off x="800100" y="4591050"/>
            <a:ext cx="3524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176B73"/>
                </a:solidFill>
                <a:latin typeface="Helvetica Neue"/>
                <a:ea typeface="Helvetica Neue"/>
                <a:cs typeface="Helvetica Neue"/>
              </a:defRPr>
            </a:pPr>
            <a:r>
              <a:rPr sz="1800" b="1" i="0">
                <a:solidFill>
                  <a:srgbClr val="176B73"/>
                </a:solidFill>
                <a:latin typeface="Helvetica Neue"/>
                <a:ea typeface="Helvetica Neue"/>
                <a:cs typeface="Helvetica Neue"/>
              </a:rPr>
              <a:t>Meaning is explicit</a:t>
            </a:r>
          </a:p>
        </p:txBody>
      </p:sp>
      <p:sp>
        <p:nvSpPr>
          <p:cNvPr id="10" name="">
            <a:extLst xmlns:a="http://schemas.openxmlformats.org/drawingml/2006/main">
              <a:ext uri="{FF2B5EF4-FFF2-40B4-BE49-F238E27FC236}">
                <a16:creationId xmlns:a16="http://schemas.microsoft.com/office/drawing/2014/main" id="{8BE4A144-D516-4CDB-A3D8-27B1B1CF0A8B}"/>
              </a:ext>
            </a:extLst>
          </p:cNvPr>
          <p:cNvSpPr>
            <a:spLocks xmlns:a="http://schemas.openxmlformats.org/drawingml/2006/main" noGrp="1"/>
          </p:cNvSpPr>
          <p:nvPr/>
        </p:nvSpPr>
        <p:spPr>
          <a:xfrm xmlns:a="http://schemas.openxmlformats.org/drawingml/2006/main" rot="0">
            <a:off x="4762500" y="2781300"/>
            <a:ext cx="990600" cy="323850"/>
          </a:xfrm>
          <a:prstGeom xmlns:a="http://schemas.openxmlformats.org/drawingml/2006/main" prst="rightArrow">
            <a:avLst/>
          </a:prstGeom>
          <a:solidFill xmlns:a="http://schemas.openxmlformats.org/drawingml/2006/main">
            <a:srgbClr val="9B4C2F"/>
          </a:solidFill>
          <a:ln xmlns:a="http://schemas.openxmlformats.org/drawingml/2006/main" w="0">
            <a:solidFill>
              <a:srgbClr val="9B4C2F"/>
            </a:solidFill>
            <a:prstDash val="solid"/>
          </a:ln>
        </p:spPr>
      </p:sp>
      <p:sp>
        <p:nvSpPr>
          <p:cNvPr id="11" name="">
            <a:extLst xmlns:a="http://schemas.openxmlformats.org/drawingml/2006/main">
              <a:ext uri="{FF2B5EF4-FFF2-40B4-BE49-F238E27FC236}">
                <a16:creationId xmlns:a16="http://schemas.microsoft.com/office/drawing/2014/main" id="{80430A89-4F67-469E-981F-2FE58215D6E2}"/>
              </a:ext>
            </a:extLst>
          </p:cNvPr>
          <p:cNvSpPr>
            <a:spLocks xmlns:a="http://schemas.openxmlformats.org/drawingml/2006/main" noGrp="1"/>
          </p:cNvSpPr>
          <p:nvPr/>
        </p:nvSpPr>
        <p:spPr>
          <a:xfrm xmlns:a="http://schemas.openxmlformats.org/drawingml/2006/main" rot="0">
            <a:off x="6191250" y="15811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1800" b="1" i="0">
                <a:solidFill>
                  <a:srgbClr val="202522"/>
                </a:solidFill>
                <a:latin typeface="Helvetica Neue"/>
                <a:ea typeface="Helvetica Neue"/>
                <a:cs typeface="Helvetica Neue"/>
              </a:defRPr>
            </a:pPr>
            <a:r>
              <a:rPr sz="1800" b="1" i="0">
                <a:solidFill>
                  <a:srgbClr val="202522"/>
                </a:solidFill>
                <a:latin typeface="Helvetica Neue"/>
                <a:ea typeface="Helvetica Neue"/>
                <a:cs typeface="Helvetica Neue"/>
              </a:rPr>
              <a:t>Where do rows come from?</a:t>
            </a:r>
          </a:p>
        </p:txBody>
      </p:sp>
      <p:sp>
        <p:nvSpPr>
          <p:cNvPr id="12" name="">
            <a:extLst xmlns:a="http://schemas.openxmlformats.org/drawingml/2006/main">
              <a:ext uri="{FF2B5EF4-FFF2-40B4-BE49-F238E27FC236}">
                <a16:creationId xmlns:a16="http://schemas.microsoft.com/office/drawing/2014/main" id="{E8EDAE29-D7CB-4943-84D5-0B26918219EB}"/>
              </a:ext>
            </a:extLst>
          </p:cNvPr>
          <p:cNvSpPr>
            <a:spLocks xmlns:a="http://schemas.openxmlformats.org/drawingml/2006/main" noGrp="1"/>
          </p:cNvSpPr>
          <p:nvPr/>
        </p:nvSpPr>
        <p:spPr>
          <a:xfrm xmlns:a="http://schemas.openxmlformats.org/drawingml/2006/main" rot="0">
            <a:off x="9658350" y="160020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424"/>
          </a:bodyPr>
          <a:lstStyle xmlns:a="http://schemas.openxmlformats.org/drawingml/2006/main"/>
          <a:p xmlns:a="http://schemas.openxmlformats.org/drawingml/2006/main">
            <a:pPr algn="l">
              <a:defRPr sz="1425" b="0" i="0">
                <a:solidFill>
                  <a:srgbClr val="9B4C2F"/>
                </a:solidFill>
                <a:latin typeface="Helvetica Neue"/>
                <a:ea typeface="Helvetica Neue"/>
                <a:cs typeface="Helvetica Neue"/>
              </a:defRPr>
            </a:pPr>
            <a:r>
              <a:rPr sz="1425" b="0" i="0">
                <a:solidFill>
                  <a:srgbClr val="9B4C2F"/>
                </a:solidFill>
                <a:latin typeface="Helvetica Neue"/>
                <a:ea typeface="Helvetica Neue"/>
                <a:cs typeface="Helvetica Neue"/>
              </a:rPr>
              <a:t>scan / lookup / membership</a:t>
            </a:r>
          </a:p>
        </p:txBody>
      </p:sp>
      <p:sp>
        <p:nvSpPr>
          <p:cNvPr id="13" name="">
            <a:extLst xmlns:a="http://schemas.openxmlformats.org/drawingml/2006/main">
              <a:ext uri="{FF2B5EF4-FFF2-40B4-BE49-F238E27FC236}">
                <a16:creationId xmlns:a16="http://schemas.microsoft.com/office/drawing/2014/main" id="{6B922B6A-97C0-4165-822E-61434D1AB1B2}"/>
              </a:ext>
            </a:extLst>
          </p:cNvPr>
          <p:cNvSpPr>
            <a:spLocks xmlns:a="http://schemas.openxmlformats.org/drawingml/2006/main" noGrp="1"/>
          </p:cNvSpPr>
          <p:nvPr/>
        </p:nvSpPr>
        <p:spPr>
          <a:xfrm xmlns:a="http://schemas.openxmlformats.org/drawingml/2006/main">
            <a:off x="6191250" y="2133600"/>
            <a:ext cx="54483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14" name="">
            <a:extLst xmlns:a="http://schemas.openxmlformats.org/drawingml/2006/main">
              <a:ext uri="{FF2B5EF4-FFF2-40B4-BE49-F238E27FC236}">
                <a16:creationId xmlns:a16="http://schemas.microsoft.com/office/drawing/2014/main" id="{0015E922-C2BD-4D1D-89B4-34FBA6E1A1A6}"/>
              </a:ext>
            </a:extLst>
          </p:cNvPr>
          <p:cNvSpPr>
            <a:spLocks xmlns:a="http://schemas.openxmlformats.org/drawingml/2006/main" noGrp="1"/>
          </p:cNvSpPr>
          <p:nvPr/>
        </p:nvSpPr>
        <p:spPr>
          <a:xfrm xmlns:a="http://schemas.openxmlformats.org/drawingml/2006/main" rot="0">
            <a:off x="6191250" y="24193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1800" b="1" i="0">
                <a:solidFill>
                  <a:srgbClr val="202522"/>
                </a:solidFill>
                <a:latin typeface="Helvetica Neue"/>
                <a:ea typeface="Helvetica Neue"/>
                <a:cs typeface="Helvetica Neue"/>
              </a:defRPr>
            </a:pPr>
            <a:r>
              <a:rPr sz="1800" b="1" i="0">
                <a:solidFill>
                  <a:srgbClr val="202522"/>
                </a:solidFill>
                <a:latin typeface="Helvetica Neue"/>
                <a:ea typeface="Helvetica Neue"/>
                <a:cs typeface="Helvetica Neue"/>
              </a:rPr>
              <a:t>Which bindings appear first?</a:t>
            </a:r>
          </a:p>
        </p:txBody>
      </p:sp>
      <p:sp>
        <p:nvSpPr>
          <p:cNvPr id="15" name="">
            <a:extLst xmlns:a="http://schemas.openxmlformats.org/drawingml/2006/main">
              <a:ext uri="{FF2B5EF4-FFF2-40B4-BE49-F238E27FC236}">
                <a16:creationId xmlns:a16="http://schemas.microsoft.com/office/drawing/2014/main" id="{FAE542DC-C6D7-4E55-A79C-0E26B9BA2515}"/>
              </a:ext>
            </a:extLst>
          </p:cNvPr>
          <p:cNvSpPr>
            <a:spLocks xmlns:a="http://schemas.openxmlformats.org/drawingml/2006/main" noGrp="1"/>
          </p:cNvSpPr>
          <p:nvPr/>
        </p:nvSpPr>
        <p:spPr>
          <a:xfrm xmlns:a="http://schemas.openxmlformats.org/drawingml/2006/main" rot="0">
            <a:off x="9658350" y="243840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9B4C2F"/>
                </a:solidFill>
                <a:latin typeface="Helvetica Neue"/>
                <a:ea typeface="Helvetica Neue"/>
                <a:cs typeface="Helvetica Neue"/>
              </a:defRPr>
            </a:pPr>
            <a:r>
              <a:rPr sz="1425" b="0" i="0">
                <a:solidFill>
                  <a:srgbClr val="9B4C2F"/>
                </a:solidFill>
                <a:latin typeface="Helvetica Neue"/>
                <a:ea typeface="Helvetica Neue"/>
                <a:cs typeface="Helvetica Neue"/>
              </a:rPr>
              <a:t>join + variable order</a:t>
            </a:r>
          </a:p>
        </p:txBody>
      </p:sp>
      <p:sp>
        <p:nvSpPr>
          <p:cNvPr id="16" name="">
            <a:extLst xmlns:a="http://schemas.openxmlformats.org/drawingml/2006/main">
              <a:ext uri="{FF2B5EF4-FFF2-40B4-BE49-F238E27FC236}">
                <a16:creationId xmlns:a16="http://schemas.microsoft.com/office/drawing/2014/main" id="{34AF2DD6-2DDE-4E8A-87CD-0F27FDA3EAB5}"/>
              </a:ext>
            </a:extLst>
          </p:cNvPr>
          <p:cNvSpPr>
            <a:spLocks xmlns:a="http://schemas.openxmlformats.org/drawingml/2006/main" noGrp="1"/>
          </p:cNvSpPr>
          <p:nvPr/>
        </p:nvSpPr>
        <p:spPr>
          <a:xfrm xmlns:a="http://schemas.openxmlformats.org/drawingml/2006/main">
            <a:off x="6191250" y="2971800"/>
            <a:ext cx="54483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17" name="">
            <a:extLst xmlns:a="http://schemas.openxmlformats.org/drawingml/2006/main">
              <a:ext uri="{FF2B5EF4-FFF2-40B4-BE49-F238E27FC236}">
                <a16:creationId xmlns:a16="http://schemas.microsoft.com/office/drawing/2014/main" id="{ED5736DE-A3D8-4668-B701-F74825E37CA9}"/>
              </a:ext>
            </a:extLst>
          </p:cNvPr>
          <p:cNvSpPr>
            <a:spLocks xmlns:a="http://schemas.openxmlformats.org/drawingml/2006/main" noGrp="1"/>
          </p:cNvSpPr>
          <p:nvPr/>
        </p:nvSpPr>
        <p:spPr>
          <a:xfrm xmlns:a="http://schemas.openxmlformats.org/drawingml/2006/main" rot="0">
            <a:off x="6191250" y="32575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1800" b="1" i="0">
                <a:solidFill>
                  <a:srgbClr val="202522"/>
                </a:solidFill>
                <a:latin typeface="Helvetica Neue"/>
                <a:ea typeface="Helvetica Neue"/>
                <a:cs typeface="Helvetica Neue"/>
              </a:defRPr>
            </a:pPr>
            <a:r>
              <a:rPr sz="1800" b="1" i="0">
                <a:solidFill>
                  <a:srgbClr val="202522"/>
                </a:solidFill>
                <a:latin typeface="Helvetica Neue"/>
                <a:ea typeface="Helvetica Neue"/>
                <a:cs typeface="Helvetica Neue"/>
              </a:rPr>
              <a:t>Who asks for the next result?</a:t>
            </a:r>
          </a:p>
        </p:txBody>
      </p:sp>
      <p:sp>
        <p:nvSpPr>
          <p:cNvPr id="18" name="">
            <a:extLst xmlns:a="http://schemas.openxmlformats.org/drawingml/2006/main">
              <a:ext uri="{FF2B5EF4-FFF2-40B4-BE49-F238E27FC236}">
                <a16:creationId xmlns:a16="http://schemas.microsoft.com/office/drawing/2014/main" id="{B77EDF88-D28D-4790-B01A-48850442BAF4}"/>
              </a:ext>
            </a:extLst>
          </p:cNvPr>
          <p:cNvSpPr>
            <a:spLocks xmlns:a="http://schemas.openxmlformats.org/drawingml/2006/main" noGrp="1"/>
          </p:cNvSpPr>
          <p:nvPr/>
        </p:nvSpPr>
        <p:spPr>
          <a:xfrm xmlns:a="http://schemas.openxmlformats.org/drawingml/2006/main" rot="0">
            <a:off x="9658350" y="327660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9B4C2F"/>
                </a:solidFill>
                <a:latin typeface="Helvetica Neue"/>
                <a:ea typeface="Helvetica Neue"/>
                <a:cs typeface="Helvetica Neue"/>
              </a:defRPr>
            </a:pPr>
            <a:r>
              <a:rPr sz="1425" b="0" i="0">
                <a:solidFill>
                  <a:srgbClr val="9B4C2F"/>
                </a:solidFill>
                <a:latin typeface="Helvetica Neue"/>
                <a:ea typeface="Helvetica Neue"/>
                <a:cs typeface="Helvetica Neue"/>
              </a:rPr>
              <a:t>pull / push / dataflow</a:t>
            </a:r>
          </a:p>
        </p:txBody>
      </p:sp>
      <p:sp>
        <p:nvSpPr>
          <p:cNvPr id="19" name="">
            <a:extLst xmlns:a="http://schemas.openxmlformats.org/drawingml/2006/main">
              <a:ext uri="{FF2B5EF4-FFF2-40B4-BE49-F238E27FC236}">
                <a16:creationId xmlns:a16="http://schemas.microsoft.com/office/drawing/2014/main" id="{1C261019-DDFE-4C12-B8AE-5455129FF369}"/>
              </a:ext>
            </a:extLst>
          </p:cNvPr>
          <p:cNvSpPr>
            <a:spLocks xmlns:a="http://schemas.openxmlformats.org/drawingml/2006/main" noGrp="1"/>
          </p:cNvSpPr>
          <p:nvPr/>
        </p:nvSpPr>
        <p:spPr>
          <a:xfrm xmlns:a="http://schemas.openxmlformats.org/drawingml/2006/main">
            <a:off x="6191250" y="3810000"/>
            <a:ext cx="54483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0" name="">
            <a:extLst xmlns:a="http://schemas.openxmlformats.org/drawingml/2006/main">
              <a:ext uri="{FF2B5EF4-FFF2-40B4-BE49-F238E27FC236}">
                <a16:creationId xmlns:a16="http://schemas.microsoft.com/office/drawing/2014/main" id="{2D9BCD2C-E887-42BE-85E1-EAF24A432EC8}"/>
              </a:ext>
            </a:extLst>
          </p:cNvPr>
          <p:cNvSpPr>
            <a:spLocks xmlns:a="http://schemas.openxmlformats.org/drawingml/2006/main" noGrp="1"/>
          </p:cNvSpPr>
          <p:nvPr/>
        </p:nvSpPr>
        <p:spPr>
          <a:xfrm xmlns:a="http://schemas.openxmlformats.org/drawingml/2006/main" rot="0">
            <a:off x="6191250" y="40957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1800" b="1" i="0">
                <a:solidFill>
                  <a:srgbClr val="202522"/>
                </a:solidFill>
                <a:latin typeface="Helvetica Neue"/>
                <a:ea typeface="Helvetica Neue"/>
                <a:cs typeface="Helvetica Neue"/>
              </a:defRPr>
            </a:pPr>
            <a:r>
              <a:rPr sz="1800" b="1" i="0">
                <a:solidFill>
                  <a:srgbClr val="202522"/>
                </a:solidFill>
                <a:latin typeface="Helvetica Neue"/>
                <a:ea typeface="Helvetica Neue"/>
                <a:cs typeface="Helvetica Neue"/>
              </a:rPr>
              <a:t>What bounds the work?</a:t>
            </a:r>
          </a:p>
        </p:txBody>
      </p:sp>
      <p:sp>
        <p:nvSpPr>
          <p:cNvPr id="21" name="">
            <a:extLst xmlns:a="http://schemas.openxmlformats.org/drawingml/2006/main">
              <a:ext uri="{FF2B5EF4-FFF2-40B4-BE49-F238E27FC236}">
                <a16:creationId xmlns:a16="http://schemas.microsoft.com/office/drawing/2014/main" id="{C4163E01-43B2-43CF-911B-FA54051FA657}"/>
              </a:ext>
            </a:extLst>
          </p:cNvPr>
          <p:cNvSpPr>
            <a:spLocks xmlns:a="http://schemas.openxmlformats.org/drawingml/2006/main" noGrp="1"/>
          </p:cNvSpPr>
          <p:nvPr/>
        </p:nvSpPr>
        <p:spPr>
          <a:xfrm xmlns:a="http://schemas.openxmlformats.org/drawingml/2006/main" rot="0">
            <a:off x="9658350" y="411480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745"/>
          </a:bodyPr>
          <a:lstStyle xmlns:a="http://schemas.openxmlformats.org/drawingml/2006/main"/>
          <a:p xmlns:a="http://schemas.openxmlformats.org/drawingml/2006/main">
            <a:pPr algn="l">
              <a:defRPr sz="1425" b="0" i="0">
                <a:solidFill>
                  <a:srgbClr val="684F82"/>
                </a:solidFill>
                <a:latin typeface="Helvetica Neue"/>
                <a:ea typeface="Helvetica Neue"/>
                <a:cs typeface="Helvetica Neue"/>
              </a:defRPr>
            </a:pPr>
            <a:r>
              <a:rPr sz="1425" b="0" i="0">
                <a:solidFill>
                  <a:srgbClr val="684F82"/>
                </a:solidFill>
                <a:latin typeface="Helvetica Neue"/>
                <a:ea typeface="Helvetica Neue"/>
                <a:cs typeface="Helvetica Neue"/>
              </a:rPr>
              <a:t>cardinality / AGM / acyclicity</a:t>
            </a:r>
          </a:p>
        </p:txBody>
      </p:sp>
      <p:sp>
        <p:nvSpPr>
          <p:cNvPr id="22" name="">
            <a:extLst xmlns:a="http://schemas.openxmlformats.org/drawingml/2006/main">
              <a:ext uri="{FF2B5EF4-FFF2-40B4-BE49-F238E27FC236}">
                <a16:creationId xmlns:a16="http://schemas.microsoft.com/office/drawing/2014/main" id="{9DCA38F0-362B-4A54-A6CB-BEEECCE96E48}"/>
              </a:ext>
            </a:extLst>
          </p:cNvPr>
          <p:cNvSpPr>
            <a:spLocks xmlns:a="http://schemas.openxmlformats.org/drawingml/2006/main" noGrp="1"/>
          </p:cNvSpPr>
          <p:nvPr/>
        </p:nvSpPr>
        <p:spPr>
          <a:xfrm xmlns:a="http://schemas.openxmlformats.org/drawingml/2006/main">
            <a:off x="6191250" y="4648200"/>
            <a:ext cx="54483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3" name="">
            <a:extLst xmlns:a="http://schemas.openxmlformats.org/drawingml/2006/main">
              <a:ext uri="{FF2B5EF4-FFF2-40B4-BE49-F238E27FC236}">
                <a16:creationId xmlns:a16="http://schemas.microsoft.com/office/drawing/2014/main" id="{A65695C4-C19F-4B42-B06B-0AF50CFE27C9}"/>
              </a:ext>
            </a:extLst>
          </p:cNvPr>
          <p:cNvSpPr>
            <a:spLocks xmlns:a="http://schemas.openxmlformats.org/drawingml/2006/main" noGrp="1"/>
          </p:cNvSpPr>
          <p:nvPr/>
        </p:nvSpPr>
        <p:spPr>
          <a:xfrm xmlns:a="http://schemas.openxmlformats.org/drawingml/2006/main" rot="0">
            <a:off x="6191250" y="49339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1800" b="1" i="0">
                <a:solidFill>
                  <a:srgbClr val="202522"/>
                </a:solidFill>
                <a:latin typeface="Helvetica Neue"/>
                <a:ea typeface="Helvetica Neue"/>
                <a:cs typeface="Helvetica Neue"/>
              </a:defRPr>
            </a:pPr>
            <a:r>
              <a:rPr sz="1800" b="1" i="0">
                <a:solidFill>
                  <a:srgbClr val="202522"/>
                </a:solidFill>
                <a:latin typeface="Helvetica Neue"/>
                <a:ea typeface="Helvetica Neue"/>
                <a:cs typeface="Helvetica Neue"/>
              </a:rPr>
              <a:t>What changes after recursion?</a:t>
            </a:r>
          </a:p>
        </p:txBody>
      </p:sp>
      <p:sp>
        <p:nvSpPr>
          <p:cNvPr id="24" name="">
            <a:extLst xmlns:a="http://schemas.openxmlformats.org/drawingml/2006/main">
              <a:ext uri="{FF2B5EF4-FFF2-40B4-BE49-F238E27FC236}">
                <a16:creationId xmlns:a16="http://schemas.microsoft.com/office/drawing/2014/main" id="{33499C6B-51B9-4B48-9CCA-E392C3D70785}"/>
              </a:ext>
            </a:extLst>
          </p:cNvPr>
          <p:cNvSpPr>
            <a:spLocks xmlns:a="http://schemas.openxmlformats.org/drawingml/2006/main" noGrp="1"/>
          </p:cNvSpPr>
          <p:nvPr/>
        </p:nvSpPr>
        <p:spPr>
          <a:xfrm xmlns:a="http://schemas.openxmlformats.org/drawingml/2006/main" rot="0">
            <a:off x="9658350" y="495300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684F82"/>
                </a:solidFill>
                <a:latin typeface="Helvetica Neue"/>
                <a:ea typeface="Helvetica Neue"/>
                <a:cs typeface="Helvetica Neue"/>
              </a:defRPr>
            </a:pPr>
            <a:r>
              <a:rPr sz="1425" b="0" i="0">
                <a:solidFill>
                  <a:srgbClr val="684F82"/>
                </a:solidFill>
                <a:latin typeface="Helvetica Neue"/>
                <a:ea typeface="Helvetica Neue"/>
                <a:cs typeface="Helvetica Neue"/>
              </a:rPr>
              <a:t>full / delta / fixpoint</a:t>
            </a:r>
          </a:p>
        </p:txBody>
      </p:sp>
    </p:spTree>
    <p:extLst>
      <p:ext uri="{BB962C8B-B14F-4D97-AF65-F5344CB8AC3E}">
        <p14:creationId xmlns:p14="http://schemas.microsoft.com/office/powerpoint/2010/main" val="782767536"/>
      </p:ext>
    </p:extLst>
  </p:cSld>
</p:sld>
</file>

<file path=ppt/slides/slide10.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EAD27CE8-19D3-4487-B519-BA2185D849BE}"/>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176B73"/>
          </a:solidFill>
          <a:ln xmlns:a="http://schemas.openxmlformats.org/drawingml/2006/main" w="0">
            <a:solidFill>
              <a:srgbClr val="176B73"/>
            </a:solidFill>
            <a:prstDash val="solid"/>
          </a:ln>
        </p:spPr>
      </p:sp>
      <p:sp>
        <p:nvSpPr>
          <p:cNvPr id="2" name="">
            <a:extLst xmlns:a="http://schemas.openxmlformats.org/drawingml/2006/main">
              <a:ext uri="{FF2B5EF4-FFF2-40B4-BE49-F238E27FC236}">
                <a16:creationId xmlns:a16="http://schemas.microsoft.com/office/drawing/2014/main" id="{EDB584FE-441F-4CDB-85B0-7AEFF619F2BD}"/>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6B73"/>
                </a:solidFill>
                <a:latin typeface="Helvetica Neue"/>
                <a:ea typeface="Helvetica Neue"/>
                <a:cs typeface="Helvetica Neue"/>
              </a:defRPr>
            </a:pPr>
            <a:r>
              <a:rPr sz="1050" b="1" i="0">
                <a:solidFill>
                  <a:srgbClr val="176B73"/>
                </a:solidFill>
                <a:latin typeface="Helvetica Neue"/>
                <a:ea typeface="Helvetica Neue"/>
                <a:cs typeface="Helvetica Neue"/>
              </a:rPr>
              <a:t>A PIPELINE OF NAMED LANGUAGES</a:t>
            </a:r>
          </a:p>
        </p:txBody>
      </p:sp>
      <p:sp>
        <p:nvSpPr>
          <p:cNvPr id="3" name="">
            <a:extLst xmlns:a="http://schemas.openxmlformats.org/drawingml/2006/main">
              <a:ext uri="{FF2B5EF4-FFF2-40B4-BE49-F238E27FC236}">
                <a16:creationId xmlns:a16="http://schemas.microsoft.com/office/drawing/2014/main" id="{F22839C3-37E2-4DE1-A06A-972992C0D356}"/>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Compilation makes each decision inspectable</a:t>
            </a:r>
          </a:p>
        </p:txBody>
      </p:sp>
      <p:sp>
        <p:nvSpPr>
          <p:cNvPr id="4" name="">
            <a:extLst xmlns:a="http://schemas.openxmlformats.org/drawingml/2006/main">
              <a:ext uri="{FF2B5EF4-FFF2-40B4-BE49-F238E27FC236}">
                <a16:creationId xmlns:a16="http://schemas.microsoft.com/office/drawing/2014/main" id="{7AC5A5D0-CB8E-4021-88F0-1CD87E20B705}"/>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51DBADEE-DC82-41A0-B4F2-861040666B42}"/>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CD061B76-BE8F-4314-A8E3-3A9964E21950}"/>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3D800E86-0CC5-4495-81BC-8BD6BE72F02E}"/>
              </a:ext>
            </a:extLst>
          </p:cNvPr>
          <p:cNvSpPr>
            <a:spLocks xmlns:a="http://schemas.openxmlformats.org/drawingml/2006/main" noGrp="1"/>
          </p:cNvSpPr>
          <p:nvPr/>
        </p:nvSpPr>
        <p:spPr>
          <a:xfrm xmlns:a="http://schemas.openxmlformats.org/drawingml/2006/main" rot="0">
            <a:off x="2038350" y="2705100"/>
            <a:ext cx="457200" cy="209550"/>
          </a:xfrm>
          <a:prstGeom xmlns:a="http://schemas.openxmlformats.org/drawingml/2006/main" prst="rightArrow">
            <a:avLst/>
          </a:prstGeom>
          <a:solidFill xmlns:a="http://schemas.openxmlformats.org/drawingml/2006/main">
            <a:srgbClr val="D9D5C9"/>
          </a:solidFill>
          <a:ln xmlns:a="http://schemas.openxmlformats.org/drawingml/2006/main" w="0">
            <a:solidFill>
              <a:srgbClr val="D9D5C9"/>
            </a:solidFill>
            <a:prstDash val="solid"/>
          </a:ln>
        </p:spPr>
      </p:sp>
      <p:sp>
        <p:nvSpPr>
          <p:cNvPr id="8" name="">
            <a:extLst xmlns:a="http://schemas.openxmlformats.org/drawingml/2006/main">
              <a:ext uri="{FF2B5EF4-FFF2-40B4-BE49-F238E27FC236}">
                <a16:creationId xmlns:a16="http://schemas.microsoft.com/office/drawing/2014/main" id="{4689597C-D330-4E97-A4DD-ED794608B50D}"/>
              </a:ext>
            </a:extLst>
          </p:cNvPr>
          <p:cNvSpPr>
            <a:spLocks xmlns:a="http://schemas.openxmlformats.org/drawingml/2006/main" noGrp="1"/>
          </p:cNvSpPr>
          <p:nvPr/>
        </p:nvSpPr>
        <p:spPr>
          <a:xfrm xmlns:a="http://schemas.openxmlformats.org/drawingml/2006/main" rot="0">
            <a:off x="3905250" y="2705100"/>
            <a:ext cx="457200" cy="209550"/>
          </a:xfrm>
          <a:prstGeom xmlns:a="http://schemas.openxmlformats.org/drawingml/2006/main" prst="rightArrow">
            <a:avLst/>
          </a:prstGeom>
          <a:solidFill xmlns:a="http://schemas.openxmlformats.org/drawingml/2006/main">
            <a:srgbClr val="D9D5C9"/>
          </a:solidFill>
          <a:ln xmlns:a="http://schemas.openxmlformats.org/drawingml/2006/main" w="0">
            <a:solidFill>
              <a:srgbClr val="D9D5C9"/>
            </a:solidFill>
            <a:prstDash val="solid"/>
          </a:ln>
        </p:spPr>
      </p:sp>
      <p:sp>
        <p:nvSpPr>
          <p:cNvPr id="9" name="">
            <a:extLst xmlns:a="http://schemas.openxmlformats.org/drawingml/2006/main">
              <a:ext uri="{FF2B5EF4-FFF2-40B4-BE49-F238E27FC236}">
                <a16:creationId xmlns:a16="http://schemas.microsoft.com/office/drawing/2014/main" id="{28C00A5C-5886-4B07-B3EC-511270837A00}"/>
              </a:ext>
            </a:extLst>
          </p:cNvPr>
          <p:cNvSpPr>
            <a:spLocks xmlns:a="http://schemas.openxmlformats.org/drawingml/2006/main" noGrp="1"/>
          </p:cNvSpPr>
          <p:nvPr/>
        </p:nvSpPr>
        <p:spPr>
          <a:xfrm xmlns:a="http://schemas.openxmlformats.org/drawingml/2006/main" rot="0">
            <a:off x="5772150" y="2705100"/>
            <a:ext cx="457200" cy="209550"/>
          </a:xfrm>
          <a:prstGeom xmlns:a="http://schemas.openxmlformats.org/drawingml/2006/main" prst="rightArrow">
            <a:avLst/>
          </a:prstGeom>
          <a:solidFill xmlns:a="http://schemas.openxmlformats.org/drawingml/2006/main">
            <a:srgbClr val="D9D5C9"/>
          </a:solidFill>
          <a:ln xmlns:a="http://schemas.openxmlformats.org/drawingml/2006/main" w="0">
            <a:solidFill>
              <a:srgbClr val="D9D5C9"/>
            </a:solidFill>
            <a:prstDash val="solid"/>
          </a:ln>
        </p:spPr>
      </p:sp>
      <p:sp>
        <p:nvSpPr>
          <p:cNvPr id="10" name="">
            <a:extLst xmlns:a="http://schemas.openxmlformats.org/drawingml/2006/main">
              <a:ext uri="{FF2B5EF4-FFF2-40B4-BE49-F238E27FC236}">
                <a16:creationId xmlns:a16="http://schemas.microsoft.com/office/drawing/2014/main" id="{B03B10DA-6E03-4825-BEB7-DE36949E83EC}"/>
              </a:ext>
            </a:extLst>
          </p:cNvPr>
          <p:cNvSpPr>
            <a:spLocks xmlns:a="http://schemas.openxmlformats.org/drawingml/2006/main" noGrp="1"/>
          </p:cNvSpPr>
          <p:nvPr/>
        </p:nvSpPr>
        <p:spPr>
          <a:xfrm xmlns:a="http://schemas.openxmlformats.org/drawingml/2006/main" rot="0">
            <a:off x="7639050" y="2705100"/>
            <a:ext cx="457200" cy="209550"/>
          </a:xfrm>
          <a:prstGeom xmlns:a="http://schemas.openxmlformats.org/drawingml/2006/main" prst="rightArrow">
            <a:avLst/>
          </a:prstGeom>
          <a:solidFill xmlns:a="http://schemas.openxmlformats.org/drawingml/2006/main">
            <a:srgbClr val="D9D5C9"/>
          </a:solidFill>
          <a:ln xmlns:a="http://schemas.openxmlformats.org/drawingml/2006/main" w="0">
            <a:solidFill>
              <a:srgbClr val="D9D5C9"/>
            </a:solidFill>
            <a:prstDash val="solid"/>
          </a:ln>
        </p:spPr>
      </p:sp>
      <p:sp>
        <p:nvSpPr>
          <p:cNvPr id="11" name="">
            <a:extLst xmlns:a="http://schemas.openxmlformats.org/drawingml/2006/main">
              <a:ext uri="{FF2B5EF4-FFF2-40B4-BE49-F238E27FC236}">
                <a16:creationId xmlns:a16="http://schemas.microsoft.com/office/drawing/2014/main" id="{327407FD-D841-43FF-9FB4-2D65E3421DC7}"/>
              </a:ext>
            </a:extLst>
          </p:cNvPr>
          <p:cNvSpPr>
            <a:spLocks xmlns:a="http://schemas.openxmlformats.org/drawingml/2006/main" noGrp="1"/>
          </p:cNvSpPr>
          <p:nvPr/>
        </p:nvSpPr>
        <p:spPr>
          <a:xfrm xmlns:a="http://schemas.openxmlformats.org/drawingml/2006/main" rot="0">
            <a:off x="9505950" y="2705100"/>
            <a:ext cx="457200" cy="209550"/>
          </a:xfrm>
          <a:prstGeom xmlns:a="http://schemas.openxmlformats.org/drawingml/2006/main" prst="rightArrow">
            <a:avLst/>
          </a:prstGeom>
          <a:solidFill xmlns:a="http://schemas.openxmlformats.org/drawingml/2006/main">
            <a:srgbClr val="D9D5C9"/>
          </a:solidFill>
          <a:ln xmlns:a="http://schemas.openxmlformats.org/drawingml/2006/main" w="0">
            <a:solidFill>
              <a:srgbClr val="D9D5C9"/>
            </a:solidFill>
            <a:prstDash val="solid"/>
          </a:ln>
        </p:spPr>
      </p:sp>
      <p:sp>
        <p:nvSpPr>
          <p:cNvPr id="12" name="">
            <a:extLst xmlns:a="http://schemas.openxmlformats.org/drawingml/2006/main">
              <a:ext uri="{FF2B5EF4-FFF2-40B4-BE49-F238E27FC236}">
                <a16:creationId xmlns:a16="http://schemas.microsoft.com/office/drawing/2014/main" id="{142D4B54-8834-4F59-9497-4599040BE42F}"/>
              </a:ext>
            </a:extLst>
          </p:cNvPr>
          <p:cNvSpPr>
            <a:spLocks xmlns:a="http://schemas.openxmlformats.org/drawingml/2006/main" noGrp="1"/>
          </p:cNvSpPr>
          <p:nvPr/>
        </p:nvSpPr>
        <p:spPr>
          <a:xfrm xmlns:a="http://schemas.openxmlformats.org/drawingml/2006/main" rot="0">
            <a:off x="533400" y="2095500"/>
            <a:ext cx="1504950" cy="1428750"/>
          </a:xfrm>
          <a:prstGeom xmlns:a="http://schemas.openxmlformats.org/drawingml/2006/main" prst="roundRect">
            <a:avLst>
              <a:gd name="adj" fmla="val 5333"/>
            </a:avLst>
          </a:prstGeom>
          <a:solidFill xmlns:a="http://schemas.openxmlformats.org/drawingml/2006/main">
            <a:srgbClr val="FFFDF7"/>
          </a:solidFill>
          <a:ln xmlns:a="http://schemas.openxmlformats.org/drawingml/2006/main" w="19050">
            <a:solidFill>
              <a:srgbClr val="176B73"/>
            </a:solidFill>
            <a:prstDash val="solid"/>
          </a:ln>
        </p:spPr>
      </p:sp>
      <p:sp>
        <p:nvSpPr>
          <p:cNvPr id="13" name="">
            <a:extLst xmlns:a="http://schemas.openxmlformats.org/drawingml/2006/main">
              <a:ext uri="{FF2B5EF4-FFF2-40B4-BE49-F238E27FC236}">
                <a16:creationId xmlns:a16="http://schemas.microsoft.com/office/drawing/2014/main" id="{8D79821B-3E3C-4018-A0E7-09F79BEDEFFA}"/>
              </a:ext>
            </a:extLst>
          </p:cNvPr>
          <p:cNvSpPr>
            <a:spLocks xmlns:a="http://schemas.openxmlformats.org/drawingml/2006/main" noGrp="1"/>
          </p:cNvSpPr>
          <p:nvPr/>
        </p:nvSpPr>
        <p:spPr>
          <a:xfrm xmlns:a="http://schemas.openxmlformats.org/drawingml/2006/main" rot="0">
            <a:off x="533400" y="2095500"/>
            <a:ext cx="1504950" cy="114300"/>
          </a:xfrm>
          <a:prstGeom xmlns:a="http://schemas.openxmlformats.org/drawingml/2006/main" prst="rect">
            <a:avLst/>
          </a:prstGeom>
          <a:solidFill xmlns:a="http://schemas.openxmlformats.org/drawingml/2006/main">
            <a:srgbClr val="176B73"/>
          </a:solidFill>
          <a:ln xmlns:a="http://schemas.openxmlformats.org/drawingml/2006/main" w="0">
            <a:solidFill>
              <a:srgbClr val="176B73"/>
            </a:solidFill>
            <a:prstDash val="solid"/>
          </a:ln>
        </p:spPr>
      </p:sp>
      <p:sp>
        <p:nvSpPr>
          <p:cNvPr id="14" name="">
            <a:extLst xmlns:a="http://schemas.openxmlformats.org/drawingml/2006/main">
              <a:ext uri="{FF2B5EF4-FFF2-40B4-BE49-F238E27FC236}">
                <a16:creationId xmlns:a16="http://schemas.microsoft.com/office/drawing/2014/main" id="{50324781-54E4-4B5B-89D4-D15604C6046B}"/>
              </a:ext>
            </a:extLst>
          </p:cNvPr>
          <p:cNvSpPr>
            <a:spLocks xmlns:a="http://schemas.openxmlformats.org/drawingml/2006/main" noGrp="1"/>
          </p:cNvSpPr>
          <p:nvPr/>
        </p:nvSpPr>
        <p:spPr>
          <a:xfrm xmlns:a="http://schemas.openxmlformats.org/drawingml/2006/main" rot="0">
            <a:off x="647700" y="2362200"/>
            <a:ext cx="1276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i="0">
                <a:solidFill>
                  <a:srgbClr val="176B73"/>
                </a:solidFill>
                <a:latin typeface="Helvetica Neue"/>
                <a:ea typeface="Helvetica Neue"/>
                <a:cs typeface="Helvetica Neue"/>
              </a:defRPr>
            </a:pPr>
            <a:r>
              <a:rPr sz="1650" b="1" i="0">
                <a:solidFill>
                  <a:srgbClr val="176B73"/>
                </a:solidFill>
                <a:latin typeface="Helvetica Neue"/>
                <a:ea typeface="Helvetica Neue"/>
                <a:cs typeface="Helvetica Neue"/>
              </a:rPr>
              <a:t>CQ</a:t>
            </a:r>
          </a:p>
        </p:txBody>
      </p:sp>
      <p:sp>
        <p:nvSpPr>
          <p:cNvPr id="15" name="">
            <a:extLst xmlns:a="http://schemas.openxmlformats.org/drawingml/2006/main">
              <a:ext uri="{FF2B5EF4-FFF2-40B4-BE49-F238E27FC236}">
                <a16:creationId xmlns:a16="http://schemas.microsoft.com/office/drawing/2014/main" id="{CC5AEE03-5849-49BF-91A8-7E38F8A3F337}"/>
              </a:ext>
            </a:extLst>
          </p:cNvPr>
          <p:cNvSpPr>
            <a:spLocks xmlns:a="http://schemas.openxmlformats.org/drawingml/2006/main" noGrp="1"/>
          </p:cNvSpPr>
          <p:nvPr/>
        </p:nvSpPr>
        <p:spPr>
          <a:xfrm xmlns:a="http://schemas.openxmlformats.org/drawingml/2006/main" rot="0">
            <a:off x="647700" y="3067050"/>
            <a:ext cx="1276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i="0">
                <a:solidFill>
                  <a:srgbClr val="68716B"/>
                </a:solidFill>
                <a:latin typeface="Helvetica Neue"/>
                <a:ea typeface="Helvetica Neue"/>
                <a:cs typeface="Helvetica Neue"/>
              </a:defRPr>
            </a:pPr>
            <a:r>
              <a:rPr sz="1200" b="0" i="0">
                <a:solidFill>
                  <a:srgbClr val="68716B"/>
                </a:solidFill>
                <a:latin typeface="Helvetica Neue"/>
                <a:ea typeface="Helvetica Neue"/>
                <a:cs typeface="Helvetica Neue"/>
              </a:rPr>
              <a:t>meaning</a:t>
            </a:r>
          </a:p>
        </p:txBody>
      </p:sp>
      <p:sp>
        <p:nvSpPr>
          <p:cNvPr id="16" name="">
            <a:extLst xmlns:a="http://schemas.openxmlformats.org/drawingml/2006/main">
              <a:ext uri="{FF2B5EF4-FFF2-40B4-BE49-F238E27FC236}">
                <a16:creationId xmlns:a16="http://schemas.microsoft.com/office/drawing/2014/main" id="{5FB32D84-0784-45A3-A56C-D7C2B8EC3A84}"/>
              </a:ext>
            </a:extLst>
          </p:cNvPr>
          <p:cNvSpPr>
            <a:spLocks xmlns:a="http://schemas.openxmlformats.org/drawingml/2006/main" noGrp="1"/>
          </p:cNvSpPr>
          <p:nvPr/>
        </p:nvSpPr>
        <p:spPr>
          <a:xfrm xmlns:a="http://schemas.openxmlformats.org/drawingml/2006/main" rot="0">
            <a:off x="2400300" y="2095500"/>
            <a:ext cx="1504950" cy="1428750"/>
          </a:xfrm>
          <a:prstGeom xmlns:a="http://schemas.openxmlformats.org/drawingml/2006/main" prst="roundRect">
            <a:avLst>
              <a:gd name="adj" fmla="val 5333"/>
            </a:avLst>
          </a:prstGeom>
          <a:solidFill xmlns:a="http://schemas.openxmlformats.org/drawingml/2006/main">
            <a:srgbClr val="FFFDF7"/>
          </a:solidFill>
          <a:ln xmlns:a="http://schemas.openxmlformats.org/drawingml/2006/main" w="19050">
            <a:solidFill>
              <a:srgbClr val="684F82"/>
            </a:solidFill>
            <a:prstDash val="solid"/>
          </a:ln>
        </p:spPr>
      </p:sp>
      <p:sp>
        <p:nvSpPr>
          <p:cNvPr id="17" name="">
            <a:extLst xmlns:a="http://schemas.openxmlformats.org/drawingml/2006/main">
              <a:ext uri="{FF2B5EF4-FFF2-40B4-BE49-F238E27FC236}">
                <a16:creationId xmlns:a16="http://schemas.microsoft.com/office/drawing/2014/main" id="{9D66C8A9-0FF0-4CAD-925A-D3CD8FCC7FA5}"/>
              </a:ext>
            </a:extLst>
          </p:cNvPr>
          <p:cNvSpPr>
            <a:spLocks xmlns:a="http://schemas.openxmlformats.org/drawingml/2006/main" noGrp="1"/>
          </p:cNvSpPr>
          <p:nvPr/>
        </p:nvSpPr>
        <p:spPr>
          <a:xfrm xmlns:a="http://schemas.openxmlformats.org/drawingml/2006/main" rot="0">
            <a:off x="2400300" y="2095500"/>
            <a:ext cx="1504950" cy="114300"/>
          </a:xfrm>
          <a:prstGeom xmlns:a="http://schemas.openxmlformats.org/drawingml/2006/main" prst="rect">
            <a:avLst/>
          </a:prstGeom>
          <a:solidFill xmlns:a="http://schemas.openxmlformats.org/drawingml/2006/main">
            <a:srgbClr val="684F82"/>
          </a:solidFill>
          <a:ln xmlns:a="http://schemas.openxmlformats.org/drawingml/2006/main" w="0">
            <a:solidFill>
              <a:srgbClr val="684F82"/>
            </a:solidFill>
            <a:prstDash val="solid"/>
          </a:ln>
        </p:spPr>
      </p:sp>
      <p:sp>
        <p:nvSpPr>
          <p:cNvPr id="18" name="">
            <a:extLst xmlns:a="http://schemas.openxmlformats.org/drawingml/2006/main">
              <a:ext uri="{FF2B5EF4-FFF2-40B4-BE49-F238E27FC236}">
                <a16:creationId xmlns:a16="http://schemas.microsoft.com/office/drawing/2014/main" id="{B236048D-E008-4ED7-B653-4E69BB440491}"/>
              </a:ext>
            </a:extLst>
          </p:cNvPr>
          <p:cNvSpPr>
            <a:spLocks xmlns:a="http://schemas.openxmlformats.org/drawingml/2006/main" noGrp="1"/>
          </p:cNvSpPr>
          <p:nvPr/>
        </p:nvSpPr>
        <p:spPr>
          <a:xfrm xmlns:a="http://schemas.openxmlformats.org/drawingml/2006/main" rot="0">
            <a:off x="2514600" y="2362200"/>
            <a:ext cx="1276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i="0">
                <a:solidFill>
                  <a:srgbClr val="684F82"/>
                </a:solidFill>
                <a:latin typeface="Helvetica Neue"/>
                <a:ea typeface="Helvetica Neue"/>
                <a:cs typeface="Helvetica Neue"/>
              </a:defRPr>
            </a:pPr>
            <a:r>
              <a:rPr sz="1650" b="1" i="0">
                <a:solidFill>
                  <a:srgbClr val="684F82"/>
                </a:solidFill>
                <a:latin typeface="Helvetica Neue"/>
                <a:ea typeface="Helvetica Neue"/>
                <a:cs typeface="Helvetica Neue"/>
              </a:rPr>
              <a:t>Relational</a:t>
            </a:r>
          </a:p>
          <a:p xmlns:a="http://schemas.openxmlformats.org/drawingml/2006/main">
            <a:pPr algn="ctr">
              <a:defRPr sz="1650" b="1" i="0">
                <a:solidFill>
                  <a:srgbClr val="684F82"/>
                </a:solidFill>
                <a:latin typeface="Helvetica Neue"/>
                <a:ea typeface="Helvetica Neue"/>
                <a:cs typeface="Helvetica Neue"/>
              </a:defRPr>
            </a:pPr>
            <a:r>
              <a:rPr sz="1650" b="1" i="0">
                <a:solidFill>
                  <a:srgbClr val="684F82"/>
                </a:solidFill>
                <a:latin typeface="Helvetica Neue"/>
                <a:ea typeface="Helvetica Neue"/>
                <a:cs typeface="Helvetica Neue"/>
              </a:rPr>
              <a:t>Plan</a:t>
            </a:r>
          </a:p>
        </p:txBody>
      </p:sp>
      <p:sp>
        <p:nvSpPr>
          <p:cNvPr id="19" name="">
            <a:extLst xmlns:a="http://schemas.openxmlformats.org/drawingml/2006/main">
              <a:ext uri="{FF2B5EF4-FFF2-40B4-BE49-F238E27FC236}">
                <a16:creationId xmlns:a16="http://schemas.microsoft.com/office/drawing/2014/main" id="{EB9343D1-35DE-44A8-8047-1FD29C473F86}"/>
              </a:ext>
            </a:extLst>
          </p:cNvPr>
          <p:cNvSpPr>
            <a:spLocks xmlns:a="http://schemas.openxmlformats.org/drawingml/2006/main" noGrp="1"/>
          </p:cNvSpPr>
          <p:nvPr/>
        </p:nvSpPr>
        <p:spPr>
          <a:xfrm xmlns:a="http://schemas.openxmlformats.org/drawingml/2006/main" rot="0">
            <a:off x="2514600" y="3067050"/>
            <a:ext cx="1276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i="0">
                <a:solidFill>
                  <a:srgbClr val="68716B"/>
                </a:solidFill>
                <a:latin typeface="Helvetica Neue"/>
                <a:ea typeface="Helvetica Neue"/>
                <a:cs typeface="Helvetica Neue"/>
              </a:defRPr>
            </a:pPr>
            <a:r>
              <a:rPr sz="1200" b="0" i="0">
                <a:solidFill>
                  <a:srgbClr val="68716B"/>
                </a:solidFill>
                <a:latin typeface="Helvetica Neue"/>
                <a:ea typeface="Helvetica Neue"/>
                <a:cs typeface="Helvetica Neue"/>
              </a:rPr>
              <a:t>logical edges</a:t>
            </a:r>
          </a:p>
        </p:txBody>
      </p:sp>
      <p:sp>
        <p:nvSpPr>
          <p:cNvPr id="20" name="">
            <a:extLst xmlns:a="http://schemas.openxmlformats.org/drawingml/2006/main">
              <a:ext uri="{FF2B5EF4-FFF2-40B4-BE49-F238E27FC236}">
                <a16:creationId xmlns:a16="http://schemas.microsoft.com/office/drawing/2014/main" id="{B14DE20A-F0EA-4983-8499-E06D5A3893FA}"/>
              </a:ext>
            </a:extLst>
          </p:cNvPr>
          <p:cNvSpPr>
            <a:spLocks xmlns:a="http://schemas.openxmlformats.org/drawingml/2006/main" noGrp="1"/>
          </p:cNvSpPr>
          <p:nvPr/>
        </p:nvSpPr>
        <p:spPr>
          <a:xfrm xmlns:a="http://schemas.openxmlformats.org/drawingml/2006/main" rot="0">
            <a:off x="4267200" y="2095500"/>
            <a:ext cx="1504950" cy="1428750"/>
          </a:xfrm>
          <a:prstGeom xmlns:a="http://schemas.openxmlformats.org/drawingml/2006/main" prst="roundRect">
            <a:avLst>
              <a:gd name="adj" fmla="val 5333"/>
            </a:avLst>
          </a:prstGeom>
          <a:solidFill xmlns:a="http://schemas.openxmlformats.org/drawingml/2006/main">
            <a:srgbClr val="FFFDF7"/>
          </a:solidFill>
          <a:ln xmlns:a="http://schemas.openxmlformats.org/drawingml/2006/main" w="19050">
            <a:solidFill>
              <a:srgbClr val="8A5A18"/>
            </a:solidFill>
            <a:prstDash val="solid"/>
          </a:ln>
        </p:spPr>
      </p:sp>
      <p:sp>
        <p:nvSpPr>
          <p:cNvPr id="21" name="">
            <a:extLst xmlns:a="http://schemas.openxmlformats.org/drawingml/2006/main">
              <a:ext uri="{FF2B5EF4-FFF2-40B4-BE49-F238E27FC236}">
                <a16:creationId xmlns:a16="http://schemas.microsoft.com/office/drawing/2014/main" id="{E72C32BC-2BA3-421C-A225-5CE4A88C9A82}"/>
              </a:ext>
            </a:extLst>
          </p:cNvPr>
          <p:cNvSpPr>
            <a:spLocks xmlns:a="http://schemas.openxmlformats.org/drawingml/2006/main" noGrp="1"/>
          </p:cNvSpPr>
          <p:nvPr/>
        </p:nvSpPr>
        <p:spPr>
          <a:xfrm xmlns:a="http://schemas.openxmlformats.org/drawingml/2006/main" rot="0">
            <a:off x="4267200" y="2095500"/>
            <a:ext cx="1504950" cy="114300"/>
          </a:xfrm>
          <a:prstGeom xmlns:a="http://schemas.openxmlformats.org/drawingml/2006/main" prst="rect">
            <a:avLst/>
          </a:prstGeom>
          <a:solidFill xmlns:a="http://schemas.openxmlformats.org/drawingml/2006/main">
            <a:srgbClr val="8A5A18"/>
          </a:solidFill>
          <a:ln xmlns:a="http://schemas.openxmlformats.org/drawingml/2006/main" w="0">
            <a:solidFill>
              <a:srgbClr val="8A5A18"/>
            </a:solidFill>
            <a:prstDash val="solid"/>
          </a:ln>
        </p:spPr>
      </p:sp>
      <p:sp>
        <p:nvSpPr>
          <p:cNvPr id="22" name="">
            <a:extLst xmlns:a="http://schemas.openxmlformats.org/drawingml/2006/main">
              <a:ext uri="{FF2B5EF4-FFF2-40B4-BE49-F238E27FC236}">
                <a16:creationId xmlns:a16="http://schemas.microsoft.com/office/drawing/2014/main" id="{240BF191-C8A9-4369-87E9-5849B0F422B3}"/>
              </a:ext>
            </a:extLst>
          </p:cNvPr>
          <p:cNvSpPr>
            <a:spLocks xmlns:a="http://schemas.openxmlformats.org/drawingml/2006/main" noGrp="1"/>
          </p:cNvSpPr>
          <p:nvPr/>
        </p:nvSpPr>
        <p:spPr>
          <a:xfrm xmlns:a="http://schemas.openxmlformats.org/drawingml/2006/main" rot="0">
            <a:off x="4381500" y="2362200"/>
            <a:ext cx="1276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i="0">
                <a:solidFill>
                  <a:srgbClr val="8A5A18"/>
                </a:solidFill>
                <a:latin typeface="Helvetica Neue"/>
                <a:ea typeface="Helvetica Neue"/>
                <a:cs typeface="Helvetica Neue"/>
              </a:defRPr>
            </a:pPr>
            <a:r>
              <a:rPr sz="1350" b="1" i="0">
                <a:solidFill>
                  <a:srgbClr val="8A5A18"/>
                </a:solidFill>
                <a:latin typeface="Helvetica Neue"/>
                <a:ea typeface="Helvetica Neue"/>
                <a:cs typeface="Helvetica Neue"/>
              </a:rPr>
              <a:t>Index</a:t>
            </a:r>
          </a:p>
          <a:p xmlns:a="http://schemas.openxmlformats.org/drawingml/2006/main">
            <a:pPr algn="ctr">
              <a:defRPr sz="1350" b="1" i="0">
                <a:solidFill>
                  <a:srgbClr val="8A5A18"/>
                </a:solidFill>
                <a:latin typeface="Helvetica Neue"/>
                <a:ea typeface="Helvetica Neue"/>
                <a:cs typeface="Helvetica Neue"/>
              </a:defRPr>
            </a:pPr>
            <a:r>
              <a:rPr sz="1350" b="1" i="0">
                <a:solidFill>
                  <a:srgbClr val="8A5A18"/>
                </a:solidFill>
                <a:latin typeface="Helvetica Neue"/>
                <a:ea typeface="Helvetica Neue"/>
                <a:cs typeface="Helvetica Neue"/>
              </a:rPr>
              <a:t>Requirements</a:t>
            </a:r>
          </a:p>
        </p:txBody>
      </p:sp>
      <p:sp>
        <p:nvSpPr>
          <p:cNvPr id="23" name="">
            <a:extLst xmlns:a="http://schemas.openxmlformats.org/drawingml/2006/main">
              <a:ext uri="{FF2B5EF4-FFF2-40B4-BE49-F238E27FC236}">
                <a16:creationId xmlns:a16="http://schemas.microsoft.com/office/drawing/2014/main" id="{044EEAFE-E685-4F81-AF24-859639294C28}"/>
              </a:ext>
            </a:extLst>
          </p:cNvPr>
          <p:cNvSpPr>
            <a:spLocks xmlns:a="http://schemas.openxmlformats.org/drawingml/2006/main" noGrp="1"/>
          </p:cNvSpPr>
          <p:nvPr/>
        </p:nvSpPr>
        <p:spPr>
          <a:xfrm xmlns:a="http://schemas.openxmlformats.org/drawingml/2006/main" rot="0">
            <a:off x="4381500" y="3067050"/>
            <a:ext cx="1276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i="0">
                <a:solidFill>
                  <a:srgbClr val="68716B"/>
                </a:solidFill>
                <a:latin typeface="Helvetica Neue"/>
                <a:ea typeface="Helvetica Neue"/>
                <a:cs typeface="Helvetica Neue"/>
              </a:defRPr>
            </a:pPr>
            <a:r>
              <a:rPr sz="1200" b="0" i="0">
                <a:solidFill>
                  <a:srgbClr val="68716B"/>
                </a:solidFill>
                <a:latin typeface="Helvetica Neue"/>
                <a:ea typeface="Helvetica Neue"/>
                <a:cs typeface="Helvetica Neue"/>
              </a:rPr>
              <a:t>required keys</a:t>
            </a:r>
          </a:p>
        </p:txBody>
      </p:sp>
      <p:sp>
        <p:nvSpPr>
          <p:cNvPr id="24" name="">
            <a:extLst xmlns:a="http://schemas.openxmlformats.org/drawingml/2006/main">
              <a:ext uri="{FF2B5EF4-FFF2-40B4-BE49-F238E27FC236}">
                <a16:creationId xmlns:a16="http://schemas.microsoft.com/office/drawing/2014/main" id="{A0954523-8894-47CF-99CC-CA3FD7529F1F}"/>
              </a:ext>
            </a:extLst>
          </p:cNvPr>
          <p:cNvSpPr>
            <a:spLocks xmlns:a="http://schemas.openxmlformats.org/drawingml/2006/main" noGrp="1"/>
          </p:cNvSpPr>
          <p:nvPr/>
        </p:nvSpPr>
        <p:spPr>
          <a:xfrm xmlns:a="http://schemas.openxmlformats.org/drawingml/2006/main" rot="0">
            <a:off x="6134100" y="2095500"/>
            <a:ext cx="1504950" cy="1428750"/>
          </a:xfrm>
          <a:prstGeom xmlns:a="http://schemas.openxmlformats.org/drawingml/2006/main" prst="roundRect">
            <a:avLst>
              <a:gd name="adj" fmla="val 5333"/>
            </a:avLst>
          </a:prstGeom>
          <a:solidFill xmlns:a="http://schemas.openxmlformats.org/drawingml/2006/main">
            <a:srgbClr val="FFFDF7"/>
          </a:solidFill>
          <a:ln xmlns:a="http://schemas.openxmlformats.org/drawingml/2006/main" w="19050">
            <a:solidFill>
              <a:srgbClr val="9B4C2F"/>
            </a:solidFill>
            <a:prstDash val="solid"/>
          </a:ln>
        </p:spPr>
      </p:sp>
      <p:sp>
        <p:nvSpPr>
          <p:cNvPr id="25" name="">
            <a:extLst xmlns:a="http://schemas.openxmlformats.org/drawingml/2006/main">
              <a:ext uri="{FF2B5EF4-FFF2-40B4-BE49-F238E27FC236}">
                <a16:creationId xmlns:a16="http://schemas.microsoft.com/office/drawing/2014/main" id="{62473282-CB55-4701-BC24-A00919324970}"/>
              </a:ext>
            </a:extLst>
          </p:cNvPr>
          <p:cNvSpPr>
            <a:spLocks xmlns:a="http://schemas.openxmlformats.org/drawingml/2006/main" noGrp="1"/>
          </p:cNvSpPr>
          <p:nvPr/>
        </p:nvSpPr>
        <p:spPr>
          <a:xfrm xmlns:a="http://schemas.openxmlformats.org/drawingml/2006/main" rot="0">
            <a:off x="6134100" y="2095500"/>
            <a:ext cx="1504950" cy="114300"/>
          </a:xfrm>
          <a:prstGeom xmlns:a="http://schemas.openxmlformats.org/drawingml/2006/main" prst="rect">
            <a:avLst/>
          </a:prstGeom>
          <a:solidFill xmlns:a="http://schemas.openxmlformats.org/drawingml/2006/main">
            <a:srgbClr val="9B4C2F"/>
          </a:solidFill>
          <a:ln xmlns:a="http://schemas.openxmlformats.org/drawingml/2006/main" w="0">
            <a:solidFill>
              <a:srgbClr val="9B4C2F"/>
            </a:solidFill>
            <a:prstDash val="solid"/>
          </a:ln>
        </p:spPr>
      </p:sp>
      <p:sp>
        <p:nvSpPr>
          <p:cNvPr id="26" name="">
            <a:extLst xmlns:a="http://schemas.openxmlformats.org/drawingml/2006/main">
              <a:ext uri="{FF2B5EF4-FFF2-40B4-BE49-F238E27FC236}">
                <a16:creationId xmlns:a16="http://schemas.microsoft.com/office/drawing/2014/main" id="{341B5425-3EBC-451E-A189-B090079BAAA1}"/>
              </a:ext>
            </a:extLst>
          </p:cNvPr>
          <p:cNvSpPr>
            <a:spLocks xmlns:a="http://schemas.openxmlformats.org/drawingml/2006/main" noGrp="1"/>
          </p:cNvSpPr>
          <p:nvPr/>
        </p:nvSpPr>
        <p:spPr>
          <a:xfrm xmlns:a="http://schemas.openxmlformats.org/drawingml/2006/main" rot="0">
            <a:off x="6248400" y="2362200"/>
            <a:ext cx="1276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i="0">
                <a:solidFill>
                  <a:srgbClr val="9B4C2F"/>
                </a:solidFill>
                <a:latin typeface="Helvetica Neue"/>
                <a:ea typeface="Helvetica Neue"/>
                <a:cs typeface="Helvetica Neue"/>
              </a:defRPr>
            </a:pPr>
            <a:r>
              <a:rPr sz="1650" b="1" i="0">
                <a:solidFill>
                  <a:srgbClr val="9B4C2F"/>
                </a:solidFill>
                <a:latin typeface="Helvetica Neue"/>
                <a:ea typeface="Helvetica Neue"/>
                <a:cs typeface="Helvetica Neue"/>
              </a:rPr>
              <a:t>Rust Access</a:t>
            </a:r>
          </a:p>
          <a:p xmlns:a="http://schemas.openxmlformats.org/drawingml/2006/main">
            <a:pPr algn="ctr">
              <a:defRPr sz="1650" b="1" i="0">
                <a:solidFill>
                  <a:srgbClr val="9B4C2F"/>
                </a:solidFill>
                <a:latin typeface="Helvetica Neue"/>
                <a:ea typeface="Helvetica Neue"/>
                <a:cs typeface="Helvetica Neue"/>
              </a:defRPr>
            </a:pPr>
            <a:r>
              <a:rPr sz="1650" b="1" i="0">
                <a:solidFill>
                  <a:srgbClr val="9B4C2F"/>
                </a:solidFill>
                <a:latin typeface="Helvetica Neue"/>
                <a:ea typeface="Helvetica Neue"/>
                <a:cs typeface="Helvetica Neue"/>
              </a:rPr>
              <a:t>Plan</a:t>
            </a:r>
          </a:p>
        </p:txBody>
      </p:sp>
      <p:sp>
        <p:nvSpPr>
          <p:cNvPr id="27" name="">
            <a:extLst xmlns:a="http://schemas.openxmlformats.org/drawingml/2006/main">
              <a:ext uri="{FF2B5EF4-FFF2-40B4-BE49-F238E27FC236}">
                <a16:creationId xmlns:a16="http://schemas.microsoft.com/office/drawing/2014/main" id="{7C1DF08E-BE01-400D-A3D2-94CB88D7554F}"/>
              </a:ext>
            </a:extLst>
          </p:cNvPr>
          <p:cNvSpPr>
            <a:spLocks xmlns:a="http://schemas.openxmlformats.org/drawingml/2006/main" noGrp="1"/>
          </p:cNvSpPr>
          <p:nvPr/>
        </p:nvSpPr>
        <p:spPr>
          <a:xfrm xmlns:a="http://schemas.openxmlformats.org/drawingml/2006/main" rot="0">
            <a:off x="6248400" y="3067050"/>
            <a:ext cx="1276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i="0">
                <a:solidFill>
                  <a:srgbClr val="68716B"/>
                </a:solidFill>
                <a:latin typeface="Helvetica Neue"/>
                <a:ea typeface="Helvetica Neue"/>
                <a:cs typeface="Helvetica Neue"/>
              </a:defRPr>
            </a:pPr>
            <a:r>
              <a:rPr sz="1200" b="0" i="0">
                <a:solidFill>
                  <a:srgbClr val="68716B"/>
                </a:solidFill>
                <a:latin typeface="Helvetica Neue"/>
                <a:ea typeface="Helvetica Neue"/>
                <a:cs typeface="Helvetica Neue"/>
              </a:rPr>
              <a:t>concrete access</a:t>
            </a:r>
          </a:p>
        </p:txBody>
      </p:sp>
      <p:sp>
        <p:nvSpPr>
          <p:cNvPr id="28" name="">
            <a:extLst xmlns:a="http://schemas.openxmlformats.org/drawingml/2006/main">
              <a:ext uri="{FF2B5EF4-FFF2-40B4-BE49-F238E27FC236}">
                <a16:creationId xmlns:a16="http://schemas.microsoft.com/office/drawing/2014/main" id="{292BEFF0-F607-4990-91E1-0984BFA0E985}"/>
              </a:ext>
            </a:extLst>
          </p:cNvPr>
          <p:cNvSpPr>
            <a:spLocks xmlns:a="http://schemas.openxmlformats.org/drawingml/2006/main" noGrp="1"/>
          </p:cNvSpPr>
          <p:nvPr/>
        </p:nvSpPr>
        <p:spPr>
          <a:xfrm xmlns:a="http://schemas.openxmlformats.org/drawingml/2006/main" rot="0">
            <a:off x="8001000" y="2095500"/>
            <a:ext cx="1504950" cy="1428750"/>
          </a:xfrm>
          <a:prstGeom xmlns:a="http://schemas.openxmlformats.org/drawingml/2006/main" prst="roundRect">
            <a:avLst>
              <a:gd name="adj" fmla="val 5333"/>
            </a:avLst>
          </a:prstGeom>
          <a:solidFill xmlns:a="http://schemas.openxmlformats.org/drawingml/2006/main">
            <a:srgbClr val="FFFDF7"/>
          </a:solidFill>
          <a:ln xmlns:a="http://schemas.openxmlformats.org/drawingml/2006/main" w="19050">
            <a:solidFill>
              <a:srgbClr val="286D91"/>
            </a:solidFill>
            <a:prstDash val="solid"/>
          </a:ln>
        </p:spPr>
      </p:sp>
      <p:sp>
        <p:nvSpPr>
          <p:cNvPr id="29" name="">
            <a:extLst xmlns:a="http://schemas.openxmlformats.org/drawingml/2006/main">
              <a:ext uri="{FF2B5EF4-FFF2-40B4-BE49-F238E27FC236}">
                <a16:creationId xmlns:a16="http://schemas.microsoft.com/office/drawing/2014/main" id="{64EE63E5-E519-4BE2-83CC-9C138B6E9E16}"/>
              </a:ext>
            </a:extLst>
          </p:cNvPr>
          <p:cNvSpPr>
            <a:spLocks xmlns:a="http://schemas.openxmlformats.org/drawingml/2006/main" noGrp="1"/>
          </p:cNvSpPr>
          <p:nvPr/>
        </p:nvSpPr>
        <p:spPr>
          <a:xfrm xmlns:a="http://schemas.openxmlformats.org/drawingml/2006/main" rot="0">
            <a:off x="8001000" y="2095500"/>
            <a:ext cx="1504950" cy="114300"/>
          </a:xfrm>
          <a:prstGeom xmlns:a="http://schemas.openxmlformats.org/drawingml/2006/main" prst="rect">
            <a:avLst/>
          </a:prstGeom>
          <a:solidFill xmlns:a="http://schemas.openxmlformats.org/drawingml/2006/main">
            <a:srgbClr val="286D91"/>
          </a:solidFill>
          <a:ln xmlns:a="http://schemas.openxmlformats.org/drawingml/2006/main" w="0">
            <a:solidFill>
              <a:srgbClr val="286D91"/>
            </a:solidFill>
            <a:prstDash val="solid"/>
          </a:ln>
        </p:spPr>
      </p:sp>
      <p:sp>
        <p:nvSpPr>
          <p:cNvPr id="30" name="">
            <a:extLst xmlns:a="http://schemas.openxmlformats.org/drawingml/2006/main">
              <a:ext uri="{FF2B5EF4-FFF2-40B4-BE49-F238E27FC236}">
                <a16:creationId xmlns:a16="http://schemas.microsoft.com/office/drawing/2014/main" id="{877C98BF-D1C0-42C6-A427-67E56F1937B5}"/>
              </a:ext>
            </a:extLst>
          </p:cNvPr>
          <p:cNvSpPr>
            <a:spLocks xmlns:a="http://schemas.openxmlformats.org/drawingml/2006/main" noGrp="1"/>
          </p:cNvSpPr>
          <p:nvPr/>
        </p:nvSpPr>
        <p:spPr>
          <a:xfrm xmlns:a="http://schemas.openxmlformats.org/drawingml/2006/main" rot="0">
            <a:off x="8115300" y="2362200"/>
            <a:ext cx="1276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i="0">
                <a:solidFill>
                  <a:srgbClr val="286D91"/>
                </a:solidFill>
                <a:latin typeface="Helvetica Neue"/>
                <a:ea typeface="Helvetica Neue"/>
                <a:cs typeface="Helvetica Neue"/>
              </a:defRPr>
            </a:pPr>
            <a:r>
              <a:rPr sz="1650" b="1" i="0">
                <a:solidFill>
                  <a:srgbClr val="286D91"/>
                </a:solidFill>
                <a:latin typeface="Helvetica Neue"/>
                <a:ea typeface="Helvetica Neue"/>
                <a:cs typeface="Helvetica Neue"/>
              </a:rPr>
              <a:t>Iterator</a:t>
            </a:r>
          </a:p>
          <a:p xmlns:a="http://schemas.openxmlformats.org/drawingml/2006/main">
            <a:pPr algn="ctr">
              <a:defRPr sz="1650" b="1" i="0">
                <a:solidFill>
                  <a:srgbClr val="286D91"/>
                </a:solidFill>
                <a:latin typeface="Helvetica Neue"/>
                <a:ea typeface="Helvetica Neue"/>
                <a:cs typeface="Helvetica Neue"/>
              </a:defRPr>
            </a:pPr>
            <a:r>
              <a:rPr sz="1650" b="1" i="0">
                <a:solidFill>
                  <a:srgbClr val="286D91"/>
                </a:solidFill>
                <a:latin typeface="Helvetica Neue"/>
                <a:ea typeface="Helvetica Neue"/>
                <a:cs typeface="Helvetica Neue"/>
              </a:rPr>
              <a:t>Pipeline</a:t>
            </a:r>
          </a:p>
        </p:txBody>
      </p:sp>
      <p:sp>
        <p:nvSpPr>
          <p:cNvPr id="31" name="">
            <a:extLst xmlns:a="http://schemas.openxmlformats.org/drawingml/2006/main">
              <a:ext uri="{FF2B5EF4-FFF2-40B4-BE49-F238E27FC236}">
                <a16:creationId xmlns:a16="http://schemas.microsoft.com/office/drawing/2014/main" id="{6188B0E8-C769-41B7-A501-73E4B35CB5BB}"/>
              </a:ext>
            </a:extLst>
          </p:cNvPr>
          <p:cNvSpPr>
            <a:spLocks xmlns:a="http://schemas.openxmlformats.org/drawingml/2006/main" noGrp="1"/>
          </p:cNvSpPr>
          <p:nvPr/>
        </p:nvSpPr>
        <p:spPr>
          <a:xfrm xmlns:a="http://schemas.openxmlformats.org/drawingml/2006/main" rot="0">
            <a:off x="8115300" y="3067050"/>
            <a:ext cx="1276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i="0">
                <a:solidFill>
                  <a:srgbClr val="68716B"/>
                </a:solidFill>
                <a:latin typeface="Helvetica Neue"/>
                <a:ea typeface="Helvetica Neue"/>
                <a:cs typeface="Helvetica Neue"/>
              </a:defRPr>
            </a:pPr>
            <a:r>
              <a:rPr sz="1200" b="0" i="0">
                <a:solidFill>
                  <a:srgbClr val="68716B"/>
                </a:solidFill>
                <a:latin typeface="Helvetica Neue"/>
                <a:ea typeface="Helvetica Neue"/>
                <a:cs typeface="Helvetica Neue"/>
              </a:rPr>
              <a:t>lazy control</a:t>
            </a:r>
          </a:p>
        </p:txBody>
      </p:sp>
      <p:sp>
        <p:nvSpPr>
          <p:cNvPr id="32" name="">
            <a:extLst xmlns:a="http://schemas.openxmlformats.org/drawingml/2006/main">
              <a:ext uri="{FF2B5EF4-FFF2-40B4-BE49-F238E27FC236}">
                <a16:creationId xmlns:a16="http://schemas.microsoft.com/office/drawing/2014/main" id="{57DEFD29-9345-4134-A479-1255F33E733B}"/>
              </a:ext>
            </a:extLst>
          </p:cNvPr>
          <p:cNvSpPr>
            <a:spLocks xmlns:a="http://schemas.openxmlformats.org/drawingml/2006/main" noGrp="1"/>
          </p:cNvSpPr>
          <p:nvPr/>
        </p:nvSpPr>
        <p:spPr>
          <a:xfrm xmlns:a="http://schemas.openxmlformats.org/drawingml/2006/main" rot="0">
            <a:off x="9867900" y="2095500"/>
            <a:ext cx="1504950" cy="1428750"/>
          </a:xfrm>
          <a:prstGeom xmlns:a="http://schemas.openxmlformats.org/drawingml/2006/main" prst="roundRect">
            <a:avLst>
              <a:gd name="adj" fmla="val 5333"/>
            </a:avLst>
          </a:prstGeom>
          <a:solidFill xmlns:a="http://schemas.openxmlformats.org/drawingml/2006/main">
            <a:srgbClr val="FFFDF7"/>
          </a:solidFill>
          <a:ln xmlns:a="http://schemas.openxmlformats.org/drawingml/2006/main" w="19050">
            <a:solidFill>
              <a:srgbClr val="202522"/>
            </a:solidFill>
            <a:prstDash val="solid"/>
          </a:ln>
        </p:spPr>
      </p:sp>
      <p:sp>
        <p:nvSpPr>
          <p:cNvPr id="33" name="">
            <a:extLst xmlns:a="http://schemas.openxmlformats.org/drawingml/2006/main">
              <a:ext uri="{FF2B5EF4-FFF2-40B4-BE49-F238E27FC236}">
                <a16:creationId xmlns:a16="http://schemas.microsoft.com/office/drawing/2014/main" id="{3DA0F94F-48BD-4299-8670-8F1F0DCABBE4}"/>
              </a:ext>
            </a:extLst>
          </p:cNvPr>
          <p:cNvSpPr>
            <a:spLocks xmlns:a="http://schemas.openxmlformats.org/drawingml/2006/main" noGrp="1"/>
          </p:cNvSpPr>
          <p:nvPr/>
        </p:nvSpPr>
        <p:spPr>
          <a:xfrm xmlns:a="http://schemas.openxmlformats.org/drawingml/2006/main" rot="0">
            <a:off x="9867900" y="2095500"/>
            <a:ext cx="1504950" cy="114300"/>
          </a:xfrm>
          <a:prstGeom xmlns:a="http://schemas.openxmlformats.org/drawingml/2006/main" prst="rect">
            <a:avLst/>
          </a:prstGeom>
          <a:solidFill xmlns:a="http://schemas.openxmlformats.org/drawingml/2006/main">
            <a:srgbClr val="202522"/>
          </a:solidFill>
          <a:ln xmlns:a="http://schemas.openxmlformats.org/drawingml/2006/main" w="0">
            <a:solidFill>
              <a:srgbClr val="202522"/>
            </a:solidFill>
            <a:prstDash val="solid"/>
          </a:ln>
        </p:spPr>
      </p:sp>
      <p:sp>
        <p:nvSpPr>
          <p:cNvPr id="34" name="">
            <a:extLst xmlns:a="http://schemas.openxmlformats.org/drawingml/2006/main">
              <a:ext uri="{FF2B5EF4-FFF2-40B4-BE49-F238E27FC236}">
                <a16:creationId xmlns:a16="http://schemas.microsoft.com/office/drawing/2014/main" id="{0D58FD43-2047-41D3-AA76-F50946805A36}"/>
              </a:ext>
            </a:extLst>
          </p:cNvPr>
          <p:cNvSpPr>
            <a:spLocks xmlns:a="http://schemas.openxmlformats.org/drawingml/2006/main" noGrp="1"/>
          </p:cNvSpPr>
          <p:nvPr/>
        </p:nvSpPr>
        <p:spPr>
          <a:xfrm xmlns:a="http://schemas.openxmlformats.org/drawingml/2006/main" rot="0">
            <a:off x="9982200" y="2362200"/>
            <a:ext cx="1276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i="0">
                <a:solidFill>
                  <a:srgbClr val="202522"/>
                </a:solidFill>
                <a:latin typeface="Helvetica Neue"/>
                <a:ea typeface="Helvetica Neue"/>
                <a:cs typeface="Helvetica Neue"/>
              </a:defRPr>
            </a:pPr>
            <a:r>
              <a:rPr sz="1650" b="1" i="0">
                <a:solidFill>
                  <a:srgbClr val="202522"/>
                </a:solidFill>
                <a:latin typeface="Helvetica Neue"/>
                <a:ea typeface="Helvetica Neue"/>
                <a:cs typeface="Helvetica Neue"/>
              </a:rPr>
              <a:t>Rust</a:t>
            </a:r>
          </a:p>
        </p:txBody>
      </p:sp>
      <p:sp>
        <p:nvSpPr>
          <p:cNvPr id="35" name="">
            <a:extLst xmlns:a="http://schemas.openxmlformats.org/drawingml/2006/main">
              <a:ext uri="{FF2B5EF4-FFF2-40B4-BE49-F238E27FC236}">
                <a16:creationId xmlns:a16="http://schemas.microsoft.com/office/drawing/2014/main" id="{1C66133B-4268-46C2-9250-03B80B678BC4}"/>
              </a:ext>
            </a:extLst>
          </p:cNvPr>
          <p:cNvSpPr>
            <a:spLocks xmlns:a="http://schemas.openxmlformats.org/drawingml/2006/main" noGrp="1"/>
          </p:cNvSpPr>
          <p:nvPr/>
        </p:nvSpPr>
        <p:spPr>
          <a:xfrm xmlns:a="http://schemas.openxmlformats.org/drawingml/2006/main" rot="0">
            <a:off x="9982200" y="3067050"/>
            <a:ext cx="1276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i="0">
                <a:solidFill>
                  <a:srgbClr val="68716B"/>
                </a:solidFill>
                <a:latin typeface="Helvetica Neue"/>
                <a:ea typeface="Helvetica Neue"/>
                <a:cs typeface="Helvetica Neue"/>
              </a:defRPr>
            </a:pPr>
            <a:r>
              <a:rPr sz="1200" b="0" i="0">
                <a:solidFill>
                  <a:srgbClr val="68716B"/>
                </a:solidFill>
                <a:latin typeface="Helvetica Neue"/>
                <a:ea typeface="Helvetica Neue"/>
                <a:cs typeface="Helvetica Neue"/>
              </a:rPr>
              <a:t>executable</a:t>
            </a:r>
          </a:p>
        </p:txBody>
      </p:sp>
      <p:sp>
        <p:nvSpPr>
          <p:cNvPr id="36" name="">
            <a:extLst xmlns:a="http://schemas.openxmlformats.org/drawingml/2006/main">
              <a:ext uri="{FF2B5EF4-FFF2-40B4-BE49-F238E27FC236}">
                <a16:creationId xmlns:a16="http://schemas.microsoft.com/office/drawing/2014/main" id="{6B1FD5EF-8E44-4EB0-8F91-0B07B7DC8766}"/>
              </a:ext>
            </a:extLst>
          </p:cNvPr>
          <p:cNvSpPr>
            <a:spLocks xmlns:a="http://schemas.openxmlformats.org/drawingml/2006/main" noGrp="1"/>
          </p:cNvSpPr>
          <p:nvPr/>
        </p:nvSpPr>
        <p:spPr>
          <a:xfrm xmlns:a="http://schemas.openxmlformats.org/drawingml/2006/main" rot="0">
            <a:off x="1752600" y="4114800"/>
            <a:ext cx="8686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471"/>
          </a:bodyPr>
          <a:lstStyle xmlns:a="http://schemas.openxmlformats.org/drawingml/2006/main"/>
          <a:p xmlns:a="http://schemas.openxmlformats.org/drawingml/2006/main">
            <a:pPr algn="ctr">
              <a:defRPr sz="2175" b="0" i="0">
                <a:solidFill>
                  <a:srgbClr val="176B73"/>
                </a:solidFill>
                <a:latin typeface="Helvetica Neue"/>
                <a:ea typeface="Helvetica Neue"/>
                <a:cs typeface="Helvetica Neue"/>
              </a:defRPr>
            </a:pPr>
            <a:r>
              <a:rPr sz="2175" b="0" i="0">
                <a:solidFill>
                  <a:srgbClr val="176B73"/>
                </a:solidFill>
                <a:latin typeface="Helvetica Neue"/>
                <a:ea typeface="Helvetica Neue"/>
                <a:cs typeface="Helvetica Neue"/>
              </a:rPr>
              <a:t>Each arrow is small enough to call, test, print, and compare independently.</a:t>
            </a:r>
          </a:p>
        </p:txBody>
      </p:sp>
      <p:sp>
        <p:nvSpPr>
          <p:cNvPr id="37" name="">
            <a:extLst xmlns:a="http://schemas.openxmlformats.org/drawingml/2006/main">
              <a:ext uri="{FF2B5EF4-FFF2-40B4-BE49-F238E27FC236}">
                <a16:creationId xmlns:a16="http://schemas.microsoft.com/office/drawing/2014/main" id="{0D6B4ED7-6328-4050-906E-B2E491536EA0}"/>
              </a:ext>
            </a:extLst>
          </p:cNvPr>
          <p:cNvSpPr>
            <a:spLocks xmlns:a="http://schemas.openxmlformats.org/drawingml/2006/main" noGrp="1"/>
          </p:cNvSpPr>
          <p:nvPr/>
        </p:nvSpPr>
        <p:spPr>
          <a:xfrm xmlns:a="http://schemas.openxmlformats.org/drawingml/2006/main" rot="0">
            <a:off x="3409950" y="5010150"/>
            <a:ext cx="5372100" cy="647700"/>
          </a:xfrm>
          <a:prstGeom xmlns:a="http://schemas.openxmlformats.org/drawingml/2006/main" prst="roundRect">
            <a:avLst>
              <a:gd name="adj" fmla="val 14706"/>
            </a:avLst>
          </a:prstGeom>
          <a:solidFill xmlns:a="http://schemas.openxmlformats.org/drawingml/2006/main">
            <a:srgbClr val="161A18"/>
          </a:solidFill>
          <a:ln xmlns:a="http://schemas.openxmlformats.org/drawingml/2006/main" w="9525">
            <a:solidFill>
              <a:srgbClr val="161A18"/>
            </a:solidFill>
            <a:prstDash val="solid"/>
          </a:ln>
        </p:spPr>
      </p:sp>
      <p:sp>
        <p:nvSpPr>
          <p:cNvPr id="38" name="">
            <a:extLst xmlns:a="http://schemas.openxmlformats.org/drawingml/2006/main">
              <a:ext uri="{FF2B5EF4-FFF2-40B4-BE49-F238E27FC236}">
                <a16:creationId xmlns:a16="http://schemas.microsoft.com/office/drawing/2014/main" id="{738E9773-6C84-4ABA-B074-928CEFD65DB9}"/>
              </a:ext>
            </a:extLst>
          </p:cNvPr>
          <p:cNvSpPr>
            <a:spLocks xmlns:a="http://schemas.openxmlformats.org/drawingml/2006/main" noGrp="1"/>
          </p:cNvSpPr>
          <p:nvPr/>
        </p:nvSpPr>
        <p:spPr>
          <a:xfrm xmlns:a="http://schemas.openxmlformats.org/drawingml/2006/main" rot="0">
            <a:off x="3581400" y="5162550"/>
            <a:ext cx="5029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FFFDF7"/>
                </a:solidFill>
                <a:latin typeface="SFMono-Regular"/>
                <a:ea typeface="SFMono-Regular"/>
                <a:cs typeface="SFMono-Regular"/>
              </a:defRPr>
            </a:pPr>
            <a:r>
              <a:rPr sz="1725" b="0" i="0">
                <a:solidFill>
                  <a:srgbClr val="FFFDF7"/>
                </a:solidFill>
                <a:latin typeface="SFMono-Regular"/>
                <a:ea typeface="SFMono-Regular"/>
                <a:cs typeface="SFMono-Regular"/>
              </a:rPr>
              <a:t>cargo xtask explain triangle</a:t>
            </a:r>
          </a:p>
        </p:txBody>
      </p:sp>
    </p:spTree>
    <p:extLst>
      <p:ext uri="{BB962C8B-B14F-4D97-AF65-F5344CB8AC3E}">
        <p14:creationId xmlns:p14="http://schemas.microsoft.com/office/powerpoint/2010/main" val="1477242571"/>
      </p:ext>
    </p:extLst>
  </p:cSld>
</p:sld>
</file>

<file path=ppt/slides/slide1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76590FA-3A34-4532-A407-9AA5C36B802E}"/>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286D91"/>
          </a:solidFill>
          <a:ln xmlns:a="http://schemas.openxmlformats.org/drawingml/2006/main" w="0">
            <a:solidFill>
              <a:srgbClr val="286D91"/>
            </a:solidFill>
            <a:prstDash val="solid"/>
          </a:ln>
        </p:spPr>
      </p:sp>
      <p:sp>
        <p:nvSpPr>
          <p:cNvPr id="2" name="">
            <a:extLst xmlns:a="http://schemas.openxmlformats.org/drawingml/2006/main">
              <a:ext uri="{FF2B5EF4-FFF2-40B4-BE49-F238E27FC236}">
                <a16:creationId xmlns:a16="http://schemas.microsoft.com/office/drawing/2014/main" id="{74AA2442-7623-46B8-AD26-03DCA5EF0B81}"/>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286D91"/>
                </a:solidFill>
                <a:latin typeface="Helvetica Neue"/>
                <a:ea typeface="Helvetica Neue"/>
                <a:cs typeface="Helvetica Neue"/>
              </a:defRPr>
            </a:pPr>
            <a:r>
              <a:rPr sz="1050" b="1" i="0">
                <a:solidFill>
                  <a:srgbClr val="286D91"/>
                </a:solidFill>
                <a:latin typeface="Helvetica Neue"/>
                <a:ea typeface="Helvetica Neue"/>
                <a:cs typeface="Helvetica Neue"/>
              </a:rPr>
              <a:t>WHY COMPILE EXECUTION</a:t>
            </a:r>
          </a:p>
        </p:txBody>
      </p:sp>
      <p:sp>
        <p:nvSpPr>
          <p:cNvPr id="3" name="">
            <a:extLst xmlns:a="http://schemas.openxmlformats.org/drawingml/2006/main">
              <a:ext uri="{FF2B5EF4-FFF2-40B4-BE49-F238E27FC236}">
                <a16:creationId xmlns:a16="http://schemas.microsoft.com/office/drawing/2014/main" id="{049CE7DD-4724-450E-A2FF-1F7AA5D07A5E}"/>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Operator boundaries help us think—but can cost work</a:t>
            </a:r>
          </a:p>
        </p:txBody>
      </p:sp>
      <p:sp>
        <p:nvSpPr>
          <p:cNvPr id="4" name="">
            <a:extLst xmlns:a="http://schemas.openxmlformats.org/drawingml/2006/main">
              <a:ext uri="{FF2B5EF4-FFF2-40B4-BE49-F238E27FC236}">
                <a16:creationId xmlns:a16="http://schemas.microsoft.com/office/drawing/2014/main" id="{078BB1D2-E29C-48F2-872A-A6A4C92C0225}"/>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C7438D5E-3E41-44F4-B65E-D0B4E9EE378E}"/>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AB37993A-016C-4583-98C4-A68E55124D87}"/>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11</a:t>
            </a:r>
          </a:p>
        </p:txBody>
      </p:sp>
      <p:sp>
        <p:nvSpPr>
          <p:cNvPr id="7" name="">
            <a:extLst xmlns:a="http://schemas.openxmlformats.org/drawingml/2006/main">
              <a:ext uri="{FF2B5EF4-FFF2-40B4-BE49-F238E27FC236}">
                <a16:creationId xmlns:a16="http://schemas.microsoft.com/office/drawing/2014/main" id="{1BD7712B-D5A2-485D-8C94-1E9208C6D700}"/>
              </a:ext>
            </a:extLst>
          </p:cNvPr>
          <p:cNvSpPr>
            <a:spLocks xmlns:a="http://schemas.openxmlformats.org/drawingml/2006/main" noGrp="1"/>
          </p:cNvSpPr>
          <p:nvPr/>
        </p:nvSpPr>
        <p:spPr>
          <a:xfrm xmlns:a="http://schemas.openxmlformats.org/drawingml/2006/main" rot="0">
            <a:off x="723900" y="15811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i="0">
                <a:solidFill>
                  <a:srgbClr val="286D91"/>
                </a:solidFill>
                <a:latin typeface="Helvetica Neue"/>
                <a:ea typeface="Helvetica Neue"/>
                <a:cs typeface="Helvetica Neue"/>
              </a:defRPr>
            </a:pPr>
            <a:r>
              <a:rPr sz="1125" b="1" i="0">
                <a:solidFill>
                  <a:srgbClr val="286D91"/>
                </a:solidFill>
                <a:latin typeface="Helvetica Neue"/>
                <a:ea typeface="Helvetica Neue"/>
                <a:cs typeface="Helvetica Neue"/>
              </a:rPr>
              <a:t>INTERPRETED ITERATOR</a:t>
            </a:r>
          </a:p>
        </p:txBody>
      </p:sp>
      <p:sp>
        <p:nvSpPr>
          <p:cNvPr id="8" name="">
            <a:extLst xmlns:a="http://schemas.openxmlformats.org/drawingml/2006/main">
              <a:ext uri="{FF2B5EF4-FFF2-40B4-BE49-F238E27FC236}">
                <a16:creationId xmlns:a16="http://schemas.microsoft.com/office/drawing/2014/main" id="{027A3439-4A50-45B3-8256-607760007F16}"/>
              </a:ext>
            </a:extLst>
          </p:cNvPr>
          <p:cNvSpPr>
            <a:spLocks xmlns:a="http://schemas.openxmlformats.org/drawingml/2006/main" noGrp="1"/>
          </p:cNvSpPr>
          <p:nvPr/>
        </p:nvSpPr>
        <p:spPr>
          <a:xfrm xmlns:a="http://schemas.openxmlformats.org/drawingml/2006/main" rot="0">
            <a:off x="7372350" y="15811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i="0">
                <a:solidFill>
                  <a:srgbClr val="9B4C2F"/>
                </a:solidFill>
                <a:latin typeface="Helvetica Neue"/>
                <a:ea typeface="Helvetica Neue"/>
                <a:cs typeface="Helvetica Neue"/>
              </a:defRPr>
            </a:pPr>
            <a:r>
              <a:rPr sz="1125" b="1" i="0">
                <a:solidFill>
                  <a:srgbClr val="9B4C2F"/>
                </a:solidFill>
                <a:latin typeface="Helvetica Neue"/>
                <a:ea typeface="Helvetica Neue"/>
                <a:cs typeface="Helvetica Neue"/>
              </a:rPr>
              <a:t>COMPILED PIPELINE</a:t>
            </a:r>
          </a:p>
        </p:txBody>
      </p:sp>
      <p:sp>
        <p:nvSpPr>
          <p:cNvPr id="9" name="">
            <a:extLst xmlns:a="http://schemas.openxmlformats.org/drawingml/2006/main">
              <a:ext uri="{FF2B5EF4-FFF2-40B4-BE49-F238E27FC236}">
                <a16:creationId xmlns:a16="http://schemas.microsoft.com/office/drawing/2014/main" id="{7940AC00-E133-48FE-AB7E-FA6DE27A9216}"/>
              </a:ext>
            </a:extLst>
          </p:cNvPr>
          <p:cNvSpPr>
            <a:spLocks xmlns:a="http://schemas.openxmlformats.org/drawingml/2006/main" noGrp="1"/>
          </p:cNvSpPr>
          <p:nvPr/>
        </p:nvSpPr>
        <p:spPr>
          <a:xfrm xmlns:a="http://schemas.openxmlformats.org/drawingml/2006/main" rot="0">
            <a:off x="2247900" y="2571750"/>
            <a:ext cx="1028700" cy="228600"/>
          </a:xfrm>
          <a:prstGeom xmlns:a="http://schemas.openxmlformats.org/drawingml/2006/main" prst="rightArrow">
            <a:avLst/>
          </a:prstGeom>
          <a:solidFill xmlns:a="http://schemas.openxmlformats.org/drawingml/2006/main">
            <a:srgbClr val="286D91"/>
          </a:solidFill>
          <a:ln xmlns:a="http://schemas.openxmlformats.org/drawingml/2006/main" w="0">
            <a:solidFill>
              <a:srgbClr val="286D91"/>
            </a:solidFill>
            <a:prstDash val="solid"/>
          </a:ln>
        </p:spPr>
      </p:sp>
      <p:sp>
        <p:nvSpPr>
          <p:cNvPr id="10" name="">
            <a:extLst xmlns:a="http://schemas.openxmlformats.org/drawingml/2006/main">
              <a:ext uri="{FF2B5EF4-FFF2-40B4-BE49-F238E27FC236}">
                <a16:creationId xmlns:a16="http://schemas.microsoft.com/office/drawing/2014/main" id="{3D9427A0-7F11-473D-8424-78E5923BBB21}"/>
              </a:ext>
            </a:extLst>
          </p:cNvPr>
          <p:cNvSpPr>
            <a:spLocks xmlns:a="http://schemas.openxmlformats.org/drawingml/2006/main" noGrp="1"/>
          </p:cNvSpPr>
          <p:nvPr/>
        </p:nvSpPr>
        <p:spPr>
          <a:xfrm xmlns:a="http://schemas.openxmlformats.org/drawingml/2006/main" rot="0">
            <a:off x="2247900" y="3467100"/>
            <a:ext cx="1028700" cy="228600"/>
          </a:xfrm>
          <a:prstGeom xmlns:a="http://schemas.openxmlformats.org/drawingml/2006/main" prst="rightArrow">
            <a:avLst/>
          </a:prstGeom>
          <a:solidFill xmlns:a="http://schemas.openxmlformats.org/drawingml/2006/main">
            <a:srgbClr val="286D91"/>
          </a:solidFill>
          <a:ln xmlns:a="http://schemas.openxmlformats.org/drawingml/2006/main" w="0">
            <a:solidFill>
              <a:srgbClr val="286D91"/>
            </a:solidFill>
            <a:prstDash val="solid"/>
          </a:ln>
        </p:spPr>
      </p:sp>
      <p:sp>
        <p:nvSpPr>
          <p:cNvPr id="11" name="">
            <a:extLst xmlns:a="http://schemas.openxmlformats.org/drawingml/2006/main">
              <a:ext uri="{FF2B5EF4-FFF2-40B4-BE49-F238E27FC236}">
                <a16:creationId xmlns:a16="http://schemas.microsoft.com/office/drawing/2014/main" id="{3D517975-467D-4E29-94EB-B450AB51A353}"/>
              </a:ext>
            </a:extLst>
          </p:cNvPr>
          <p:cNvSpPr>
            <a:spLocks xmlns:a="http://schemas.openxmlformats.org/drawingml/2006/main" noGrp="1"/>
          </p:cNvSpPr>
          <p:nvPr/>
        </p:nvSpPr>
        <p:spPr>
          <a:xfrm xmlns:a="http://schemas.openxmlformats.org/drawingml/2006/main" rot="0">
            <a:off x="2247900" y="4362450"/>
            <a:ext cx="1028700" cy="228600"/>
          </a:xfrm>
          <a:prstGeom xmlns:a="http://schemas.openxmlformats.org/drawingml/2006/main" prst="rightArrow">
            <a:avLst/>
          </a:prstGeom>
          <a:solidFill xmlns:a="http://schemas.openxmlformats.org/drawingml/2006/main">
            <a:srgbClr val="286D91"/>
          </a:solidFill>
          <a:ln xmlns:a="http://schemas.openxmlformats.org/drawingml/2006/main" w="0">
            <a:solidFill>
              <a:srgbClr val="286D91"/>
            </a:solidFill>
            <a:prstDash val="solid"/>
          </a:ln>
        </p:spPr>
      </p:sp>
      <p:sp>
        <p:nvSpPr>
          <p:cNvPr id="12" name="">
            <a:extLst xmlns:a="http://schemas.openxmlformats.org/drawingml/2006/main">
              <a:ext uri="{FF2B5EF4-FFF2-40B4-BE49-F238E27FC236}">
                <a16:creationId xmlns:a16="http://schemas.microsoft.com/office/drawing/2014/main" id="{A04EED81-A26F-459F-A598-74E9EFC65EAD}"/>
              </a:ext>
            </a:extLst>
          </p:cNvPr>
          <p:cNvSpPr>
            <a:spLocks xmlns:a="http://schemas.openxmlformats.org/drawingml/2006/main" noGrp="1"/>
          </p:cNvSpPr>
          <p:nvPr/>
        </p:nvSpPr>
        <p:spPr>
          <a:xfrm xmlns:a="http://schemas.openxmlformats.org/drawingml/2006/main" rot="0">
            <a:off x="1162050" y="2152650"/>
            <a:ext cx="3143250" cy="628650"/>
          </a:xfrm>
          <a:prstGeom xmlns:a="http://schemas.openxmlformats.org/drawingml/2006/main" prst="roundRect">
            <a:avLst>
              <a:gd name="adj" fmla="val 12121"/>
            </a:avLst>
          </a:prstGeom>
          <a:solidFill xmlns:a="http://schemas.openxmlformats.org/drawingml/2006/main">
            <a:srgbClr val="EDF5F8"/>
          </a:solidFill>
          <a:ln xmlns:a="http://schemas.openxmlformats.org/drawingml/2006/main" w="14288">
            <a:solidFill>
              <a:srgbClr val="286D91"/>
            </a:solidFill>
            <a:prstDash val="solid"/>
          </a:ln>
        </p:spPr>
      </p:sp>
      <p:sp>
        <p:nvSpPr>
          <p:cNvPr id="13" name="">
            <a:extLst xmlns:a="http://schemas.openxmlformats.org/drawingml/2006/main">
              <a:ext uri="{FF2B5EF4-FFF2-40B4-BE49-F238E27FC236}">
                <a16:creationId xmlns:a16="http://schemas.microsoft.com/office/drawing/2014/main" id="{159263DD-2B8E-4D4B-A218-794931AE1582}"/>
              </a:ext>
            </a:extLst>
          </p:cNvPr>
          <p:cNvSpPr>
            <a:spLocks xmlns:a="http://schemas.openxmlformats.org/drawingml/2006/main" noGrp="1"/>
          </p:cNvSpPr>
          <p:nvPr/>
        </p:nvSpPr>
        <p:spPr>
          <a:xfrm xmlns:a="http://schemas.openxmlformats.org/drawingml/2006/main" rot="0">
            <a:off x="1390650" y="234315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0" i="0">
                <a:solidFill>
                  <a:srgbClr val="286D91"/>
                </a:solidFill>
                <a:latin typeface="SFMono-Regular"/>
                <a:ea typeface="SFMono-Regular"/>
                <a:cs typeface="SFMono-Regular"/>
              </a:defRPr>
            </a:pPr>
            <a:r>
              <a:rPr sz="1650" b="0" i="0">
                <a:solidFill>
                  <a:srgbClr val="286D91"/>
                </a:solidFill>
                <a:latin typeface="SFMono-Regular"/>
                <a:ea typeface="SFMono-Regular"/>
                <a:cs typeface="SFMono-Regular"/>
              </a:rPr>
              <a:t>scan.next()</a:t>
            </a:r>
          </a:p>
        </p:txBody>
      </p:sp>
      <p:sp>
        <p:nvSpPr>
          <p:cNvPr id="14" name="">
            <a:extLst xmlns:a="http://schemas.openxmlformats.org/drawingml/2006/main">
              <a:ext uri="{FF2B5EF4-FFF2-40B4-BE49-F238E27FC236}">
                <a16:creationId xmlns:a16="http://schemas.microsoft.com/office/drawing/2014/main" id="{689CC3E8-42DA-4A2C-B645-E1005B5A3936}"/>
              </a:ext>
            </a:extLst>
          </p:cNvPr>
          <p:cNvSpPr>
            <a:spLocks xmlns:a="http://schemas.openxmlformats.org/drawingml/2006/main" noGrp="1"/>
          </p:cNvSpPr>
          <p:nvPr/>
        </p:nvSpPr>
        <p:spPr>
          <a:xfrm xmlns:a="http://schemas.openxmlformats.org/drawingml/2006/main" rot="0">
            <a:off x="1162050" y="3048000"/>
            <a:ext cx="3143250" cy="628650"/>
          </a:xfrm>
          <a:prstGeom xmlns:a="http://schemas.openxmlformats.org/drawingml/2006/main" prst="roundRect">
            <a:avLst>
              <a:gd name="adj" fmla="val 12121"/>
            </a:avLst>
          </a:prstGeom>
          <a:solidFill xmlns:a="http://schemas.openxmlformats.org/drawingml/2006/main">
            <a:srgbClr val="EDF5F8"/>
          </a:solidFill>
          <a:ln xmlns:a="http://schemas.openxmlformats.org/drawingml/2006/main" w="14288">
            <a:solidFill>
              <a:srgbClr val="286D91"/>
            </a:solidFill>
            <a:prstDash val="solid"/>
          </a:ln>
        </p:spPr>
      </p:sp>
      <p:sp>
        <p:nvSpPr>
          <p:cNvPr id="15" name="">
            <a:extLst xmlns:a="http://schemas.openxmlformats.org/drawingml/2006/main">
              <a:ext uri="{FF2B5EF4-FFF2-40B4-BE49-F238E27FC236}">
                <a16:creationId xmlns:a16="http://schemas.microsoft.com/office/drawing/2014/main" id="{170A6EEA-4161-41BC-8FF7-A93FE94704F6}"/>
              </a:ext>
            </a:extLst>
          </p:cNvPr>
          <p:cNvSpPr>
            <a:spLocks xmlns:a="http://schemas.openxmlformats.org/drawingml/2006/main" noGrp="1"/>
          </p:cNvSpPr>
          <p:nvPr/>
        </p:nvSpPr>
        <p:spPr>
          <a:xfrm xmlns:a="http://schemas.openxmlformats.org/drawingml/2006/main" rot="0">
            <a:off x="1390650" y="323850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0" i="0">
                <a:solidFill>
                  <a:srgbClr val="286D91"/>
                </a:solidFill>
                <a:latin typeface="SFMono-Regular"/>
                <a:ea typeface="SFMono-Regular"/>
                <a:cs typeface="SFMono-Regular"/>
              </a:defRPr>
            </a:pPr>
            <a:r>
              <a:rPr sz="1650" b="0" i="0">
                <a:solidFill>
                  <a:srgbClr val="286D91"/>
                </a:solidFill>
                <a:latin typeface="SFMono-Regular"/>
                <a:ea typeface="SFMono-Regular"/>
                <a:cs typeface="SFMono-Regular"/>
              </a:rPr>
              <a:t>join.next()</a:t>
            </a:r>
          </a:p>
        </p:txBody>
      </p:sp>
      <p:sp>
        <p:nvSpPr>
          <p:cNvPr id="16" name="">
            <a:extLst xmlns:a="http://schemas.openxmlformats.org/drawingml/2006/main">
              <a:ext uri="{FF2B5EF4-FFF2-40B4-BE49-F238E27FC236}">
                <a16:creationId xmlns:a16="http://schemas.microsoft.com/office/drawing/2014/main" id="{5EF51E13-037D-45E5-A828-4D1B24AD5021}"/>
              </a:ext>
            </a:extLst>
          </p:cNvPr>
          <p:cNvSpPr>
            <a:spLocks xmlns:a="http://schemas.openxmlformats.org/drawingml/2006/main" noGrp="1"/>
          </p:cNvSpPr>
          <p:nvPr/>
        </p:nvSpPr>
        <p:spPr>
          <a:xfrm xmlns:a="http://schemas.openxmlformats.org/drawingml/2006/main" rot="0">
            <a:off x="1162050" y="3943350"/>
            <a:ext cx="3143250" cy="628650"/>
          </a:xfrm>
          <a:prstGeom xmlns:a="http://schemas.openxmlformats.org/drawingml/2006/main" prst="roundRect">
            <a:avLst>
              <a:gd name="adj" fmla="val 12121"/>
            </a:avLst>
          </a:prstGeom>
          <a:solidFill xmlns:a="http://schemas.openxmlformats.org/drawingml/2006/main">
            <a:srgbClr val="EDF5F8"/>
          </a:solidFill>
          <a:ln xmlns:a="http://schemas.openxmlformats.org/drawingml/2006/main" w="14288">
            <a:solidFill>
              <a:srgbClr val="286D91"/>
            </a:solidFill>
            <a:prstDash val="solid"/>
          </a:ln>
        </p:spPr>
      </p:sp>
      <p:sp>
        <p:nvSpPr>
          <p:cNvPr id="17" name="">
            <a:extLst xmlns:a="http://schemas.openxmlformats.org/drawingml/2006/main">
              <a:ext uri="{FF2B5EF4-FFF2-40B4-BE49-F238E27FC236}">
                <a16:creationId xmlns:a16="http://schemas.microsoft.com/office/drawing/2014/main" id="{0A43DA41-4905-4890-A20F-288C09546CA6}"/>
              </a:ext>
            </a:extLst>
          </p:cNvPr>
          <p:cNvSpPr>
            <a:spLocks xmlns:a="http://schemas.openxmlformats.org/drawingml/2006/main" noGrp="1"/>
          </p:cNvSpPr>
          <p:nvPr/>
        </p:nvSpPr>
        <p:spPr>
          <a:xfrm xmlns:a="http://schemas.openxmlformats.org/drawingml/2006/main" rot="0">
            <a:off x="1390650" y="413385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0" i="0">
                <a:solidFill>
                  <a:srgbClr val="286D91"/>
                </a:solidFill>
                <a:latin typeface="SFMono-Regular"/>
                <a:ea typeface="SFMono-Regular"/>
                <a:cs typeface="SFMono-Regular"/>
              </a:defRPr>
            </a:pPr>
            <a:r>
              <a:rPr sz="1650" b="0" i="0">
                <a:solidFill>
                  <a:srgbClr val="286D91"/>
                </a:solidFill>
                <a:latin typeface="SFMono-Regular"/>
                <a:ea typeface="SFMono-Regular"/>
                <a:cs typeface="SFMono-Regular"/>
              </a:rPr>
              <a:t>filter.next()</a:t>
            </a:r>
          </a:p>
        </p:txBody>
      </p:sp>
      <p:sp>
        <p:nvSpPr>
          <p:cNvPr id="18" name="">
            <a:extLst xmlns:a="http://schemas.openxmlformats.org/drawingml/2006/main">
              <a:ext uri="{FF2B5EF4-FFF2-40B4-BE49-F238E27FC236}">
                <a16:creationId xmlns:a16="http://schemas.microsoft.com/office/drawing/2014/main" id="{8E26A81A-68C6-44F6-A9D2-51999F4BA3DB}"/>
              </a:ext>
            </a:extLst>
          </p:cNvPr>
          <p:cNvSpPr>
            <a:spLocks xmlns:a="http://schemas.openxmlformats.org/drawingml/2006/main" noGrp="1"/>
          </p:cNvSpPr>
          <p:nvPr/>
        </p:nvSpPr>
        <p:spPr>
          <a:xfrm xmlns:a="http://schemas.openxmlformats.org/drawingml/2006/main" rot="0">
            <a:off x="1162050" y="4838700"/>
            <a:ext cx="3143250" cy="628650"/>
          </a:xfrm>
          <a:prstGeom xmlns:a="http://schemas.openxmlformats.org/drawingml/2006/main" prst="roundRect">
            <a:avLst>
              <a:gd name="adj" fmla="val 12121"/>
            </a:avLst>
          </a:prstGeom>
          <a:solidFill xmlns:a="http://schemas.openxmlformats.org/drawingml/2006/main">
            <a:srgbClr val="EDF5F8"/>
          </a:solidFill>
          <a:ln xmlns:a="http://schemas.openxmlformats.org/drawingml/2006/main" w="14288">
            <a:solidFill>
              <a:srgbClr val="286D91"/>
            </a:solidFill>
            <a:prstDash val="solid"/>
          </a:ln>
        </p:spPr>
      </p:sp>
      <p:sp>
        <p:nvSpPr>
          <p:cNvPr id="19" name="">
            <a:extLst xmlns:a="http://schemas.openxmlformats.org/drawingml/2006/main">
              <a:ext uri="{FF2B5EF4-FFF2-40B4-BE49-F238E27FC236}">
                <a16:creationId xmlns:a16="http://schemas.microsoft.com/office/drawing/2014/main" id="{1C518D8D-01D2-4EF4-86EB-92C9CDB08116}"/>
              </a:ext>
            </a:extLst>
          </p:cNvPr>
          <p:cNvSpPr>
            <a:spLocks xmlns:a="http://schemas.openxmlformats.org/drawingml/2006/main" noGrp="1"/>
          </p:cNvSpPr>
          <p:nvPr/>
        </p:nvSpPr>
        <p:spPr>
          <a:xfrm xmlns:a="http://schemas.openxmlformats.org/drawingml/2006/main" rot="0">
            <a:off x="1390650" y="5029200"/>
            <a:ext cx="2686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0" i="0">
                <a:solidFill>
                  <a:srgbClr val="286D91"/>
                </a:solidFill>
                <a:latin typeface="SFMono-Regular"/>
                <a:ea typeface="SFMono-Regular"/>
                <a:cs typeface="SFMono-Regular"/>
              </a:defRPr>
            </a:pPr>
            <a:r>
              <a:rPr sz="1650" b="0" i="0">
                <a:solidFill>
                  <a:srgbClr val="286D91"/>
                </a:solidFill>
                <a:latin typeface="SFMono-Regular"/>
                <a:ea typeface="SFMono-Regular"/>
                <a:cs typeface="SFMono-Regular"/>
              </a:rPr>
              <a:t>project.next()</a:t>
            </a:r>
          </a:p>
        </p:txBody>
      </p:sp>
      <p:sp>
        <p:nvSpPr>
          <p:cNvPr id="20" name="">
            <a:extLst xmlns:a="http://schemas.openxmlformats.org/drawingml/2006/main">
              <a:ext uri="{FF2B5EF4-FFF2-40B4-BE49-F238E27FC236}">
                <a16:creationId xmlns:a16="http://schemas.microsoft.com/office/drawing/2014/main" id="{267FABAA-0715-4294-9972-73EA1577CBE9}"/>
              </a:ext>
            </a:extLst>
          </p:cNvPr>
          <p:cNvSpPr>
            <a:spLocks xmlns:a="http://schemas.openxmlformats.org/drawingml/2006/main" noGrp="1"/>
          </p:cNvSpPr>
          <p:nvPr/>
        </p:nvSpPr>
        <p:spPr>
          <a:xfrm xmlns:a="http://schemas.openxmlformats.org/drawingml/2006/main" rot="0">
            <a:off x="1066800" y="575310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500"/>
          </a:bodyPr>
          <a:lstStyle xmlns:a="http://schemas.openxmlformats.org/drawingml/2006/main"/>
          <a:p xmlns:a="http://schemas.openxmlformats.org/drawingml/2006/main">
            <a:pPr algn="ctr">
              <a:defRPr sz="1500" b="0" i="0">
                <a:solidFill>
                  <a:srgbClr val="68716B"/>
                </a:solidFill>
                <a:latin typeface="Helvetica Neue"/>
                <a:ea typeface="Helvetica Neue"/>
                <a:cs typeface="Helvetica Neue"/>
              </a:defRPr>
            </a:pPr>
            <a:r>
              <a:rPr sz="1500" b="0" i="0">
                <a:solidFill>
                  <a:srgbClr val="68716B"/>
                </a:solidFill>
                <a:latin typeface="Helvetica Neue"/>
                <a:ea typeface="Helvetica Neue"/>
                <a:cs typeface="Helvetica Neue"/>
              </a:rPr>
              <a:t>one boundary crossing per tuple per operator</a:t>
            </a:r>
          </a:p>
        </p:txBody>
      </p:sp>
      <p:sp>
        <p:nvSpPr>
          <p:cNvPr id="21" name="">
            <a:extLst xmlns:a="http://schemas.openxmlformats.org/drawingml/2006/main">
              <a:ext uri="{FF2B5EF4-FFF2-40B4-BE49-F238E27FC236}">
                <a16:creationId xmlns:a16="http://schemas.microsoft.com/office/drawing/2014/main" id="{9FDCC887-DAAA-4EF6-A9CE-93D41B8CA44E}"/>
              </a:ext>
            </a:extLst>
          </p:cNvPr>
          <p:cNvSpPr>
            <a:spLocks xmlns:a="http://schemas.openxmlformats.org/drawingml/2006/main" noGrp="1"/>
          </p:cNvSpPr>
          <p:nvPr/>
        </p:nvSpPr>
        <p:spPr>
          <a:xfrm xmlns:a="http://schemas.openxmlformats.org/drawingml/2006/main" rot="0">
            <a:off x="5219700" y="3314700"/>
            <a:ext cx="1066800" cy="304800"/>
          </a:xfrm>
          <a:prstGeom xmlns:a="http://schemas.openxmlformats.org/drawingml/2006/main" prst="rightArrow">
            <a:avLst/>
          </a:prstGeom>
          <a:solidFill xmlns:a="http://schemas.openxmlformats.org/drawingml/2006/main">
            <a:srgbClr val="D9D5C9"/>
          </a:solidFill>
          <a:ln xmlns:a="http://schemas.openxmlformats.org/drawingml/2006/main" w="0">
            <a:solidFill>
              <a:srgbClr val="D9D5C9"/>
            </a:solidFill>
            <a:prstDash val="solid"/>
          </a:ln>
        </p:spPr>
      </p:sp>
      <p:sp>
        <p:nvSpPr>
          <p:cNvPr id="22" name="">
            <a:extLst xmlns:a="http://schemas.openxmlformats.org/drawingml/2006/main">
              <a:ext uri="{FF2B5EF4-FFF2-40B4-BE49-F238E27FC236}">
                <a16:creationId xmlns:a16="http://schemas.microsoft.com/office/drawing/2014/main" id="{142A725C-31E1-446C-A163-4C939D3B49C6}"/>
              </a:ext>
            </a:extLst>
          </p:cNvPr>
          <p:cNvSpPr>
            <a:spLocks xmlns:a="http://schemas.openxmlformats.org/drawingml/2006/main" noGrp="1"/>
          </p:cNvSpPr>
          <p:nvPr/>
        </p:nvSpPr>
        <p:spPr>
          <a:xfrm xmlns:a="http://schemas.openxmlformats.org/drawingml/2006/main" rot="0">
            <a:off x="7239000" y="2133600"/>
            <a:ext cx="4076700" cy="3276600"/>
          </a:xfrm>
          <a:prstGeom xmlns:a="http://schemas.openxmlformats.org/drawingml/2006/main" prst="roundRect">
            <a:avLst>
              <a:gd name="adj" fmla="val 2907"/>
            </a:avLst>
          </a:prstGeom>
          <a:solidFill xmlns:a="http://schemas.openxmlformats.org/drawingml/2006/main">
            <a:srgbClr val="F8EEE9"/>
          </a:solidFill>
          <a:ln xmlns:a="http://schemas.openxmlformats.org/drawingml/2006/main" w="19050">
            <a:solidFill>
              <a:srgbClr val="9B4C2F"/>
            </a:solidFill>
            <a:prstDash val="solid"/>
          </a:ln>
        </p:spPr>
      </p:sp>
      <p:sp>
        <p:nvSpPr>
          <p:cNvPr id="23" name="">
            <a:extLst xmlns:a="http://schemas.openxmlformats.org/drawingml/2006/main">
              <a:ext uri="{FF2B5EF4-FFF2-40B4-BE49-F238E27FC236}">
                <a16:creationId xmlns:a16="http://schemas.microsoft.com/office/drawing/2014/main" id="{896BE3E0-F4C5-4ECC-9F4A-B886B9F0536A}"/>
              </a:ext>
            </a:extLst>
          </p:cNvPr>
          <p:cNvSpPr>
            <a:spLocks xmlns:a="http://schemas.openxmlformats.org/drawingml/2006/main" noGrp="1"/>
          </p:cNvSpPr>
          <p:nvPr/>
        </p:nvSpPr>
        <p:spPr>
          <a:xfrm xmlns:a="http://schemas.openxmlformats.org/drawingml/2006/main" rot="0">
            <a:off x="7486650" y="2362200"/>
            <a:ext cx="3581400" cy="2800350"/>
          </a:xfrm>
          <a:prstGeom xmlns:a="http://schemas.openxmlformats.org/drawingml/2006/main" prst="roundRect">
            <a:avLst>
              <a:gd name="adj" fmla="val 3401"/>
            </a:avLst>
          </a:prstGeom>
          <a:solidFill xmlns:a="http://schemas.openxmlformats.org/drawingml/2006/main">
            <a:srgbClr val="161A18"/>
          </a:solidFill>
          <a:ln xmlns:a="http://schemas.openxmlformats.org/drawingml/2006/main" w="9525">
            <a:solidFill>
              <a:srgbClr val="161A18"/>
            </a:solidFill>
            <a:prstDash val="solid"/>
          </a:ln>
        </p:spPr>
      </p:sp>
      <p:sp>
        <p:nvSpPr>
          <p:cNvPr id="24" name="">
            <a:extLst xmlns:a="http://schemas.openxmlformats.org/drawingml/2006/main">
              <a:ext uri="{FF2B5EF4-FFF2-40B4-BE49-F238E27FC236}">
                <a16:creationId xmlns:a16="http://schemas.microsoft.com/office/drawing/2014/main" id="{164CB14C-3C0B-4D4F-A3F8-160135EC212E}"/>
              </a:ext>
            </a:extLst>
          </p:cNvPr>
          <p:cNvSpPr>
            <a:spLocks xmlns:a="http://schemas.openxmlformats.org/drawingml/2006/main" noGrp="1"/>
          </p:cNvSpPr>
          <p:nvPr/>
        </p:nvSpPr>
        <p:spPr>
          <a:xfrm xmlns:a="http://schemas.openxmlformats.org/drawingml/2006/main" rot="0">
            <a:off x="7658100" y="2514600"/>
            <a:ext cx="323850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FFFDF7"/>
                </a:solidFill>
                <a:latin typeface="SFMono-Regular"/>
                <a:ea typeface="SFMono-Regular"/>
                <a:cs typeface="SFMono-Regular"/>
              </a:defRPr>
            </a:pPr>
            <a:r>
              <a:rPr sz="1350" b="0" i="0">
                <a:solidFill>
                  <a:srgbClr val="FFFDF7"/>
                </a:solidFill>
                <a:latin typeface="SFMono-Regular"/>
                <a:ea typeface="SFMono-Regular"/>
                <a:cs typeface="SFMono-Regular"/>
              </a:rPr>
              <a:t>for r in rows {</a:t>
            </a:r>
          </a:p>
          <a:p xmlns:a="http://schemas.openxmlformats.org/drawingml/2006/main">
            <a:pPr algn="l">
              <a:lnSpc>
                <a:spcPct val="108000"/>
              </a:lnSpc>
              <a:buNone/>
              <a:defRPr sz="1350" b="0" i="0">
                <a:solidFill>
                  <a:srgbClr val="FFFDF7"/>
                </a:solidFill>
                <a:latin typeface="SFMono-Regular"/>
                <a:ea typeface="SFMono-Regular"/>
                <a:cs typeface="SFMono-Regular"/>
              </a:defRPr>
            </a:pPr>
            <a:r>
              <a:rPr sz="1350" b="0" i="0">
                <a:solidFill>
                  <a:srgbClr val="FFFDF7"/>
                </a:solidFill>
                <a:latin typeface="SFMono-Regular"/>
                <a:ea typeface="SFMono-Regular"/>
                <a:cs typeface="SFMono-Regular"/>
              </a:rPr>
              <a:t>  if let Some(s) = index.get(&amp;r.y) {</a:t>
            </a:r>
          </a:p>
          <a:p xmlns:a="http://schemas.openxmlformats.org/drawingml/2006/main">
            <a:pPr algn="l">
              <a:lnSpc>
                <a:spcPct val="108000"/>
              </a:lnSpc>
              <a:buNone/>
              <a:defRPr sz="1350" b="0" i="0">
                <a:solidFill>
                  <a:srgbClr val="FFFDF7"/>
                </a:solidFill>
                <a:latin typeface="SFMono-Regular"/>
                <a:ea typeface="SFMono-Regular"/>
                <a:cs typeface="SFMono-Regular"/>
              </a:defRPr>
            </a:pPr>
            <a:r>
              <a:rPr sz="1350" b="0" i="0">
                <a:solidFill>
                  <a:srgbClr val="FFFDF7"/>
                </a:solidFill>
                <a:latin typeface="SFMono-Regular"/>
                <a:ea typeface="SFMono-Regular"/>
                <a:cs typeface="SFMono-Regular"/>
              </a:rPr>
              <a:t>    for s in s {</a:t>
            </a:r>
          </a:p>
          <a:p xmlns:a="http://schemas.openxmlformats.org/drawingml/2006/main">
            <a:pPr algn="l">
              <a:lnSpc>
                <a:spcPct val="108000"/>
              </a:lnSpc>
              <a:buNone/>
              <a:defRPr sz="1350" b="0" i="0">
                <a:solidFill>
                  <a:srgbClr val="FFFDF7"/>
                </a:solidFill>
                <a:latin typeface="SFMono-Regular"/>
                <a:ea typeface="SFMono-Regular"/>
                <a:cs typeface="SFMono-Regular"/>
              </a:defRPr>
            </a:pPr>
            <a:r>
              <a:rPr sz="1350" b="0" i="0">
                <a:solidFill>
                  <a:srgbClr val="FFFDF7"/>
                </a:solidFill>
                <a:latin typeface="SFMono-Regular"/>
                <a:ea typeface="SFMono-Regular"/>
                <a:cs typeface="SFMono-Regular"/>
              </a:rPr>
              <a:t>      if t.contains(&amp;(s.z, r.x)) {</a:t>
            </a:r>
          </a:p>
          <a:p xmlns:a="http://schemas.openxmlformats.org/drawingml/2006/main">
            <a:pPr algn="l">
              <a:lnSpc>
                <a:spcPct val="108000"/>
              </a:lnSpc>
              <a:buNone/>
              <a:defRPr sz="1350" b="0" i="0">
                <a:solidFill>
                  <a:srgbClr val="FFFDF7"/>
                </a:solidFill>
                <a:latin typeface="SFMono-Regular"/>
                <a:ea typeface="SFMono-Regular"/>
                <a:cs typeface="SFMono-Regular"/>
              </a:defRPr>
            </a:pPr>
            <a:r>
              <a:rPr sz="1350" b="0" i="0">
                <a:solidFill>
                  <a:srgbClr val="FFFDF7"/>
                </a:solidFill>
                <a:latin typeface="SFMono-Regular"/>
                <a:ea typeface="SFMono-Regular"/>
                <a:cs typeface="SFMono-Regular"/>
              </a:rPr>
              <a:t>        yield (r.x, r.y, s.z);</a:t>
            </a:r>
          </a:p>
          <a:p xmlns:a="http://schemas.openxmlformats.org/drawingml/2006/main">
            <a:pPr algn="l">
              <a:lnSpc>
                <a:spcPct val="108000"/>
              </a:lnSpc>
              <a:buNone/>
              <a:defRPr sz="1350" b="0" i="0">
                <a:solidFill>
                  <a:srgbClr val="FFFDF7"/>
                </a:solidFill>
                <a:latin typeface="SFMono-Regular"/>
                <a:ea typeface="SFMono-Regular"/>
                <a:cs typeface="SFMono-Regular"/>
              </a:defRPr>
            </a:pPr>
            <a:r>
              <a:rPr sz="1350" b="0" i="0">
                <a:solidFill>
                  <a:srgbClr val="FFFDF7"/>
                </a:solidFill>
                <a:latin typeface="SFMono-Regular"/>
                <a:ea typeface="SFMono-Regular"/>
                <a:cs typeface="SFMono-Regular"/>
              </a:rPr>
              <a:t>      }</a:t>
            </a:r>
          </a:p>
          <a:p xmlns:a="http://schemas.openxmlformats.org/drawingml/2006/main">
            <a:pPr algn="l">
              <a:lnSpc>
                <a:spcPct val="108000"/>
              </a:lnSpc>
              <a:buNone/>
              <a:defRPr sz="1350" b="0" i="0">
                <a:solidFill>
                  <a:srgbClr val="FFFDF7"/>
                </a:solidFill>
                <a:latin typeface="SFMono-Regular"/>
                <a:ea typeface="SFMono-Regular"/>
                <a:cs typeface="SFMono-Regular"/>
              </a:defRPr>
            </a:pPr>
            <a:r>
              <a:rPr sz="1350" b="0" i="0">
                <a:solidFill>
                  <a:srgbClr val="FFFDF7"/>
                </a:solidFill>
                <a:latin typeface="SFMono-Regular"/>
                <a:ea typeface="SFMono-Regular"/>
                <a:cs typeface="SFMono-Regular"/>
              </a:rPr>
              <a:t>    }</a:t>
            </a:r>
          </a:p>
          <a:p xmlns:a="http://schemas.openxmlformats.org/drawingml/2006/main">
            <a:pPr algn="l">
              <a:lnSpc>
                <a:spcPct val="108000"/>
              </a:lnSpc>
              <a:buNone/>
              <a:defRPr sz="1350" b="0" i="0">
                <a:solidFill>
                  <a:srgbClr val="FFFDF7"/>
                </a:solidFill>
                <a:latin typeface="SFMono-Regular"/>
                <a:ea typeface="SFMono-Regular"/>
                <a:cs typeface="SFMono-Regular"/>
              </a:defRPr>
            </a:pPr>
            <a:r>
              <a:rPr sz="1350" b="0" i="0">
                <a:solidFill>
                  <a:srgbClr val="FFFDF7"/>
                </a:solidFill>
                <a:latin typeface="SFMono-Regular"/>
                <a:ea typeface="SFMono-Regular"/>
                <a:cs typeface="SFMono-Regular"/>
              </a:rPr>
              <a:t>  }</a:t>
            </a:r>
          </a:p>
          <a:p xmlns:a="http://schemas.openxmlformats.org/drawingml/2006/main">
            <a:pPr algn="l">
              <a:lnSpc>
                <a:spcPct val="108000"/>
              </a:lnSpc>
              <a:buNone/>
              <a:defRPr sz="1350" b="0" i="0">
                <a:solidFill>
                  <a:srgbClr val="FFFDF7"/>
                </a:solidFill>
                <a:latin typeface="SFMono-Regular"/>
                <a:ea typeface="SFMono-Regular"/>
                <a:cs typeface="SFMono-Regular"/>
              </a:defRPr>
            </a:pPr>
            <a:r>
              <a:rPr sz="1350" b="0" i="0">
                <a:solidFill>
                  <a:srgbClr val="FFFDF7"/>
                </a:solidFill>
                <a:latin typeface="SFMono-Regular"/>
                <a:ea typeface="SFMono-Regular"/>
                <a:cs typeface="SFMono-Regular"/>
              </a:rPr>
              <a:t>}</a:t>
            </a:r>
          </a:p>
        </p:txBody>
      </p:sp>
      <p:sp>
        <p:nvSpPr>
          <p:cNvPr id="25" name="">
            <a:extLst xmlns:a="http://schemas.openxmlformats.org/drawingml/2006/main">
              <a:ext uri="{FF2B5EF4-FFF2-40B4-BE49-F238E27FC236}">
                <a16:creationId xmlns:a16="http://schemas.microsoft.com/office/drawing/2014/main" id="{4291DB92-6766-48FE-A502-CCE43C8FFCE1}"/>
              </a:ext>
            </a:extLst>
          </p:cNvPr>
          <p:cNvSpPr>
            <a:spLocks xmlns:a="http://schemas.openxmlformats.org/drawingml/2006/main" noGrp="1"/>
          </p:cNvSpPr>
          <p:nvPr/>
        </p:nvSpPr>
        <p:spPr>
          <a:xfrm xmlns:a="http://schemas.openxmlformats.org/drawingml/2006/main" rot="0">
            <a:off x="7524750" y="5753100"/>
            <a:ext cx="3543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987"/>
          </a:bodyPr>
          <a:lstStyle xmlns:a="http://schemas.openxmlformats.org/drawingml/2006/main"/>
          <a:p xmlns:a="http://schemas.openxmlformats.org/drawingml/2006/main">
            <a:pPr algn="ctr">
              <a:defRPr sz="1500" b="0" i="0">
                <a:solidFill>
                  <a:srgbClr val="68716B"/>
                </a:solidFill>
                <a:latin typeface="Helvetica Neue"/>
                <a:ea typeface="Helvetica Neue"/>
                <a:cs typeface="Helvetica Neue"/>
              </a:defRPr>
            </a:pPr>
            <a:r>
              <a:rPr sz="1500" b="0" i="0">
                <a:solidFill>
                  <a:srgbClr val="68716B"/>
                </a:solidFill>
                <a:latin typeface="Helvetica Neue"/>
                <a:ea typeface="Helvetica Neue"/>
                <a:cs typeface="Helvetica Neue"/>
              </a:rPr>
              <a:t>data stays inside a compact control region</a:t>
            </a:r>
          </a:p>
        </p:txBody>
      </p:sp>
    </p:spTree>
    <p:extLst>
      <p:ext uri="{BB962C8B-B14F-4D97-AF65-F5344CB8AC3E}">
        <p14:creationId xmlns:p14="http://schemas.microsoft.com/office/powerpoint/2010/main" val="725535930"/>
      </p:ext>
    </p:extLst>
  </p:cSld>
</p:sld>
</file>

<file path=ppt/slides/slide1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17AD742-C421-4E5B-B200-E6AD50245F1E}"/>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684F82"/>
          </a:solidFill>
          <a:ln xmlns:a="http://schemas.openxmlformats.org/drawingml/2006/main" w="0">
            <a:solidFill>
              <a:srgbClr val="684F82"/>
            </a:solidFill>
            <a:prstDash val="solid"/>
          </a:ln>
        </p:spPr>
      </p:sp>
      <p:sp>
        <p:nvSpPr>
          <p:cNvPr id="2" name="">
            <a:extLst xmlns:a="http://schemas.openxmlformats.org/drawingml/2006/main">
              <a:ext uri="{FF2B5EF4-FFF2-40B4-BE49-F238E27FC236}">
                <a16:creationId xmlns:a16="http://schemas.microsoft.com/office/drawing/2014/main" id="{2FE49377-0A64-4517-83DF-90921EA0D17E}"/>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684F82"/>
                </a:solidFill>
                <a:latin typeface="Helvetica Neue"/>
                <a:ea typeface="Helvetica Neue"/>
                <a:cs typeface="Helvetica Neue"/>
              </a:defRPr>
            </a:pPr>
            <a:r>
              <a:rPr sz="1050" b="1" i="0">
                <a:solidFill>
                  <a:srgbClr val="684F82"/>
                </a:solidFill>
                <a:latin typeface="Helvetica Neue"/>
                <a:ea typeface="Helvetica Neue"/>
                <a:cs typeface="Helvetica Neue"/>
              </a:rPr>
              <a:t>SEMANTICS ACROSS STAGES</a:t>
            </a:r>
          </a:p>
        </p:txBody>
      </p:sp>
      <p:sp>
        <p:nvSpPr>
          <p:cNvPr id="3" name="">
            <a:extLst xmlns:a="http://schemas.openxmlformats.org/drawingml/2006/main">
              <a:ext uri="{FF2B5EF4-FFF2-40B4-BE49-F238E27FC236}">
                <a16:creationId xmlns:a16="http://schemas.microsoft.com/office/drawing/2014/main" id="{2BE44004-8A7A-4603-811F-7749167AE375}"/>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Lower representation without lowering trust</a:t>
            </a:r>
          </a:p>
        </p:txBody>
      </p:sp>
      <p:sp>
        <p:nvSpPr>
          <p:cNvPr id="4" name="">
            <a:extLst xmlns:a="http://schemas.openxmlformats.org/drawingml/2006/main">
              <a:ext uri="{FF2B5EF4-FFF2-40B4-BE49-F238E27FC236}">
                <a16:creationId xmlns:a16="http://schemas.microsoft.com/office/drawing/2014/main" id="{6AA8DEA5-EF28-4CDC-A904-F416DDFFFFCC}"/>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204C85A8-3AFA-4CC5-B191-D4229A1A2C1C}"/>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E1F76E54-5A09-4998-BBDF-FC57172CBD20}"/>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12</a:t>
            </a:r>
          </a:p>
        </p:txBody>
      </p:sp>
      <p:sp>
        <p:nvSpPr>
          <p:cNvPr id="7" name="">
            <a:extLst xmlns:a="http://schemas.openxmlformats.org/drawingml/2006/main">
              <a:ext uri="{FF2B5EF4-FFF2-40B4-BE49-F238E27FC236}">
                <a16:creationId xmlns:a16="http://schemas.microsoft.com/office/drawing/2014/main" id="{F3C9F969-71C3-418D-B49B-295ABC4F6FBE}"/>
              </a:ext>
            </a:extLst>
          </p:cNvPr>
          <p:cNvSpPr>
            <a:spLocks xmlns:a="http://schemas.openxmlformats.org/drawingml/2006/main" noGrp="1"/>
          </p:cNvSpPr>
          <p:nvPr/>
        </p:nvSpPr>
        <p:spPr>
          <a:xfrm xmlns:a="http://schemas.openxmlformats.org/drawingml/2006/main" rot="0">
            <a:off x="5715000" y="2076450"/>
            <a:ext cx="762000" cy="209550"/>
          </a:xfrm>
          <a:prstGeom xmlns:a="http://schemas.openxmlformats.org/drawingml/2006/main" prst="rightArrow">
            <a:avLst/>
          </a:prstGeom>
          <a:solidFill xmlns:a="http://schemas.openxmlformats.org/drawingml/2006/main">
            <a:srgbClr val="D9D5C9"/>
          </a:solidFill>
          <a:ln xmlns:a="http://schemas.openxmlformats.org/drawingml/2006/main" w="0">
            <a:solidFill>
              <a:srgbClr val="D9D5C9"/>
            </a:solidFill>
            <a:prstDash val="solid"/>
          </a:ln>
        </p:spPr>
      </p:sp>
      <p:sp>
        <p:nvSpPr>
          <p:cNvPr id="8" name="">
            <a:extLst xmlns:a="http://schemas.openxmlformats.org/drawingml/2006/main">
              <a:ext uri="{FF2B5EF4-FFF2-40B4-BE49-F238E27FC236}">
                <a16:creationId xmlns:a16="http://schemas.microsoft.com/office/drawing/2014/main" id="{F725EBB4-123D-4549-86E1-652D0997F86F}"/>
              </a:ext>
            </a:extLst>
          </p:cNvPr>
          <p:cNvSpPr>
            <a:spLocks xmlns:a="http://schemas.openxmlformats.org/drawingml/2006/main" noGrp="1"/>
          </p:cNvSpPr>
          <p:nvPr/>
        </p:nvSpPr>
        <p:spPr>
          <a:xfrm xmlns:a="http://schemas.openxmlformats.org/drawingml/2006/main" rot="0">
            <a:off x="819150" y="163830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176B73"/>
                </a:solidFill>
                <a:latin typeface="Helvetica Neue"/>
                <a:ea typeface="Helvetica Neue"/>
                <a:cs typeface="Helvetica Neue"/>
              </a:defRPr>
            </a:pPr>
            <a:r>
              <a:rPr sz="2100" b="1" i="0">
                <a:solidFill>
                  <a:srgbClr val="176B73"/>
                </a:solidFill>
                <a:latin typeface="Helvetica Neue"/>
                <a:ea typeface="Helvetica Neue"/>
                <a:cs typeface="Helvetica Neue"/>
              </a:rPr>
              <a:t>query meaning</a:t>
            </a:r>
          </a:p>
        </p:txBody>
      </p:sp>
      <p:sp>
        <p:nvSpPr>
          <p:cNvPr id="9" name="">
            <a:extLst xmlns:a="http://schemas.openxmlformats.org/drawingml/2006/main">
              <a:ext uri="{FF2B5EF4-FFF2-40B4-BE49-F238E27FC236}">
                <a16:creationId xmlns:a16="http://schemas.microsoft.com/office/drawing/2014/main" id="{7FA33D93-0D00-489F-B94D-7B15BCE739FF}"/>
              </a:ext>
            </a:extLst>
          </p:cNvPr>
          <p:cNvSpPr>
            <a:spLocks xmlns:a="http://schemas.openxmlformats.org/drawingml/2006/main" noGrp="1"/>
          </p:cNvSpPr>
          <p:nvPr/>
        </p:nvSpPr>
        <p:spPr>
          <a:xfrm xmlns:a="http://schemas.openxmlformats.org/drawingml/2006/main" rot="0">
            <a:off x="4953000" y="1581150"/>
            <a:ext cx="5981700" cy="571500"/>
          </a:xfrm>
          <a:prstGeom xmlns:a="http://schemas.openxmlformats.org/drawingml/2006/main" prst="roundRect">
            <a:avLst>
              <a:gd name="adj" fmla="val 13333"/>
            </a:avLst>
          </a:prstGeom>
          <a:solidFill xmlns:a="http://schemas.openxmlformats.org/drawingml/2006/main">
            <a:srgbClr val="FFFDF7"/>
          </a:solidFill>
          <a:ln xmlns:a="http://schemas.openxmlformats.org/drawingml/2006/main" w="14288">
            <a:solidFill>
              <a:srgbClr val="176B73"/>
            </a:solidFill>
            <a:prstDash val="solid"/>
          </a:ln>
        </p:spPr>
      </p:sp>
      <p:sp>
        <p:nvSpPr>
          <p:cNvPr id="10" name="">
            <a:extLst xmlns:a="http://schemas.openxmlformats.org/drawingml/2006/main">
              <a:ext uri="{FF2B5EF4-FFF2-40B4-BE49-F238E27FC236}">
                <a16:creationId xmlns:a16="http://schemas.microsoft.com/office/drawing/2014/main" id="{244BBC00-E9B2-4D83-8D0A-4D4B6B1496C9}"/>
              </a:ext>
            </a:extLst>
          </p:cNvPr>
          <p:cNvSpPr>
            <a:spLocks xmlns:a="http://schemas.openxmlformats.org/drawingml/2006/main" noGrp="1"/>
          </p:cNvSpPr>
          <p:nvPr/>
        </p:nvSpPr>
        <p:spPr>
          <a:xfrm xmlns:a="http://schemas.openxmlformats.org/drawingml/2006/main" rot="0">
            <a:off x="5238750" y="1724025"/>
            <a:ext cx="5410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0" i="0">
                <a:solidFill>
                  <a:srgbClr val="202522"/>
                </a:solidFill>
                <a:latin typeface="Helvetica Neue"/>
                <a:ea typeface="Helvetica Neue"/>
                <a:cs typeface="Helvetica Neue"/>
              </a:defRPr>
            </a:pPr>
            <a:r>
              <a:rPr sz="1800" b="0" i="0">
                <a:solidFill>
                  <a:srgbClr val="202522"/>
                </a:solidFill>
                <a:latin typeface="Helvetica Neue"/>
                <a:ea typeface="Helvetica Neue"/>
                <a:cs typeface="Helvetica Neue"/>
              </a:rPr>
              <a:t>successful valuations</a:t>
            </a:r>
          </a:p>
        </p:txBody>
      </p:sp>
      <p:sp>
        <p:nvSpPr>
          <p:cNvPr id="11" name="">
            <a:extLst xmlns:a="http://schemas.openxmlformats.org/drawingml/2006/main">
              <a:ext uri="{FF2B5EF4-FFF2-40B4-BE49-F238E27FC236}">
                <a16:creationId xmlns:a16="http://schemas.microsoft.com/office/drawing/2014/main" id="{4DDFED2B-CB2F-4843-9CC3-96C65504DE3E}"/>
              </a:ext>
            </a:extLst>
          </p:cNvPr>
          <p:cNvSpPr>
            <a:spLocks xmlns:a="http://schemas.openxmlformats.org/drawingml/2006/main" noGrp="1"/>
          </p:cNvSpPr>
          <p:nvPr/>
        </p:nvSpPr>
        <p:spPr>
          <a:xfrm xmlns:a="http://schemas.openxmlformats.org/drawingml/2006/main" rot="0">
            <a:off x="5715000" y="2914650"/>
            <a:ext cx="762000" cy="209550"/>
          </a:xfrm>
          <a:prstGeom xmlns:a="http://schemas.openxmlformats.org/drawingml/2006/main" prst="rightArrow">
            <a:avLst/>
          </a:prstGeom>
          <a:solidFill xmlns:a="http://schemas.openxmlformats.org/drawingml/2006/main">
            <a:srgbClr val="D9D5C9"/>
          </a:solidFill>
          <a:ln xmlns:a="http://schemas.openxmlformats.org/drawingml/2006/main" w="0">
            <a:solidFill>
              <a:srgbClr val="D9D5C9"/>
            </a:solidFill>
            <a:prstDash val="solid"/>
          </a:ln>
        </p:spPr>
      </p:sp>
      <p:sp>
        <p:nvSpPr>
          <p:cNvPr id="12" name="">
            <a:extLst xmlns:a="http://schemas.openxmlformats.org/drawingml/2006/main">
              <a:ext uri="{FF2B5EF4-FFF2-40B4-BE49-F238E27FC236}">
                <a16:creationId xmlns:a16="http://schemas.microsoft.com/office/drawing/2014/main" id="{500859C6-FDBF-4D7F-9383-06AB16708396}"/>
              </a:ext>
            </a:extLst>
          </p:cNvPr>
          <p:cNvSpPr>
            <a:spLocks xmlns:a="http://schemas.openxmlformats.org/drawingml/2006/main" noGrp="1"/>
          </p:cNvSpPr>
          <p:nvPr/>
        </p:nvSpPr>
        <p:spPr>
          <a:xfrm xmlns:a="http://schemas.openxmlformats.org/drawingml/2006/main" rot="0">
            <a:off x="819150" y="247650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684F82"/>
                </a:solidFill>
                <a:latin typeface="Helvetica Neue"/>
                <a:ea typeface="Helvetica Neue"/>
                <a:cs typeface="Helvetica Neue"/>
              </a:defRPr>
            </a:pPr>
            <a:r>
              <a:rPr sz="2100" b="1" i="0">
                <a:solidFill>
                  <a:srgbClr val="684F82"/>
                </a:solidFill>
                <a:latin typeface="Helvetica Neue"/>
                <a:ea typeface="Helvetica Neue"/>
                <a:cs typeface="Helvetica Neue"/>
              </a:rPr>
              <a:t>logical plan</a:t>
            </a:r>
          </a:p>
        </p:txBody>
      </p:sp>
      <p:sp>
        <p:nvSpPr>
          <p:cNvPr id="13" name="">
            <a:extLst xmlns:a="http://schemas.openxmlformats.org/drawingml/2006/main">
              <a:ext uri="{FF2B5EF4-FFF2-40B4-BE49-F238E27FC236}">
                <a16:creationId xmlns:a16="http://schemas.microsoft.com/office/drawing/2014/main" id="{7F6EC0FC-0ED9-48AC-91AB-41EB005BE9F5}"/>
              </a:ext>
            </a:extLst>
          </p:cNvPr>
          <p:cNvSpPr>
            <a:spLocks xmlns:a="http://schemas.openxmlformats.org/drawingml/2006/main" noGrp="1"/>
          </p:cNvSpPr>
          <p:nvPr/>
        </p:nvSpPr>
        <p:spPr>
          <a:xfrm xmlns:a="http://schemas.openxmlformats.org/drawingml/2006/main" rot="0">
            <a:off x="4953000" y="2419350"/>
            <a:ext cx="5981700" cy="571500"/>
          </a:xfrm>
          <a:prstGeom xmlns:a="http://schemas.openxmlformats.org/drawingml/2006/main" prst="roundRect">
            <a:avLst>
              <a:gd name="adj" fmla="val 13333"/>
            </a:avLst>
          </a:prstGeom>
          <a:solidFill xmlns:a="http://schemas.openxmlformats.org/drawingml/2006/main">
            <a:srgbClr val="FFFDF7"/>
          </a:solidFill>
          <a:ln xmlns:a="http://schemas.openxmlformats.org/drawingml/2006/main" w="14288">
            <a:solidFill>
              <a:srgbClr val="684F82"/>
            </a:solidFill>
            <a:prstDash val="solid"/>
          </a:ln>
        </p:spPr>
      </p:sp>
      <p:sp>
        <p:nvSpPr>
          <p:cNvPr id="14" name="">
            <a:extLst xmlns:a="http://schemas.openxmlformats.org/drawingml/2006/main">
              <a:ext uri="{FF2B5EF4-FFF2-40B4-BE49-F238E27FC236}">
                <a16:creationId xmlns:a16="http://schemas.microsoft.com/office/drawing/2014/main" id="{F948661E-34DB-4655-A307-91527A492184}"/>
              </a:ext>
            </a:extLst>
          </p:cNvPr>
          <p:cNvSpPr>
            <a:spLocks xmlns:a="http://schemas.openxmlformats.org/drawingml/2006/main" noGrp="1"/>
          </p:cNvSpPr>
          <p:nvPr/>
        </p:nvSpPr>
        <p:spPr>
          <a:xfrm xmlns:a="http://schemas.openxmlformats.org/drawingml/2006/main" rot="0">
            <a:off x="5238750" y="2562225"/>
            <a:ext cx="5410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0" i="0">
                <a:solidFill>
                  <a:srgbClr val="202522"/>
                </a:solidFill>
                <a:latin typeface="Helvetica Neue"/>
                <a:ea typeface="Helvetica Neue"/>
                <a:cs typeface="Helvetica Neue"/>
              </a:defRPr>
            </a:pPr>
            <a:r>
              <a:rPr sz="1800" b="0" i="0">
                <a:solidFill>
                  <a:srgbClr val="202522"/>
                </a:solidFill>
                <a:latin typeface="Helvetica Neue"/>
                <a:ea typeface="Helvetica Neue"/>
                <a:cs typeface="Helvetica Neue"/>
              </a:rPr>
              <a:t>same relation</a:t>
            </a:r>
          </a:p>
        </p:txBody>
      </p:sp>
      <p:sp>
        <p:nvSpPr>
          <p:cNvPr id="15" name="">
            <a:extLst xmlns:a="http://schemas.openxmlformats.org/drawingml/2006/main">
              <a:ext uri="{FF2B5EF4-FFF2-40B4-BE49-F238E27FC236}">
                <a16:creationId xmlns:a16="http://schemas.microsoft.com/office/drawing/2014/main" id="{DE94286C-7DA8-4915-8CA6-2FE666984D32}"/>
              </a:ext>
            </a:extLst>
          </p:cNvPr>
          <p:cNvSpPr>
            <a:spLocks xmlns:a="http://schemas.openxmlformats.org/drawingml/2006/main" noGrp="1"/>
          </p:cNvSpPr>
          <p:nvPr/>
        </p:nvSpPr>
        <p:spPr>
          <a:xfrm xmlns:a="http://schemas.openxmlformats.org/drawingml/2006/main" rot="0">
            <a:off x="5715000" y="3752850"/>
            <a:ext cx="762000" cy="209550"/>
          </a:xfrm>
          <a:prstGeom xmlns:a="http://schemas.openxmlformats.org/drawingml/2006/main" prst="rightArrow">
            <a:avLst/>
          </a:prstGeom>
          <a:solidFill xmlns:a="http://schemas.openxmlformats.org/drawingml/2006/main">
            <a:srgbClr val="D9D5C9"/>
          </a:solidFill>
          <a:ln xmlns:a="http://schemas.openxmlformats.org/drawingml/2006/main" w="0">
            <a:solidFill>
              <a:srgbClr val="D9D5C9"/>
            </a:solidFill>
            <a:prstDash val="solid"/>
          </a:ln>
        </p:spPr>
      </p:sp>
      <p:sp>
        <p:nvSpPr>
          <p:cNvPr id="16" name="">
            <a:extLst xmlns:a="http://schemas.openxmlformats.org/drawingml/2006/main">
              <a:ext uri="{FF2B5EF4-FFF2-40B4-BE49-F238E27FC236}">
                <a16:creationId xmlns:a16="http://schemas.microsoft.com/office/drawing/2014/main" id="{48D3B8D5-1661-40F3-8FAF-8E84D309AF26}"/>
              </a:ext>
            </a:extLst>
          </p:cNvPr>
          <p:cNvSpPr>
            <a:spLocks xmlns:a="http://schemas.openxmlformats.org/drawingml/2006/main" noGrp="1"/>
          </p:cNvSpPr>
          <p:nvPr/>
        </p:nvSpPr>
        <p:spPr>
          <a:xfrm xmlns:a="http://schemas.openxmlformats.org/drawingml/2006/main" rot="0">
            <a:off x="819150" y="331470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8A5A18"/>
                </a:solidFill>
                <a:latin typeface="Helvetica Neue"/>
                <a:ea typeface="Helvetica Neue"/>
                <a:cs typeface="Helvetica Neue"/>
              </a:defRPr>
            </a:pPr>
            <a:r>
              <a:rPr sz="2100" b="1" i="0">
                <a:solidFill>
                  <a:srgbClr val="8A5A18"/>
                </a:solidFill>
                <a:latin typeface="Helvetica Neue"/>
                <a:ea typeface="Helvetica Neue"/>
                <a:cs typeface="Helvetica Neue"/>
              </a:rPr>
              <a:t>physical access</a:t>
            </a:r>
          </a:p>
        </p:txBody>
      </p:sp>
      <p:sp>
        <p:nvSpPr>
          <p:cNvPr id="17" name="">
            <a:extLst xmlns:a="http://schemas.openxmlformats.org/drawingml/2006/main">
              <a:ext uri="{FF2B5EF4-FFF2-40B4-BE49-F238E27FC236}">
                <a16:creationId xmlns:a16="http://schemas.microsoft.com/office/drawing/2014/main" id="{74DEC813-FA35-45B4-BE23-0C8D3C6E5A7C}"/>
              </a:ext>
            </a:extLst>
          </p:cNvPr>
          <p:cNvSpPr>
            <a:spLocks xmlns:a="http://schemas.openxmlformats.org/drawingml/2006/main" noGrp="1"/>
          </p:cNvSpPr>
          <p:nvPr/>
        </p:nvSpPr>
        <p:spPr>
          <a:xfrm xmlns:a="http://schemas.openxmlformats.org/drawingml/2006/main" rot="0">
            <a:off x="4953000" y="3257550"/>
            <a:ext cx="5981700" cy="571500"/>
          </a:xfrm>
          <a:prstGeom xmlns:a="http://schemas.openxmlformats.org/drawingml/2006/main" prst="roundRect">
            <a:avLst>
              <a:gd name="adj" fmla="val 13333"/>
            </a:avLst>
          </a:prstGeom>
          <a:solidFill xmlns:a="http://schemas.openxmlformats.org/drawingml/2006/main">
            <a:srgbClr val="FFFDF7"/>
          </a:solidFill>
          <a:ln xmlns:a="http://schemas.openxmlformats.org/drawingml/2006/main" w="14288">
            <a:solidFill>
              <a:srgbClr val="8A5A18"/>
            </a:solidFill>
            <a:prstDash val="solid"/>
          </a:ln>
        </p:spPr>
      </p:sp>
      <p:sp>
        <p:nvSpPr>
          <p:cNvPr id="18" name="">
            <a:extLst xmlns:a="http://schemas.openxmlformats.org/drawingml/2006/main">
              <a:ext uri="{FF2B5EF4-FFF2-40B4-BE49-F238E27FC236}">
                <a16:creationId xmlns:a16="http://schemas.microsoft.com/office/drawing/2014/main" id="{67594E29-A95A-40E3-8F74-3DA31016372C}"/>
              </a:ext>
            </a:extLst>
          </p:cNvPr>
          <p:cNvSpPr>
            <a:spLocks xmlns:a="http://schemas.openxmlformats.org/drawingml/2006/main" noGrp="1"/>
          </p:cNvSpPr>
          <p:nvPr/>
        </p:nvSpPr>
        <p:spPr>
          <a:xfrm xmlns:a="http://schemas.openxmlformats.org/drawingml/2006/main" rot="0">
            <a:off x="5238750" y="3400425"/>
            <a:ext cx="5410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0" i="0">
                <a:solidFill>
                  <a:srgbClr val="202522"/>
                </a:solidFill>
                <a:latin typeface="Helvetica Neue"/>
                <a:ea typeface="Helvetica Neue"/>
                <a:cs typeface="Helvetica Neue"/>
              </a:defRPr>
            </a:pPr>
            <a:r>
              <a:rPr sz="1800" b="0" i="0">
                <a:solidFill>
                  <a:srgbClr val="202522"/>
                </a:solidFill>
                <a:latin typeface="Helvetica Neue"/>
                <a:ea typeface="Helvetica Neue"/>
                <a:cs typeface="Helvetica Neue"/>
              </a:rPr>
              <a:t>same bindings</a:t>
            </a:r>
          </a:p>
        </p:txBody>
      </p:sp>
      <p:sp>
        <p:nvSpPr>
          <p:cNvPr id="19" name="">
            <a:extLst xmlns:a="http://schemas.openxmlformats.org/drawingml/2006/main">
              <a:ext uri="{FF2B5EF4-FFF2-40B4-BE49-F238E27FC236}">
                <a16:creationId xmlns:a16="http://schemas.microsoft.com/office/drawing/2014/main" id="{3F34CA2F-2D4F-4A67-8C4E-8D618D6D6078}"/>
              </a:ext>
            </a:extLst>
          </p:cNvPr>
          <p:cNvSpPr>
            <a:spLocks xmlns:a="http://schemas.openxmlformats.org/drawingml/2006/main" noGrp="1"/>
          </p:cNvSpPr>
          <p:nvPr/>
        </p:nvSpPr>
        <p:spPr>
          <a:xfrm xmlns:a="http://schemas.openxmlformats.org/drawingml/2006/main" rot="0">
            <a:off x="5715000" y="4591050"/>
            <a:ext cx="762000" cy="209550"/>
          </a:xfrm>
          <a:prstGeom xmlns:a="http://schemas.openxmlformats.org/drawingml/2006/main" prst="rightArrow">
            <a:avLst/>
          </a:prstGeom>
          <a:solidFill xmlns:a="http://schemas.openxmlformats.org/drawingml/2006/main">
            <a:srgbClr val="D9D5C9"/>
          </a:solidFill>
          <a:ln xmlns:a="http://schemas.openxmlformats.org/drawingml/2006/main" w="0">
            <a:solidFill>
              <a:srgbClr val="D9D5C9"/>
            </a:solidFill>
            <a:prstDash val="solid"/>
          </a:ln>
        </p:spPr>
      </p:sp>
      <p:sp>
        <p:nvSpPr>
          <p:cNvPr id="20" name="">
            <a:extLst xmlns:a="http://schemas.openxmlformats.org/drawingml/2006/main">
              <a:ext uri="{FF2B5EF4-FFF2-40B4-BE49-F238E27FC236}">
                <a16:creationId xmlns:a16="http://schemas.microsoft.com/office/drawing/2014/main" id="{D2D381A8-B854-462E-9654-5D02B242A31C}"/>
              </a:ext>
            </a:extLst>
          </p:cNvPr>
          <p:cNvSpPr>
            <a:spLocks xmlns:a="http://schemas.openxmlformats.org/drawingml/2006/main" noGrp="1"/>
          </p:cNvSpPr>
          <p:nvPr/>
        </p:nvSpPr>
        <p:spPr>
          <a:xfrm xmlns:a="http://schemas.openxmlformats.org/drawingml/2006/main" rot="0">
            <a:off x="819150" y="415290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286D91"/>
                </a:solidFill>
                <a:latin typeface="Helvetica Neue"/>
                <a:ea typeface="Helvetica Neue"/>
                <a:cs typeface="Helvetica Neue"/>
              </a:defRPr>
            </a:pPr>
            <a:r>
              <a:rPr sz="2100" b="1" i="0">
                <a:solidFill>
                  <a:srgbClr val="286D91"/>
                </a:solidFill>
                <a:latin typeface="Helvetica Neue"/>
                <a:ea typeface="Helvetica Neue"/>
                <a:cs typeface="Helvetica Neue"/>
              </a:rPr>
              <a:t>control plan</a:t>
            </a:r>
          </a:p>
        </p:txBody>
      </p:sp>
      <p:sp>
        <p:nvSpPr>
          <p:cNvPr id="21" name="">
            <a:extLst xmlns:a="http://schemas.openxmlformats.org/drawingml/2006/main">
              <a:ext uri="{FF2B5EF4-FFF2-40B4-BE49-F238E27FC236}">
                <a16:creationId xmlns:a16="http://schemas.microsoft.com/office/drawing/2014/main" id="{B2431EE4-B3C4-4D0A-A1D4-FEDFCC9224B1}"/>
              </a:ext>
            </a:extLst>
          </p:cNvPr>
          <p:cNvSpPr>
            <a:spLocks xmlns:a="http://schemas.openxmlformats.org/drawingml/2006/main" noGrp="1"/>
          </p:cNvSpPr>
          <p:nvPr/>
        </p:nvSpPr>
        <p:spPr>
          <a:xfrm xmlns:a="http://schemas.openxmlformats.org/drawingml/2006/main" rot="0">
            <a:off x="4953000" y="4095750"/>
            <a:ext cx="5981700" cy="571500"/>
          </a:xfrm>
          <a:prstGeom xmlns:a="http://schemas.openxmlformats.org/drawingml/2006/main" prst="roundRect">
            <a:avLst>
              <a:gd name="adj" fmla="val 13333"/>
            </a:avLst>
          </a:prstGeom>
          <a:solidFill xmlns:a="http://schemas.openxmlformats.org/drawingml/2006/main">
            <a:srgbClr val="FFFDF7"/>
          </a:solidFill>
          <a:ln xmlns:a="http://schemas.openxmlformats.org/drawingml/2006/main" w="14288">
            <a:solidFill>
              <a:srgbClr val="286D91"/>
            </a:solidFill>
            <a:prstDash val="solid"/>
          </a:ln>
        </p:spPr>
      </p:sp>
      <p:sp>
        <p:nvSpPr>
          <p:cNvPr id="22" name="">
            <a:extLst xmlns:a="http://schemas.openxmlformats.org/drawingml/2006/main">
              <a:ext uri="{FF2B5EF4-FFF2-40B4-BE49-F238E27FC236}">
                <a16:creationId xmlns:a16="http://schemas.microsoft.com/office/drawing/2014/main" id="{FA12065C-62FF-4498-A9C1-8A6521D65141}"/>
              </a:ext>
            </a:extLst>
          </p:cNvPr>
          <p:cNvSpPr>
            <a:spLocks xmlns:a="http://schemas.openxmlformats.org/drawingml/2006/main" noGrp="1"/>
          </p:cNvSpPr>
          <p:nvPr/>
        </p:nvSpPr>
        <p:spPr>
          <a:xfrm xmlns:a="http://schemas.openxmlformats.org/drawingml/2006/main" rot="0">
            <a:off x="5238750" y="4238625"/>
            <a:ext cx="5410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0" i="0">
                <a:solidFill>
                  <a:srgbClr val="202522"/>
                </a:solidFill>
                <a:latin typeface="Helvetica Neue"/>
                <a:ea typeface="Helvetica Neue"/>
                <a:cs typeface="Helvetica Neue"/>
              </a:defRPr>
            </a:pPr>
            <a:r>
              <a:rPr sz="1800" b="0" i="0">
                <a:solidFill>
                  <a:srgbClr val="202522"/>
                </a:solidFill>
                <a:latin typeface="Helvetica Neue"/>
                <a:ea typeface="Helvetica Neue"/>
                <a:cs typeface="Helvetica Neue"/>
              </a:rPr>
              <a:t>same result stream</a:t>
            </a:r>
          </a:p>
        </p:txBody>
      </p:sp>
      <p:sp>
        <p:nvSpPr>
          <p:cNvPr id="23" name="">
            <a:extLst xmlns:a="http://schemas.openxmlformats.org/drawingml/2006/main">
              <a:ext uri="{FF2B5EF4-FFF2-40B4-BE49-F238E27FC236}">
                <a16:creationId xmlns:a16="http://schemas.microsoft.com/office/drawing/2014/main" id="{DB4BCF0A-ACD2-4E40-90A3-F81CEAA3B056}"/>
              </a:ext>
            </a:extLst>
          </p:cNvPr>
          <p:cNvSpPr>
            <a:spLocks xmlns:a="http://schemas.openxmlformats.org/drawingml/2006/main" noGrp="1"/>
          </p:cNvSpPr>
          <p:nvPr/>
        </p:nvSpPr>
        <p:spPr>
          <a:xfrm xmlns:a="http://schemas.openxmlformats.org/drawingml/2006/main" rot="0">
            <a:off x="819150" y="499110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9B4C2F"/>
                </a:solidFill>
                <a:latin typeface="Helvetica Neue"/>
                <a:ea typeface="Helvetica Neue"/>
                <a:cs typeface="Helvetica Neue"/>
              </a:defRPr>
            </a:pPr>
            <a:r>
              <a:rPr sz="2100" b="1" i="0">
                <a:solidFill>
                  <a:srgbClr val="9B4C2F"/>
                </a:solidFill>
                <a:latin typeface="Helvetica Neue"/>
                <a:ea typeface="Helvetica Neue"/>
                <a:cs typeface="Helvetica Neue"/>
              </a:rPr>
              <a:t>Rust program</a:t>
            </a:r>
          </a:p>
        </p:txBody>
      </p:sp>
      <p:sp>
        <p:nvSpPr>
          <p:cNvPr id="24" name="">
            <a:extLst xmlns:a="http://schemas.openxmlformats.org/drawingml/2006/main">
              <a:ext uri="{FF2B5EF4-FFF2-40B4-BE49-F238E27FC236}">
                <a16:creationId xmlns:a16="http://schemas.microsoft.com/office/drawing/2014/main" id="{8367FDE7-FB55-4BB3-BB61-F6026CA6E499}"/>
              </a:ext>
            </a:extLst>
          </p:cNvPr>
          <p:cNvSpPr>
            <a:spLocks xmlns:a="http://schemas.openxmlformats.org/drawingml/2006/main" noGrp="1"/>
          </p:cNvSpPr>
          <p:nvPr/>
        </p:nvSpPr>
        <p:spPr>
          <a:xfrm xmlns:a="http://schemas.openxmlformats.org/drawingml/2006/main" rot="0">
            <a:off x="4953000" y="4933950"/>
            <a:ext cx="5981700" cy="571500"/>
          </a:xfrm>
          <a:prstGeom xmlns:a="http://schemas.openxmlformats.org/drawingml/2006/main" prst="roundRect">
            <a:avLst>
              <a:gd name="adj" fmla="val 13333"/>
            </a:avLst>
          </a:prstGeom>
          <a:solidFill xmlns:a="http://schemas.openxmlformats.org/drawingml/2006/main">
            <a:srgbClr val="FFFDF7"/>
          </a:solidFill>
          <a:ln xmlns:a="http://schemas.openxmlformats.org/drawingml/2006/main" w="14288">
            <a:solidFill>
              <a:srgbClr val="9B4C2F"/>
            </a:solidFill>
            <a:prstDash val="solid"/>
          </a:ln>
        </p:spPr>
      </p:sp>
      <p:sp>
        <p:nvSpPr>
          <p:cNvPr id="25" name="">
            <a:extLst xmlns:a="http://schemas.openxmlformats.org/drawingml/2006/main">
              <a:ext uri="{FF2B5EF4-FFF2-40B4-BE49-F238E27FC236}">
                <a16:creationId xmlns:a16="http://schemas.microsoft.com/office/drawing/2014/main" id="{24DD53A5-1532-424C-8A78-60295E7F164B}"/>
              </a:ext>
            </a:extLst>
          </p:cNvPr>
          <p:cNvSpPr>
            <a:spLocks xmlns:a="http://schemas.openxmlformats.org/drawingml/2006/main" noGrp="1"/>
          </p:cNvSpPr>
          <p:nvPr/>
        </p:nvSpPr>
        <p:spPr>
          <a:xfrm xmlns:a="http://schemas.openxmlformats.org/drawingml/2006/main" rot="0">
            <a:off x="5238750" y="5076825"/>
            <a:ext cx="5410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0" i="0">
                <a:solidFill>
                  <a:srgbClr val="202522"/>
                </a:solidFill>
                <a:latin typeface="Helvetica Neue"/>
                <a:ea typeface="Helvetica Neue"/>
                <a:cs typeface="Helvetica Neue"/>
              </a:defRPr>
            </a:pPr>
            <a:r>
              <a:rPr sz="1800" b="0" i="0">
                <a:solidFill>
                  <a:srgbClr val="202522"/>
                </a:solidFill>
                <a:latin typeface="Helvetica Neue"/>
                <a:ea typeface="Helvetica Neue"/>
                <a:cs typeface="Helvetica Neue"/>
              </a:rPr>
              <a:t>same set of rows</a:t>
            </a:r>
          </a:p>
        </p:txBody>
      </p:sp>
      <p:sp>
        <p:nvSpPr>
          <p:cNvPr id="26" name="">
            <a:extLst xmlns:a="http://schemas.openxmlformats.org/drawingml/2006/main">
              <a:ext uri="{FF2B5EF4-FFF2-40B4-BE49-F238E27FC236}">
                <a16:creationId xmlns:a16="http://schemas.microsoft.com/office/drawing/2014/main" id="{DFA8AF4C-F257-410D-882B-84A83BD9EF8B}"/>
              </a:ext>
            </a:extLst>
          </p:cNvPr>
          <p:cNvSpPr>
            <a:spLocks xmlns:a="http://schemas.openxmlformats.org/drawingml/2006/main" noGrp="1"/>
          </p:cNvSpPr>
          <p:nvPr/>
        </p:nvSpPr>
        <p:spPr>
          <a:xfrm xmlns:a="http://schemas.openxmlformats.org/drawingml/2006/main" rot="0">
            <a:off x="1543050" y="5772150"/>
            <a:ext cx="9105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950" b="0" i="0">
                <a:solidFill>
                  <a:srgbClr val="684F82"/>
                </a:solidFill>
                <a:latin typeface="Helvetica Neue"/>
                <a:ea typeface="Helvetica Neue"/>
                <a:cs typeface="Helvetica Neue"/>
              </a:defRPr>
            </a:pPr>
            <a:r>
              <a:rPr sz="1950" b="0" i="0">
                <a:solidFill>
                  <a:srgbClr val="684F82"/>
                </a:solidFill>
                <a:latin typeface="Helvetica Neue"/>
                <a:ea typeface="Helvetica Neue"/>
                <a:cs typeface="Helvetica Neue"/>
              </a:rPr>
              <a:t>Every pass needs a local before/after claim—not faith in the final output.</a:t>
            </a:r>
          </a:p>
        </p:txBody>
      </p:sp>
    </p:spTree>
    <p:extLst>
      <p:ext uri="{BB962C8B-B14F-4D97-AF65-F5344CB8AC3E}">
        <p14:creationId xmlns:p14="http://schemas.microsoft.com/office/powerpoint/2010/main" val="896072588"/>
      </p:ext>
    </p:extLst>
  </p:cSld>
</p:sld>
</file>

<file path=ppt/slides/slide1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21030EDD-51F3-48C8-8D44-0116151F37F4}"/>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176B73"/>
          </a:solidFill>
          <a:ln xmlns:a="http://schemas.openxmlformats.org/drawingml/2006/main" w="0">
            <a:solidFill>
              <a:srgbClr val="176B73"/>
            </a:solidFill>
            <a:prstDash val="solid"/>
          </a:ln>
        </p:spPr>
      </p:sp>
      <p:sp>
        <p:nvSpPr>
          <p:cNvPr id="2" name="">
            <a:extLst xmlns:a="http://schemas.openxmlformats.org/drawingml/2006/main">
              <a:ext uri="{FF2B5EF4-FFF2-40B4-BE49-F238E27FC236}">
                <a16:creationId xmlns:a16="http://schemas.microsoft.com/office/drawing/2014/main" id="{BC19BCC1-5BB4-4E99-B4BE-64A3B91962A7}"/>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6B73"/>
                </a:solidFill>
                <a:latin typeface="Helvetica Neue"/>
                <a:ea typeface="Helvetica Neue"/>
                <a:cs typeface="Helvetica Neue"/>
              </a:defRPr>
            </a:pPr>
            <a:r>
              <a:rPr sz="1050" b="1" i="0">
                <a:solidFill>
                  <a:srgbClr val="176B73"/>
                </a:solidFill>
                <a:latin typeface="Helvetica Neue"/>
                <a:ea typeface="Helvetica Neue"/>
                <a:cs typeface="Helvetica Neue"/>
              </a:rPr>
              <a:t>WHAT WE WILL—AND WILL NOT—BUILD</a:t>
            </a:r>
          </a:p>
        </p:txBody>
      </p:sp>
      <p:sp>
        <p:nvSpPr>
          <p:cNvPr id="3" name="">
            <a:extLst xmlns:a="http://schemas.openxmlformats.org/drawingml/2006/main">
              <a:ext uri="{FF2B5EF4-FFF2-40B4-BE49-F238E27FC236}">
                <a16:creationId xmlns:a16="http://schemas.microsoft.com/office/drawing/2014/main" id="{D9E7CBCB-34AF-4D5E-A0B1-08183077F2D4}"/>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Our target is a glass-box query processor</a:t>
            </a:r>
          </a:p>
        </p:txBody>
      </p:sp>
      <p:sp>
        <p:nvSpPr>
          <p:cNvPr id="4" name="">
            <a:extLst xmlns:a="http://schemas.openxmlformats.org/drawingml/2006/main">
              <a:ext uri="{FF2B5EF4-FFF2-40B4-BE49-F238E27FC236}">
                <a16:creationId xmlns:a16="http://schemas.microsoft.com/office/drawing/2014/main" id="{4E2C6612-4625-4418-AAD6-43D9C9E5E34E}"/>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4F6DCD28-3BB2-4AD6-94F7-ED39C2700E23}"/>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0E285DE5-92DB-4BA1-A1CC-A82B8537714D}"/>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13</a:t>
            </a:r>
          </a:p>
        </p:txBody>
      </p:sp>
      <p:sp>
        <p:nvSpPr>
          <p:cNvPr id="7" name="">
            <a:extLst xmlns:a="http://schemas.openxmlformats.org/drawingml/2006/main">
              <a:ext uri="{FF2B5EF4-FFF2-40B4-BE49-F238E27FC236}">
                <a16:creationId xmlns:a16="http://schemas.microsoft.com/office/drawing/2014/main" id="{84509D4A-D48D-45A4-9E86-30F68823AD6A}"/>
              </a:ext>
            </a:extLst>
          </p:cNvPr>
          <p:cNvSpPr>
            <a:spLocks xmlns:a="http://schemas.openxmlformats.org/drawingml/2006/main" noGrp="1"/>
          </p:cNvSpPr>
          <p:nvPr/>
        </p:nvSpPr>
        <p:spPr>
          <a:xfrm xmlns:a="http://schemas.openxmlformats.org/drawingml/2006/main">
            <a:off x="6096000" y="1600200"/>
            <a:ext cx="0" cy="390525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8" name="">
            <a:extLst xmlns:a="http://schemas.openxmlformats.org/drawingml/2006/main">
              <a:ext uri="{FF2B5EF4-FFF2-40B4-BE49-F238E27FC236}">
                <a16:creationId xmlns:a16="http://schemas.microsoft.com/office/drawing/2014/main" id="{A68EE80F-A502-46CA-8B61-CC3982388CB4}"/>
              </a:ext>
            </a:extLst>
          </p:cNvPr>
          <p:cNvSpPr>
            <a:spLocks xmlns:a="http://schemas.openxmlformats.org/drawingml/2006/main" noGrp="1"/>
          </p:cNvSpPr>
          <p:nvPr/>
        </p:nvSpPr>
        <p:spPr>
          <a:xfrm xmlns:a="http://schemas.openxmlformats.org/drawingml/2006/main" rot="0">
            <a:off x="819150" y="158115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176B73"/>
                </a:solidFill>
                <a:latin typeface="Helvetica Neue"/>
                <a:ea typeface="Helvetica Neue"/>
                <a:cs typeface="Helvetica Neue"/>
              </a:defRPr>
            </a:pPr>
            <a:r>
              <a:rPr sz="1125" b="1" i="0">
                <a:solidFill>
                  <a:srgbClr val="176B73"/>
                </a:solidFill>
                <a:latin typeface="Helvetica Neue"/>
                <a:ea typeface="Helvetica Neue"/>
                <a:cs typeface="Helvetica Neue"/>
              </a:rPr>
              <a:t>WE MAKE VISIBLE</a:t>
            </a:r>
          </a:p>
        </p:txBody>
      </p:sp>
      <p:sp>
        <p:nvSpPr>
          <p:cNvPr id="9" name="">
            <a:extLst xmlns:a="http://schemas.openxmlformats.org/drawingml/2006/main">
              <a:ext uri="{FF2B5EF4-FFF2-40B4-BE49-F238E27FC236}">
                <a16:creationId xmlns:a16="http://schemas.microsoft.com/office/drawing/2014/main" id="{7435594C-0B2A-4A18-8FC0-E9CA53CC1508}"/>
              </a:ext>
            </a:extLst>
          </p:cNvPr>
          <p:cNvSpPr>
            <a:spLocks xmlns:a="http://schemas.openxmlformats.org/drawingml/2006/main" noGrp="1"/>
          </p:cNvSpPr>
          <p:nvPr/>
        </p:nvSpPr>
        <p:spPr>
          <a:xfrm xmlns:a="http://schemas.openxmlformats.org/drawingml/2006/main" rot="0">
            <a:off x="6819900" y="158115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9B4C2F"/>
                </a:solidFill>
                <a:latin typeface="Helvetica Neue"/>
                <a:ea typeface="Helvetica Neue"/>
                <a:cs typeface="Helvetica Neue"/>
              </a:defRPr>
            </a:pPr>
            <a:r>
              <a:rPr sz="1125" b="1" i="0">
                <a:solidFill>
                  <a:srgbClr val="9B4C2F"/>
                </a:solidFill>
                <a:latin typeface="Helvetica Neue"/>
                <a:ea typeface="Helvetica Neue"/>
                <a:cs typeface="Helvetica Neue"/>
              </a:rPr>
              <a:t>WE DO NOT REBUILD</a:t>
            </a:r>
          </a:p>
        </p:txBody>
      </p:sp>
      <p:sp>
        <p:nvSpPr>
          <p:cNvPr id="10" name="">
            <a:extLst xmlns:a="http://schemas.openxmlformats.org/drawingml/2006/main">
              <a:ext uri="{FF2B5EF4-FFF2-40B4-BE49-F238E27FC236}">
                <a16:creationId xmlns:a16="http://schemas.microsoft.com/office/drawing/2014/main" id="{F040FD4E-C586-4079-AF9E-49B8E6032286}"/>
              </a:ext>
            </a:extLst>
          </p:cNvPr>
          <p:cNvSpPr>
            <a:spLocks xmlns:a="http://schemas.openxmlformats.org/drawingml/2006/main" noGrp="1"/>
          </p:cNvSpPr>
          <p:nvPr/>
        </p:nvSpPr>
        <p:spPr>
          <a:xfrm xmlns:a="http://schemas.openxmlformats.org/drawingml/2006/main" rot="0">
            <a:off x="819150" y="2133600"/>
            <a:ext cx="114300" cy="11430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11" name="">
            <a:extLst xmlns:a="http://schemas.openxmlformats.org/drawingml/2006/main">
              <a:ext uri="{FF2B5EF4-FFF2-40B4-BE49-F238E27FC236}">
                <a16:creationId xmlns:a16="http://schemas.microsoft.com/office/drawing/2014/main" id="{74A1FBF2-F16E-4FC9-A5C4-C4CBFBABEF39}"/>
              </a:ext>
            </a:extLst>
          </p:cNvPr>
          <p:cNvSpPr>
            <a:spLocks xmlns:a="http://schemas.openxmlformats.org/drawingml/2006/main" noGrp="1"/>
          </p:cNvSpPr>
          <p:nvPr/>
        </p:nvSpPr>
        <p:spPr>
          <a:xfrm xmlns:a="http://schemas.openxmlformats.org/drawingml/2006/main" rot="0">
            <a:off x="1066800" y="20574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202522"/>
                </a:solidFill>
                <a:latin typeface="Helvetica Neue"/>
                <a:ea typeface="Helvetica Neue"/>
                <a:cs typeface="Helvetica Neue"/>
              </a:defRPr>
            </a:pPr>
            <a:r>
              <a:rPr sz="1725" b="0" i="0">
                <a:solidFill>
                  <a:srgbClr val="202522"/>
                </a:solidFill>
                <a:latin typeface="Helvetica Neue"/>
                <a:ea typeface="Helvetica Neue"/>
                <a:cs typeface="Helvetica Neue"/>
              </a:rPr>
              <a:t>CQ meaning</a:t>
            </a:r>
          </a:p>
        </p:txBody>
      </p:sp>
      <p:sp>
        <p:nvSpPr>
          <p:cNvPr id="12" name="">
            <a:extLst xmlns:a="http://schemas.openxmlformats.org/drawingml/2006/main">
              <a:ext uri="{FF2B5EF4-FFF2-40B4-BE49-F238E27FC236}">
                <a16:creationId xmlns:a16="http://schemas.microsoft.com/office/drawing/2014/main" id="{028350BE-7D32-4D89-BA07-DA283A40EB64}"/>
              </a:ext>
            </a:extLst>
          </p:cNvPr>
          <p:cNvSpPr>
            <a:spLocks xmlns:a="http://schemas.openxmlformats.org/drawingml/2006/main" noGrp="1"/>
          </p:cNvSpPr>
          <p:nvPr/>
        </p:nvSpPr>
        <p:spPr>
          <a:xfrm xmlns:a="http://schemas.openxmlformats.org/drawingml/2006/main" rot="0">
            <a:off x="819150" y="2647950"/>
            <a:ext cx="114300" cy="11430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13" name="">
            <a:extLst xmlns:a="http://schemas.openxmlformats.org/drawingml/2006/main">
              <a:ext uri="{FF2B5EF4-FFF2-40B4-BE49-F238E27FC236}">
                <a16:creationId xmlns:a16="http://schemas.microsoft.com/office/drawing/2014/main" id="{5CFF22E2-87A2-4703-B84F-A3D3094B0BD6}"/>
              </a:ext>
            </a:extLst>
          </p:cNvPr>
          <p:cNvSpPr>
            <a:spLocks xmlns:a="http://schemas.openxmlformats.org/drawingml/2006/main" noGrp="1"/>
          </p:cNvSpPr>
          <p:nvPr/>
        </p:nvSpPr>
        <p:spPr>
          <a:xfrm xmlns:a="http://schemas.openxmlformats.org/drawingml/2006/main" rot="0">
            <a:off x="1066800" y="25717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202522"/>
                </a:solidFill>
                <a:latin typeface="Helvetica Neue"/>
                <a:ea typeface="Helvetica Neue"/>
                <a:cs typeface="Helvetica Neue"/>
              </a:defRPr>
            </a:pPr>
            <a:r>
              <a:rPr sz="1725" b="0" i="0">
                <a:solidFill>
                  <a:srgbClr val="202522"/>
                </a:solidFill>
                <a:latin typeface="Helvetica Neue"/>
                <a:ea typeface="Helvetica Neue"/>
                <a:cs typeface="Helvetica Neue"/>
              </a:rPr>
              <a:t>logical and physical IRs</a:t>
            </a:r>
          </a:p>
        </p:txBody>
      </p:sp>
      <p:sp>
        <p:nvSpPr>
          <p:cNvPr id="14" name="">
            <a:extLst xmlns:a="http://schemas.openxmlformats.org/drawingml/2006/main">
              <a:ext uri="{FF2B5EF4-FFF2-40B4-BE49-F238E27FC236}">
                <a16:creationId xmlns:a16="http://schemas.microsoft.com/office/drawing/2014/main" id="{B337F086-577F-4986-9DF0-8FACAE16A523}"/>
              </a:ext>
            </a:extLst>
          </p:cNvPr>
          <p:cNvSpPr>
            <a:spLocks xmlns:a="http://schemas.openxmlformats.org/drawingml/2006/main" noGrp="1"/>
          </p:cNvSpPr>
          <p:nvPr/>
        </p:nvSpPr>
        <p:spPr>
          <a:xfrm xmlns:a="http://schemas.openxmlformats.org/drawingml/2006/main" rot="0">
            <a:off x="819150" y="3162300"/>
            <a:ext cx="114300" cy="11430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15" name="">
            <a:extLst xmlns:a="http://schemas.openxmlformats.org/drawingml/2006/main">
              <a:ext uri="{FF2B5EF4-FFF2-40B4-BE49-F238E27FC236}">
                <a16:creationId xmlns:a16="http://schemas.microsoft.com/office/drawing/2014/main" id="{FCE1257B-2169-4B26-8FEE-A5AE165E2437}"/>
              </a:ext>
            </a:extLst>
          </p:cNvPr>
          <p:cNvSpPr>
            <a:spLocks xmlns:a="http://schemas.openxmlformats.org/drawingml/2006/main" noGrp="1"/>
          </p:cNvSpPr>
          <p:nvPr/>
        </p:nvSpPr>
        <p:spPr>
          <a:xfrm xmlns:a="http://schemas.openxmlformats.org/drawingml/2006/main" rot="0">
            <a:off x="1066800" y="30861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202522"/>
                </a:solidFill>
                <a:latin typeface="Helvetica Neue"/>
                <a:ea typeface="Helvetica Neue"/>
                <a:cs typeface="Helvetica Neue"/>
              </a:defRPr>
            </a:pPr>
            <a:r>
              <a:rPr sz="1725" b="0" i="0">
                <a:solidFill>
                  <a:srgbClr val="202522"/>
                </a:solidFill>
                <a:latin typeface="Helvetica Neue"/>
                <a:ea typeface="Helvetica Neue"/>
                <a:cs typeface="Helvetica Neue"/>
              </a:rPr>
              <a:t>join algorithms</a:t>
            </a:r>
          </a:p>
        </p:txBody>
      </p:sp>
      <p:sp>
        <p:nvSpPr>
          <p:cNvPr id="16" name="">
            <a:extLst xmlns:a="http://schemas.openxmlformats.org/drawingml/2006/main">
              <a:ext uri="{FF2B5EF4-FFF2-40B4-BE49-F238E27FC236}">
                <a16:creationId xmlns:a16="http://schemas.microsoft.com/office/drawing/2014/main" id="{FDEC6F0B-4834-46B2-890E-2CE386E6DC04}"/>
              </a:ext>
            </a:extLst>
          </p:cNvPr>
          <p:cNvSpPr>
            <a:spLocks xmlns:a="http://schemas.openxmlformats.org/drawingml/2006/main" noGrp="1"/>
          </p:cNvSpPr>
          <p:nvPr/>
        </p:nvSpPr>
        <p:spPr>
          <a:xfrm xmlns:a="http://schemas.openxmlformats.org/drawingml/2006/main" rot="0">
            <a:off x="819150" y="3676650"/>
            <a:ext cx="114300" cy="11430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17" name="">
            <a:extLst xmlns:a="http://schemas.openxmlformats.org/drawingml/2006/main">
              <a:ext uri="{FF2B5EF4-FFF2-40B4-BE49-F238E27FC236}">
                <a16:creationId xmlns:a16="http://schemas.microsoft.com/office/drawing/2014/main" id="{BB4C5C68-46DC-4282-8A74-E7BC673BB4FF}"/>
              </a:ext>
            </a:extLst>
          </p:cNvPr>
          <p:cNvSpPr>
            <a:spLocks xmlns:a="http://schemas.openxmlformats.org/drawingml/2006/main" noGrp="1"/>
          </p:cNvSpPr>
          <p:nvPr/>
        </p:nvSpPr>
        <p:spPr>
          <a:xfrm xmlns:a="http://schemas.openxmlformats.org/drawingml/2006/main" rot="0">
            <a:off x="1066800" y="36004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202522"/>
                </a:solidFill>
                <a:latin typeface="Helvetica Neue"/>
                <a:ea typeface="Helvetica Neue"/>
                <a:cs typeface="Helvetica Neue"/>
              </a:defRPr>
            </a:pPr>
            <a:r>
              <a:rPr sz="1725" b="0" i="0">
                <a:solidFill>
                  <a:srgbClr val="202522"/>
                </a:solidFill>
                <a:latin typeface="Helvetica Neue"/>
                <a:ea typeface="Helvetica Neue"/>
                <a:cs typeface="Helvetica Neue"/>
              </a:rPr>
              <a:t>indexes and access</a:t>
            </a:r>
          </a:p>
        </p:txBody>
      </p:sp>
      <p:sp>
        <p:nvSpPr>
          <p:cNvPr id="18" name="">
            <a:extLst xmlns:a="http://schemas.openxmlformats.org/drawingml/2006/main">
              <a:ext uri="{FF2B5EF4-FFF2-40B4-BE49-F238E27FC236}">
                <a16:creationId xmlns:a16="http://schemas.microsoft.com/office/drawing/2014/main" id="{1445B773-F9FF-446D-8F88-4997808AAAAC}"/>
              </a:ext>
            </a:extLst>
          </p:cNvPr>
          <p:cNvSpPr>
            <a:spLocks xmlns:a="http://schemas.openxmlformats.org/drawingml/2006/main" noGrp="1"/>
          </p:cNvSpPr>
          <p:nvPr/>
        </p:nvSpPr>
        <p:spPr>
          <a:xfrm xmlns:a="http://schemas.openxmlformats.org/drawingml/2006/main" rot="0">
            <a:off x="819150" y="4191000"/>
            <a:ext cx="114300" cy="11430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19" name="">
            <a:extLst xmlns:a="http://schemas.openxmlformats.org/drawingml/2006/main">
              <a:ext uri="{FF2B5EF4-FFF2-40B4-BE49-F238E27FC236}">
                <a16:creationId xmlns:a16="http://schemas.microsoft.com/office/drawing/2014/main" id="{412150D6-E92A-40C1-A291-475606A4AE29}"/>
              </a:ext>
            </a:extLst>
          </p:cNvPr>
          <p:cNvSpPr>
            <a:spLocks xmlns:a="http://schemas.openxmlformats.org/drawingml/2006/main" noGrp="1"/>
          </p:cNvSpPr>
          <p:nvPr/>
        </p:nvSpPr>
        <p:spPr>
          <a:xfrm xmlns:a="http://schemas.openxmlformats.org/drawingml/2006/main" rot="0">
            <a:off x="1066800" y="41148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202522"/>
                </a:solidFill>
                <a:latin typeface="Helvetica Neue"/>
                <a:ea typeface="Helvetica Neue"/>
                <a:cs typeface="Helvetica Neue"/>
              </a:defRPr>
            </a:pPr>
            <a:r>
              <a:rPr sz="1725" b="0" i="0">
                <a:solidFill>
                  <a:srgbClr val="202522"/>
                </a:solidFill>
                <a:latin typeface="Helvetica Neue"/>
                <a:ea typeface="Helvetica Neue"/>
                <a:cs typeface="Helvetica Neue"/>
              </a:rPr>
              <a:t>pull / push control</a:t>
            </a:r>
          </a:p>
        </p:txBody>
      </p:sp>
      <p:sp>
        <p:nvSpPr>
          <p:cNvPr id="20" name="">
            <a:extLst xmlns:a="http://schemas.openxmlformats.org/drawingml/2006/main">
              <a:ext uri="{FF2B5EF4-FFF2-40B4-BE49-F238E27FC236}">
                <a16:creationId xmlns:a16="http://schemas.microsoft.com/office/drawing/2014/main" id="{0B562936-CC19-4042-8CCE-9FC6600C8923}"/>
              </a:ext>
            </a:extLst>
          </p:cNvPr>
          <p:cNvSpPr>
            <a:spLocks xmlns:a="http://schemas.openxmlformats.org/drawingml/2006/main" noGrp="1"/>
          </p:cNvSpPr>
          <p:nvPr/>
        </p:nvSpPr>
        <p:spPr>
          <a:xfrm xmlns:a="http://schemas.openxmlformats.org/drawingml/2006/main" rot="0">
            <a:off x="819150" y="4705350"/>
            <a:ext cx="114300" cy="11430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21" name="">
            <a:extLst xmlns:a="http://schemas.openxmlformats.org/drawingml/2006/main">
              <a:ext uri="{FF2B5EF4-FFF2-40B4-BE49-F238E27FC236}">
                <a16:creationId xmlns:a16="http://schemas.microsoft.com/office/drawing/2014/main" id="{F5F34568-212A-4A8D-BE65-33606F62087E}"/>
              </a:ext>
            </a:extLst>
          </p:cNvPr>
          <p:cNvSpPr>
            <a:spLocks xmlns:a="http://schemas.openxmlformats.org/drawingml/2006/main" noGrp="1"/>
          </p:cNvSpPr>
          <p:nvPr/>
        </p:nvSpPr>
        <p:spPr>
          <a:xfrm xmlns:a="http://schemas.openxmlformats.org/drawingml/2006/main" rot="0">
            <a:off x="1066800" y="46291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202522"/>
                </a:solidFill>
                <a:latin typeface="Helvetica Neue"/>
                <a:ea typeface="Helvetica Neue"/>
                <a:cs typeface="Helvetica Neue"/>
              </a:defRPr>
            </a:pPr>
            <a:r>
              <a:rPr sz="1725" b="0" i="0">
                <a:solidFill>
                  <a:srgbClr val="202522"/>
                </a:solidFill>
                <a:latin typeface="Helvetica Neue"/>
                <a:ea typeface="Helvetica Neue"/>
                <a:cs typeface="Helvetica Neue"/>
              </a:rPr>
              <a:t>work counters</a:t>
            </a:r>
          </a:p>
        </p:txBody>
      </p:sp>
      <p:sp>
        <p:nvSpPr>
          <p:cNvPr id="22" name="">
            <a:extLst xmlns:a="http://schemas.openxmlformats.org/drawingml/2006/main">
              <a:ext uri="{FF2B5EF4-FFF2-40B4-BE49-F238E27FC236}">
                <a16:creationId xmlns:a16="http://schemas.microsoft.com/office/drawing/2014/main" id="{6830B991-00AA-4651-B3D7-00E686D921C8}"/>
              </a:ext>
            </a:extLst>
          </p:cNvPr>
          <p:cNvSpPr>
            <a:spLocks xmlns:a="http://schemas.openxmlformats.org/drawingml/2006/main" noGrp="1"/>
          </p:cNvSpPr>
          <p:nvPr/>
        </p:nvSpPr>
        <p:spPr>
          <a:xfrm xmlns:a="http://schemas.openxmlformats.org/drawingml/2006/main" rot="0">
            <a:off x="819150" y="5219700"/>
            <a:ext cx="114300" cy="11430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23" name="">
            <a:extLst xmlns:a="http://schemas.openxmlformats.org/drawingml/2006/main">
              <a:ext uri="{FF2B5EF4-FFF2-40B4-BE49-F238E27FC236}">
                <a16:creationId xmlns:a16="http://schemas.microsoft.com/office/drawing/2014/main" id="{941C363D-B285-4AA3-8FE5-2662BDEABC85}"/>
              </a:ext>
            </a:extLst>
          </p:cNvPr>
          <p:cNvSpPr>
            <a:spLocks xmlns:a="http://schemas.openxmlformats.org/drawingml/2006/main" noGrp="1"/>
          </p:cNvSpPr>
          <p:nvPr/>
        </p:nvSpPr>
        <p:spPr>
          <a:xfrm xmlns:a="http://schemas.openxmlformats.org/drawingml/2006/main" rot="0">
            <a:off x="1066800" y="51435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202522"/>
                </a:solidFill>
                <a:latin typeface="Helvetica Neue"/>
                <a:ea typeface="Helvetica Neue"/>
                <a:cs typeface="Helvetica Neue"/>
              </a:defRPr>
            </a:pPr>
            <a:r>
              <a:rPr sz="1725" b="0" i="0">
                <a:solidFill>
                  <a:srgbClr val="202522"/>
                </a:solidFill>
                <a:latin typeface="Helvetica Neue"/>
                <a:ea typeface="Helvetica Neue"/>
                <a:cs typeface="Helvetica Neue"/>
              </a:rPr>
              <a:t>recursive deltas</a:t>
            </a:r>
          </a:p>
        </p:txBody>
      </p:sp>
      <p:sp>
        <p:nvSpPr>
          <p:cNvPr id="24" name="">
            <a:extLst xmlns:a="http://schemas.openxmlformats.org/drawingml/2006/main">
              <a:ext uri="{FF2B5EF4-FFF2-40B4-BE49-F238E27FC236}">
                <a16:creationId xmlns:a16="http://schemas.microsoft.com/office/drawing/2014/main" id="{7F8D1D52-D2AA-410B-AA35-E30E76DB60F5}"/>
              </a:ext>
            </a:extLst>
          </p:cNvPr>
          <p:cNvSpPr>
            <a:spLocks xmlns:a="http://schemas.openxmlformats.org/drawingml/2006/main" noGrp="1"/>
          </p:cNvSpPr>
          <p:nvPr/>
        </p:nvSpPr>
        <p:spPr>
          <a:xfrm xmlns:a="http://schemas.openxmlformats.org/drawingml/2006/main" rot="0">
            <a:off x="6838950" y="2124075"/>
            <a:ext cx="114300" cy="114300"/>
          </a:xfrm>
          <a:prstGeom xmlns:a="http://schemas.openxmlformats.org/drawingml/2006/main" prst="rect">
            <a:avLst/>
          </a:prstGeom>
          <a:solidFill xmlns:a="http://schemas.openxmlformats.org/drawingml/2006/main">
            <a:srgbClr val="F8EEE9"/>
          </a:solidFill>
          <a:ln xmlns:a="http://schemas.openxmlformats.org/drawingml/2006/main" w="14288">
            <a:solidFill>
              <a:srgbClr val="9B4C2F"/>
            </a:solidFill>
            <a:prstDash val="solid"/>
          </a:ln>
        </p:spPr>
      </p:sp>
      <p:sp>
        <p:nvSpPr>
          <p:cNvPr id="25" name="">
            <a:extLst xmlns:a="http://schemas.openxmlformats.org/drawingml/2006/main">
              <a:ext uri="{FF2B5EF4-FFF2-40B4-BE49-F238E27FC236}">
                <a16:creationId xmlns:a16="http://schemas.microsoft.com/office/drawing/2014/main" id="{A64508F3-DBDE-4E78-929E-5ED770299495}"/>
              </a:ext>
            </a:extLst>
          </p:cNvPr>
          <p:cNvSpPr>
            <a:spLocks xmlns:a="http://schemas.openxmlformats.org/drawingml/2006/main" noGrp="1"/>
          </p:cNvSpPr>
          <p:nvPr/>
        </p:nvSpPr>
        <p:spPr>
          <a:xfrm xmlns:a="http://schemas.openxmlformats.org/drawingml/2006/main" rot="0">
            <a:off x="7105650" y="20574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202522"/>
                </a:solidFill>
                <a:latin typeface="Helvetica Neue"/>
                <a:ea typeface="Helvetica Neue"/>
                <a:cs typeface="Helvetica Neue"/>
              </a:defRPr>
            </a:pPr>
            <a:r>
              <a:rPr sz="1725" b="0" i="0">
                <a:solidFill>
                  <a:srgbClr val="202522"/>
                </a:solidFill>
                <a:latin typeface="Helvetica Neue"/>
                <a:ea typeface="Helvetica Neue"/>
                <a:cs typeface="Helvetica Neue"/>
              </a:rPr>
              <a:t>SQL parser</a:t>
            </a:r>
          </a:p>
        </p:txBody>
      </p:sp>
      <p:sp>
        <p:nvSpPr>
          <p:cNvPr id="26" name="">
            <a:extLst xmlns:a="http://schemas.openxmlformats.org/drawingml/2006/main">
              <a:ext uri="{FF2B5EF4-FFF2-40B4-BE49-F238E27FC236}">
                <a16:creationId xmlns:a16="http://schemas.microsoft.com/office/drawing/2014/main" id="{2D8648B0-9E88-4103-83E6-691CFEEAF9A0}"/>
              </a:ext>
            </a:extLst>
          </p:cNvPr>
          <p:cNvSpPr>
            <a:spLocks xmlns:a="http://schemas.openxmlformats.org/drawingml/2006/main" noGrp="1"/>
          </p:cNvSpPr>
          <p:nvPr/>
        </p:nvSpPr>
        <p:spPr>
          <a:xfrm xmlns:a="http://schemas.openxmlformats.org/drawingml/2006/main" rot="0">
            <a:off x="6838950" y="2638425"/>
            <a:ext cx="114300" cy="114300"/>
          </a:xfrm>
          <a:prstGeom xmlns:a="http://schemas.openxmlformats.org/drawingml/2006/main" prst="rect">
            <a:avLst/>
          </a:prstGeom>
          <a:solidFill xmlns:a="http://schemas.openxmlformats.org/drawingml/2006/main">
            <a:srgbClr val="F8EEE9"/>
          </a:solidFill>
          <a:ln xmlns:a="http://schemas.openxmlformats.org/drawingml/2006/main" w="14288">
            <a:solidFill>
              <a:srgbClr val="9B4C2F"/>
            </a:solidFill>
            <a:prstDash val="solid"/>
          </a:ln>
        </p:spPr>
      </p:sp>
      <p:sp>
        <p:nvSpPr>
          <p:cNvPr id="27" name="">
            <a:extLst xmlns:a="http://schemas.openxmlformats.org/drawingml/2006/main">
              <a:ext uri="{FF2B5EF4-FFF2-40B4-BE49-F238E27FC236}">
                <a16:creationId xmlns:a16="http://schemas.microsoft.com/office/drawing/2014/main" id="{51B7C3D9-81E2-46A2-8686-63C7009B163B}"/>
              </a:ext>
            </a:extLst>
          </p:cNvPr>
          <p:cNvSpPr>
            <a:spLocks xmlns:a="http://schemas.openxmlformats.org/drawingml/2006/main" noGrp="1"/>
          </p:cNvSpPr>
          <p:nvPr/>
        </p:nvSpPr>
        <p:spPr>
          <a:xfrm xmlns:a="http://schemas.openxmlformats.org/drawingml/2006/main" rot="0">
            <a:off x="7105650" y="25717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202522"/>
                </a:solidFill>
                <a:latin typeface="Helvetica Neue"/>
                <a:ea typeface="Helvetica Neue"/>
                <a:cs typeface="Helvetica Neue"/>
              </a:defRPr>
            </a:pPr>
            <a:r>
              <a:rPr sz="1725" b="0" i="0">
                <a:solidFill>
                  <a:srgbClr val="202522"/>
                </a:solidFill>
                <a:latin typeface="Helvetica Neue"/>
                <a:ea typeface="Helvetica Neue"/>
                <a:cs typeface="Helvetica Neue"/>
              </a:rPr>
              <a:t>transactions</a:t>
            </a:r>
          </a:p>
        </p:txBody>
      </p:sp>
      <p:sp>
        <p:nvSpPr>
          <p:cNvPr id="28" name="">
            <a:extLst xmlns:a="http://schemas.openxmlformats.org/drawingml/2006/main">
              <a:ext uri="{FF2B5EF4-FFF2-40B4-BE49-F238E27FC236}">
                <a16:creationId xmlns:a16="http://schemas.microsoft.com/office/drawing/2014/main" id="{96A8C587-9104-4681-9955-CB6E3BEBF392}"/>
              </a:ext>
            </a:extLst>
          </p:cNvPr>
          <p:cNvSpPr>
            <a:spLocks xmlns:a="http://schemas.openxmlformats.org/drawingml/2006/main" noGrp="1"/>
          </p:cNvSpPr>
          <p:nvPr/>
        </p:nvSpPr>
        <p:spPr>
          <a:xfrm xmlns:a="http://schemas.openxmlformats.org/drawingml/2006/main" rot="0">
            <a:off x="6838950" y="3152775"/>
            <a:ext cx="114300" cy="114300"/>
          </a:xfrm>
          <a:prstGeom xmlns:a="http://schemas.openxmlformats.org/drawingml/2006/main" prst="rect">
            <a:avLst/>
          </a:prstGeom>
          <a:solidFill xmlns:a="http://schemas.openxmlformats.org/drawingml/2006/main">
            <a:srgbClr val="F8EEE9"/>
          </a:solidFill>
          <a:ln xmlns:a="http://schemas.openxmlformats.org/drawingml/2006/main" w="14288">
            <a:solidFill>
              <a:srgbClr val="9B4C2F"/>
            </a:solidFill>
            <a:prstDash val="solid"/>
          </a:ln>
        </p:spPr>
      </p:sp>
      <p:sp>
        <p:nvSpPr>
          <p:cNvPr id="29" name="">
            <a:extLst xmlns:a="http://schemas.openxmlformats.org/drawingml/2006/main">
              <a:ext uri="{FF2B5EF4-FFF2-40B4-BE49-F238E27FC236}">
                <a16:creationId xmlns:a16="http://schemas.microsoft.com/office/drawing/2014/main" id="{AB57F46C-386A-488D-ADBD-7488A9FD9561}"/>
              </a:ext>
            </a:extLst>
          </p:cNvPr>
          <p:cNvSpPr>
            <a:spLocks xmlns:a="http://schemas.openxmlformats.org/drawingml/2006/main" noGrp="1"/>
          </p:cNvSpPr>
          <p:nvPr/>
        </p:nvSpPr>
        <p:spPr>
          <a:xfrm xmlns:a="http://schemas.openxmlformats.org/drawingml/2006/main" rot="0">
            <a:off x="7105650" y="30861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202522"/>
                </a:solidFill>
                <a:latin typeface="Helvetica Neue"/>
                <a:ea typeface="Helvetica Neue"/>
                <a:cs typeface="Helvetica Neue"/>
              </a:defRPr>
            </a:pPr>
            <a:r>
              <a:rPr sz="1725" b="0" i="0">
                <a:solidFill>
                  <a:srgbClr val="202522"/>
                </a:solidFill>
                <a:latin typeface="Helvetica Neue"/>
                <a:ea typeface="Helvetica Neue"/>
                <a:cs typeface="Helvetica Neue"/>
              </a:rPr>
              <a:t>buffer manager</a:t>
            </a:r>
          </a:p>
        </p:txBody>
      </p:sp>
      <p:sp>
        <p:nvSpPr>
          <p:cNvPr id="30" name="">
            <a:extLst xmlns:a="http://schemas.openxmlformats.org/drawingml/2006/main">
              <a:ext uri="{FF2B5EF4-FFF2-40B4-BE49-F238E27FC236}">
                <a16:creationId xmlns:a16="http://schemas.microsoft.com/office/drawing/2014/main" id="{154C4CC2-1C92-4BE3-AC2F-6094D307283B}"/>
              </a:ext>
            </a:extLst>
          </p:cNvPr>
          <p:cNvSpPr>
            <a:spLocks xmlns:a="http://schemas.openxmlformats.org/drawingml/2006/main" noGrp="1"/>
          </p:cNvSpPr>
          <p:nvPr/>
        </p:nvSpPr>
        <p:spPr>
          <a:xfrm xmlns:a="http://schemas.openxmlformats.org/drawingml/2006/main" rot="0">
            <a:off x="6838950" y="3667125"/>
            <a:ext cx="114300" cy="114300"/>
          </a:xfrm>
          <a:prstGeom xmlns:a="http://schemas.openxmlformats.org/drawingml/2006/main" prst="rect">
            <a:avLst/>
          </a:prstGeom>
          <a:solidFill xmlns:a="http://schemas.openxmlformats.org/drawingml/2006/main">
            <a:srgbClr val="F8EEE9"/>
          </a:solidFill>
          <a:ln xmlns:a="http://schemas.openxmlformats.org/drawingml/2006/main" w="14288">
            <a:solidFill>
              <a:srgbClr val="9B4C2F"/>
            </a:solidFill>
            <a:prstDash val="solid"/>
          </a:ln>
        </p:spPr>
      </p:sp>
      <p:sp>
        <p:nvSpPr>
          <p:cNvPr id="31" name="">
            <a:extLst xmlns:a="http://schemas.openxmlformats.org/drawingml/2006/main">
              <a:ext uri="{FF2B5EF4-FFF2-40B4-BE49-F238E27FC236}">
                <a16:creationId xmlns:a16="http://schemas.microsoft.com/office/drawing/2014/main" id="{926DDDC7-38E0-4068-87F5-24844F4240FE}"/>
              </a:ext>
            </a:extLst>
          </p:cNvPr>
          <p:cNvSpPr>
            <a:spLocks xmlns:a="http://schemas.openxmlformats.org/drawingml/2006/main" noGrp="1"/>
          </p:cNvSpPr>
          <p:nvPr/>
        </p:nvSpPr>
        <p:spPr>
          <a:xfrm xmlns:a="http://schemas.openxmlformats.org/drawingml/2006/main" rot="0">
            <a:off x="7105650" y="36004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202522"/>
                </a:solidFill>
                <a:latin typeface="Helvetica Neue"/>
                <a:ea typeface="Helvetica Neue"/>
                <a:cs typeface="Helvetica Neue"/>
              </a:defRPr>
            </a:pPr>
            <a:r>
              <a:rPr sz="1725" b="0" i="0">
                <a:solidFill>
                  <a:srgbClr val="202522"/>
                </a:solidFill>
                <a:latin typeface="Helvetica Neue"/>
                <a:ea typeface="Helvetica Neue"/>
                <a:cs typeface="Helvetica Neue"/>
              </a:rPr>
              <a:t>distributed runtime</a:t>
            </a:r>
          </a:p>
        </p:txBody>
      </p:sp>
      <p:sp>
        <p:nvSpPr>
          <p:cNvPr id="32" name="">
            <a:extLst xmlns:a="http://schemas.openxmlformats.org/drawingml/2006/main">
              <a:ext uri="{FF2B5EF4-FFF2-40B4-BE49-F238E27FC236}">
                <a16:creationId xmlns:a16="http://schemas.microsoft.com/office/drawing/2014/main" id="{EAE73035-5D36-4FB1-A673-0487B354C2E7}"/>
              </a:ext>
            </a:extLst>
          </p:cNvPr>
          <p:cNvSpPr>
            <a:spLocks xmlns:a="http://schemas.openxmlformats.org/drawingml/2006/main" noGrp="1"/>
          </p:cNvSpPr>
          <p:nvPr/>
        </p:nvSpPr>
        <p:spPr>
          <a:xfrm xmlns:a="http://schemas.openxmlformats.org/drawingml/2006/main" rot="0">
            <a:off x="6838950" y="4181475"/>
            <a:ext cx="114300" cy="114300"/>
          </a:xfrm>
          <a:prstGeom xmlns:a="http://schemas.openxmlformats.org/drawingml/2006/main" prst="rect">
            <a:avLst/>
          </a:prstGeom>
          <a:solidFill xmlns:a="http://schemas.openxmlformats.org/drawingml/2006/main">
            <a:srgbClr val="F8EEE9"/>
          </a:solidFill>
          <a:ln xmlns:a="http://schemas.openxmlformats.org/drawingml/2006/main" w="14288">
            <a:solidFill>
              <a:srgbClr val="9B4C2F"/>
            </a:solidFill>
            <a:prstDash val="solid"/>
          </a:ln>
        </p:spPr>
      </p:sp>
      <p:sp>
        <p:nvSpPr>
          <p:cNvPr id="33" name="">
            <a:extLst xmlns:a="http://schemas.openxmlformats.org/drawingml/2006/main">
              <a:ext uri="{FF2B5EF4-FFF2-40B4-BE49-F238E27FC236}">
                <a16:creationId xmlns:a16="http://schemas.microsoft.com/office/drawing/2014/main" id="{669807DA-A1CF-4ED9-B269-2CC5183A9DE2}"/>
              </a:ext>
            </a:extLst>
          </p:cNvPr>
          <p:cNvSpPr>
            <a:spLocks xmlns:a="http://schemas.openxmlformats.org/drawingml/2006/main" noGrp="1"/>
          </p:cNvSpPr>
          <p:nvPr/>
        </p:nvSpPr>
        <p:spPr>
          <a:xfrm xmlns:a="http://schemas.openxmlformats.org/drawingml/2006/main" rot="0">
            <a:off x="7105650" y="41148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202522"/>
                </a:solidFill>
                <a:latin typeface="Helvetica Neue"/>
                <a:ea typeface="Helvetica Neue"/>
                <a:cs typeface="Helvetica Neue"/>
              </a:defRPr>
            </a:pPr>
            <a:r>
              <a:rPr sz="1725" b="0" i="0">
                <a:solidFill>
                  <a:srgbClr val="202522"/>
                </a:solidFill>
                <a:latin typeface="Helvetica Neue"/>
                <a:ea typeface="Helvetica Neue"/>
                <a:cs typeface="Helvetica Neue"/>
              </a:rPr>
              <a:t>production catalog</a:t>
            </a:r>
          </a:p>
        </p:txBody>
      </p:sp>
      <p:sp>
        <p:nvSpPr>
          <p:cNvPr id="34" name="">
            <a:extLst xmlns:a="http://schemas.openxmlformats.org/drawingml/2006/main">
              <a:ext uri="{FF2B5EF4-FFF2-40B4-BE49-F238E27FC236}">
                <a16:creationId xmlns:a16="http://schemas.microsoft.com/office/drawing/2014/main" id="{0F439FD5-A16B-47BB-AD8C-50D34A5949D0}"/>
              </a:ext>
            </a:extLst>
          </p:cNvPr>
          <p:cNvSpPr>
            <a:spLocks xmlns:a="http://schemas.openxmlformats.org/drawingml/2006/main" noGrp="1"/>
          </p:cNvSpPr>
          <p:nvPr/>
        </p:nvSpPr>
        <p:spPr>
          <a:xfrm xmlns:a="http://schemas.openxmlformats.org/drawingml/2006/main" rot="0">
            <a:off x="6838950" y="4695825"/>
            <a:ext cx="114300" cy="114300"/>
          </a:xfrm>
          <a:prstGeom xmlns:a="http://schemas.openxmlformats.org/drawingml/2006/main" prst="rect">
            <a:avLst/>
          </a:prstGeom>
          <a:solidFill xmlns:a="http://schemas.openxmlformats.org/drawingml/2006/main">
            <a:srgbClr val="F8EEE9"/>
          </a:solidFill>
          <a:ln xmlns:a="http://schemas.openxmlformats.org/drawingml/2006/main" w="14288">
            <a:solidFill>
              <a:srgbClr val="9B4C2F"/>
            </a:solidFill>
            <a:prstDash val="solid"/>
          </a:ln>
        </p:spPr>
      </p:sp>
      <p:sp>
        <p:nvSpPr>
          <p:cNvPr id="35" name="">
            <a:extLst xmlns:a="http://schemas.openxmlformats.org/drawingml/2006/main">
              <a:ext uri="{FF2B5EF4-FFF2-40B4-BE49-F238E27FC236}">
                <a16:creationId xmlns:a16="http://schemas.microsoft.com/office/drawing/2014/main" id="{B9EAD13A-261C-4F1E-A7D4-9F858F12AFD3}"/>
              </a:ext>
            </a:extLst>
          </p:cNvPr>
          <p:cNvSpPr>
            <a:spLocks xmlns:a="http://schemas.openxmlformats.org/drawingml/2006/main" noGrp="1"/>
          </p:cNvSpPr>
          <p:nvPr/>
        </p:nvSpPr>
        <p:spPr>
          <a:xfrm xmlns:a="http://schemas.openxmlformats.org/drawingml/2006/main" rot="0">
            <a:off x="7105650" y="46291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202522"/>
                </a:solidFill>
                <a:latin typeface="Helvetica Neue"/>
                <a:ea typeface="Helvetica Neue"/>
                <a:cs typeface="Helvetica Neue"/>
              </a:defRPr>
            </a:pPr>
            <a:r>
              <a:rPr sz="1725" b="0" i="0">
                <a:solidFill>
                  <a:srgbClr val="202522"/>
                </a:solidFill>
                <a:latin typeface="Helvetica Neue"/>
                <a:ea typeface="Helvetica Neue"/>
                <a:cs typeface="Helvetica Neue"/>
              </a:rPr>
              <a:t>every database feature</a:t>
            </a:r>
          </a:p>
        </p:txBody>
      </p:sp>
      <p:sp>
        <p:nvSpPr>
          <p:cNvPr id="36" name="">
            <a:extLst xmlns:a="http://schemas.openxmlformats.org/drawingml/2006/main">
              <a:ext uri="{FF2B5EF4-FFF2-40B4-BE49-F238E27FC236}">
                <a16:creationId xmlns:a16="http://schemas.microsoft.com/office/drawing/2014/main" id="{F8DA7003-3843-4B48-85E2-9CC9BD2153FF}"/>
              </a:ext>
            </a:extLst>
          </p:cNvPr>
          <p:cNvSpPr>
            <a:spLocks xmlns:a="http://schemas.openxmlformats.org/drawingml/2006/main" noGrp="1"/>
          </p:cNvSpPr>
          <p:nvPr/>
        </p:nvSpPr>
        <p:spPr>
          <a:xfrm xmlns:a="http://schemas.openxmlformats.org/drawingml/2006/main" rot="0">
            <a:off x="6838950" y="5210175"/>
            <a:ext cx="114300" cy="114300"/>
          </a:xfrm>
          <a:prstGeom xmlns:a="http://schemas.openxmlformats.org/drawingml/2006/main" prst="rect">
            <a:avLst/>
          </a:prstGeom>
          <a:solidFill xmlns:a="http://schemas.openxmlformats.org/drawingml/2006/main">
            <a:srgbClr val="F8EEE9"/>
          </a:solidFill>
          <a:ln xmlns:a="http://schemas.openxmlformats.org/drawingml/2006/main" w="14288">
            <a:solidFill>
              <a:srgbClr val="9B4C2F"/>
            </a:solidFill>
            <a:prstDash val="solid"/>
          </a:ln>
        </p:spPr>
      </p:sp>
      <p:sp>
        <p:nvSpPr>
          <p:cNvPr id="37" name="">
            <a:extLst xmlns:a="http://schemas.openxmlformats.org/drawingml/2006/main">
              <a:ext uri="{FF2B5EF4-FFF2-40B4-BE49-F238E27FC236}">
                <a16:creationId xmlns:a16="http://schemas.microsoft.com/office/drawing/2014/main" id="{BA1BA752-2EDC-4329-AD22-CF9C7B1769FD}"/>
              </a:ext>
            </a:extLst>
          </p:cNvPr>
          <p:cNvSpPr>
            <a:spLocks xmlns:a="http://schemas.openxmlformats.org/drawingml/2006/main" noGrp="1"/>
          </p:cNvSpPr>
          <p:nvPr/>
        </p:nvSpPr>
        <p:spPr>
          <a:xfrm xmlns:a="http://schemas.openxmlformats.org/drawingml/2006/main" rot="0">
            <a:off x="7105650" y="51435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202522"/>
                </a:solidFill>
                <a:latin typeface="Helvetica Neue"/>
                <a:ea typeface="Helvetica Neue"/>
                <a:cs typeface="Helvetica Neue"/>
              </a:defRPr>
            </a:pPr>
            <a:r>
              <a:rPr sz="1725" b="0" i="0">
                <a:solidFill>
                  <a:srgbClr val="202522"/>
                </a:solidFill>
                <a:latin typeface="Helvetica Neue"/>
                <a:ea typeface="Helvetica Neue"/>
                <a:cs typeface="Helvetica Neue"/>
              </a:rPr>
              <a:t>a leaderboard</a:t>
            </a:r>
          </a:p>
        </p:txBody>
      </p:sp>
      <p:sp>
        <p:nvSpPr>
          <p:cNvPr id="38" name="">
            <a:extLst xmlns:a="http://schemas.openxmlformats.org/drawingml/2006/main">
              <a:ext uri="{FF2B5EF4-FFF2-40B4-BE49-F238E27FC236}">
                <a16:creationId xmlns:a16="http://schemas.microsoft.com/office/drawing/2014/main" id="{7942FDB6-7E20-4255-9C2A-2DED1F5338F2}"/>
              </a:ext>
            </a:extLst>
          </p:cNvPr>
          <p:cNvSpPr>
            <a:spLocks xmlns:a="http://schemas.openxmlformats.org/drawingml/2006/main" noGrp="1"/>
          </p:cNvSpPr>
          <p:nvPr/>
        </p:nvSpPr>
        <p:spPr>
          <a:xfrm xmlns:a="http://schemas.openxmlformats.org/drawingml/2006/main" rot="0">
            <a:off x="1657350" y="5848350"/>
            <a:ext cx="887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0" i="0">
                <a:solidFill>
                  <a:srgbClr val="176B73"/>
                </a:solidFill>
                <a:latin typeface="Helvetica Neue"/>
                <a:ea typeface="Helvetica Neue"/>
                <a:cs typeface="Helvetica Neue"/>
              </a:defRPr>
            </a:pPr>
            <a:r>
              <a:rPr sz="2025" b="0" i="0">
                <a:solidFill>
                  <a:srgbClr val="176B73"/>
                </a:solidFill>
                <a:latin typeface="Helvetica Neue"/>
                <a:ea typeface="Helvetica Neue"/>
                <a:cs typeface="Helvetica Neue"/>
              </a:rPr>
              <a:t>The small scope is what lets every important boundary stay visible.</a:t>
            </a:r>
          </a:p>
        </p:txBody>
      </p:sp>
    </p:spTree>
    <p:extLst>
      <p:ext uri="{BB962C8B-B14F-4D97-AF65-F5344CB8AC3E}">
        <p14:creationId xmlns:p14="http://schemas.microsoft.com/office/powerpoint/2010/main" val="1664806906"/>
      </p:ext>
    </p:extLst>
  </p:cSld>
</p:sld>
</file>

<file path=ppt/slides/slide1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74F01208-831B-4738-8E2E-FC05D5745590}"/>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9B4C2F"/>
          </a:solidFill>
          <a:ln xmlns:a="http://schemas.openxmlformats.org/drawingml/2006/main" w="0">
            <a:solidFill>
              <a:srgbClr val="9B4C2F"/>
            </a:solidFill>
            <a:prstDash val="solid"/>
          </a:ln>
        </p:spPr>
      </p:sp>
      <p:sp>
        <p:nvSpPr>
          <p:cNvPr id="2" name="">
            <a:extLst xmlns:a="http://schemas.openxmlformats.org/drawingml/2006/main">
              <a:ext uri="{FF2B5EF4-FFF2-40B4-BE49-F238E27FC236}">
                <a16:creationId xmlns:a16="http://schemas.microsoft.com/office/drawing/2014/main" id="{D5240584-4C08-4DCC-9020-416F79E2ECAB}"/>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9B4C2F"/>
                </a:solidFill>
                <a:latin typeface="Helvetica Neue"/>
                <a:ea typeface="Helvetica Neue"/>
                <a:cs typeface="Helvetica Neue"/>
              </a:defRPr>
            </a:pPr>
            <a:r>
              <a:rPr sz="1050" b="1" i="0">
                <a:solidFill>
                  <a:srgbClr val="9B4C2F"/>
                </a:solidFill>
                <a:latin typeface="Helvetica Neue"/>
                <a:ea typeface="Helvetica Neue"/>
                <a:cs typeface="Helvetica Neue"/>
              </a:rPr>
              <a:t>CONCRETE COMPILATION MAP</a:t>
            </a:r>
          </a:p>
        </p:txBody>
      </p:sp>
      <p:sp>
        <p:nvSpPr>
          <p:cNvPr id="3" name="">
            <a:extLst xmlns:a="http://schemas.openxmlformats.org/drawingml/2006/main">
              <a:ext uri="{FF2B5EF4-FFF2-40B4-BE49-F238E27FC236}">
                <a16:creationId xmlns:a16="http://schemas.microsoft.com/office/drawing/2014/main" id="{E2B9250A-72F7-4BAC-B5D7-1CAB3F2E2893}"/>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One triangle query becomes six inspectable artifacts</a:t>
            </a:r>
          </a:p>
        </p:txBody>
      </p:sp>
      <p:sp>
        <p:nvSpPr>
          <p:cNvPr id="4" name="">
            <a:extLst xmlns:a="http://schemas.openxmlformats.org/drawingml/2006/main">
              <a:ext uri="{FF2B5EF4-FFF2-40B4-BE49-F238E27FC236}">
                <a16:creationId xmlns:a16="http://schemas.microsoft.com/office/drawing/2014/main" id="{D7A86E74-94BC-41E9-B9B4-FF4FF2DE6A85}"/>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55FE6C93-74AC-449A-A6C6-226FCBA90710}"/>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D1CC18BF-9D8B-429D-98A9-FF49E5AD959D}"/>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14</a:t>
            </a:r>
          </a:p>
        </p:txBody>
      </p:sp>
      <p:sp>
        <p:nvSpPr>
          <p:cNvPr id="7" name="">
            <a:extLst xmlns:a="http://schemas.openxmlformats.org/drawingml/2006/main">
              <a:ext uri="{FF2B5EF4-FFF2-40B4-BE49-F238E27FC236}">
                <a16:creationId xmlns:a16="http://schemas.microsoft.com/office/drawing/2014/main" id="{7B8B28CF-B59F-403D-BA6C-AA69DF28E19D}"/>
              </a:ext>
            </a:extLst>
          </p:cNvPr>
          <p:cNvSpPr>
            <a:spLocks xmlns:a="http://schemas.openxmlformats.org/drawingml/2006/main" noGrp="1"/>
          </p:cNvSpPr>
          <p:nvPr/>
        </p:nvSpPr>
        <p:spPr>
          <a:xfrm xmlns:a="http://schemas.openxmlformats.org/drawingml/2006/main" rot="0">
            <a:off x="685800" y="1581150"/>
            <a:ext cx="342900" cy="34290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8" name="">
            <a:extLst xmlns:a="http://schemas.openxmlformats.org/drawingml/2006/main">
              <a:ext uri="{FF2B5EF4-FFF2-40B4-BE49-F238E27FC236}">
                <a16:creationId xmlns:a16="http://schemas.microsoft.com/office/drawing/2014/main" id="{AAD28BE7-B8B0-4FB8-93B2-63BE97F45711}"/>
              </a:ext>
            </a:extLst>
          </p:cNvPr>
          <p:cNvSpPr>
            <a:spLocks xmlns:a="http://schemas.openxmlformats.org/drawingml/2006/main" noGrp="1"/>
          </p:cNvSpPr>
          <p:nvPr/>
        </p:nvSpPr>
        <p:spPr>
          <a:xfrm xmlns:a="http://schemas.openxmlformats.org/drawingml/2006/main" rot="0">
            <a:off x="762000" y="1657350"/>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FFFDF7"/>
                </a:solidFill>
                <a:latin typeface="Helvetica Neue"/>
                <a:ea typeface="Helvetica Neue"/>
                <a:cs typeface="Helvetica Neue"/>
              </a:defRPr>
            </a:pPr>
            <a:r>
              <a:rPr sz="1200" b="1" i="0">
                <a:solidFill>
                  <a:srgbClr val="FFFDF7"/>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20FEFA07-C3B0-48E6-A3C3-CA9EC84EFD3B}"/>
              </a:ext>
            </a:extLst>
          </p:cNvPr>
          <p:cNvSpPr>
            <a:spLocks xmlns:a="http://schemas.openxmlformats.org/drawingml/2006/main" noGrp="1"/>
          </p:cNvSpPr>
          <p:nvPr/>
        </p:nvSpPr>
        <p:spPr>
          <a:xfrm xmlns:a="http://schemas.openxmlformats.org/drawingml/2006/main" rot="0">
            <a:off x="1219200" y="156210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176B73"/>
                </a:solidFill>
                <a:latin typeface="Helvetica Neue"/>
                <a:ea typeface="Helvetica Neue"/>
                <a:cs typeface="Helvetica Neue"/>
              </a:defRPr>
            </a:pPr>
            <a:r>
              <a:rPr sz="1950" b="1" i="0">
                <a:solidFill>
                  <a:srgbClr val="176B73"/>
                </a:solidFill>
                <a:latin typeface="Helvetica Neue"/>
                <a:ea typeface="Helvetica Neue"/>
                <a:cs typeface="Helvetica Neue"/>
              </a:rPr>
              <a:t>CQ</a:t>
            </a:r>
          </a:p>
        </p:txBody>
      </p:sp>
      <p:sp>
        <p:nvSpPr>
          <p:cNvPr id="10" name="">
            <a:extLst xmlns:a="http://schemas.openxmlformats.org/drawingml/2006/main">
              <a:ext uri="{FF2B5EF4-FFF2-40B4-BE49-F238E27FC236}">
                <a16:creationId xmlns:a16="http://schemas.microsoft.com/office/drawing/2014/main" id="{A37D819A-F0C1-4DE4-AAB1-D06663E74A71}"/>
              </a:ext>
            </a:extLst>
          </p:cNvPr>
          <p:cNvSpPr>
            <a:spLocks xmlns:a="http://schemas.openxmlformats.org/drawingml/2006/main" noGrp="1"/>
          </p:cNvSpPr>
          <p:nvPr/>
        </p:nvSpPr>
        <p:spPr>
          <a:xfrm xmlns:a="http://schemas.openxmlformats.org/drawingml/2006/main" rot="0">
            <a:off x="3867150" y="1504950"/>
            <a:ext cx="7239000" cy="495300"/>
          </a:xfrm>
          <a:prstGeom xmlns:a="http://schemas.openxmlformats.org/drawingml/2006/main" prst="roundRect">
            <a:avLst>
              <a:gd name="adj" fmla="val 11538"/>
            </a:avLst>
          </a:prstGeom>
          <a:solidFill xmlns:a="http://schemas.openxmlformats.org/drawingml/2006/main">
            <a:srgbClr val="FFFDF7"/>
          </a:solidFill>
          <a:ln xmlns:a="http://schemas.openxmlformats.org/drawingml/2006/main" w="9525">
            <a:solidFill>
              <a:srgbClr val="176B73"/>
            </a:solidFill>
            <a:prstDash val="solid"/>
          </a:ln>
        </p:spPr>
      </p:sp>
      <p:sp>
        <p:nvSpPr>
          <p:cNvPr id="11" name="">
            <a:extLst xmlns:a="http://schemas.openxmlformats.org/drawingml/2006/main">
              <a:ext uri="{FF2B5EF4-FFF2-40B4-BE49-F238E27FC236}">
                <a16:creationId xmlns:a16="http://schemas.microsoft.com/office/drawing/2014/main" id="{15AEF776-4F4C-41A2-8B3F-7D72A0E51E1D}"/>
              </a:ext>
            </a:extLst>
          </p:cNvPr>
          <p:cNvSpPr>
            <a:spLocks xmlns:a="http://schemas.openxmlformats.org/drawingml/2006/main" noGrp="1"/>
          </p:cNvSpPr>
          <p:nvPr/>
        </p:nvSpPr>
        <p:spPr>
          <a:xfrm xmlns:a="http://schemas.openxmlformats.org/drawingml/2006/main" rot="0">
            <a:off x="4038600" y="1657350"/>
            <a:ext cx="689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222"/>
          </a:bodyPr>
          <a:lstStyle xmlns:a="http://schemas.openxmlformats.org/drawingml/2006/main"/>
          <a:p xmlns:a="http://schemas.openxmlformats.org/drawingml/2006/main">
            <a:pPr algn="l">
              <a:lnSpc>
                <a:spcPct val="108000"/>
              </a:lnSpc>
              <a:buNone/>
              <a:defRPr sz="1425" b="0" i="0">
                <a:solidFill>
                  <a:srgbClr val="202522"/>
                </a:solidFill>
                <a:latin typeface="SFMono-Regular"/>
                <a:ea typeface="SFMono-Regular"/>
                <a:cs typeface="SFMono-Regular"/>
              </a:defRPr>
            </a:pPr>
            <a:r>
              <a:rPr sz="1425" b="0" i="0">
                <a:solidFill>
                  <a:srgbClr val="202522"/>
                </a:solidFill>
                <a:latin typeface="SFMono-Regular"/>
                <a:ea typeface="SFMono-Regular"/>
                <a:cs typeface="SFMono-Regular"/>
              </a:rPr>
              <a:t>R(x,y), S(y,z), T(z,x)</a:t>
            </a:r>
          </a:p>
        </p:txBody>
      </p:sp>
      <p:sp>
        <p:nvSpPr>
          <p:cNvPr id="12" name="">
            <a:extLst xmlns:a="http://schemas.openxmlformats.org/drawingml/2006/main">
              <a:ext uri="{FF2B5EF4-FFF2-40B4-BE49-F238E27FC236}">
                <a16:creationId xmlns:a16="http://schemas.microsoft.com/office/drawing/2014/main" id="{CFDD804E-531B-4870-8DE3-8304384AB09C}"/>
              </a:ext>
            </a:extLst>
          </p:cNvPr>
          <p:cNvSpPr>
            <a:spLocks xmlns:a="http://schemas.openxmlformats.org/drawingml/2006/main" noGrp="1"/>
          </p:cNvSpPr>
          <p:nvPr/>
        </p:nvSpPr>
        <p:spPr>
          <a:xfrm xmlns:a="http://schemas.openxmlformats.org/drawingml/2006/main">
            <a:off x="857250" y="1943100"/>
            <a:ext cx="0" cy="285750"/>
          </a:xfrm>
          <a:prstGeom xmlns:a="http://schemas.openxmlformats.org/drawingml/2006/main" prst="line">
            <a:avLst/>
          </a:prstGeom>
          <a:noFill xmlns:a="http://schemas.openxmlformats.org/drawingml/2006/main"/>
          <a:ln xmlns:a="http://schemas.openxmlformats.org/drawingml/2006/main" w="19050">
            <a:solidFill>
              <a:srgbClr val="D9D5C9"/>
            </a:solidFill>
            <a:prstDash val="solid"/>
          </a:ln>
        </p:spPr>
      </p:sp>
      <p:sp>
        <p:nvSpPr>
          <p:cNvPr id="13" name="">
            <a:extLst xmlns:a="http://schemas.openxmlformats.org/drawingml/2006/main">
              <a:ext uri="{FF2B5EF4-FFF2-40B4-BE49-F238E27FC236}">
                <a16:creationId xmlns:a16="http://schemas.microsoft.com/office/drawing/2014/main" id="{435AFBB8-BBA9-4AE0-8CE7-732926DDCBE4}"/>
              </a:ext>
            </a:extLst>
          </p:cNvPr>
          <p:cNvSpPr>
            <a:spLocks xmlns:a="http://schemas.openxmlformats.org/drawingml/2006/main" noGrp="1"/>
          </p:cNvSpPr>
          <p:nvPr/>
        </p:nvSpPr>
        <p:spPr>
          <a:xfrm xmlns:a="http://schemas.openxmlformats.org/drawingml/2006/main" rot="0">
            <a:off x="685800" y="2305050"/>
            <a:ext cx="342900" cy="342900"/>
          </a:xfrm>
          <a:prstGeom xmlns:a="http://schemas.openxmlformats.org/drawingml/2006/main" prst="ellipse">
            <a:avLst/>
          </a:prstGeom>
          <a:solidFill xmlns:a="http://schemas.openxmlformats.org/drawingml/2006/main">
            <a:srgbClr val="684F82"/>
          </a:solidFill>
          <a:ln xmlns:a="http://schemas.openxmlformats.org/drawingml/2006/main" w="19050">
            <a:solidFill>
              <a:srgbClr val="F5F2E9"/>
            </a:solidFill>
            <a:prstDash val="solid"/>
          </a:ln>
        </p:spPr>
      </p:sp>
      <p:sp>
        <p:nvSpPr>
          <p:cNvPr id="14" name="">
            <a:extLst xmlns:a="http://schemas.openxmlformats.org/drawingml/2006/main">
              <a:ext uri="{FF2B5EF4-FFF2-40B4-BE49-F238E27FC236}">
                <a16:creationId xmlns:a16="http://schemas.microsoft.com/office/drawing/2014/main" id="{D27BE9B4-919F-4C03-8A4B-4C540A8D7FC9}"/>
              </a:ext>
            </a:extLst>
          </p:cNvPr>
          <p:cNvSpPr>
            <a:spLocks xmlns:a="http://schemas.openxmlformats.org/drawingml/2006/main" noGrp="1"/>
          </p:cNvSpPr>
          <p:nvPr/>
        </p:nvSpPr>
        <p:spPr>
          <a:xfrm xmlns:a="http://schemas.openxmlformats.org/drawingml/2006/main" rot="0">
            <a:off x="762000" y="2381250"/>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FFFDF7"/>
                </a:solidFill>
                <a:latin typeface="Helvetica Neue"/>
                <a:ea typeface="Helvetica Neue"/>
                <a:cs typeface="Helvetica Neue"/>
              </a:defRPr>
            </a:pPr>
            <a:r>
              <a:rPr sz="1200" b="1" i="0">
                <a:solidFill>
                  <a:srgbClr val="FFFDF7"/>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B3ACDC3D-B70E-4C80-B1F9-FE942E03D67A}"/>
              </a:ext>
            </a:extLst>
          </p:cNvPr>
          <p:cNvSpPr>
            <a:spLocks xmlns:a="http://schemas.openxmlformats.org/drawingml/2006/main" noGrp="1"/>
          </p:cNvSpPr>
          <p:nvPr/>
        </p:nvSpPr>
        <p:spPr>
          <a:xfrm xmlns:a="http://schemas.openxmlformats.org/drawingml/2006/main" rot="0">
            <a:off x="1219200" y="228600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684F82"/>
                </a:solidFill>
                <a:latin typeface="Helvetica Neue"/>
                <a:ea typeface="Helvetica Neue"/>
                <a:cs typeface="Helvetica Neue"/>
              </a:defRPr>
            </a:pPr>
            <a:r>
              <a:rPr sz="1950" b="1" i="0">
                <a:solidFill>
                  <a:srgbClr val="684F82"/>
                </a:solidFill>
                <a:latin typeface="Helvetica Neue"/>
                <a:ea typeface="Helvetica Neue"/>
                <a:cs typeface="Helvetica Neue"/>
              </a:rPr>
              <a:t>RelationalPlan</a:t>
            </a:r>
          </a:p>
        </p:txBody>
      </p:sp>
      <p:sp>
        <p:nvSpPr>
          <p:cNvPr id="16" name="">
            <a:extLst xmlns:a="http://schemas.openxmlformats.org/drawingml/2006/main">
              <a:ext uri="{FF2B5EF4-FFF2-40B4-BE49-F238E27FC236}">
                <a16:creationId xmlns:a16="http://schemas.microsoft.com/office/drawing/2014/main" id="{F6D587C6-D9A8-457A-8D45-5BB4F7630C61}"/>
              </a:ext>
            </a:extLst>
          </p:cNvPr>
          <p:cNvSpPr>
            <a:spLocks xmlns:a="http://schemas.openxmlformats.org/drawingml/2006/main" noGrp="1"/>
          </p:cNvSpPr>
          <p:nvPr/>
        </p:nvSpPr>
        <p:spPr>
          <a:xfrm xmlns:a="http://schemas.openxmlformats.org/drawingml/2006/main" rot="0">
            <a:off x="3867150" y="2228850"/>
            <a:ext cx="7239000" cy="495300"/>
          </a:xfrm>
          <a:prstGeom xmlns:a="http://schemas.openxmlformats.org/drawingml/2006/main" prst="roundRect">
            <a:avLst>
              <a:gd name="adj" fmla="val 11538"/>
            </a:avLst>
          </a:prstGeom>
          <a:solidFill xmlns:a="http://schemas.openxmlformats.org/drawingml/2006/main">
            <a:srgbClr val="FFFDF7"/>
          </a:solidFill>
          <a:ln xmlns:a="http://schemas.openxmlformats.org/drawingml/2006/main" w="9525">
            <a:solidFill>
              <a:srgbClr val="684F82"/>
            </a:solidFill>
            <a:prstDash val="solid"/>
          </a:ln>
        </p:spPr>
      </p:sp>
      <p:sp>
        <p:nvSpPr>
          <p:cNvPr id="17" name="">
            <a:extLst xmlns:a="http://schemas.openxmlformats.org/drawingml/2006/main">
              <a:ext uri="{FF2B5EF4-FFF2-40B4-BE49-F238E27FC236}">
                <a16:creationId xmlns:a16="http://schemas.microsoft.com/office/drawing/2014/main" id="{FB38518A-F1C4-4F86-966A-7718459A5F95}"/>
              </a:ext>
            </a:extLst>
          </p:cNvPr>
          <p:cNvSpPr>
            <a:spLocks xmlns:a="http://schemas.openxmlformats.org/drawingml/2006/main" noGrp="1"/>
          </p:cNvSpPr>
          <p:nvPr/>
        </p:nvSpPr>
        <p:spPr>
          <a:xfrm xmlns:a="http://schemas.openxmlformats.org/drawingml/2006/main" rot="0">
            <a:off x="4038600" y="2381250"/>
            <a:ext cx="689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222"/>
          </a:bodyPr>
          <a:lstStyle xmlns:a="http://schemas.openxmlformats.org/drawingml/2006/main"/>
          <a:p xmlns:a="http://schemas.openxmlformats.org/drawingml/2006/main">
            <a:pPr algn="l">
              <a:lnSpc>
                <a:spcPct val="108000"/>
              </a:lnSpc>
              <a:buNone/>
              <a:defRPr sz="1425" b="0" i="0">
                <a:solidFill>
                  <a:srgbClr val="202522"/>
                </a:solidFill>
                <a:latin typeface="SFMono-Regular"/>
                <a:ea typeface="SFMono-Regular"/>
                <a:cs typeface="SFMono-Regular"/>
              </a:defRPr>
            </a:pPr>
            <a:r>
              <a:rPr sz="1425" b="0" i="0">
                <a:solidFill>
                  <a:srgbClr val="202522"/>
                </a:solidFill>
                <a:latin typeface="SFMono-Regular"/>
                <a:ea typeface="SFMono-Regular"/>
                <a:cs typeface="SFMono-Regular"/>
              </a:rPr>
              <a:t>scan · join · semijoin</a:t>
            </a:r>
          </a:p>
        </p:txBody>
      </p:sp>
      <p:sp>
        <p:nvSpPr>
          <p:cNvPr id="18" name="">
            <a:extLst xmlns:a="http://schemas.openxmlformats.org/drawingml/2006/main">
              <a:ext uri="{FF2B5EF4-FFF2-40B4-BE49-F238E27FC236}">
                <a16:creationId xmlns:a16="http://schemas.microsoft.com/office/drawing/2014/main" id="{B9EC40B6-697D-4E4A-8F1C-8D3B25F114B2}"/>
              </a:ext>
            </a:extLst>
          </p:cNvPr>
          <p:cNvSpPr>
            <a:spLocks xmlns:a="http://schemas.openxmlformats.org/drawingml/2006/main" noGrp="1"/>
          </p:cNvSpPr>
          <p:nvPr/>
        </p:nvSpPr>
        <p:spPr>
          <a:xfrm xmlns:a="http://schemas.openxmlformats.org/drawingml/2006/main">
            <a:off x="857250" y="2667000"/>
            <a:ext cx="0" cy="285750"/>
          </a:xfrm>
          <a:prstGeom xmlns:a="http://schemas.openxmlformats.org/drawingml/2006/main" prst="line">
            <a:avLst/>
          </a:prstGeom>
          <a:noFill xmlns:a="http://schemas.openxmlformats.org/drawingml/2006/main"/>
          <a:ln xmlns:a="http://schemas.openxmlformats.org/drawingml/2006/main" w="19050">
            <a:solidFill>
              <a:srgbClr val="D9D5C9"/>
            </a:solidFill>
            <a:prstDash val="solid"/>
          </a:ln>
        </p:spPr>
      </p:sp>
      <p:sp>
        <p:nvSpPr>
          <p:cNvPr id="19" name="">
            <a:extLst xmlns:a="http://schemas.openxmlformats.org/drawingml/2006/main">
              <a:ext uri="{FF2B5EF4-FFF2-40B4-BE49-F238E27FC236}">
                <a16:creationId xmlns:a16="http://schemas.microsoft.com/office/drawing/2014/main" id="{5A66B094-56E6-4428-8E2F-ABAF412394D5}"/>
              </a:ext>
            </a:extLst>
          </p:cNvPr>
          <p:cNvSpPr>
            <a:spLocks xmlns:a="http://schemas.openxmlformats.org/drawingml/2006/main" noGrp="1"/>
          </p:cNvSpPr>
          <p:nvPr/>
        </p:nvSpPr>
        <p:spPr>
          <a:xfrm xmlns:a="http://schemas.openxmlformats.org/drawingml/2006/main" rot="0">
            <a:off x="685800" y="3028950"/>
            <a:ext cx="342900" cy="342900"/>
          </a:xfrm>
          <a:prstGeom xmlns:a="http://schemas.openxmlformats.org/drawingml/2006/main" prst="ellipse">
            <a:avLst/>
          </a:prstGeom>
          <a:solidFill xmlns:a="http://schemas.openxmlformats.org/drawingml/2006/main">
            <a:srgbClr val="8A5A18"/>
          </a:solidFill>
          <a:ln xmlns:a="http://schemas.openxmlformats.org/drawingml/2006/main" w="19050">
            <a:solidFill>
              <a:srgbClr val="F5F2E9"/>
            </a:solidFill>
            <a:prstDash val="solid"/>
          </a:ln>
        </p:spPr>
      </p:sp>
      <p:sp>
        <p:nvSpPr>
          <p:cNvPr id="20" name="">
            <a:extLst xmlns:a="http://schemas.openxmlformats.org/drawingml/2006/main">
              <a:ext uri="{FF2B5EF4-FFF2-40B4-BE49-F238E27FC236}">
                <a16:creationId xmlns:a16="http://schemas.microsoft.com/office/drawing/2014/main" id="{37A0E2CF-F234-42DD-896E-95865EE1B054}"/>
              </a:ext>
            </a:extLst>
          </p:cNvPr>
          <p:cNvSpPr>
            <a:spLocks xmlns:a="http://schemas.openxmlformats.org/drawingml/2006/main" noGrp="1"/>
          </p:cNvSpPr>
          <p:nvPr/>
        </p:nvSpPr>
        <p:spPr>
          <a:xfrm xmlns:a="http://schemas.openxmlformats.org/drawingml/2006/main" rot="0">
            <a:off x="762000" y="3105150"/>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FFFDF7"/>
                </a:solidFill>
                <a:latin typeface="Helvetica Neue"/>
                <a:ea typeface="Helvetica Neue"/>
                <a:cs typeface="Helvetica Neue"/>
              </a:defRPr>
            </a:pPr>
            <a:r>
              <a:rPr sz="1200" b="1" i="0">
                <a:solidFill>
                  <a:srgbClr val="FFFDF7"/>
                </a:solidFill>
                <a:latin typeface="Helvetica Neue"/>
                <a:ea typeface="Helvetica Neue"/>
                <a:cs typeface="Helvetica Neue"/>
              </a:rPr>
              <a:t>3</a:t>
            </a:r>
          </a:p>
        </p:txBody>
      </p:sp>
      <p:sp>
        <p:nvSpPr>
          <p:cNvPr id="21" name="">
            <a:extLst xmlns:a="http://schemas.openxmlformats.org/drawingml/2006/main">
              <a:ext uri="{FF2B5EF4-FFF2-40B4-BE49-F238E27FC236}">
                <a16:creationId xmlns:a16="http://schemas.microsoft.com/office/drawing/2014/main" id="{19DB8832-64F5-4451-AC82-0ED295A53010}"/>
              </a:ext>
            </a:extLst>
          </p:cNvPr>
          <p:cNvSpPr>
            <a:spLocks xmlns:a="http://schemas.openxmlformats.org/drawingml/2006/main" noGrp="1"/>
          </p:cNvSpPr>
          <p:nvPr/>
        </p:nvSpPr>
        <p:spPr>
          <a:xfrm xmlns:a="http://schemas.openxmlformats.org/drawingml/2006/main" rot="0">
            <a:off x="1219200" y="300990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8A5A18"/>
                </a:solidFill>
                <a:latin typeface="Helvetica Neue"/>
                <a:ea typeface="Helvetica Neue"/>
                <a:cs typeface="Helvetica Neue"/>
              </a:defRPr>
            </a:pPr>
            <a:r>
              <a:rPr sz="1950" b="1" i="0">
                <a:solidFill>
                  <a:srgbClr val="8A5A18"/>
                </a:solidFill>
                <a:latin typeface="Helvetica Neue"/>
                <a:ea typeface="Helvetica Neue"/>
                <a:cs typeface="Helvetica Neue"/>
              </a:rPr>
              <a:t>IndexRequirements</a:t>
            </a:r>
          </a:p>
        </p:txBody>
      </p:sp>
      <p:sp>
        <p:nvSpPr>
          <p:cNvPr id="22" name="">
            <a:extLst xmlns:a="http://schemas.openxmlformats.org/drawingml/2006/main">
              <a:ext uri="{FF2B5EF4-FFF2-40B4-BE49-F238E27FC236}">
                <a16:creationId xmlns:a16="http://schemas.microsoft.com/office/drawing/2014/main" id="{1A95D219-F752-49EA-994B-6CDD296D78E9}"/>
              </a:ext>
            </a:extLst>
          </p:cNvPr>
          <p:cNvSpPr>
            <a:spLocks xmlns:a="http://schemas.openxmlformats.org/drawingml/2006/main" noGrp="1"/>
          </p:cNvSpPr>
          <p:nvPr/>
        </p:nvSpPr>
        <p:spPr>
          <a:xfrm xmlns:a="http://schemas.openxmlformats.org/drawingml/2006/main" rot="0">
            <a:off x="3867150" y="2952750"/>
            <a:ext cx="7239000" cy="495300"/>
          </a:xfrm>
          <a:prstGeom xmlns:a="http://schemas.openxmlformats.org/drawingml/2006/main" prst="roundRect">
            <a:avLst>
              <a:gd name="adj" fmla="val 11538"/>
            </a:avLst>
          </a:prstGeom>
          <a:solidFill xmlns:a="http://schemas.openxmlformats.org/drawingml/2006/main">
            <a:srgbClr val="FFFDF7"/>
          </a:solidFill>
          <a:ln xmlns:a="http://schemas.openxmlformats.org/drawingml/2006/main" w="9525">
            <a:solidFill>
              <a:srgbClr val="8A5A18"/>
            </a:solidFill>
            <a:prstDash val="solid"/>
          </a:ln>
        </p:spPr>
      </p:sp>
      <p:sp>
        <p:nvSpPr>
          <p:cNvPr id="23" name="">
            <a:extLst xmlns:a="http://schemas.openxmlformats.org/drawingml/2006/main">
              <a:ext uri="{FF2B5EF4-FFF2-40B4-BE49-F238E27FC236}">
                <a16:creationId xmlns:a16="http://schemas.microsoft.com/office/drawing/2014/main" id="{0900317D-2C0D-4E26-9920-114B380858B6}"/>
              </a:ext>
            </a:extLst>
          </p:cNvPr>
          <p:cNvSpPr>
            <a:spLocks xmlns:a="http://schemas.openxmlformats.org/drawingml/2006/main" noGrp="1"/>
          </p:cNvSpPr>
          <p:nvPr/>
        </p:nvSpPr>
        <p:spPr>
          <a:xfrm xmlns:a="http://schemas.openxmlformats.org/drawingml/2006/main" rot="0">
            <a:off x="4038600" y="3105150"/>
            <a:ext cx="689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222"/>
          </a:bodyPr>
          <a:lstStyle xmlns:a="http://schemas.openxmlformats.org/drawingml/2006/main"/>
          <a:p xmlns:a="http://schemas.openxmlformats.org/drawingml/2006/main">
            <a:pPr algn="l">
              <a:lnSpc>
                <a:spcPct val="108000"/>
              </a:lnSpc>
              <a:buNone/>
              <a:defRPr sz="1425" b="0" i="0">
                <a:solidFill>
                  <a:srgbClr val="202522"/>
                </a:solidFill>
                <a:latin typeface="SFMono-Regular"/>
                <a:ea typeface="SFMono-Regular"/>
                <a:cs typeface="SFMono-Regular"/>
              </a:defRPr>
            </a:pPr>
            <a:r>
              <a:rPr sz="1425" b="0" i="0">
                <a:solidFill>
                  <a:srgbClr val="202522"/>
                </a:solidFill>
                <a:latin typeface="SFMono-Regular"/>
                <a:ea typeface="SFMono-Regular"/>
                <a:cs typeface="SFMono-Regular"/>
              </a:rPr>
              <a:t>S[0] · T[0,1]</a:t>
            </a:r>
          </a:p>
        </p:txBody>
      </p:sp>
      <p:sp>
        <p:nvSpPr>
          <p:cNvPr id="24" name="">
            <a:extLst xmlns:a="http://schemas.openxmlformats.org/drawingml/2006/main">
              <a:ext uri="{FF2B5EF4-FFF2-40B4-BE49-F238E27FC236}">
                <a16:creationId xmlns:a16="http://schemas.microsoft.com/office/drawing/2014/main" id="{3A8D00F1-2B49-40F0-A423-634460CDC216}"/>
              </a:ext>
            </a:extLst>
          </p:cNvPr>
          <p:cNvSpPr>
            <a:spLocks xmlns:a="http://schemas.openxmlformats.org/drawingml/2006/main" noGrp="1"/>
          </p:cNvSpPr>
          <p:nvPr/>
        </p:nvSpPr>
        <p:spPr>
          <a:xfrm xmlns:a="http://schemas.openxmlformats.org/drawingml/2006/main">
            <a:off x="857250" y="3390900"/>
            <a:ext cx="0" cy="285750"/>
          </a:xfrm>
          <a:prstGeom xmlns:a="http://schemas.openxmlformats.org/drawingml/2006/main" prst="line">
            <a:avLst/>
          </a:prstGeom>
          <a:noFill xmlns:a="http://schemas.openxmlformats.org/drawingml/2006/main"/>
          <a:ln xmlns:a="http://schemas.openxmlformats.org/drawingml/2006/main" w="19050">
            <a:solidFill>
              <a:srgbClr val="D9D5C9"/>
            </a:solidFill>
            <a:prstDash val="solid"/>
          </a:ln>
        </p:spPr>
      </p:sp>
      <p:sp>
        <p:nvSpPr>
          <p:cNvPr id="25" name="">
            <a:extLst xmlns:a="http://schemas.openxmlformats.org/drawingml/2006/main">
              <a:ext uri="{FF2B5EF4-FFF2-40B4-BE49-F238E27FC236}">
                <a16:creationId xmlns:a16="http://schemas.microsoft.com/office/drawing/2014/main" id="{C75ED0E6-63B7-4CF3-BD4F-DD36E45638FA}"/>
              </a:ext>
            </a:extLst>
          </p:cNvPr>
          <p:cNvSpPr>
            <a:spLocks xmlns:a="http://schemas.openxmlformats.org/drawingml/2006/main" noGrp="1"/>
          </p:cNvSpPr>
          <p:nvPr/>
        </p:nvSpPr>
        <p:spPr>
          <a:xfrm xmlns:a="http://schemas.openxmlformats.org/drawingml/2006/main" rot="0">
            <a:off x="685800" y="3752850"/>
            <a:ext cx="342900" cy="342900"/>
          </a:xfrm>
          <a:prstGeom xmlns:a="http://schemas.openxmlformats.org/drawingml/2006/main" prst="ellipse">
            <a:avLst/>
          </a:prstGeom>
          <a:solidFill xmlns:a="http://schemas.openxmlformats.org/drawingml/2006/main">
            <a:srgbClr val="9B4C2F"/>
          </a:solidFill>
          <a:ln xmlns:a="http://schemas.openxmlformats.org/drawingml/2006/main" w="19050">
            <a:solidFill>
              <a:srgbClr val="F5F2E9"/>
            </a:solidFill>
            <a:prstDash val="solid"/>
          </a:ln>
        </p:spPr>
      </p:sp>
      <p:sp>
        <p:nvSpPr>
          <p:cNvPr id="26" name="">
            <a:extLst xmlns:a="http://schemas.openxmlformats.org/drawingml/2006/main">
              <a:ext uri="{FF2B5EF4-FFF2-40B4-BE49-F238E27FC236}">
                <a16:creationId xmlns:a16="http://schemas.microsoft.com/office/drawing/2014/main" id="{4DAF22F2-76FB-4F87-9DC6-194B19204F1F}"/>
              </a:ext>
            </a:extLst>
          </p:cNvPr>
          <p:cNvSpPr>
            <a:spLocks xmlns:a="http://schemas.openxmlformats.org/drawingml/2006/main" noGrp="1"/>
          </p:cNvSpPr>
          <p:nvPr/>
        </p:nvSpPr>
        <p:spPr>
          <a:xfrm xmlns:a="http://schemas.openxmlformats.org/drawingml/2006/main" rot="0">
            <a:off x="762000" y="3829050"/>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FFFDF7"/>
                </a:solidFill>
                <a:latin typeface="Helvetica Neue"/>
                <a:ea typeface="Helvetica Neue"/>
                <a:cs typeface="Helvetica Neue"/>
              </a:defRPr>
            </a:pPr>
            <a:r>
              <a:rPr sz="1200" b="1" i="0">
                <a:solidFill>
                  <a:srgbClr val="FFFDF7"/>
                </a:solidFill>
                <a:latin typeface="Helvetica Neue"/>
                <a:ea typeface="Helvetica Neue"/>
                <a:cs typeface="Helvetica Neue"/>
              </a:rPr>
              <a:t>4</a:t>
            </a:r>
          </a:p>
        </p:txBody>
      </p:sp>
      <p:sp>
        <p:nvSpPr>
          <p:cNvPr id="27" name="">
            <a:extLst xmlns:a="http://schemas.openxmlformats.org/drawingml/2006/main">
              <a:ext uri="{FF2B5EF4-FFF2-40B4-BE49-F238E27FC236}">
                <a16:creationId xmlns:a16="http://schemas.microsoft.com/office/drawing/2014/main" id="{7E0063E0-7EA5-4542-91F4-22BF421A1C28}"/>
              </a:ext>
            </a:extLst>
          </p:cNvPr>
          <p:cNvSpPr>
            <a:spLocks xmlns:a="http://schemas.openxmlformats.org/drawingml/2006/main" noGrp="1"/>
          </p:cNvSpPr>
          <p:nvPr/>
        </p:nvSpPr>
        <p:spPr>
          <a:xfrm xmlns:a="http://schemas.openxmlformats.org/drawingml/2006/main" rot="0">
            <a:off x="1219200" y="373380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9B4C2F"/>
                </a:solidFill>
                <a:latin typeface="Helvetica Neue"/>
                <a:ea typeface="Helvetica Neue"/>
                <a:cs typeface="Helvetica Neue"/>
              </a:defRPr>
            </a:pPr>
            <a:r>
              <a:rPr sz="1950" b="1" i="0">
                <a:solidFill>
                  <a:srgbClr val="9B4C2F"/>
                </a:solidFill>
                <a:latin typeface="Helvetica Neue"/>
                <a:ea typeface="Helvetica Neue"/>
                <a:cs typeface="Helvetica Neue"/>
              </a:rPr>
              <a:t>RustAccessPlan</a:t>
            </a:r>
          </a:p>
        </p:txBody>
      </p:sp>
      <p:sp>
        <p:nvSpPr>
          <p:cNvPr id="28" name="">
            <a:extLst xmlns:a="http://schemas.openxmlformats.org/drawingml/2006/main">
              <a:ext uri="{FF2B5EF4-FFF2-40B4-BE49-F238E27FC236}">
                <a16:creationId xmlns:a16="http://schemas.microsoft.com/office/drawing/2014/main" id="{9BA73D1A-4AC9-436C-ACC0-0E332961B3F2}"/>
              </a:ext>
            </a:extLst>
          </p:cNvPr>
          <p:cNvSpPr>
            <a:spLocks xmlns:a="http://schemas.openxmlformats.org/drawingml/2006/main" noGrp="1"/>
          </p:cNvSpPr>
          <p:nvPr/>
        </p:nvSpPr>
        <p:spPr>
          <a:xfrm xmlns:a="http://schemas.openxmlformats.org/drawingml/2006/main" rot="0">
            <a:off x="3867150" y="3676650"/>
            <a:ext cx="7239000" cy="495300"/>
          </a:xfrm>
          <a:prstGeom xmlns:a="http://schemas.openxmlformats.org/drawingml/2006/main" prst="roundRect">
            <a:avLst>
              <a:gd name="adj" fmla="val 11538"/>
            </a:avLst>
          </a:prstGeom>
          <a:solidFill xmlns:a="http://schemas.openxmlformats.org/drawingml/2006/main">
            <a:srgbClr val="FFFDF7"/>
          </a:solidFill>
          <a:ln xmlns:a="http://schemas.openxmlformats.org/drawingml/2006/main" w="9525">
            <a:solidFill>
              <a:srgbClr val="9B4C2F"/>
            </a:solidFill>
            <a:prstDash val="solid"/>
          </a:ln>
        </p:spPr>
      </p:sp>
      <p:sp>
        <p:nvSpPr>
          <p:cNvPr id="29" name="">
            <a:extLst xmlns:a="http://schemas.openxmlformats.org/drawingml/2006/main">
              <a:ext uri="{FF2B5EF4-FFF2-40B4-BE49-F238E27FC236}">
                <a16:creationId xmlns:a16="http://schemas.microsoft.com/office/drawing/2014/main" id="{701B1E1A-00F8-40C2-A8EE-8ED8A2FC228E}"/>
              </a:ext>
            </a:extLst>
          </p:cNvPr>
          <p:cNvSpPr>
            <a:spLocks xmlns:a="http://schemas.openxmlformats.org/drawingml/2006/main" noGrp="1"/>
          </p:cNvSpPr>
          <p:nvPr/>
        </p:nvSpPr>
        <p:spPr>
          <a:xfrm xmlns:a="http://schemas.openxmlformats.org/drawingml/2006/main" rot="0">
            <a:off x="4038600" y="3829050"/>
            <a:ext cx="689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222"/>
          </a:bodyPr>
          <a:lstStyle xmlns:a="http://schemas.openxmlformats.org/drawingml/2006/main"/>
          <a:p xmlns:a="http://schemas.openxmlformats.org/drawingml/2006/main">
            <a:pPr algn="l">
              <a:lnSpc>
                <a:spcPct val="108000"/>
              </a:lnSpc>
              <a:buNone/>
              <a:defRPr sz="1425" b="0" i="0">
                <a:solidFill>
                  <a:srgbClr val="202522"/>
                </a:solidFill>
                <a:latin typeface="SFMono-Regular"/>
                <a:ea typeface="SFMono-Regular"/>
                <a:cs typeface="SFMono-Regular"/>
              </a:defRPr>
            </a:pPr>
            <a:r>
              <a:rPr sz="1425" b="0" i="0">
                <a:solidFill>
                  <a:srgbClr val="202522"/>
                </a:solidFill>
                <a:latin typeface="SFMono-Regular"/>
                <a:ea typeface="SFMono-Regular"/>
                <a:cs typeface="SFMono-Regular"/>
              </a:rPr>
              <a:t>iter / get / contains</a:t>
            </a:r>
          </a:p>
        </p:txBody>
      </p:sp>
      <p:sp>
        <p:nvSpPr>
          <p:cNvPr id="30" name="">
            <a:extLst xmlns:a="http://schemas.openxmlformats.org/drawingml/2006/main">
              <a:ext uri="{FF2B5EF4-FFF2-40B4-BE49-F238E27FC236}">
                <a16:creationId xmlns:a16="http://schemas.microsoft.com/office/drawing/2014/main" id="{00C5947D-ED88-430F-8CDC-1DF021943622}"/>
              </a:ext>
            </a:extLst>
          </p:cNvPr>
          <p:cNvSpPr>
            <a:spLocks xmlns:a="http://schemas.openxmlformats.org/drawingml/2006/main" noGrp="1"/>
          </p:cNvSpPr>
          <p:nvPr/>
        </p:nvSpPr>
        <p:spPr>
          <a:xfrm xmlns:a="http://schemas.openxmlformats.org/drawingml/2006/main">
            <a:off x="857250" y="4114800"/>
            <a:ext cx="0" cy="285750"/>
          </a:xfrm>
          <a:prstGeom xmlns:a="http://schemas.openxmlformats.org/drawingml/2006/main" prst="line">
            <a:avLst/>
          </a:prstGeom>
          <a:noFill xmlns:a="http://schemas.openxmlformats.org/drawingml/2006/main"/>
          <a:ln xmlns:a="http://schemas.openxmlformats.org/drawingml/2006/main" w="19050">
            <a:solidFill>
              <a:srgbClr val="D9D5C9"/>
            </a:solidFill>
            <a:prstDash val="solid"/>
          </a:ln>
        </p:spPr>
      </p:sp>
      <p:sp>
        <p:nvSpPr>
          <p:cNvPr id="31" name="">
            <a:extLst xmlns:a="http://schemas.openxmlformats.org/drawingml/2006/main">
              <a:ext uri="{FF2B5EF4-FFF2-40B4-BE49-F238E27FC236}">
                <a16:creationId xmlns:a16="http://schemas.microsoft.com/office/drawing/2014/main" id="{B8150B79-F5BF-43C6-A950-27355EC96B5E}"/>
              </a:ext>
            </a:extLst>
          </p:cNvPr>
          <p:cNvSpPr>
            <a:spLocks xmlns:a="http://schemas.openxmlformats.org/drawingml/2006/main" noGrp="1"/>
          </p:cNvSpPr>
          <p:nvPr/>
        </p:nvSpPr>
        <p:spPr>
          <a:xfrm xmlns:a="http://schemas.openxmlformats.org/drawingml/2006/main" rot="0">
            <a:off x="685800" y="4476750"/>
            <a:ext cx="342900" cy="342900"/>
          </a:xfrm>
          <a:prstGeom xmlns:a="http://schemas.openxmlformats.org/drawingml/2006/main" prst="ellipse">
            <a:avLst/>
          </a:prstGeom>
          <a:solidFill xmlns:a="http://schemas.openxmlformats.org/drawingml/2006/main">
            <a:srgbClr val="286D91"/>
          </a:solidFill>
          <a:ln xmlns:a="http://schemas.openxmlformats.org/drawingml/2006/main" w="19050">
            <a:solidFill>
              <a:srgbClr val="F5F2E9"/>
            </a:solidFill>
            <a:prstDash val="solid"/>
          </a:ln>
        </p:spPr>
      </p:sp>
      <p:sp>
        <p:nvSpPr>
          <p:cNvPr id="32" name="">
            <a:extLst xmlns:a="http://schemas.openxmlformats.org/drawingml/2006/main">
              <a:ext uri="{FF2B5EF4-FFF2-40B4-BE49-F238E27FC236}">
                <a16:creationId xmlns:a16="http://schemas.microsoft.com/office/drawing/2014/main" id="{8DE27801-338C-4C9F-9630-01C7405545D9}"/>
              </a:ext>
            </a:extLst>
          </p:cNvPr>
          <p:cNvSpPr>
            <a:spLocks xmlns:a="http://schemas.openxmlformats.org/drawingml/2006/main" noGrp="1"/>
          </p:cNvSpPr>
          <p:nvPr/>
        </p:nvSpPr>
        <p:spPr>
          <a:xfrm xmlns:a="http://schemas.openxmlformats.org/drawingml/2006/main" rot="0">
            <a:off x="762000" y="4552950"/>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FFFDF7"/>
                </a:solidFill>
                <a:latin typeface="Helvetica Neue"/>
                <a:ea typeface="Helvetica Neue"/>
                <a:cs typeface="Helvetica Neue"/>
              </a:defRPr>
            </a:pPr>
            <a:r>
              <a:rPr sz="1200" b="1" i="0">
                <a:solidFill>
                  <a:srgbClr val="FFFDF7"/>
                </a:solidFill>
                <a:latin typeface="Helvetica Neue"/>
                <a:ea typeface="Helvetica Neue"/>
                <a:cs typeface="Helvetica Neue"/>
              </a:rPr>
              <a:t>5</a:t>
            </a:r>
          </a:p>
        </p:txBody>
      </p:sp>
      <p:sp>
        <p:nvSpPr>
          <p:cNvPr id="33" name="">
            <a:extLst xmlns:a="http://schemas.openxmlformats.org/drawingml/2006/main">
              <a:ext uri="{FF2B5EF4-FFF2-40B4-BE49-F238E27FC236}">
                <a16:creationId xmlns:a16="http://schemas.microsoft.com/office/drawing/2014/main" id="{FA399D62-6A3D-4FF6-A7D9-EAC535D1BE7C}"/>
              </a:ext>
            </a:extLst>
          </p:cNvPr>
          <p:cNvSpPr>
            <a:spLocks xmlns:a="http://schemas.openxmlformats.org/drawingml/2006/main" noGrp="1"/>
          </p:cNvSpPr>
          <p:nvPr/>
        </p:nvSpPr>
        <p:spPr>
          <a:xfrm xmlns:a="http://schemas.openxmlformats.org/drawingml/2006/main" rot="0">
            <a:off x="1219200" y="445770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286D91"/>
                </a:solidFill>
                <a:latin typeface="Helvetica Neue"/>
                <a:ea typeface="Helvetica Neue"/>
                <a:cs typeface="Helvetica Neue"/>
              </a:defRPr>
            </a:pPr>
            <a:r>
              <a:rPr sz="1950" b="1" i="0">
                <a:solidFill>
                  <a:srgbClr val="286D91"/>
                </a:solidFill>
                <a:latin typeface="Helvetica Neue"/>
                <a:ea typeface="Helvetica Neue"/>
                <a:cs typeface="Helvetica Neue"/>
              </a:rPr>
              <a:t>IteratorPipeline</a:t>
            </a:r>
          </a:p>
        </p:txBody>
      </p:sp>
      <p:sp>
        <p:nvSpPr>
          <p:cNvPr id="34" name="">
            <a:extLst xmlns:a="http://schemas.openxmlformats.org/drawingml/2006/main">
              <a:ext uri="{FF2B5EF4-FFF2-40B4-BE49-F238E27FC236}">
                <a16:creationId xmlns:a16="http://schemas.microsoft.com/office/drawing/2014/main" id="{09727C80-2080-4929-B601-7F2A07AEC755}"/>
              </a:ext>
            </a:extLst>
          </p:cNvPr>
          <p:cNvSpPr>
            <a:spLocks xmlns:a="http://schemas.openxmlformats.org/drawingml/2006/main" noGrp="1"/>
          </p:cNvSpPr>
          <p:nvPr/>
        </p:nvSpPr>
        <p:spPr>
          <a:xfrm xmlns:a="http://schemas.openxmlformats.org/drawingml/2006/main" rot="0">
            <a:off x="3867150" y="4400550"/>
            <a:ext cx="7239000" cy="495300"/>
          </a:xfrm>
          <a:prstGeom xmlns:a="http://schemas.openxmlformats.org/drawingml/2006/main" prst="roundRect">
            <a:avLst>
              <a:gd name="adj" fmla="val 11538"/>
            </a:avLst>
          </a:prstGeom>
          <a:solidFill xmlns:a="http://schemas.openxmlformats.org/drawingml/2006/main">
            <a:srgbClr val="FFFDF7"/>
          </a:solidFill>
          <a:ln xmlns:a="http://schemas.openxmlformats.org/drawingml/2006/main" w="9525">
            <a:solidFill>
              <a:srgbClr val="286D91"/>
            </a:solidFill>
            <a:prstDash val="solid"/>
          </a:ln>
        </p:spPr>
      </p:sp>
      <p:sp>
        <p:nvSpPr>
          <p:cNvPr id="35" name="">
            <a:extLst xmlns:a="http://schemas.openxmlformats.org/drawingml/2006/main">
              <a:ext uri="{FF2B5EF4-FFF2-40B4-BE49-F238E27FC236}">
                <a16:creationId xmlns:a16="http://schemas.microsoft.com/office/drawing/2014/main" id="{C8EE4D97-A3FB-4547-917D-E72608A9B72F}"/>
              </a:ext>
            </a:extLst>
          </p:cNvPr>
          <p:cNvSpPr>
            <a:spLocks xmlns:a="http://schemas.openxmlformats.org/drawingml/2006/main" noGrp="1"/>
          </p:cNvSpPr>
          <p:nvPr/>
        </p:nvSpPr>
        <p:spPr>
          <a:xfrm xmlns:a="http://schemas.openxmlformats.org/drawingml/2006/main" rot="0">
            <a:off x="4038600" y="4552950"/>
            <a:ext cx="689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222"/>
          </a:bodyPr>
          <a:lstStyle xmlns:a="http://schemas.openxmlformats.org/drawingml/2006/main"/>
          <a:p xmlns:a="http://schemas.openxmlformats.org/drawingml/2006/main">
            <a:pPr algn="l">
              <a:lnSpc>
                <a:spcPct val="108000"/>
              </a:lnSpc>
              <a:buNone/>
              <a:defRPr sz="1425" b="0" i="0">
                <a:solidFill>
                  <a:srgbClr val="202522"/>
                </a:solidFill>
                <a:latin typeface="SFMono-Regular"/>
                <a:ea typeface="SFMono-Regular"/>
                <a:cs typeface="SFMono-Regular"/>
              </a:defRPr>
            </a:pPr>
            <a:r>
              <a:rPr sz="1425" b="0" i="0">
                <a:solidFill>
                  <a:srgbClr val="202522"/>
                </a:solidFill>
                <a:latin typeface="SFMono-Regular"/>
                <a:ea typeface="SFMono-Regular"/>
                <a:cs typeface="SFMono-Regular"/>
              </a:rPr>
              <a:t>scan · join · filter · distinct</a:t>
            </a:r>
          </a:p>
        </p:txBody>
      </p:sp>
      <p:sp>
        <p:nvSpPr>
          <p:cNvPr id="36" name="">
            <a:extLst xmlns:a="http://schemas.openxmlformats.org/drawingml/2006/main">
              <a:ext uri="{FF2B5EF4-FFF2-40B4-BE49-F238E27FC236}">
                <a16:creationId xmlns:a16="http://schemas.microsoft.com/office/drawing/2014/main" id="{6950ACEA-A2C5-4D0A-98FF-3C26BA28E6FB}"/>
              </a:ext>
            </a:extLst>
          </p:cNvPr>
          <p:cNvSpPr>
            <a:spLocks xmlns:a="http://schemas.openxmlformats.org/drawingml/2006/main" noGrp="1"/>
          </p:cNvSpPr>
          <p:nvPr/>
        </p:nvSpPr>
        <p:spPr>
          <a:xfrm xmlns:a="http://schemas.openxmlformats.org/drawingml/2006/main">
            <a:off x="857250" y="4838700"/>
            <a:ext cx="0" cy="285750"/>
          </a:xfrm>
          <a:prstGeom xmlns:a="http://schemas.openxmlformats.org/drawingml/2006/main" prst="line">
            <a:avLst/>
          </a:prstGeom>
          <a:noFill xmlns:a="http://schemas.openxmlformats.org/drawingml/2006/main"/>
          <a:ln xmlns:a="http://schemas.openxmlformats.org/drawingml/2006/main" w="19050">
            <a:solidFill>
              <a:srgbClr val="D9D5C9"/>
            </a:solidFill>
            <a:prstDash val="solid"/>
          </a:ln>
        </p:spPr>
      </p:sp>
      <p:sp>
        <p:nvSpPr>
          <p:cNvPr id="37" name="">
            <a:extLst xmlns:a="http://schemas.openxmlformats.org/drawingml/2006/main">
              <a:ext uri="{FF2B5EF4-FFF2-40B4-BE49-F238E27FC236}">
                <a16:creationId xmlns:a16="http://schemas.microsoft.com/office/drawing/2014/main" id="{5997F1F5-F095-42A7-8030-DD818B6AF4D5}"/>
              </a:ext>
            </a:extLst>
          </p:cNvPr>
          <p:cNvSpPr>
            <a:spLocks xmlns:a="http://schemas.openxmlformats.org/drawingml/2006/main" noGrp="1"/>
          </p:cNvSpPr>
          <p:nvPr/>
        </p:nvSpPr>
        <p:spPr>
          <a:xfrm xmlns:a="http://schemas.openxmlformats.org/drawingml/2006/main" rot="0">
            <a:off x="685800" y="5200650"/>
            <a:ext cx="342900" cy="342900"/>
          </a:xfrm>
          <a:prstGeom xmlns:a="http://schemas.openxmlformats.org/drawingml/2006/main" prst="ellipse">
            <a:avLst/>
          </a:prstGeom>
          <a:solidFill xmlns:a="http://schemas.openxmlformats.org/drawingml/2006/main">
            <a:srgbClr val="202522"/>
          </a:solidFill>
          <a:ln xmlns:a="http://schemas.openxmlformats.org/drawingml/2006/main" w="19050">
            <a:solidFill>
              <a:srgbClr val="F5F2E9"/>
            </a:solidFill>
            <a:prstDash val="solid"/>
          </a:ln>
        </p:spPr>
      </p:sp>
      <p:sp>
        <p:nvSpPr>
          <p:cNvPr id="38" name="">
            <a:extLst xmlns:a="http://schemas.openxmlformats.org/drawingml/2006/main">
              <a:ext uri="{FF2B5EF4-FFF2-40B4-BE49-F238E27FC236}">
                <a16:creationId xmlns:a16="http://schemas.microsoft.com/office/drawing/2014/main" id="{08743ED3-C05D-4D80-A60B-FBCA12CED554}"/>
              </a:ext>
            </a:extLst>
          </p:cNvPr>
          <p:cNvSpPr>
            <a:spLocks xmlns:a="http://schemas.openxmlformats.org/drawingml/2006/main" noGrp="1"/>
          </p:cNvSpPr>
          <p:nvPr/>
        </p:nvSpPr>
        <p:spPr>
          <a:xfrm xmlns:a="http://schemas.openxmlformats.org/drawingml/2006/main" rot="0">
            <a:off x="762000" y="5276850"/>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FFFDF7"/>
                </a:solidFill>
                <a:latin typeface="Helvetica Neue"/>
                <a:ea typeface="Helvetica Neue"/>
                <a:cs typeface="Helvetica Neue"/>
              </a:defRPr>
            </a:pPr>
            <a:r>
              <a:rPr sz="1200" b="1" i="0">
                <a:solidFill>
                  <a:srgbClr val="FFFDF7"/>
                </a:solidFill>
                <a:latin typeface="Helvetica Neue"/>
                <a:ea typeface="Helvetica Neue"/>
                <a:cs typeface="Helvetica Neue"/>
              </a:rPr>
              <a:t>6</a:t>
            </a:r>
          </a:p>
        </p:txBody>
      </p:sp>
      <p:sp>
        <p:nvSpPr>
          <p:cNvPr id="39" name="">
            <a:extLst xmlns:a="http://schemas.openxmlformats.org/drawingml/2006/main">
              <a:ext uri="{FF2B5EF4-FFF2-40B4-BE49-F238E27FC236}">
                <a16:creationId xmlns:a16="http://schemas.microsoft.com/office/drawing/2014/main" id="{02656811-A3D5-4CBE-BD56-0633AAC182CC}"/>
              </a:ext>
            </a:extLst>
          </p:cNvPr>
          <p:cNvSpPr>
            <a:spLocks xmlns:a="http://schemas.openxmlformats.org/drawingml/2006/main" noGrp="1"/>
          </p:cNvSpPr>
          <p:nvPr/>
        </p:nvSpPr>
        <p:spPr>
          <a:xfrm xmlns:a="http://schemas.openxmlformats.org/drawingml/2006/main" rot="0">
            <a:off x="1219200" y="518160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202522"/>
                </a:solidFill>
                <a:latin typeface="Helvetica Neue"/>
                <a:ea typeface="Helvetica Neue"/>
                <a:cs typeface="Helvetica Neue"/>
              </a:defRPr>
            </a:pPr>
            <a:r>
              <a:rPr sz="1950" b="1" i="0">
                <a:solidFill>
                  <a:srgbClr val="202522"/>
                </a:solidFill>
                <a:latin typeface="Helvetica Neue"/>
                <a:ea typeface="Helvetica Neue"/>
                <a:cs typeface="Helvetica Neue"/>
              </a:rPr>
              <a:t>Rust</a:t>
            </a:r>
          </a:p>
        </p:txBody>
      </p:sp>
      <p:sp>
        <p:nvSpPr>
          <p:cNvPr id="40" name="">
            <a:extLst xmlns:a="http://schemas.openxmlformats.org/drawingml/2006/main">
              <a:ext uri="{FF2B5EF4-FFF2-40B4-BE49-F238E27FC236}">
                <a16:creationId xmlns:a16="http://schemas.microsoft.com/office/drawing/2014/main" id="{64A2BACB-4E76-4D44-A89D-CDB5436A8961}"/>
              </a:ext>
            </a:extLst>
          </p:cNvPr>
          <p:cNvSpPr>
            <a:spLocks xmlns:a="http://schemas.openxmlformats.org/drawingml/2006/main" noGrp="1"/>
          </p:cNvSpPr>
          <p:nvPr/>
        </p:nvSpPr>
        <p:spPr>
          <a:xfrm xmlns:a="http://schemas.openxmlformats.org/drawingml/2006/main" rot="0">
            <a:off x="3867150" y="5124450"/>
            <a:ext cx="7239000" cy="495300"/>
          </a:xfrm>
          <a:prstGeom xmlns:a="http://schemas.openxmlformats.org/drawingml/2006/main" prst="roundRect">
            <a:avLst>
              <a:gd name="adj" fmla="val 11538"/>
            </a:avLst>
          </a:prstGeom>
          <a:solidFill xmlns:a="http://schemas.openxmlformats.org/drawingml/2006/main">
            <a:srgbClr val="FFFDF7"/>
          </a:solidFill>
          <a:ln xmlns:a="http://schemas.openxmlformats.org/drawingml/2006/main" w="9525">
            <a:solidFill>
              <a:srgbClr val="202522"/>
            </a:solidFill>
            <a:prstDash val="solid"/>
          </a:ln>
        </p:spPr>
      </p:sp>
      <p:sp>
        <p:nvSpPr>
          <p:cNvPr id="41" name="">
            <a:extLst xmlns:a="http://schemas.openxmlformats.org/drawingml/2006/main">
              <a:ext uri="{FF2B5EF4-FFF2-40B4-BE49-F238E27FC236}">
                <a16:creationId xmlns:a16="http://schemas.microsoft.com/office/drawing/2014/main" id="{BC5735ED-3EF7-4343-8809-B1C57EA42952}"/>
              </a:ext>
            </a:extLst>
          </p:cNvPr>
          <p:cNvSpPr>
            <a:spLocks xmlns:a="http://schemas.openxmlformats.org/drawingml/2006/main" noGrp="1"/>
          </p:cNvSpPr>
          <p:nvPr/>
        </p:nvSpPr>
        <p:spPr>
          <a:xfrm xmlns:a="http://schemas.openxmlformats.org/drawingml/2006/main" rot="0">
            <a:off x="4038600" y="5276850"/>
            <a:ext cx="689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222"/>
          </a:bodyPr>
          <a:lstStyle xmlns:a="http://schemas.openxmlformats.org/drawingml/2006/main"/>
          <a:p xmlns:a="http://schemas.openxmlformats.org/drawingml/2006/main">
            <a:pPr algn="l">
              <a:lnSpc>
                <a:spcPct val="108000"/>
              </a:lnSpc>
              <a:buNone/>
              <a:defRPr sz="1425" b="0" i="0">
                <a:solidFill>
                  <a:srgbClr val="202522"/>
                </a:solidFill>
                <a:latin typeface="SFMono-Regular"/>
                <a:ea typeface="SFMono-Regular"/>
                <a:cs typeface="SFMono-Regular"/>
              </a:defRPr>
            </a:pPr>
            <a:r>
              <a:rPr sz="1425" b="0" i="0">
                <a:solidFill>
                  <a:srgbClr val="202522"/>
                </a:solidFill>
                <a:latin typeface="SFMono-Regular"/>
                <a:ea typeface="SFMono-Regular"/>
                <a:cs typeface="SFMono-Regular"/>
              </a:rPr>
              <a:t>map · flat_map · filter</a:t>
            </a:r>
          </a:p>
        </p:txBody>
      </p:sp>
    </p:spTree>
    <p:extLst>
      <p:ext uri="{BB962C8B-B14F-4D97-AF65-F5344CB8AC3E}">
        <p14:creationId xmlns:p14="http://schemas.microsoft.com/office/powerpoint/2010/main" val="1009525972"/>
      </p:ext>
    </p:extLst>
  </p:cSld>
</p:sld>
</file>

<file path=ppt/slides/slide1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4EB7081-47C1-497F-99B3-E24220DCA824}"/>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684F82"/>
          </a:solidFill>
          <a:ln xmlns:a="http://schemas.openxmlformats.org/drawingml/2006/main" w="0">
            <a:solidFill>
              <a:srgbClr val="684F82"/>
            </a:solidFill>
            <a:prstDash val="solid"/>
          </a:ln>
        </p:spPr>
      </p:sp>
      <p:sp>
        <p:nvSpPr>
          <p:cNvPr id="2" name="">
            <a:extLst xmlns:a="http://schemas.openxmlformats.org/drawingml/2006/main">
              <a:ext uri="{FF2B5EF4-FFF2-40B4-BE49-F238E27FC236}">
                <a16:creationId xmlns:a16="http://schemas.microsoft.com/office/drawing/2014/main" id="{6C6057B8-21AF-48D0-BEB5-7B211966C2DB}"/>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684F82"/>
                </a:solidFill>
                <a:latin typeface="Helvetica Neue"/>
                <a:ea typeface="Helvetica Neue"/>
                <a:cs typeface="Helvetica Neue"/>
              </a:defRPr>
            </a:pPr>
            <a:r>
              <a:rPr sz="1050" b="1" i="0">
                <a:solidFill>
                  <a:srgbClr val="684F82"/>
                </a:solidFill>
                <a:latin typeface="Helvetica Neue"/>
                <a:ea typeface="Helvetica Neue"/>
                <a:cs typeface="Helvetica Neue"/>
              </a:rPr>
              <a:t>WHY THIS COURSE</a:t>
            </a:r>
          </a:p>
        </p:txBody>
      </p:sp>
      <p:sp>
        <p:nvSpPr>
          <p:cNvPr id="3" name="">
            <a:extLst xmlns:a="http://schemas.openxmlformats.org/drawingml/2006/main">
              <a:ext uri="{FF2B5EF4-FFF2-40B4-BE49-F238E27FC236}">
                <a16:creationId xmlns:a16="http://schemas.microsoft.com/office/drawing/2014/main" id="{EB390E9E-A471-4731-90A2-F9965672AADB}"/>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70"/>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The course keeps meaning and work in the same frame</a:t>
            </a:r>
          </a:p>
        </p:txBody>
      </p:sp>
      <p:sp>
        <p:nvSpPr>
          <p:cNvPr id="4" name="">
            <a:extLst xmlns:a="http://schemas.openxmlformats.org/drawingml/2006/main">
              <a:ext uri="{FF2B5EF4-FFF2-40B4-BE49-F238E27FC236}">
                <a16:creationId xmlns:a16="http://schemas.microsoft.com/office/drawing/2014/main" id="{90D84DDB-29CE-496D-A524-8352541105A0}"/>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96491714-CB66-4CD5-B5E5-E1F2CCD32FC2}"/>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3DD3F6F4-6819-4362-B9AB-1A5861059295}"/>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15</a:t>
            </a:r>
          </a:p>
        </p:txBody>
      </p:sp>
      <p:sp>
        <p:nvSpPr>
          <p:cNvPr id="7" name="">
            <a:extLst xmlns:a="http://schemas.openxmlformats.org/drawingml/2006/main">
              <a:ext uri="{FF2B5EF4-FFF2-40B4-BE49-F238E27FC236}">
                <a16:creationId xmlns:a16="http://schemas.microsoft.com/office/drawing/2014/main" id="{11645301-8B89-4EA5-8AF7-2EB942363BCB}"/>
              </a:ext>
            </a:extLst>
          </p:cNvPr>
          <p:cNvSpPr>
            <a:spLocks xmlns:a="http://schemas.openxmlformats.org/drawingml/2006/main" noGrp="1"/>
          </p:cNvSpPr>
          <p:nvPr/>
        </p:nvSpPr>
        <p:spPr>
          <a:xfrm xmlns:a="http://schemas.openxmlformats.org/drawingml/2006/main" rot="0">
            <a:off x="685800" y="1676400"/>
            <a:ext cx="4781550" cy="3390900"/>
          </a:xfrm>
          <a:prstGeom xmlns:a="http://schemas.openxmlformats.org/drawingml/2006/main" prst="roundRect">
            <a:avLst>
              <a:gd name="adj" fmla="val 2809"/>
            </a:avLst>
          </a:prstGeom>
          <a:solidFill xmlns:a="http://schemas.openxmlformats.org/drawingml/2006/main">
            <a:srgbClr val="E7F0EF"/>
          </a:solidFill>
          <a:ln xmlns:a="http://schemas.openxmlformats.org/drawingml/2006/main" w="19050">
            <a:solidFill>
              <a:srgbClr val="176B73"/>
            </a:solidFill>
            <a:prstDash val="solid"/>
          </a:ln>
        </p:spPr>
      </p:sp>
      <p:sp>
        <p:nvSpPr>
          <p:cNvPr id="8" name="">
            <a:extLst xmlns:a="http://schemas.openxmlformats.org/drawingml/2006/main">
              <a:ext uri="{FF2B5EF4-FFF2-40B4-BE49-F238E27FC236}">
                <a16:creationId xmlns:a16="http://schemas.microsoft.com/office/drawing/2014/main" id="{D89C55DE-A3B4-4FAC-A656-478C8B607F41}"/>
              </a:ext>
            </a:extLst>
          </p:cNvPr>
          <p:cNvSpPr>
            <a:spLocks xmlns:a="http://schemas.openxmlformats.org/drawingml/2006/main" noGrp="1"/>
          </p:cNvSpPr>
          <p:nvPr/>
        </p:nvSpPr>
        <p:spPr>
          <a:xfrm xmlns:a="http://schemas.openxmlformats.org/drawingml/2006/main" rot="0">
            <a:off x="6724650" y="1676400"/>
            <a:ext cx="4781550" cy="3390900"/>
          </a:xfrm>
          <a:prstGeom xmlns:a="http://schemas.openxmlformats.org/drawingml/2006/main" prst="roundRect">
            <a:avLst>
              <a:gd name="adj" fmla="val 2809"/>
            </a:avLst>
          </a:prstGeom>
          <a:solidFill xmlns:a="http://schemas.openxmlformats.org/drawingml/2006/main">
            <a:srgbClr val="F8EEE9"/>
          </a:solidFill>
          <a:ln xmlns:a="http://schemas.openxmlformats.org/drawingml/2006/main" w="19050">
            <a:solidFill>
              <a:srgbClr val="9B4C2F"/>
            </a:solidFill>
            <a:prstDash val="solid"/>
          </a:ln>
        </p:spPr>
      </p:sp>
      <p:sp>
        <p:nvSpPr>
          <p:cNvPr id="9" name="">
            <a:extLst xmlns:a="http://schemas.openxmlformats.org/drawingml/2006/main">
              <a:ext uri="{FF2B5EF4-FFF2-40B4-BE49-F238E27FC236}">
                <a16:creationId xmlns:a16="http://schemas.microsoft.com/office/drawing/2014/main" id="{E8D10257-4844-4664-A696-122B81B1D771}"/>
              </a:ext>
            </a:extLst>
          </p:cNvPr>
          <p:cNvSpPr>
            <a:spLocks xmlns:a="http://schemas.openxmlformats.org/drawingml/2006/main" noGrp="1"/>
          </p:cNvSpPr>
          <p:nvPr/>
        </p:nvSpPr>
        <p:spPr>
          <a:xfrm xmlns:a="http://schemas.openxmlformats.org/drawingml/2006/main" rot="0">
            <a:off x="990600" y="19431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176B73"/>
                </a:solidFill>
                <a:latin typeface="Helvetica Neue"/>
                <a:ea typeface="Helvetica Neue"/>
                <a:cs typeface="Helvetica Neue"/>
              </a:defRPr>
            </a:pPr>
            <a:r>
              <a:rPr sz="1125" b="1" i="0">
                <a:solidFill>
                  <a:srgbClr val="176B73"/>
                </a:solidFill>
                <a:latin typeface="Helvetica Neue"/>
                <a:ea typeface="Helvetica Neue"/>
                <a:cs typeface="Helvetica Neue"/>
              </a:rPr>
              <a:t>MEANING</a:t>
            </a:r>
          </a:p>
        </p:txBody>
      </p:sp>
      <p:sp>
        <p:nvSpPr>
          <p:cNvPr id="10" name="">
            <a:extLst xmlns:a="http://schemas.openxmlformats.org/drawingml/2006/main">
              <a:ext uri="{FF2B5EF4-FFF2-40B4-BE49-F238E27FC236}">
                <a16:creationId xmlns:a16="http://schemas.microsoft.com/office/drawing/2014/main" id="{ECDCAC96-FCB9-448D-BC3B-872955D29866}"/>
              </a:ext>
            </a:extLst>
          </p:cNvPr>
          <p:cNvSpPr>
            <a:spLocks xmlns:a="http://schemas.openxmlformats.org/drawingml/2006/main" noGrp="1"/>
          </p:cNvSpPr>
          <p:nvPr/>
        </p:nvSpPr>
        <p:spPr>
          <a:xfrm xmlns:a="http://schemas.openxmlformats.org/drawingml/2006/main" rot="0">
            <a:off x="990600" y="2381250"/>
            <a:ext cx="3981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0" i="0">
                <a:solidFill>
                  <a:srgbClr val="202522"/>
                </a:solidFill>
                <a:latin typeface="Helvetica Neue"/>
                <a:ea typeface="Helvetica Neue"/>
                <a:cs typeface="Helvetica Neue"/>
              </a:defRPr>
            </a:pPr>
            <a:r>
              <a:rPr sz="2550" b="0" i="0">
                <a:solidFill>
                  <a:srgbClr val="202522"/>
                </a:solidFill>
                <a:latin typeface="Helvetica Neue"/>
                <a:ea typeface="Helvetica Neue"/>
                <a:cs typeface="Helvetica Neue"/>
              </a:rPr>
              <a:t>Which tuples are answers?</a:t>
            </a:r>
          </a:p>
        </p:txBody>
      </p:sp>
      <p:sp>
        <p:nvSpPr>
          <p:cNvPr id="11" name="">
            <a:extLst xmlns:a="http://schemas.openxmlformats.org/drawingml/2006/main">
              <a:ext uri="{FF2B5EF4-FFF2-40B4-BE49-F238E27FC236}">
                <a16:creationId xmlns:a16="http://schemas.microsoft.com/office/drawing/2014/main" id="{8599A3C5-7A91-4EFE-9145-CCDBD457EC6C}"/>
              </a:ext>
            </a:extLst>
          </p:cNvPr>
          <p:cNvSpPr>
            <a:spLocks xmlns:a="http://schemas.openxmlformats.org/drawingml/2006/main" noGrp="1"/>
          </p:cNvSpPr>
          <p:nvPr/>
        </p:nvSpPr>
        <p:spPr>
          <a:xfrm xmlns:a="http://schemas.openxmlformats.org/drawingml/2006/main" rot="0">
            <a:off x="990600" y="3219450"/>
            <a:ext cx="4171950" cy="704850"/>
          </a:xfrm>
          <a:prstGeom xmlns:a="http://schemas.openxmlformats.org/drawingml/2006/main" prst="roundRect">
            <a:avLst>
              <a:gd name="adj" fmla="val 13514"/>
            </a:avLst>
          </a:prstGeom>
          <a:solidFill xmlns:a="http://schemas.openxmlformats.org/drawingml/2006/main">
            <a:srgbClr val="161A18"/>
          </a:solidFill>
          <a:ln xmlns:a="http://schemas.openxmlformats.org/drawingml/2006/main" w="9525">
            <a:solidFill>
              <a:srgbClr val="161A18"/>
            </a:solidFill>
            <a:prstDash val="solid"/>
          </a:ln>
        </p:spPr>
      </p:sp>
      <p:sp>
        <p:nvSpPr>
          <p:cNvPr id="12" name="">
            <a:extLst xmlns:a="http://schemas.openxmlformats.org/drawingml/2006/main">
              <a:ext uri="{FF2B5EF4-FFF2-40B4-BE49-F238E27FC236}">
                <a16:creationId xmlns:a16="http://schemas.microsoft.com/office/drawing/2014/main" id="{E56A3452-3222-43F3-8B21-296B121C8155}"/>
              </a:ext>
            </a:extLst>
          </p:cNvPr>
          <p:cNvSpPr>
            <a:spLocks xmlns:a="http://schemas.openxmlformats.org/drawingml/2006/main" noGrp="1"/>
          </p:cNvSpPr>
          <p:nvPr/>
        </p:nvSpPr>
        <p:spPr>
          <a:xfrm xmlns:a="http://schemas.openxmlformats.org/drawingml/2006/main" rot="0">
            <a:off x="1162050" y="3371850"/>
            <a:ext cx="3829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FFFDF7"/>
                </a:solidFill>
                <a:latin typeface="SFMono-Regular"/>
                <a:ea typeface="SFMono-Regular"/>
                <a:cs typeface="SFMono-Regular"/>
              </a:defRPr>
            </a:pPr>
            <a:r>
              <a:rPr sz="1425" b="0" i="0">
                <a:solidFill>
                  <a:srgbClr val="FFFDF7"/>
                </a:solidFill>
                <a:latin typeface="SFMono-Regular"/>
                <a:ea typeface="SFMono-Regular"/>
                <a:cs typeface="SFMono-Regular"/>
              </a:rPr>
              <a:t>q(x,z) :- road(x,y), road(y,z).</a:t>
            </a:r>
          </a:p>
        </p:txBody>
      </p:sp>
      <p:sp>
        <p:nvSpPr>
          <p:cNvPr id="13" name="">
            <a:extLst xmlns:a="http://schemas.openxmlformats.org/drawingml/2006/main">
              <a:ext uri="{FF2B5EF4-FFF2-40B4-BE49-F238E27FC236}">
                <a16:creationId xmlns:a16="http://schemas.microsoft.com/office/drawing/2014/main" id="{ED7E75D6-F35A-42FD-9CBC-DD3A4281EDA5}"/>
              </a:ext>
            </a:extLst>
          </p:cNvPr>
          <p:cNvSpPr>
            <a:spLocks xmlns:a="http://schemas.openxmlformats.org/drawingml/2006/main" noGrp="1"/>
          </p:cNvSpPr>
          <p:nvPr/>
        </p:nvSpPr>
        <p:spPr>
          <a:xfrm xmlns:a="http://schemas.openxmlformats.org/drawingml/2006/main" rot="0">
            <a:off x="990600" y="4286250"/>
            <a:ext cx="411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i="0">
                <a:solidFill>
                  <a:srgbClr val="176B73"/>
                </a:solidFill>
                <a:latin typeface="Helvetica Neue"/>
                <a:ea typeface="Helvetica Neue"/>
                <a:cs typeface="Helvetica Neue"/>
              </a:defRPr>
            </a:pPr>
            <a:r>
              <a:rPr sz="1500" b="0" i="0">
                <a:solidFill>
                  <a:srgbClr val="176B73"/>
                </a:solidFill>
                <a:latin typeface="Helvetica Neue"/>
                <a:ea typeface="Helvetica Neue"/>
                <a:cs typeface="Helvetica Neue"/>
              </a:rPr>
              <a:t>valuations · set semantics · fixed points</a:t>
            </a:r>
          </a:p>
        </p:txBody>
      </p:sp>
      <p:sp>
        <p:nvSpPr>
          <p:cNvPr id="14" name="">
            <a:extLst xmlns:a="http://schemas.openxmlformats.org/drawingml/2006/main">
              <a:ext uri="{FF2B5EF4-FFF2-40B4-BE49-F238E27FC236}">
                <a16:creationId xmlns:a16="http://schemas.microsoft.com/office/drawing/2014/main" id="{EBBCD511-2A21-4FA4-A4DA-9B90A172E694}"/>
              </a:ext>
            </a:extLst>
          </p:cNvPr>
          <p:cNvSpPr>
            <a:spLocks xmlns:a="http://schemas.openxmlformats.org/drawingml/2006/main" noGrp="1"/>
          </p:cNvSpPr>
          <p:nvPr/>
        </p:nvSpPr>
        <p:spPr>
          <a:xfrm xmlns:a="http://schemas.openxmlformats.org/drawingml/2006/main" rot="0">
            <a:off x="7029450" y="19431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9B4C2F"/>
                </a:solidFill>
                <a:latin typeface="Helvetica Neue"/>
                <a:ea typeface="Helvetica Neue"/>
                <a:cs typeface="Helvetica Neue"/>
              </a:defRPr>
            </a:pPr>
            <a:r>
              <a:rPr sz="1125" b="1" i="0">
                <a:solidFill>
                  <a:srgbClr val="9B4C2F"/>
                </a:solidFill>
                <a:latin typeface="Helvetica Neue"/>
                <a:ea typeface="Helvetica Neue"/>
                <a:cs typeface="Helvetica Neue"/>
              </a:rPr>
              <a:t>WORK</a:t>
            </a:r>
          </a:p>
        </p:txBody>
      </p:sp>
      <p:sp>
        <p:nvSpPr>
          <p:cNvPr id="15" name="">
            <a:extLst xmlns:a="http://schemas.openxmlformats.org/drawingml/2006/main">
              <a:ext uri="{FF2B5EF4-FFF2-40B4-BE49-F238E27FC236}">
                <a16:creationId xmlns:a16="http://schemas.microsoft.com/office/drawing/2014/main" id="{40C41288-8070-4771-873C-5297C16734AC}"/>
              </a:ext>
            </a:extLst>
          </p:cNvPr>
          <p:cNvSpPr>
            <a:spLocks xmlns:a="http://schemas.openxmlformats.org/drawingml/2006/main" noGrp="1"/>
          </p:cNvSpPr>
          <p:nvPr/>
        </p:nvSpPr>
        <p:spPr>
          <a:xfrm xmlns:a="http://schemas.openxmlformats.org/drawingml/2006/main" rot="0">
            <a:off x="7029450" y="2381250"/>
            <a:ext cx="3981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0" i="0">
                <a:solidFill>
                  <a:srgbClr val="202522"/>
                </a:solidFill>
                <a:latin typeface="Helvetica Neue"/>
                <a:ea typeface="Helvetica Neue"/>
                <a:cs typeface="Helvetica Neue"/>
              </a:defRPr>
            </a:pPr>
            <a:r>
              <a:rPr sz="2550" b="0" i="0">
                <a:solidFill>
                  <a:srgbClr val="202522"/>
                </a:solidFill>
                <a:latin typeface="Helvetica Neue"/>
                <a:ea typeface="Helvetica Neue"/>
                <a:cs typeface="Helvetica Neue"/>
              </a:rPr>
              <a:t>How much must we touch?</a:t>
            </a:r>
          </a:p>
        </p:txBody>
      </p:sp>
      <p:sp>
        <p:nvSpPr>
          <p:cNvPr id="16" name="">
            <a:extLst xmlns:a="http://schemas.openxmlformats.org/drawingml/2006/main">
              <a:ext uri="{FF2B5EF4-FFF2-40B4-BE49-F238E27FC236}">
                <a16:creationId xmlns:a16="http://schemas.microsoft.com/office/drawing/2014/main" id="{414BB6A8-502C-439D-BD93-F8A15F54D06F}"/>
              </a:ext>
            </a:extLst>
          </p:cNvPr>
          <p:cNvSpPr>
            <a:spLocks xmlns:a="http://schemas.openxmlformats.org/drawingml/2006/main" noGrp="1"/>
          </p:cNvSpPr>
          <p:nvPr/>
        </p:nvSpPr>
        <p:spPr>
          <a:xfrm xmlns:a="http://schemas.openxmlformats.org/drawingml/2006/main" rot="0">
            <a:off x="7239000" y="3257550"/>
            <a:ext cx="1771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09"/>
          </a:bodyPr>
          <a:lstStyle xmlns:a="http://schemas.openxmlformats.org/drawingml/2006/main"/>
          <a:p xmlns:a="http://schemas.openxmlformats.org/drawingml/2006/main">
            <a:pPr algn="l">
              <a:defRPr sz="1650" b="1" i="0">
                <a:solidFill>
                  <a:srgbClr val="9B4C2F"/>
                </a:solidFill>
                <a:latin typeface="Helvetica Neue"/>
                <a:ea typeface="Helvetica Neue"/>
                <a:cs typeface="Helvetica Neue"/>
              </a:defRPr>
            </a:pPr>
            <a:r>
              <a:rPr sz="1650" b="1" i="0">
                <a:solidFill>
                  <a:srgbClr val="9B4C2F"/>
                </a:solidFill>
                <a:latin typeface="Helvetica Neue"/>
                <a:ea typeface="Helvetica Neue"/>
                <a:cs typeface="Helvetica Neue"/>
              </a:rPr>
              <a:t>intermediate rows</a:t>
            </a:r>
          </a:p>
        </p:txBody>
      </p:sp>
      <p:sp>
        <p:nvSpPr>
          <p:cNvPr id="17" name="">
            <a:extLst xmlns:a="http://schemas.openxmlformats.org/drawingml/2006/main">
              <a:ext uri="{FF2B5EF4-FFF2-40B4-BE49-F238E27FC236}">
                <a16:creationId xmlns:a16="http://schemas.microsoft.com/office/drawing/2014/main" id="{9B661D01-2DBC-47FE-A26A-E5B2213DAD3D}"/>
              </a:ext>
            </a:extLst>
          </p:cNvPr>
          <p:cNvSpPr>
            <a:spLocks xmlns:a="http://schemas.openxmlformats.org/drawingml/2006/main" noGrp="1"/>
          </p:cNvSpPr>
          <p:nvPr/>
        </p:nvSpPr>
        <p:spPr>
          <a:xfrm xmlns:a="http://schemas.openxmlformats.org/drawingml/2006/main" rot="0">
            <a:off x="7239000" y="3752850"/>
            <a:ext cx="1771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09"/>
          </a:bodyPr>
          <a:lstStyle xmlns:a="http://schemas.openxmlformats.org/drawingml/2006/main"/>
          <a:p xmlns:a="http://schemas.openxmlformats.org/drawingml/2006/main">
            <a:pPr algn="l">
              <a:defRPr sz="1650" b="1" i="0">
                <a:solidFill>
                  <a:srgbClr val="9B4C2F"/>
                </a:solidFill>
                <a:latin typeface="Helvetica Neue"/>
                <a:ea typeface="Helvetica Neue"/>
                <a:cs typeface="Helvetica Neue"/>
              </a:defRPr>
            </a:pPr>
            <a:r>
              <a:rPr sz="1650" b="1" i="0">
                <a:solidFill>
                  <a:srgbClr val="9B4C2F"/>
                </a:solidFill>
                <a:latin typeface="Helvetica Neue"/>
                <a:ea typeface="Helvetica Neue"/>
                <a:cs typeface="Helvetica Neue"/>
              </a:rPr>
              <a:t>probes</a:t>
            </a:r>
          </a:p>
        </p:txBody>
      </p:sp>
      <p:sp>
        <p:nvSpPr>
          <p:cNvPr id="18" name="">
            <a:extLst xmlns:a="http://schemas.openxmlformats.org/drawingml/2006/main">
              <a:ext uri="{FF2B5EF4-FFF2-40B4-BE49-F238E27FC236}">
                <a16:creationId xmlns:a16="http://schemas.microsoft.com/office/drawing/2014/main" id="{C52BF71C-99E9-4B78-88EE-1F87ADB70C8E}"/>
              </a:ext>
            </a:extLst>
          </p:cNvPr>
          <p:cNvSpPr>
            <a:spLocks xmlns:a="http://schemas.openxmlformats.org/drawingml/2006/main" noGrp="1"/>
          </p:cNvSpPr>
          <p:nvPr/>
        </p:nvSpPr>
        <p:spPr>
          <a:xfrm xmlns:a="http://schemas.openxmlformats.org/drawingml/2006/main" rot="0">
            <a:off x="9277350" y="3257550"/>
            <a:ext cx="1771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09"/>
          </a:bodyPr>
          <a:lstStyle xmlns:a="http://schemas.openxmlformats.org/drawingml/2006/main"/>
          <a:p xmlns:a="http://schemas.openxmlformats.org/drawingml/2006/main">
            <a:pPr algn="l">
              <a:defRPr sz="1650" b="1" i="0">
                <a:solidFill>
                  <a:srgbClr val="9B4C2F"/>
                </a:solidFill>
                <a:latin typeface="Helvetica Neue"/>
                <a:ea typeface="Helvetica Neue"/>
                <a:cs typeface="Helvetica Neue"/>
              </a:defRPr>
            </a:pPr>
            <a:r>
              <a:rPr sz="1650" b="1" i="0">
                <a:solidFill>
                  <a:srgbClr val="9B4C2F"/>
                </a:solidFill>
                <a:latin typeface="Helvetica Neue"/>
                <a:ea typeface="Helvetica Neue"/>
                <a:cs typeface="Helvetica Neue"/>
              </a:rPr>
              <a:t>intersections</a:t>
            </a:r>
          </a:p>
        </p:txBody>
      </p:sp>
      <p:sp>
        <p:nvSpPr>
          <p:cNvPr id="19" name="">
            <a:extLst xmlns:a="http://schemas.openxmlformats.org/drawingml/2006/main">
              <a:ext uri="{FF2B5EF4-FFF2-40B4-BE49-F238E27FC236}">
                <a16:creationId xmlns:a16="http://schemas.microsoft.com/office/drawing/2014/main" id="{6E77F82A-80A5-4395-9975-57C3632EA60F}"/>
              </a:ext>
            </a:extLst>
          </p:cNvPr>
          <p:cNvSpPr>
            <a:spLocks xmlns:a="http://schemas.openxmlformats.org/drawingml/2006/main" noGrp="1"/>
          </p:cNvSpPr>
          <p:nvPr/>
        </p:nvSpPr>
        <p:spPr>
          <a:xfrm xmlns:a="http://schemas.openxmlformats.org/drawingml/2006/main" rot="0">
            <a:off x="9277350" y="3752850"/>
            <a:ext cx="1771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09"/>
          </a:bodyPr>
          <a:lstStyle xmlns:a="http://schemas.openxmlformats.org/drawingml/2006/main"/>
          <a:p xmlns:a="http://schemas.openxmlformats.org/drawingml/2006/main">
            <a:pPr algn="l">
              <a:defRPr sz="1650" b="1" i="0">
                <a:solidFill>
                  <a:srgbClr val="9B4C2F"/>
                </a:solidFill>
                <a:latin typeface="Helvetica Neue"/>
                <a:ea typeface="Helvetica Neue"/>
                <a:cs typeface="Helvetica Neue"/>
              </a:defRPr>
            </a:pPr>
            <a:r>
              <a:rPr sz="1650" b="1" i="0">
                <a:solidFill>
                  <a:srgbClr val="9B4C2F"/>
                </a:solidFill>
                <a:latin typeface="Helvetica Neue"/>
                <a:ea typeface="Helvetica Neue"/>
                <a:cs typeface="Helvetica Neue"/>
              </a:rPr>
              <a:t>deltas</a:t>
            </a:r>
          </a:p>
        </p:txBody>
      </p:sp>
      <p:sp>
        <p:nvSpPr>
          <p:cNvPr id="20" name="">
            <a:extLst xmlns:a="http://schemas.openxmlformats.org/drawingml/2006/main">
              <a:ext uri="{FF2B5EF4-FFF2-40B4-BE49-F238E27FC236}">
                <a16:creationId xmlns:a16="http://schemas.microsoft.com/office/drawing/2014/main" id="{4B3F0A06-73BA-4100-84A8-8C2B70850F66}"/>
              </a:ext>
            </a:extLst>
          </p:cNvPr>
          <p:cNvSpPr>
            <a:spLocks xmlns:a="http://schemas.openxmlformats.org/drawingml/2006/main" noGrp="1"/>
          </p:cNvSpPr>
          <p:nvPr/>
        </p:nvSpPr>
        <p:spPr>
          <a:xfrm xmlns:a="http://schemas.openxmlformats.org/drawingml/2006/main" rot="0">
            <a:off x="7143750" y="4343400"/>
            <a:ext cx="3829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883"/>
          </a:bodyPr>
          <a:lstStyle xmlns:a="http://schemas.openxmlformats.org/drawingml/2006/main"/>
          <a:p xmlns:a="http://schemas.openxmlformats.org/drawingml/2006/main">
            <a:pPr algn="ctr">
              <a:defRPr sz="1575" b="0" i="0">
                <a:solidFill>
                  <a:srgbClr val="9B4C2F"/>
                </a:solidFill>
                <a:latin typeface="Helvetica Neue"/>
                <a:ea typeface="Helvetica Neue"/>
                <a:cs typeface="Helvetica Neue"/>
              </a:defRPr>
            </a:pPr>
            <a:r>
              <a:rPr sz="1575" b="0" i="0">
                <a:solidFill>
                  <a:srgbClr val="9B4C2F"/>
                </a:solidFill>
                <a:latin typeface="Helvetica Neue"/>
                <a:ea typeface="Helvetica Neue"/>
                <a:cs typeface="Helvetica Neue"/>
              </a:rPr>
              <a:t>AGM: query shape gives a bound before code runs</a:t>
            </a:r>
          </a:p>
        </p:txBody>
      </p:sp>
      <p:sp>
        <p:nvSpPr>
          <p:cNvPr id="21" name="">
            <a:extLst xmlns:a="http://schemas.openxmlformats.org/drawingml/2006/main">
              <a:ext uri="{FF2B5EF4-FFF2-40B4-BE49-F238E27FC236}">
                <a16:creationId xmlns:a16="http://schemas.microsoft.com/office/drawing/2014/main" id="{73E33CB8-108D-4AC4-8B1D-545F2B5451F4}"/>
              </a:ext>
            </a:extLst>
          </p:cNvPr>
          <p:cNvSpPr>
            <a:spLocks xmlns:a="http://schemas.openxmlformats.org/drawingml/2006/main" noGrp="1"/>
          </p:cNvSpPr>
          <p:nvPr/>
        </p:nvSpPr>
        <p:spPr>
          <a:xfrm xmlns:a="http://schemas.openxmlformats.org/drawingml/2006/main" rot="0">
            <a:off x="5619750" y="3105150"/>
            <a:ext cx="952500" cy="266700"/>
          </a:xfrm>
          <a:prstGeom xmlns:a="http://schemas.openxmlformats.org/drawingml/2006/main" prst="rightArrow">
            <a:avLst/>
          </a:prstGeom>
          <a:solidFill xmlns:a="http://schemas.openxmlformats.org/drawingml/2006/main">
            <a:srgbClr val="684F82"/>
          </a:solidFill>
          <a:ln xmlns:a="http://schemas.openxmlformats.org/drawingml/2006/main" w="0">
            <a:solidFill>
              <a:srgbClr val="684F82"/>
            </a:solidFill>
            <a:prstDash val="solid"/>
          </a:ln>
        </p:spPr>
      </p:sp>
      <p:sp>
        <p:nvSpPr>
          <p:cNvPr id="22" name="">
            <a:extLst xmlns:a="http://schemas.openxmlformats.org/drawingml/2006/main">
              <a:ext uri="{FF2B5EF4-FFF2-40B4-BE49-F238E27FC236}">
                <a16:creationId xmlns:a16="http://schemas.microsoft.com/office/drawing/2014/main" id="{AF790D32-CEA1-4855-9D4E-A41112C9C361}"/>
              </a:ext>
            </a:extLst>
          </p:cNvPr>
          <p:cNvSpPr>
            <a:spLocks xmlns:a="http://schemas.openxmlformats.org/drawingml/2006/main" noGrp="1"/>
          </p:cNvSpPr>
          <p:nvPr/>
        </p:nvSpPr>
        <p:spPr>
          <a:xfrm xmlns:a="http://schemas.openxmlformats.org/drawingml/2006/main" rot="0">
            <a:off x="3943350" y="5619750"/>
            <a:ext cx="430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00" b="0" i="0">
                <a:solidFill>
                  <a:srgbClr val="684F82"/>
                </a:solidFill>
                <a:latin typeface="Helvetica Neue"/>
                <a:ea typeface="Helvetica Neue"/>
                <a:cs typeface="Helvetica Neue"/>
              </a:defRPr>
            </a:pPr>
            <a:r>
              <a:rPr sz="2100" b="0" i="0">
                <a:solidFill>
                  <a:srgbClr val="684F82"/>
                </a:solidFill>
                <a:latin typeface="Helvetica Neue"/>
                <a:ea typeface="Helvetica Neue"/>
                <a:cs typeface="Helvetica Neue"/>
              </a:rPr>
              <a:t>A correct system needs both.</a:t>
            </a:r>
          </a:p>
        </p:txBody>
      </p:sp>
    </p:spTree>
    <p:extLst>
      <p:ext uri="{BB962C8B-B14F-4D97-AF65-F5344CB8AC3E}">
        <p14:creationId xmlns:p14="http://schemas.microsoft.com/office/powerpoint/2010/main" val="817907423"/>
      </p:ext>
    </p:extLst>
  </p:cSld>
</p:sld>
</file>

<file path=ppt/slides/slide1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D8A9917-778F-4003-9A6C-98F324668768}"/>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176B73"/>
          </a:solidFill>
          <a:ln xmlns:a="http://schemas.openxmlformats.org/drawingml/2006/main" w="0">
            <a:solidFill>
              <a:srgbClr val="176B73"/>
            </a:solidFill>
            <a:prstDash val="solid"/>
          </a:ln>
        </p:spPr>
      </p:sp>
      <p:sp>
        <p:nvSpPr>
          <p:cNvPr id="2" name="">
            <a:extLst xmlns:a="http://schemas.openxmlformats.org/drawingml/2006/main">
              <a:ext uri="{FF2B5EF4-FFF2-40B4-BE49-F238E27FC236}">
                <a16:creationId xmlns:a16="http://schemas.microsoft.com/office/drawing/2014/main" id="{7627CD3F-479D-4477-AA2A-A5B2536339B7}"/>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6B73"/>
                </a:solidFill>
                <a:latin typeface="Helvetica Neue"/>
                <a:ea typeface="Helvetica Neue"/>
                <a:cs typeface="Helvetica Neue"/>
              </a:defRPr>
            </a:pPr>
            <a:r>
              <a:rPr sz="1050" b="1" i="0">
                <a:solidFill>
                  <a:srgbClr val="176B73"/>
                </a:solidFill>
                <a:latin typeface="Helvetica Neue"/>
                <a:ea typeface="Helvetica Neue"/>
                <a:cs typeface="Helvetica Neue"/>
              </a:rPr>
              <a:t>COURSE SHAPE</a:t>
            </a:r>
          </a:p>
        </p:txBody>
      </p:sp>
      <p:sp>
        <p:nvSpPr>
          <p:cNvPr id="3" name="">
            <a:extLst xmlns:a="http://schemas.openxmlformats.org/drawingml/2006/main">
              <a:ext uri="{FF2B5EF4-FFF2-40B4-BE49-F238E27FC236}">
                <a16:creationId xmlns:a16="http://schemas.microsoft.com/office/drawing/2014/main" id="{08C3701F-5601-43C1-AD6B-6B2E065E4B94}"/>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No exams. One cumulative machine.</a:t>
            </a:r>
          </a:p>
        </p:txBody>
      </p:sp>
      <p:sp>
        <p:nvSpPr>
          <p:cNvPr id="4" name="">
            <a:extLst xmlns:a="http://schemas.openxmlformats.org/drawingml/2006/main">
              <a:ext uri="{FF2B5EF4-FFF2-40B4-BE49-F238E27FC236}">
                <a16:creationId xmlns:a16="http://schemas.microsoft.com/office/drawing/2014/main" id="{19F14FC8-574E-4D1D-B8C9-A069FE8D6438}"/>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5A11C6B7-3AE1-427C-9015-B9130B5D5155}"/>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87A707F8-B3B0-4569-9CA6-F3EB74312E8B}"/>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16</a:t>
            </a:r>
          </a:p>
        </p:txBody>
      </p:sp>
      <p:sp>
        <p:nvSpPr>
          <p:cNvPr id="7" name="">
            <a:extLst xmlns:a="http://schemas.openxmlformats.org/drawingml/2006/main">
              <a:ext uri="{FF2B5EF4-FFF2-40B4-BE49-F238E27FC236}">
                <a16:creationId xmlns:a16="http://schemas.microsoft.com/office/drawing/2014/main" id="{8F028466-39E9-426F-8D11-CB6BB22050F5}"/>
              </a:ext>
            </a:extLst>
          </p:cNvPr>
          <p:cNvSpPr>
            <a:spLocks xmlns:a="http://schemas.openxmlformats.org/drawingml/2006/main" noGrp="1"/>
          </p:cNvSpPr>
          <p:nvPr/>
        </p:nvSpPr>
        <p:spPr>
          <a:xfrm xmlns:a="http://schemas.openxmlformats.org/drawingml/2006/main" rot="0">
            <a:off x="762000" y="1733550"/>
            <a:ext cx="15811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5250" b="0" i="0">
                <a:solidFill>
                  <a:srgbClr val="9B4C2F"/>
                </a:solidFill>
                <a:latin typeface="Helvetica Neue"/>
                <a:ea typeface="Helvetica Neue"/>
                <a:cs typeface="Helvetica Neue"/>
              </a:defRPr>
            </a:pPr>
            <a:r>
              <a:rPr sz="5250" b="0" i="0">
                <a:solidFill>
                  <a:srgbClr val="9B4C2F"/>
                </a:solidFill>
                <a:latin typeface="Helvetica Neue"/>
                <a:ea typeface="Helvetica Neue"/>
                <a:cs typeface="Helvetica Neue"/>
              </a:rPr>
              <a:t>50</a:t>
            </a:r>
          </a:p>
        </p:txBody>
      </p:sp>
      <p:sp>
        <p:nvSpPr>
          <p:cNvPr id="8" name="">
            <a:extLst xmlns:a="http://schemas.openxmlformats.org/drawingml/2006/main">
              <a:ext uri="{FF2B5EF4-FFF2-40B4-BE49-F238E27FC236}">
                <a16:creationId xmlns:a16="http://schemas.microsoft.com/office/drawing/2014/main" id="{62439B64-522A-43A4-8DFC-E8DD77AD8BA7}"/>
              </a:ext>
            </a:extLst>
          </p:cNvPr>
          <p:cNvSpPr>
            <a:spLocks xmlns:a="http://schemas.openxmlformats.org/drawingml/2006/main" noGrp="1"/>
          </p:cNvSpPr>
          <p:nvPr/>
        </p:nvSpPr>
        <p:spPr>
          <a:xfrm xmlns:a="http://schemas.openxmlformats.org/drawingml/2006/main" rot="0">
            <a:off x="762000" y="2590800"/>
            <a:ext cx="158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i="0">
                <a:solidFill>
                  <a:srgbClr val="9B4C2F"/>
                </a:solidFill>
                <a:latin typeface="Helvetica Neue"/>
                <a:ea typeface="Helvetica Neue"/>
                <a:cs typeface="Helvetica Neue"/>
              </a:defRPr>
            </a:pPr>
            <a:r>
              <a:rPr sz="1125" b="1" i="0">
                <a:solidFill>
                  <a:srgbClr val="9B4C2F"/>
                </a:solidFill>
                <a:latin typeface="Helvetica Neue"/>
                <a:ea typeface="Helvetica Neue"/>
                <a:cs typeface="Helvetica Neue"/>
              </a:rPr>
              <a:t>PROJECT</a:t>
            </a:r>
          </a:p>
        </p:txBody>
      </p:sp>
      <p:sp>
        <p:nvSpPr>
          <p:cNvPr id="9" name="">
            <a:extLst xmlns:a="http://schemas.openxmlformats.org/drawingml/2006/main">
              <a:ext uri="{FF2B5EF4-FFF2-40B4-BE49-F238E27FC236}">
                <a16:creationId xmlns:a16="http://schemas.microsoft.com/office/drawing/2014/main" id="{6DF5CF2C-5E8D-4B9B-BFDC-686EDFDE24AD}"/>
              </a:ext>
            </a:extLst>
          </p:cNvPr>
          <p:cNvSpPr>
            <a:spLocks xmlns:a="http://schemas.openxmlformats.org/drawingml/2006/main" noGrp="1"/>
          </p:cNvSpPr>
          <p:nvPr/>
        </p:nvSpPr>
        <p:spPr>
          <a:xfrm xmlns:a="http://schemas.openxmlformats.org/drawingml/2006/main" rot="0">
            <a:off x="2838450" y="1733550"/>
            <a:ext cx="15811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5250" b="0" i="0">
                <a:solidFill>
                  <a:srgbClr val="176B73"/>
                </a:solidFill>
                <a:latin typeface="Helvetica Neue"/>
                <a:ea typeface="Helvetica Neue"/>
                <a:cs typeface="Helvetica Neue"/>
              </a:defRPr>
            </a:pPr>
            <a:r>
              <a:rPr sz="5250" b="0" i="0">
                <a:solidFill>
                  <a:srgbClr val="176B73"/>
                </a:solidFill>
                <a:latin typeface="Helvetica Neue"/>
                <a:ea typeface="Helvetica Neue"/>
                <a:cs typeface="Helvetica Neue"/>
              </a:rPr>
              <a:t>30</a:t>
            </a:r>
          </a:p>
        </p:txBody>
      </p:sp>
      <p:sp>
        <p:nvSpPr>
          <p:cNvPr id="10" name="">
            <a:extLst xmlns:a="http://schemas.openxmlformats.org/drawingml/2006/main">
              <a:ext uri="{FF2B5EF4-FFF2-40B4-BE49-F238E27FC236}">
                <a16:creationId xmlns:a16="http://schemas.microsoft.com/office/drawing/2014/main" id="{3B277781-6B79-4E6A-840B-93775CCA156D}"/>
              </a:ext>
            </a:extLst>
          </p:cNvPr>
          <p:cNvSpPr>
            <a:spLocks xmlns:a="http://schemas.openxmlformats.org/drawingml/2006/main" noGrp="1"/>
          </p:cNvSpPr>
          <p:nvPr/>
        </p:nvSpPr>
        <p:spPr>
          <a:xfrm xmlns:a="http://schemas.openxmlformats.org/drawingml/2006/main" rot="0">
            <a:off x="2838450" y="2590800"/>
            <a:ext cx="158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i="0">
                <a:solidFill>
                  <a:srgbClr val="176B73"/>
                </a:solidFill>
                <a:latin typeface="Helvetica Neue"/>
                <a:ea typeface="Helvetica Neue"/>
                <a:cs typeface="Helvetica Neue"/>
              </a:defRPr>
            </a:pPr>
            <a:r>
              <a:rPr sz="1125" b="1" i="0">
                <a:solidFill>
                  <a:srgbClr val="176B73"/>
                </a:solidFill>
                <a:latin typeface="Helvetica Neue"/>
                <a:ea typeface="Helvetica Neue"/>
                <a:cs typeface="Helvetica Neue"/>
              </a:rPr>
              <a:t>PRACTICA</a:t>
            </a:r>
          </a:p>
        </p:txBody>
      </p:sp>
      <p:sp>
        <p:nvSpPr>
          <p:cNvPr id="11" name="">
            <a:extLst xmlns:a="http://schemas.openxmlformats.org/drawingml/2006/main">
              <a:ext uri="{FF2B5EF4-FFF2-40B4-BE49-F238E27FC236}">
                <a16:creationId xmlns:a16="http://schemas.microsoft.com/office/drawing/2014/main" id="{55F506BF-0F1A-4CA3-898F-41639C7FF036}"/>
              </a:ext>
            </a:extLst>
          </p:cNvPr>
          <p:cNvSpPr>
            <a:spLocks xmlns:a="http://schemas.openxmlformats.org/drawingml/2006/main" noGrp="1"/>
          </p:cNvSpPr>
          <p:nvPr/>
        </p:nvSpPr>
        <p:spPr>
          <a:xfrm xmlns:a="http://schemas.openxmlformats.org/drawingml/2006/main" rot="0">
            <a:off x="4914900" y="1733550"/>
            <a:ext cx="15811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5250" b="0" i="0">
                <a:solidFill>
                  <a:srgbClr val="684F82"/>
                </a:solidFill>
                <a:latin typeface="Helvetica Neue"/>
                <a:ea typeface="Helvetica Neue"/>
                <a:cs typeface="Helvetica Neue"/>
              </a:defRPr>
            </a:pPr>
            <a:r>
              <a:rPr sz="5250" b="0" i="0">
                <a:solidFill>
                  <a:srgbClr val="684F82"/>
                </a:solidFill>
                <a:latin typeface="Helvetica Neue"/>
                <a:ea typeface="Helvetica Neue"/>
                <a:cs typeface="Helvetica Neue"/>
              </a:rPr>
              <a:t>20</a:t>
            </a:r>
          </a:p>
        </p:txBody>
      </p:sp>
      <p:sp>
        <p:nvSpPr>
          <p:cNvPr id="12" name="">
            <a:extLst xmlns:a="http://schemas.openxmlformats.org/drawingml/2006/main">
              <a:ext uri="{FF2B5EF4-FFF2-40B4-BE49-F238E27FC236}">
                <a16:creationId xmlns:a16="http://schemas.microsoft.com/office/drawing/2014/main" id="{8CC1BAC8-4023-439B-BA78-1A387D919346}"/>
              </a:ext>
            </a:extLst>
          </p:cNvPr>
          <p:cNvSpPr>
            <a:spLocks xmlns:a="http://schemas.openxmlformats.org/drawingml/2006/main" noGrp="1"/>
          </p:cNvSpPr>
          <p:nvPr/>
        </p:nvSpPr>
        <p:spPr>
          <a:xfrm xmlns:a="http://schemas.openxmlformats.org/drawingml/2006/main" rot="0">
            <a:off x="4572000" y="2590800"/>
            <a:ext cx="2266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684F82"/>
                </a:solidFill>
                <a:latin typeface="Helvetica Neue"/>
                <a:ea typeface="Helvetica Neue"/>
                <a:cs typeface="Helvetica Neue"/>
              </a:defRPr>
            </a:pPr>
            <a:r>
              <a:rPr sz="1050" b="1" i="0">
                <a:solidFill>
                  <a:srgbClr val="684F82"/>
                </a:solidFill>
                <a:latin typeface="Helvetica Neue"/>
                <a:ea typeface="Helvetica Neue"/>
                <a:cs typeface="Helvetica Neue"/>
              </a:rPr>
              <a:t>DISCUSSION + PARTICIPATION</a:t>
            </a:r>
          </a:p>
        </p:txBody>
      </p:sp>
      <p:sp>
        <p:nvSpPr>
          <p:cNvPr id="13" name="">
            <a:extLst xmlns:a="http://schemas.openxmlformats.org/drawingml/2006/main">
              <a:ext uri="{FF2B5EF4-FFF2-40B4-BE49-F238E27FC236}">
                <a16:creationId xmlns:a16="http://schemas.microsoft.com/office/drawing/2014/main" id="{FE65272E-3377-4248-9105-DC95AEDE24FD}"/>
              </a:ext>
            </a:extLst>
          </p:cNvPr>
          <p:cNvSpPr>
            <a:spLocks xmlns:a="http://schemas.openxmlformats.org/drawingml/2006/main" noGrp="1"/>
          </p:cNvSpPr>
          <p:nvPr/>
        </p:nvSpPr>
        <p:spPr>
          <a:xfrm xmlns:a="http://schemas.openxmlformats.org/drawingml/2006/main" rot="0">
            <a:off x="762000" y="3314700"/>
            <a:ext cx="5334000" cy="514350"/>
          </a:xfrm>
          <a:prstGeom xmlns:a="http://schemas.openxmlformats.org/drawingml/2006/main" prst="rect">
            <a:avLst/>
          </a:prstGeom>
          <a:solidFill xmlns:a="http://schemas.openxmlformats.org/drawingml/2006/main">
            <a:srgbClr val="9B4C2F"/>
          </a:solidFill>
          <a:ln xmlns:a="http://schemas.openxmlformats.org/drawingml/2006/main" w="0">
            <a:solidFill>
              <a:srgbClr val="9B4C2F"/>
            </a:solidFill>
            <a:prstDash val="solid"/>
          </a:ln>
        </p:spPr>
      </p:sp>
      <p:sp>
        <p:nvSpPr>
          <p:cNvPr id="14" name="">
            <a:extLst xmlns:a="http://schemas.openxmlformats.org/drawingml/2006/main">
              <a:ext uri="{FF2B5EF4-FFF2-40B4-BE49-F238E27FC236}">
                <a16:creationId xmlns:a16="http://schemas.microsoft.com/office/drawing/2014/main" id="{75B3180D-5D47-4371-983F-17317B9EFBEE}"/>
              </a:ext>
            </a:extLst>
          </p:cNvPr>
          <p:cNvSpPr>
            <a:spLocks xmlns:a="http://schemas.openxmlformats.org/drawingml/2006/main" noGrp="1"/>
          </p:cNvSpPr>
          <p:nvPr/>
        </p:nvSpPr>
        <p:spPr>
          <a:xfrm xmlns:a="http://schemas.openxmlformats.org/drawingml/2006/main" rot="0">
            <a:off x="6096000" y="3314700"/>
            <a:ext cx="3200400" cy="514350"/>
          </a:xfrm>
          <a:prstGeom xmlns:a="http://schemas.openxmlformats.org/drawingml/2006/main" prst="rect">
            <a:avLst/>
          </a:prstGeom>
          <a:solidFill xmlns:a="http://schemas.openxmlformats.org/drawingml/2006/main">
            <a:srgbClr val="176B73"/>
          </a:solidFill>
          <a:ln xmlns:a="http://schemas.openxmlformats.org/drawingml/2006/main" w="0">
            <a:solidFill>
              <a:srgbClr val="176B73"/>
            </a:solidFill>
            <a:prstDash val="solid"/>
          </a:ln>
        </p:spPr>
      </p:sp>
      <p:sp>
        <p:nvSpPr>
          <p:cNvPr id="15" name="">
            <a:extLst xmlns:a="http://schemas.openxmlformats.org/drawingml/2006/main">
              <a:ext uri="{FF2B5EF4-FFF2-40B4-BE49-F238E27FC236}">
                <a16:creationId xmlns:a16="http://schemas.microsoft.com/office/drawing/2014/main" id="{3FC0913A-7B2D-442E-AB05-0D7FC61A08A4}"/>
              </a:ext>
            </a:extLst>
          </p:cNvPr>
          <p:cNvSpPr>
            <a:spLocks xmlns:a="http://schemas.openxmlformats.org/drawingml/2006/main" noGrp="1"/>
          </p:cNvSpPr>
          <p:nvPr/>
        </p:nvSpPr>
        <p:spPr>
          <a:xfrm xmlns:a="http://schemas.openxmlformats.org/drawingml/2006/main" rot="0">
            <a:off x="9296400" y="3314700"/>
            <a:ext cx="2133600" cy="514350"/>
          </a:xfrm>
          <a:prstGeom xmlns:a="http://schemas.openxmlformats.org/drawingml/2006/main" prst="rect">
            <a:avLst/>
          </a:prstGeom>
          <a:solidFill xmlns:a="http://schemas.openxmlformats.org/drawingml/2006/main">
            <a:srgbClr val="684F82"/>
          </a:solidFill>
          <a:ln xmlns:a="http://schemas.openxmlformats.org/drawingml/2006/main" w="0">
            <a:solidFill>
              <a:srgbClr val="684F82"/>
            </a:solidFill>
            <a:prstDash val="solid"/>
          </a:ln>
        </p:spPr>
      </p:sp>
      <p:sp>
        <p:nvSpPr>
          <p:cNvPr id="16" name="">
            <a:extLst xmlns:a="http://schemas.openxmlformats.org/drawingml/2006/main">
              <a:ext uri="{FF2B5EF4-FFF2-40B4-BE49-F238E27FC236}">
                <a16:creationId xmlns:a16="http://schemas.microsoft.com/office/drawing/2014/main" id="{E74DDECA-F19D-4607-B714-697A002AF39E}"/>
              </a:ext>
            </a:extLst>
          </p:cNvPr>
          <p:cNvSpPr>
            <a:spLocks xmlns:a="http://schemas.openxmlformats.org/drawingml/2006/main" noGrp="1"/>
          </p:cNvSpPr>
          <p:nvPr/>
        </p:nvSpPr>
        <p:spPr>
          <a:xfrm xmlns:a="http://schemas.openxmlformats.org/drawingml/2006/main" rot="0">
            <a:off x="762000" y="3457575"/>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50%</a:t>
            </a:r>
          </a:p>
        </p:txBody>
      </p:sp>
      <p:sp>
        <p:nvSpPr>
          <p:cNvPr id="17" name="">
            <a:extLst xmlns:a="http://schemas.openxmlformats.org/drawingml/2006/main">
              <a:ext uri="{FF2B5EF4-FFF2-40B4-BE49-F238E27FC236}">
                <a16:creationId xmlns:a16="http://schemas.microsoft.com/office/drawing/2014/main" id="{6A4E3F87-35FF-47C1-9C15-D89B085F03B6}"/>
              </a:ext>
            </a:extLst>
          </p:cNvPr>
          <p:cNvSpPr>
            <a:spLocks xmlns:a="http://schemas.openxmlformats.org/drawingml/2006/main" noGrp="1"/>
          </p:cNvSpPr>
          <p:nvPr/>
        </p:nvSpPr>
        <p:spPr>
          <a:xfrm xmlns:a="http://schemas.openxmlformats.org/drawingml/2006/main" rot="0">
            <a:off x="6096000" y="3457575"/>
            <a:ext cx="320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30%</a:t>
            </a:r>
          </a:p>
        </p:txBody>
      </p:sp>
      <p:sp>
        <p:nvSpPr>
          <p:cNvPr id="18" name="">
            <a:extLst xmlns:a="http://schemas.openxmlformats.org/drawingml/2006/main">
              <a:ext uri="{FF2B5EF4-FFF2-40B4-BE49-F238E27FC236}">
                <a16:creationId xmlns:a16="http://schemas.microsoft.com/office/drawing/2014/main" id="{5C50D280-C415-49A3-91FE-63D9EFFEEA13}"/>
              </a:ext>
            </a:extLst>
          </p:cNvPr>
          <p:cNvSpPr>
            <a:spLocks xmlns:a="http://schemas.openxmlformats.org/drawingml/2006/main" noGrp="1"/>
          </p:cNvSpPr>
          <p:nvPr/>
        </p:nvSpPr>
        <p:spPr>
          <a:xfrm xmlns:a="http://schemas.openxmlformats.org/drawingml/2006/main" rot="0">
            <a:off x="9296400" y="3457575"/>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20%</a:t>
            </a:r>
          </a:p>
        </p:txBody>
      </p:sp>
      <p:sp>
        <p:nvSpPr>
          <p:cNvPr id="19" name="">
            <a:extLst xmlns:a="http://schemas.openxmlformats.org/drawingml/2006/main">
              <a:ext uri="{FF2B5EF4-FFF2-40B4-BE49-F238E27FC236}">
                <a16:creationId xmlns:a16="http://schemas.microsoft.com/office/drawing/2014/main" id="{32CCA905-1D4F-4E7F-B40B-B2D8BE73040A}"/>
              </a:ext>
            </a:extLst>
          </p:cNvPr>
          <p:cNvSpPr>
            <a:spLocks xmlns:a="http://schemas.openxmlformats.org/drawingml/2006/main" noGrp="1"/>
          </p:cNvSpPr>
          <p:nvPr/>
        </p:nvSpPr>
        <p:spPr>
          <a:xfrm xmlns:a="http://schemas.openxmlformats.org/drawingml/2006/main" rot="0">
            <a:off x="876300" y="4476750"/>
            <a:ext cx="3028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i="0">
                <a:solidFill>
                  <a:srgbClr val="176B73"/>
                </a:solidFill>
                <a:latin typeface="Helvetica Neue"/>
                <a:ea typeface="Helvetica Neue"/>
                <a:cs typeface="Helvetica Neue"/>
              </a:defRPr>
            </a:pPr>
            <a:r>
              <a:rPr sz="1875" b="1" i="0">
                <a:solidFill>
                  <a:srgbClr val="176B73"/>
                </a:solidFill>
                <a:latin typeface="Helvetica Neue"/>
                <a:ea typeface="Helvetica Neue"/>
                <a:cs typeface="Helvetica Neue"/>
              </a:rPr>
              <a:t>open-note</a:t>
            </a:r>
          </a:p>
        </p:txBody>
      </p:sp>
      <p:sp>
        <p:nvSpPr>
          <p:cNvPr id="20" name="">
            <a:extLst xmlns:a="http://schemas.openxmlformats.org/drawingml/2006/main">
              <a:ext uri="{FF2B5EF4-FFF2-40B4-BE49-F238E27FC236}">
                <a16:creationId xmlns:a16="http://schemas.microsoft.com/office/drawing/2014/main" id="{5EB17698-3917-41B3-8A5A-B9333E8602F5}"/>
              </a:ext>
            </a:extLst>
          </p:cNvPr>
          <p:cNvSpPr>
            <a:spLocks xmlns:a="http://schemas.openxmlformats.org/drawingml/2006/main" noGrp="1"/>
          </p:cNvSpPr>
          <p:nvPr/>
        </p:nvSpPr>
        <p:spPr>
          <a:xfrm xmlns:a="http://schemas.openxmlformats.org/drawingml/2006/main" rot="0">
            <a:off x="876300" y="4895850"/>
            <a:ext cx="3028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i="0">
                <a:solidFill>
                  <a:srgbClr val="68716B"/>
                </a:solidFill>
                <a:latin typeface="Helvetica Neue"/>
                <a:ea typeface="Helvetica Neue"/>
                <a:cs typeface="Helvetica Neue"/>
              </a:defRPr>
            </a:pPr>
            <a:r>
              <a:rPr sz="1500" b="0" i="0">
                <a:solidFill>
                  <a:srgbClr val="68716B"/>
                </a:solidFill>
                <a:latin typeface="Helvetica Neue"/>
                <a:ea typeface="Helvetica Neue"/>
                <a:cs typeface="Helvetica Neue"/>
              </a:rPr>
              <a:t>reason from traces + evidence</a:t>
            </a:r>
          </a:p>
        </p:txBody>
      </p:sp>
      <p:sp>
        <p:nvSpPr>
          <p:cNvPr id="21" name="">
            <a:extLst xmlns:a="http://schemas.openxmlformats.org/drawingml/2006/main">
              <a:ext uri="{FF2B5EF4-FFF2-40B4-BE49-F238E27FC236}">
                <a16:creationId xmlns:a16="http://schemas.microsoft.com/office/drawing/2014/main" id="{F8D2D0FB-A665-48BE-9264-90F190375200}"/>
              </a:ext>
            </a:extLst>
          </p:cNvPr>
          <p:cNvSpPr>
            <a:spLocks xmlns:a="http://schemas.openxmlformats.org/drawingml/2006/main" noGrp="1"/>
          </p:cNvSpPr>
          <p:nvPr/>
        </p:nvSpPr>
        <p:spPr>
          <a:xfrm xmlns:a="http://schemas.openxmlformats.org/drawingml/2006/main" rot="0">
            <a:off x="4495800" y="4476750"/>
            <a:ext cx="3028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i="0">
                <a:solidFill>
                  <a:srgbClr val="9B4C2F"/>
                </a:solidFill>
                <a:latin typeface="Helvetica Neue"/>
                <a:ea typeface="Helvetica Neue"/>
                <a:cs typeface="Helvetica Neue"/>
              </a:defRPr>
            </a:pPr>
            <a:r>
              <a:rPr sz="1875" b="1" i="0">
                <a:solidFill>
                  <a:srgbClr val="9B4C2F"/>
                </a:solidFill>
                <a:latin typeface="Helvetica Neue"/>
                <a:ea typeface="Helvetica Neue"/>
                <a:cs typeface="Helvetica Neue"/>
              </a:rPr>
              <a:t>three releases</a:t>
            </a:r>
          </a:p>
        </p:txBody>
      </p:sp>
      <p:sp>
        <p:nvSpPr>
          <p:cNvPr id="22" name="">
            <a:extLst xmlns:a="http://schemas.openxmlformats.org/drawingml/2006/main">
              <a:ext uri="{FF2B5EF4-FFF2-40B4-BE49-F238E27FC236}">
                <a16:creationId xmlns:a16="http://schemas.microsoft.com/office/drawing/2014/main" id="{F7522679-F762-4A3D-B773-073F9CC69435}"/>
              </a:ext>
            </a:extLst>
          </p:cNvPr>
          <p:cNvSpPr>
            <a:spLocks xmlns:a="http://schemas.openxmlformats.org/drawingml/2006/main" noGrp="1"/>
          </p:cNvSpPr>
          <p:nvPr/>
        </p:nvSpPr>
        <p:spPr>
          <a:xfrm xmlns:a="http://schemas.openxmlformats.org/drawingml/2006/main" rot="0">
            <a:off x="4495800" y="4895850"/>
            <a:ext cx="3028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i="0">
                <a:solidFill>
                  <a:srgbClr val="68716B"/>
                </a:solidFill>
                <a:latin typeface="Helvetica Neue"/>
                <a:ea typeface="Helvetica Neue"/>
                <a:cs typeface="Helvetica Neue"/>
              </a:defRPr>
            </a:pPr>
            <a:r>
              <a:rPr sz="1500" b="0" i="0">
                <a:solidFill>
                  <a:srgbClr val="68716B"/>
                </a:solidFill>
                <a:latin typeface="Helvetica Neue"/>
                <a:ea typeface="Helvetica Neue"/>
                <a:cs typeface="Helvetica Neue"/>
              </a:rPr>
              <a:t>code + tests + counters</a:t>
            </a:r>
          </a:p>
        </p:txBody>
      </p:sp>
      <p:sp>
        <p:nvSpPr>
          <p:cNvPr id="23" name="">
            <a:extLst xmlns:a="http://schemas.openxmlformats.org/drawingml/2006/main">
              <a:ext uri="{FF2B5EF4-FFF2-40B4-BE49-F238E27FC236}">
                <a16:creationId xmlns:a16="http://schemas.microsoft.com/office/drawing/2014/main" id="{814EBB63-D6A5-4AB6-9FA7-86764B6DFAEE}"/>
              </a:ext>
            </a:extLst>
          </p:cNvPr>
          <p:cNvSpPr>
            <a:spLocks xmlns:a="http://schemas.openxmlformats.org/drawingml/2006/main" noGrp="1"/>
          </p:cNvSpPr>
          <p:nvPr/>
        </p:nvSpPr>
        <p:spPr>
          <a:xfrm xmlns:a="http://schemas.openxmlformats.org/drawingml/2006/main" rot="0">
            <a:off x="8115300" y="4476750"/>
            <a:ext cx="3028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i="0">
                <a:solidFill>
                  <a:srgbClr val="684F82"/>
                </a:solidFill>
                <a:latin typeface="Helvetica Neue"/>
                <a:ea typeface="Helvetica Neue"/>
                <a:cs typeface="Helvetica Neue"/>
              </a:defRPr>
            </a:pPr>
            <a:r>
              <a:rPr sz="1875" b="1" i="0">
                <a:solidFill>
                  <a:srgbClr val="684F82"/>
                </a:solidFill>
                <a:latin typeface="Helvetica Neue"/>
                <a:ea typeface="Helvetica Neue"/>
                <a:cs typeface="Helvetica Neue"/>
              </a:rPr>
              <a:t>one paper lead</a:t>
            </a:r>
          </a:p>
        </p:txBody>
      </p:sp>
      <p:sp>
        <p:nvSpPr>
          <p:cNvPr id="24" name="">
            <a:extLst xmlns:a="http://schemas.openxmlformats.org/drawingml/2006/main">
              <a:ext uri="{FF2B5EF4-FFF2-40B4-BE49-F238E27FC236}">
                <a16:creationId xmlns:a16="http://schemas.microsoft.com/office/drawing/2014/main" id="{9B623119-EC0D-4ED7-B216-95F6C7BBD3DB}"/>
              </a:ext>
            </a:extLst>
          </p:cNvPr>
          <p:cNvSpPr>
            <a:spLocks xmlns:a="http://schemas.openxmlformats.org/drawingml/2006/main" noGrp="1"/>
          </p:cNvSpPr>
          <p:nvPr/>
        </p:nvSpPr>
        <p:spPr>
          <a:xfrm xmlns:a="http://schemas.openxmlformats.org/drawingml/2006/main" rot="0">
            <a:off x="8115300" y="4895850"/>
            <a:ext cx="3028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i="0">
                <a:solidFill>
                  <a:srgbClr val="68716B"/>
                </a:solidFill>
                <a:latin typeface="Helvetica Neue"/>
                <a:ea typeface="Helvetica Neue"/>
                <a:cs typeface="Helvetica Neue"/>
              </a:defRPr>
            </a:pPr>
            <a:r>
              <a:rPr sz="1500" b="0" i="0">
                <a:solidFill>
                  <a:srgbClr val="68716B"/>
                </a:solidFill>
                <a:latin typeface="Helvetica Neue"/>
                <a:ea typeface="Helvetica Neue"/>
                <a:cs typeface="Helvetica Neue"/>
              </a:rPr>
              <a:t>claim + connection + questions</a:t>
            </a:r>
          </a:p>
        </p:txBody>
      </p:sp>
    </p:spTree>
    <p:extLst>
      <p:ext uri="{BB962C8B-B14F-4D97-AF65-F5344CB8AC3E}">
        <p14:creationId xmlns:p14="http://schemas.microsoft.com/office/powerpoint/2010/main" val="1169467015"/>
      </p:ext>
    </p:extLst>
  </p:cSld>
</p:sld>
</file>

<file path=ppt/slides/slide1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98FC209-6951-4353-989F-B09B72945185}"/>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9B4C2F"/>
          </a:solidFill>
          <a:ln xmlns:a="http://schemas.openxmlformats.org/drawingml/2006/main" w="0">
            <a:solidFill>
              <a:srgbClr val="9B4C2F"/>
            </a:solidFill>
            <a:prstDash val="solid"/>
          </a:ln>
        </p:spPr>
      </p:sp>
      <p:sp>
        <p:nvSpPr>
          <p:cNvPr id="2" name="">
            <a:extLst xmlns:a="http://schemas.openxmlformats.org/drawingml/2006/main">
              <a:ext uri="{FF2B5EF4-FFF2-40B4-BE49-F238E27FC236}">
                <a16:creationId xmlns:a16="http://schemas.microsoft.com/office/drawing/2014/main" id="{ACA68C91-2EC1-434E-9D1E-5A0AAE8EA783}"/>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9B4C2F"/>
                </a:solidFill>
                <a:latin typeface="Helvetica Neue"/>
                <a:ea typeface="Helvetica Neue"/>
                <a:cs typeface="Helvetica Neue"/>
              </a:defRPr>
            </a:pPr>
            <a:r>
              <a:rPr sz="1050" b="1" i="0">
                <a:solidFill>
                  <a:srgbClr val="9B4C2F"/>
                </a:solidFill>
                <a:latin typeface="Helvetica Neue"/>
                <a:ea typeface="Helvetica Neue"/>
                <a:cs typeface="Helvetica Neue"/>
              </a:rPr>
              <a:t>PROJECT MAP</a:t>
            </a:r>
          </a:p>
        </p:txBody>
      </p:sp>
      <p:sp>
        <p:nvSpPr>
          <p:cNvPr id="3" name="">
            <a:extLst xmlns:a="http://schemas.openxmlformats.org/drawingml/2006/main">
              <a:ext uri="{FF2B5EF4-FFF2-40B4-BE49-F238E27FC236}">
                <a16:creationId xmlns:a16="http://schemas.microsoft.com/office/drawing/2014/main" id="{64C2CBA1-E77E-4FB8-A8C3-F5A5560484CB}"/>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Three releases grow one engine</a:t>
            </a:r>
          </a:p>
        </p:txBody>
      </p:sp>
      <p:sp>
        <p:nvSpPr>
          <p:cNvPr id="4" name="">
            <a:extLst xmlns:a="http://schemas.openxmlformats.org/drawingml/2006/main">
              <a:ext uri="{FF2B5EF4-FFF2-40B4-BE49-F238E27FC236}">
                <a16:creationId xmlns:a16="http://schemas.microsoft.com/office/drawing/2014/main" id="{E270BCF0-30EB-4261-A59F-FB1A272A0AF7}"/>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7DB40312-3B0D-4876-8210-A1D11B385A83}"/>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FE24DB84-3AC9-434E-942D-FA6BE94FFBB8}"/>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17</a:t>
            </a:r>
          </a:p>
        </p:txBody>
      </p:sp>
      <p:sp>
        <p:nvSpPr>
          <p:cNvPr id="7" name="">
            <a:extLst xmlns:a="http://schemas.openxmlformats.org/drawingml/2006/main">
              <a:ext uri="{FF2B5EF4-FFF2-40B4-BE49-F238E27FC236}">
                <a16:creationId xmlns:a16="http://schemas.microsoft.com/office/drawing/2014/main" id="{8A890FD9-63C4-4599-B679-C7D0A436B0BA}"/>
              </a:ext>
            </a:extLst>
          </p:cNvPr>
          <p:cNvSpPr>
            <a:spLocks xmlns:a="http://schemas.openxmlformats.org/drawingml/2006/main" noGrp="1"/>
          </p:cNvSpPr>
          <p:nvPr/>
        </p:nvSpPr>
        <p:spPr>
          <a:xfrm xmlns:a="http://schemas.openxmlformats.org/drawingml/2006/main">
            <a:off x="1009650" y="3276600"/>
            <a:ext cx="10172700" cy="0"/>
          </a:xfrm>
          <a:prstGeom xmlns:a="http://schemas.openxmlformats.org/drawingml/2006/main" prst="line">
            <a:avLst/>
          </a:prstGeom>
          <a:noFill xmlns:a="http://schemas.openxmlformats.org/drawingml/2006/main"/>
          <a:ln xmlns:a="http://schemas.openxmlformats.org/drawingml/2006/main" w="19050">
            <a:solidFill>
              <a:srgbClr val="202522"/>
            </a:solidFill>
            <a:prstDash val="solid"/>
          </a:ln>
        </p:spPr>
      </p:sp>
      <p:sp>
        <p:nvSpPr>
          <p:cNvPr id="8" name="">
            <a:extLst xmlns:a="http://schemas.openxmlformats.org/drawingml/2006/main">
              <a:ext uri="{FF2B5EF4-FFF2-40B4-BE49-F238E27FC236}">
                <a16:creationId xmlns:a16="http://schemas.microsoft.com/office/drawing/2014/main" id="{EBD27A31-DAFD-4082-99CD-A2F1DEE32ED9}"/>
              </a:ext>
            </a:extLst>
          </p:cNvPr>
          <p:cNvSpPr>
            <a:spLocks xmlns:a="http://schemas.openxmlformats.org/drawingml/2006/main" noGrp="1"/>
          </p:cNvSpPr>
          <p:nvPr/>
        </p:nvSpPr>
        <p:spPr>
          <a:xfrm xmlns:a="http://schemas.openxmlformats.org/drawingml/2006/main" rot="0">
            <a:off x="1095375" y="3152775"/>
            <a:ext cx="247650" cy="247650"/>
          </a:xfrm>
          <a:prstGeom xmlns:a="http://schemas.openxmlformats.org/drawingml/2006/main" prst="ellipse">
            <a:avLst/>
          </a:prstGeom>
          <a:solidFill xmlns:a="http://schemas.openxmlformats.org/drawingml/2006/main">
            <a:srgbClr val="9B4C2F"/>
          </a:solidFill>
          <a:ln xmlns:a="http://schemas.openxmlformats.org/drawingml/2006/main" w="19050">
            <a:solidFill>
              <a:srgbClr val="F5F2E9"/>
            </a:solidFill>
            <a:prstDash val="solid"/>
          </a:ln>
        </p:spPr>
      </p:sp>
      <p:sp>
        <p:nvSpPr>
          <p:cNvPr id="9" name="">
            <a:extLst xmlns:a="http://schemas.openxmlformats.org/drawingml/2006/main">
              <a:ext uri="{FF2B5EF4-FFF2-40B4-BE49-F238E27FC236}">
                <a16:creationId xmlns:a16="http://schemas.microsoft.com/office/drawing/2014/main" id="{2778E102-033F-43CD-BA5F-9214E2A42A63}"/>
              </a:ext>
            </a:extLst>
          </p:cNvPr>
          <p:cNvSpPr>
            <a:spLocks xmlns:a="http://schemas.openxmlformats.org/drawingml/2006/main" noGrp="1"/>
          </p:cNvSpPr>
          <p:nvPr/>
        </p:nvSpPr>
        <p:spPr>
          <a:xfrm xmlns:a="http://schemas.openxmlformats.org/drawingml/2006/main" rot="0">
            <a:off x="1028700" y="27813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8716B"/>
                </a:solidFill>
                <a:latin typeface="Helvetica Neue"/>
                <a:ea typeface="Helvetica Neue"/>
                <a:cs typeface="Helvetica Neue"/>
              </a:defRPr>
            </a:pPr>
            <a:r>
              <a:rPr sz="1350" b="0" i="0">
                <a:solidFill>
                  <a:srgbClr val="68716B"/>
                </a:solidFill>
                <a:latin typeface="Helvetica Neue"/>
                <a:ea typeface="Helvetica Neue"/>
                <a:cs typeface="Helvetica Neue"/>
              </a:rPr>
              <a:t>Week 5</a:t>
            </a:r>
          </a:p>
        </p:txBody>
      </p:sp>
      <p:sp>
        <p:nvSpPr>
          <p:cNvPr id="10" name="">
            <a:extLst xmlns:a="http://schemas.openxmlformats.org/drawingml/2006/main">
              <a:ext uri="{FF2B5EF4-FFF2-40B4-BE49-F238E27FC236}">
                <a16:creationId xmlns:a16="http://schemas.microsoft.com/office/drawing/2014/main" id="{DC7D853B-B6D4-4DBD-81FC-990D3A98ACF5}"/>
              </a:ext>
            </a:extLst>
          </p:cNvPr>
          <p:cNvSpPr>
            <a:spLocks xmlns:a="http://schemas.openxmlformats.org/drawingml/2006/main" noGrp="1"/>
          </p:cNvSpPr>
          <p:nvPr/>
        </p:nvSpPr>
        <p:spPr>
          <a:xfrm xmlns:a="http://schemas.openxmlformats.org/drawingml/2006/main" rot="0">
            <a:off x="1028700" y="3733800"/>
            <a:ext cx="2990850" cy="1543050"/>
          </a:xfrm>
          <a:prstGeom xmlns:a="http://schemas.openxmlformats.org/drawingml/2006/main" prst="roundRect">
            <a:avLst>
              <a:gd name="adj" fmla="val 4938"/>
            </a:avLst>
          </a:prstGeom>
          <a:solidFill xmlns:a="http://schemas.openxmlformats.org/drawingml/2006/main">
            <a:srgbClr val="FFFDF7"/>
          </a:solidFill>
          <a:ln xmlns:a="http://schemas.openxmlformats.org/drawingml/2006/main" w="19050">
            <a:solidFill>
              <a:srgbClr val="9B4C2F"/>
            </a:solidFill>
            <a:prstDash val="solid"/>
          </a:ln>
        </p:spPr>
      </p:sp>
      <p:sp>
        <p:nvSpPr>
          <p:cNvPr id="11" name="">
            <a:extLst xmlns:a="http://schemas.openxmlformats.org/drawingml/2006/main">
              <a:ext uri="{FF2B5EF4-FFF2-40B4-BE49-F238E27FC236}">
                <a16:creationId xmlns:a16="http://schemas.microsoft.com/office/drawing/2014/main" id="{6BF62DFB-F36C-4CCF-A8B4-24F78D44BFFB}"/>
              </a:ext>
            </a:extLst>
          </p:cNvPr>
          <p:cNvSpPr>
            <a:spLocks xmlns:a="http://schemas.openxmlformats.org/drawingml/2006/main" noGrp="1"/>
          </p:cNvSpPr>
          <p:nvPr/>
        </p:nvSpPr>
        <p:spPr>
          <a:xfrm xmlns:a="http://schemas.openxmlformats.org/drawingml/2006/main" rot="0">
            <a:off x="1257300" y="3981450"/>
            <a:ext cx="590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9B4C2F"/>
                </a:solidFill>
                <a:latin typeface="Helvetica Neue"/>
                <a:ea typeface="Helvetica Neue"/>
                <a:cs typeface="Helvetica Neue"/>
              </a:defRPr>
            </a:pPr>
            <a:r>
              <a:rPr sz="3000" b="1" i="0">
                <a:solidFill>
                  <a:srgbClr val="9B4C2F"/>
                </a:solidFill>
                <a:latin typeface="Helvetica Neue"/>
                <a:ea typeface="Helvetica Neue"/>
                <a:cs typeface="Helvetica Neue"/>
              </a:rPr>
              <a:t>R1</a:t>
            </a:r>
          </a:p>
        </p:txBody>
      </p:sp>
      <p:sp>
        <p:nvSpPr>
          <p:cNvPr id="12" name="">
            <a:extLst xmlns:a="http://schemas.openxmlformats.org/drawingml/2006/main">
              <a:ext uri="{FF2B5EF4-FFF2-40B4-BE49-F238E27FC236}">
                <a16:creationId xmlns:a16="http://schemas.microsoft.com/office/drawing/2014/main" id="{F7F658D0-0D97-4CEA-AAB5-B0F26570E5C9}"/>
              </a:ext>
            </a:extLst>
          </p:cNvPr>
          <p:cNvSpPr>
            <a:spLocks xmlns:a="http://schemas.openxmlformats.org/drawingml/2006/main" noGrp="1"/>
          </p:cNvSpPr>
          <p:nvPr/>
        </p:nvSpPr>
        <p:spPr>
          <a:xfrm xmlns:a="http://schemas.openxmlformats.org/drawingml/2006/main" rot="0">
            <a:off x="2019300" y="3962400"/>
            <a:ext cx="1809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202522"/>
                </a:solidFill>
                <a:latin typeface="Helvetica Neue"/>
                <a:ea typeface="Helvetica Neue"/>
                <a:cs typeface="Helvetica Neue"/>
              </a:defRPr>
            </a:pPr>
            <a:r>
              <a:rPr sz="1650" b="0" i="0">
                <a:solidFill>
                  <a:srgbClr val="202522"/>
                </a:solidFill>
                <a:latin typeface="Helvetica Neue"/>
                <a:ea typeface="Helvetica Neue"/>
                <a:cs typeface="Helvetica Neue"/>
              </a:rPr>
              <a:t>logical + physical lowering</a:t>
            </a:r>
          </a:p>
          <a:p xmlns:a="http://schemas.openxmlformats.org/drawingml/2006/main">
            <a:pPr algn="l">
              <a:defRPr sz="1650" b="0" i="0">
                <a:solidFill>
                  <a:srgbClr val="202522"/>
                </a:solidFill>
                <a:latin typeface="Helvetica Neue"/>
                <a:ea typeface="Helvetica Neue"/>
                <a:cs typeface="Helvetica Neue"/>
              </a:defRPr>
            </a:pPr>
            <a:r>
              <a:rPr sz="1650" b="0" i="0">
                <a:solidFill>
                  <a:srgbClr val="202522"/>
                </a:solidFill>
                <a:latin typeface="Helvetica Neue"/>
                <a:ea typeface="Helvetica Neue"/>
                <a:cs typeface="Helvetica Neue"/>
              </a:rPr>
              <a:t>pull / push control</a:t>
            </a:r>
          </a:p>
        </p:txBody>
      </p:sp>
      <p:sp>
        <p:nvSpPr>
          <p:cNvPr id="13" name="">
            <a:extLst xmlns:a="http://schemas.openxmlformats.org/drawingml/2006/main">
              <a:ext uri="{FF2B5EF4-FFF2-40B4-BE49-F238E27FC236}">
                <a16:creationId xmlns:a16="http://schemas.microsoft.com/office/drawing/2014/main" id="{54A4683B-6020-4223-A546-F3661517225D}"/>
              </a:ext>
            </a:extLst>
          </p:cNvPr>
          <p:cNvSpPr>
            <a:spLocks xmlns:a="http://schemas.openxmlformats.org/drawingml/2006/main" noGrp="1"/>
          </p:cNvSpPr>
          <p:nvPr/>
        </p:nvSpPr>
        <p:spPr>
          <a:xfrm xmlns:a="http://schemas.openxmlformats.org/drawingml/2006/main" rot="0">
            <a:off x="4791075" y="3152775"/>
            <a:ext cx="247650" cy="247650"/>
          </a:xfrm>
          <a:prstGeom xmlns:a="http://schemas.openxmlformats.org/drawingml/2006/main" prst="ellipse">
            <a:avLst/>
          </a:prstGeom>
          <a:solidFill xmlns:a="http://schemas.openxmlformats.org/drawingml/2006/main">
            <a:srgbClr val="684F82"/>
          </a:solidFill>
          <a:ln xmlns:a="http://schemas.openxmlformats.org/drawingml/2006/main" w="19050">
            <a:solidFill>
              <a:srgbClr val="F5F2E9"/>
            </a:solidFill>
            <a:prstDash val="solid"/>
          </a:ln>
        </p:spPr>
      </p:sp>
      <p:sp>
        <p:nvSpPr>
          <p:cNvPr id="14" name="">
            <a:extLst xmlns:a="http://schemas.openxmlformats.org/drawingml/2006/main">
              <a:ext uri="{FF2B5EF4-FFF2-40B4-BE49-F238E27FC236}">
                <a16:creationId xmlns:a16="http://schemas.microsoft.com/office/drawing/2014/main" id="{5B88D4DB-BE26-42EC-9BD9-5A8531929B6F}"/>
              </a:ext>
            </a:extLst>
          </p:cNvPr>
          <p:cNvSpPr>
            <a:spLocks xmlns:a="http://schemas.openxmlformats.org/drawingml/2006/main" noGrp="1"/>
          </p:cNvSpPr>
          <p:nvPr/>
        </p:nvSpPr>
        <p:spPr>
          <a:xfrm xmlns:a="http://schemas.openxmlformats.org/drawingml/2006/main" rot="0">
            <a:off x="4724400" y="27813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8716B"/>
                </a:solidFill>
                <a:latin typeface="Helvetica Neue"/>
                <a:ea typeface="Helvetica Neue"/>
                <a:cs typeface="Helvetica Neue"/>
              </a:defRPr>
            </a:pPr>
            <a:r>
              <a:rPr sz="1350" b="0" i="0">
                <a:solidFill>
                  <a:srgbClr val="68716B"/>
                </a:solidFill>
                <a:latin typeface="Helvetica Neue"/>
                <a:ea typeface="Helvetica Neue"/>
                <a:cs typeface="Helvetica Neue"/>
              </a:rPr>
              <a:t>Week 10</a:t>
            </a:r>
          </a:p>
        </p:txBody>
      </p:sp>
      <p:sp>
        <p:nvSpPr>
          <p:cNvPr id="15" name="">
            <a:extLst xmlns:a="http://schemas.openxmlformats.org/drawingml/2006/main">
              <a:ext uri="{FF2B5EF4-FFF2-40B4-BE49-F238E27FC236}">
                <a16:creationId xmlns:a16="http://schemas.microsoft.com/office/drawing/2014/main" id="{5A956E73-9C23-4651-8E2A-8B1743E956DE}"/>
              </a:ext>
            </a:extLst>
          </p:cNvPr>
          <p:cNvSpPr>
            <a:spLocks xmlns:a="http://schemas.openxmlformats.org/drawingml/2006/main" noGrp="1"/>
          </p:cNvSpPr>
          <p:nvPr/>
        </p:nvSpPr>
        <p:spPr>
          <a:xfrm xmlns:a="http://schemas.openxmlformats.org/drawingml/2006/main" rot="0">
            <a:off x="4724400" y="3733800"/>
            <a:ext cx="2990850" cy="1543050"/>
          </a:xfrm>
          <a:prstGeom xmlns:a="http://schemas.openxmlformats.org/drawingml/2006/main" prst="roundRect">
            <a:avLst>
              <a:gd name="adj" fmla="val 4938"/>
            </a:avLst>
          </a:prstGeom>
          <a:solidFill xmlns:a="http://schemas.openxmlformats.org/drawingml/2006/main">
            <a:srgbClr val="FFFDF7"/>
          </a:solidFill>
          <a:ln xmlns:a="http://schemas.openxmlformats.org/drawingml/2006/main" w="19050">
            <a:solidFill>
              <a:srgbClr val="684F82"/>
            </a:solidFill>
            <a:prstDash val="solid"/>
          </a:ln>
        </p:spPr>
      </p:sp>
      <p:sp>
        <p:nvSpPr>
          <p:cNvPr id="16" name="">
            <a:extLst xmlns:a="http://schemas.openxmlformats.org/drawingml/2006/main">
              <a:ext uri="{FF2B5EF4-FFF2-40B4-BE49-F238E27FC236}">
                <a16:creationId xmlns:a16="http://schemas.microsoft.com/office/drawing/2014/main" id="{90C89799-2DAE-4F3A-B27E-9BF4D291298F}"/>
              </a:ext>
            </a:extLst>
          </p:cNvPr>
          <p:cNvSpPr>
            <a:spLocks xmlns:a="http://schemas.openxmlformats.org/drawingml/2006/main" noGrp="1"/>
          </p:cNvSpPr>
          <p:nvPr/>
        </p:nvSpPr>
        <p:spPr>
          <a:xfrm xmlns:a="http://schemas.openxmlformats.org/drawingml/2006/main" rot="0">
            <a:off x="4953000" y="3981450"/>
            <a:ext cx="590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684F82"/>
                </a:solidFill>
                <a:latin typeface="Helvetica Neue"/>
                <a:ea typeface="Helvetica Neue"/>
                <a:cs typeface="Helvetica Neue"/>
              </a:defRPr>
            </a:pPr>
            <a:r>
              <a:rPr sz="3000" b="1" i="0">
                <a:solidFill>
                  <a:srgbClr val="684F82"/>
                </a:solidFill>
                <a:latin typeface="Helvetica Neue"/>
                <a:ea typeface="Helvetica Neue"/>
                <a:cs typeface="Helvetica Neue"/>
              </a:rPr>
              <a:t>R2</a:t>
            </a:r>
          </a:p>
        </p:txBody>
      </p:sp>
      <p:sp>
        <p:nvSpPr>
          <p:cNvPr id="17" name="">
            <a:extLst xmlns:a="http://schemas.openxmlformats.org/drawingml/2006/main">
              <a:ext uri="{FF2B5EF4-FFF2-40B4-BE49-F238E27FC236}">
                <a16:creationId xmlns:a16="http://schemas.microsoft.com/office/drawing/2014/main" id="{FA7B5FFC-FED7-4E88-941C-56A4250A6BAF}"/>
              </a:ext>
            </a:extLst>
          </p:cNvPr>
          <p:cNvSpPr>
            <a:spLocks xmlns:a="http://schemas.openxmlformats.org/drawingml/2006/main" noGrp="1"/>
          </p:cNvSpPr>
          <p:nvPr/>
        </p:nvSpPr>
        <p:spPr>
          <a:xfrm xmlns:a="http://schemas.openxmlformats.org/drawingml/2006/main" rot="0">
            <a:off x="5715000" y="3962400"/>
            <a:ext cx="1809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202522"/>
                </a:solidFill>
                <a:latin typeface="Helvetica Neue"/>
                <a:ea typeface="Helvetica Neue"/>
                <a:cs typeface="Helvetica Neue"/>
              </a:defRPr>
            </a:pPr>
            <a:r>
              <a:rPr sz="1650" b="0" i="0">
                <a:solidFill>
                  <a:srgbClr val="202522"/>
                </a:solidFill>
                <a:latin typeface="Helvetica Neue"/>
                <a:ea typeface="Helvetica Neue"/>
                <a:cs typeface="Helvetica Neue"/>
              </a:rPr>
              <a:t>Yannakakis + triejoin</a:t>
            </a:r>
          </a:p>
        </p:txBody>
      </p:sp>
      <p:sp>
        <p:nvSpPr>
          <p:cNvPr id="18" name="">
            <a:extLst xmlns:a="http://schemas.openxmlformats.org/drawingml/2006/main">
              <a:ext uri="{FF2B5EF4-FFF2-40B4-BE49-F238E27FC236}">
                <a16:creationId xmlns:a16="http://schemas.microsoft.com/office/drawing/2014/main" id="{6A896466-7E64-4C66-AB28-A89478D597C1}"/>
              </a:ext>
            </a:extLst>
          </p:cNvPr>
          <p:cNvSpPr>
            <a:spLocks xmlns:a="http://schemas.openxmlformats.org/drawingml/2006/main" noGrp="1"/>
          </p:cNvSpPr>
          <p:nvPr/>
        </p:nvSpPr>
        <p:spPr>
          <a:xfrm xmlns:a="http://schemas.openxmlformats.org/drawingml/2006/main" rot="0">
            <a:off x="8486775" y="3152775"/>
            <a:ext cx="247650" cy="24765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19" name="">
            <a:extLst xmlns:a="http://schemas.openxmlformats.org/drawingml/2006/main">
              <a:ext uri="{FF2B5EF4-FFF2-40B4-BE49-F238E27FC236}">
                <a16:creationId xmlns:a16="http://schemas.microsoft.com/office/drawing/2014/main" id="{22381F19-E1D9-4CFC-B820-D0C3DA429A6D}"/>
              </a:ext>
            </a:extLst>
          </p:cNvPr>
          <p:cNvSpPr>
            <a:spLocks xmlns:a="http://schemas.openxmlformats.org/drawingml/2006/main" noGrp="1"/>
          </p:cNvSpPr>
          <p:nvPr/>
        </p:nvSpPr>
        <p:spPr>
          <a:xfrm xmlns:a="http://schemas.openxmlformats.org/drawingml/2006/main" rot="0">
            <a:off x="8420100" y="27813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8716B"/>
                </a:solidFill>
                <a:latin typeface="Helvetica Neue"/>
                <a:ea typeface="Helvetica Neue"/>
                <a:cs typeface="Helvetica Neue"/>
              </a:defRPr>
            </a:pPr>
            <a:r>
              <a:rPr sz="1350" b="0" i="0">
                <a:solidFill>
                  <a:srgbClr val="68716B"/>
                </a:solidFill>
                <a:latin typeface="Helvetica Neue"/>
                <a:ea typeface="Helvetica Neue"/>
                <a:cs typeface="Helvetica Neue"/>
              </a:rPr>
              <a:t>Week 14</a:t>
            </a:r>
          </a:p>
        </p:txBody>
      </p:sp>
      <p:sp>
        <p:nvSpPr>
          <p:cNvPr id="20" name="">
            <a:extLst xmlns:a="http://schemas.openxmlformats.org/drawingml/2006/main">
              <a:ext uri="{FF2B5EF4-FFF2-40B4-BE49-F238E27FC236}">
                <a16:creationId xmlns:a16="http://schemas.microsoft.com/office/drawing/2014/main" id="{A994EEBB-C0C0-498A-8724-0439CE10351F}"/>
              </a:ext>
            </a:extLst>
          </p:cNvPr>
          <p:cNvSpPr>
            <a:spLocks xmlns:a="http://schemas.openxmlformats.org/drawingml/2006/main" noGrp="1"/>
          </p:cNvSpPr>
          <p:nvPr/>
        </p:nvSpPr>
        <p:spPr>
          <a:xfrm xmlns:a="http://schemas.openxmlformats.org/drawingml/2006/main" rot="0">
            <a:off x="8420100" y="3733800"/>
            <a:ext cx="2990850" cy="1543050"/>
          </a:xfrm>
          <a:prstGeom xmlns:a="http://schemas.openxmlformats.org/drawingml/2006/main" prst="roundRect">
            <a:avLst>
              <a:gd name="adj" fmla="val 4938"/>
            </a:avLst>
          </a:prstGeom>
          <a:solidFill xmlns:a="http://schemas.openxmlformats.org/drawingml/2006/main">
            <a:srgbClr val="FFFDF7"/>
          </a:solidFill>
          <a:ln xmlns:a="http://schemas.openxmlformats.org/drawingml/2006/main" w="19050">
            <a:solidFill>
              <a:srgbClr val="176B73"/>
            </a:solidFill>
            <a:prstDash val="solid"/>
          </a:ln>
        </p:spPr>
      </p:sp>
      <p:sp>
        <p:nvSpPr>
          <p:cNvPr id="21" name="">
            <a:extLst xmlns:a="http://schemas.openxmlformats.org/drawingml/2006/main">
              <a:ext uri="{FF2B5EF4-FFF2-40B4-BE49-F238E27FC236}">
                <a16:creationId xmlns:a16="http://schemas.microsoft.com/office/drawing/2014/main" id="{1B800BDF-B200-4A87-9D41-6C96CAB6EF72}"/>
              </a:ext>
            </a:extLst>
          </p:cNvPr>
          <p:cNvSpPr>
            <a:spLocks xmlns:a="http://schemas.openxmlformats.org/drawingml/2006/main" noGrp="1"/>
          </p:cNvSpPr>
          <p:nvPr/>
        </p:nvSpPr>
        <p:spPr>
          <a:xfrm xmlns:a="http://schemas.openxmlformats.org/drawingml/2006/main" rot="0">
            <a:off x="8648700" y="3981450"/>
            <a:ext cx="590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i="0">
                <a:solidFill>
                  <a:srgbClr val="176B73"/>
                </a:solidFill>
                <a:latin typeface="Helvetica Neue"/>
                <a:ea typeface="Helvetica Neue"/>
                <a:cs typeface="Helvetica Neue"/>
              </a:defRPr>
            </a:pPr>
            <a:r>
              <a:rPr sz="3000" b="1" i="0">
                <a:solidFill>
                  <a:srgbClr val="176B73"/>
                </a:solidFill>
                <a:latin typeface="Helvetica Neue"/>
                <a:ea typeface="Helvetica Neue"/>
                <a:cs typeface="Helvetica Neue"/>
              </a:rPr>
              <a:t>R3</a:t>
            </a:r>
          </a:p>
        </p:txBody>
      </p:sp>
      <p:sp>
        <p:nvSpPr>
          <p:cNvPr id="22" name="">
            <a:extLst xmlns:a="http://schemas.openxmlformats.org/drawingml/2006/main">
              <a:ext uri="{FF2B5EF4-FFF2-40B4-BE49-F238E27FC236}">
                <a16:creationId xmlns:a16="http://schemas.microsoft.com/office/drawing/2014/main" id="{5017AA77-5320-4B4F-8F63-21E26BDACBCE}"/>
              </a:ext>
            </a:extLst>
          </p:cNvPr>
          <p:cNvSpPr>
            <a:spLocks xmlns:a="http://schemas.openxmlformats.org/drawingml/2006/main" noGrp="1"/>
          </p:cNvSpPr>
          <p:nvPr/>
        </p:nvSpPr>
        <p:spPr>
          <a:xfrm xmlns:a="http://schemas.openxmlformats.org/drawingml/2006/main" rot="0">
            <a:off x="9410700" y="3962400"/>
            <a:ext cx="1809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202522"/>
                </a:solidFill>
                <a:latin typeface="Helvetica Neue"/>
                <a:ea typeface="Helvetica Neue"/>
                <a:cs typeface="Helvetica Neue"/>
              </a:defRPr>
            </a:pPr>
            <a:r>
              <a:rPr sz="1650" b="0" i="0">
                <a:solidFill>
                  <a:srgbClr val="202522"/>
                </a:solidFill>
                <a:latin typeface="Helvetica Neue"/>
                <a:ea typeface="Helvetica Neue"/>
                <a:cs typeface="Helvetica Neue"/>
              </a:rPr>
              <a:t>semi-naive recursion</a:t>
            </a:r>
          </a:p>
        </p:txBody>
      </p:sp>
      <p:sp>
        <p:nvSpPr>
          <p:cNvPr id="23" name="">
            <a:extLst xmlns:a="http://schemas.openxmlformats.org/drawingml/2006/main">
              <a:ext uri="{FF2B5EF4-FFF2-40B4-BE49-F238E27FC236}">
                <a16:creationId xmlns:a16="http://schemas.microsoft.com/office/drawing/2014/main" id="{6B593F97-12B3-45A2-A4CB-2EAB0A59DB3B}"/>
              </a:ext>
            </a:extLst>
          </p:cNvPr>
          <p:cNvSpPr>
            <a:spLocks xmlns:a="http://schemas.openxmlformats.org/drawingml/2006/main" noGrp="1"/>
          </p:cNvSpPr>
          <p:nvPr/>
        </p:nvSpPr>
        <p:spPr>
          <a:xfrm xmlns:a="http://schemas.openxmlformats.org/drawingml/2006/main" rot="0">
            <a:off x="1733550" y="5676900"/>
            <a:ext cx="8724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985"/>
          </a:bodyPr>
          <a:lstStyle xmlns:a="http://schemas.openxmlformats.org/drawingml/2006/main"/>
          <a:p xmlns:a="http://schemas.openxmlformats.org/drawingml/2006/main">
            <a:pPr algn="ctr">
              <a:defRPr sz="1725" b="0" i="0">
                <a:solidFill>
                  <a:srgbClr val="9B4C2F"/>
                </a:solidFill>
                <a:latin typeface="Helvetica Neue"/>
                <a:ea typeface="Helvetica Neue"/>
                <a:cs typeface="Helvetica Neue"/>
              </a:defRPr>
            </a:pPr>
            <a:r>
              <a:rPr sz="1725" b="0" i="0">
                <a:solidFill>
                  <a:srgbClr val="9B4C2F"/>
                </a:solidFill>
                <a:latin typeface="Helvetica Neue"/>
                <a:ea typeface="Helvetica Neue"/>
                <a:cs typeface="Helvetica Neue"/>
              </a:rPr>
              <a:t>Reference checkpoints after R1 and R2 keep later ideas reachable even if an earlier pass is unfinished.</a:t>
            </a:r>
          </a:p>
        </p:txBody>
      </p:sp>
    </p:spTree>
    <p:extLst>
      <p:ext uri="{BB962C8B-B14F-4D97-AF65-F5344CB8AC3E}">
        <p14:creationId xmlns:p14="http://schemas.microsoft.com/office/powerpoint/2010/main" val="290723108"/>
      </p:ext>
    </p:extLst>
  </p:cSld>
</p:sld>
</file>

<file path=ppt/slides/slide18.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25CFF9D-3BDF-4189-96F8-8B059E92F792}"/>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176B73"/>
          </a:solidFill>
          <a:ln xmlns:a="http://schemas.openxmlformats.org/drawingml/2006/main" w="0">
            <a:solidFill>
              <a:srgbClr val="176B73"/>
            </a:solidFill>
            <a:prstDash val="solid"/>
          </a:ln>
        </p:spPr>
      </p:sp>
      <p:sp>
        <p:nvSpPr>
          <p:cNvPr id="2" name="">
            <a:extLst xmlns:a="http://schemas.openxmlformats.org/drawingml/2006/main">
              <a:ext uri="{FF2B5EF4-FFF2-40B4-BE49-F238E27FC236}">
                <a16:creationId xmlns:a16="http://schemas.microsoft.com/office/drawing/2014/main" id="{6F01DDCF-C1C9-4792-BAA2-1D6334D50D34}"/>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6B73"/>
                </a:solidFill>
                <a:latin typeface="Helvetica Neue"/>
                <a:ea typeface="Helvetica Neue"/>
                <a:cs typeface="Helvetica Neue"/>
              </a:defRPr>
            </a:pPr>
            <a:r>
              <a:rPr sz="1050" b="1" i="0">
                <a:solidFill>
                  <a:srgbClr val="176B73"/>
                </a:solidFill>
                <a:latin typeface="Helvetica Neue"/>
                <a:ea typeface="Helvetica Neue"/>
                <a:cs typeface="Helvetica Neue"/>
              </a:rPr>
              <a:t>HOW CLASS WORKS</a:t>
            </a:r>
          </a:p>
        </p:txBody>
      </p:sp>
      <p:sp>
        <p:nvSpPr>
          <p:cNvPr id="3" name="">
            <a:extLst xmlns:a="http://schemas.openxmlformats.org/drawingml/2006/main">
              <a:ext uri="{FF2B5EF4-FFF2-40B4-BE49-F238E27FC236}">
                <a16:creationId xmlns:a16="http://schemas.microsoft.com/office/drawing/2014/main" id="{BD91E80B-5EE4-4960-AC78-2C52A0AB47DD}"/>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A meeting moves from idea to evidence</a:t>
            </a:r>
          </a:p>
        </p:txBody>
      </p:sp>
      <p:sp>
        <p:nvSpPr>
          <p:cNvPr id="4" name="">
            <a:extLst xmlns:a="http://schemas.openxmlformats.org/drawingml/2006/main">
              <a:ext uri="{FF2B5EF4-FFF2-40B4-BE49-F238E27FC236}">
                <a16:creationId xmlns:a16="http://schemas.microsoft.com/office/drawing/2014/main" id="{695EF00E-02D9-48D1-97DF-698FC610F00F}"/>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3BE0C92F-11EE-454E-9099-2995ED27C23B}"/>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ECE25CE7-FFB7-4E71-8370-65351D36A1F4}"/>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18</a:t>
            </a:r>
          </a:p>
        </p:txBody>
      </p:sp>
      <p:sp>
        <p:nvSpPr>
          <p:cNvPr id="7" name="">
            <a:extLst xmlns:a="http://schemas.openxmlformats.org/drawingml/2006/main">
              <a:ext uri="{FF2B5EF4-FFF2-40B4-BE49-F238E27FC236}">
                <a16:creationId xmlns:a16="http://schemas.microsoft.com/office/drawing/2014/main" id="{455E38B4-4F5A-4163-8105-7FF3270EFD1F}"/>
              </a:ext>
            </a:extLst>
          </p:cNvPr>
          <p:cNvSpPr>
            <a:spLocks xmlns:a="http://schemas.openxmlformats.org/drawingml/2006/main" noGrp="1"/>
          </p:cNvSpPr>
          <p:nvPr/>
        </p:nvSpPr>
        <p:spPr>
          <a:xfrm xmlns:a="http://schemas.openxmlformats.org/drawingml/2006/main" rot="0">
            <a:off x="2724150" y="3009900"/>
            <a:ext cx="704850" cy="228600"/>
          </a:xfrm>
          <a:prstGeom xmlns:a="http://schemas.openxmlformats.org/drawingml/2006/main" prst="rightArrow">
            <a:avLst/>
          </a:prstGeom>
          <a:solidFill xmlns:a="http://schemas.openxmlformats.org/drawingml/2006/main">
            <a:srgbClr val="D9D5C9"/>
          </a:solidFill>
          <a:ln xmlns:a="http://schemas.openxmlformats.org/drawingml/2006/main" w="0">
            <a:solidFill>
              <a:srgbClr val="D9D5C9"/>
            </a:solidFill>
            <a:prstDash val="solid"/>
          </a:ln>
        </p:spPr>
      </p:sp>
      <p:sp>
        <p:nvSpPr>
          <p:cNvPr id="8" name="">
            <a:extLst xmlns:a="http://schemas.openxmlformats.org/drawingml/2006/main">
              <a:ext uri="{FF2B5EF4-FFF2-40B4-BE49-F238E27FC236}">
                <a16:creationId xmlns:a16="http://schemas.microsoft.com/office/drawing/2014/main" id="{89CA598A-56C6-48B9-9807-C2329C537A28}"/>
              </a:ext>
            </a:extLst>
          </p:cNvPr>
          <p:cNvSpPr>
            <a:spLocks xmlns:a="http://schemas.openxmlformats.org/drawingml/2006/main" noGrp="1"/>
          </p:cNvSpPr>
          <p:nvPr/>
        </p:nvSpPr>
        <p:spPr>
          <a:xfrm xmlns:a="http://schemas.openxmlformats.org/drawingml/2006/main" rot="0">
            <a:off x="5581650" y="3009900"/>
            <a:ext cx="704850" cy="228600"/>
          </a:xfrm>
          <a:prstGeom xmlns:a="http://schemas.openxmlformats.org/drawingml/2006/main" prst="rightArrow">
            <a:avLst/>
          </a:prstGeom>
          <a:solidFill xmlns:a="http://schemas.openxmlformats.org/drawingml/2006/main">
            <a:srgbClr val="D9D5C9"/>
          </a:solidFill>
          <a:ln xmlns:a="http://schemas.openxmlformats.org/drawingml/2006/main" w="0">
            <a:solidFill>
              <a:srgbClr val="D9D5C9"/>
            </a:solidFill>
            <a:prstDash val="solid"/>
          </a:ln>
        </p:spPr>
      </p:sp>
      <p:sp>
        <p:nvSpPr>
          <p:cNvPr id="9" name="">
            <a:extLst xmlns:a="http://schemas.openxmlformats.org/drawingml/2006/main">
              <a:ext uri="{FF2B5EF4-FFF2-40B4-BE49-F238E27FC236}">
                <a16:creationId xmlns:a16="http://schemas.microsoft.com/office/drawing/2014/main" id="{5CCE132B-40E7-4D62-BF40-A59469F31C71}"/>
              </a:ext>
            </a:extLst>
          </p:cNvPr>
          <p:cNvSpPr>
            <a:spLocks xmlns:a="http://schemas.openxmlformats.org/drawingml/2006/main" noGrp="1"/>
          </p:cNvSpPr>
          <p:nvPr/>
        </p:nvSpPr>
        <p:spPr>
          <a:xfrm xmlns:a="http://schemas.openxmlformats.org/drawingml/2006/main" rot="0">
            <a:off x="8439150" y="3009900"/>
            <a:ext cx="704850" cy="228600"/>
          </a:xfrm>
          <a:prstGeom xmlns:a="http://schemas.openxmlformats.org/drawingml/2006/main" prst="rightArrow">
            <a:avLst/>
          </a:prstGeom>
          <a:solidFill xmlns:a="http://schemas.openxmlformats.org/drawingml/2006/main">
            <a:srgbClr val="D9D5C9"/>
          </a:solidFill>
          <a:ln xmlns:a="http://schemas.openxmlformats.org/drawingml/2006/main" w="0">
            <a:solidFill>
              <a:srgbClr val="D9D5C9"/>
            </a:solidFill>
            <a:prstDash val="solid"/>
          </a:ln>
        </p:spPr>
      </p:sp>
      <p:sp>
        <p:nvSpPr>
          <p:cNvPr id="10" name="">
            <a:extLst xmlns:a="http://schemas.openxmlformats.org/drawingml/2006/main">
              <a:ext uri="{FF2B5EF4-FFF2-40B4-BE49-F238E27FC236}">
                <a16:creationId xmlns:a16="http://schemas.microsoft.com/office/drawing/2014/main" id="{88015E3A-2427-4D58-9863-91580AD22854}"/>
              </a:ext>
            </a:extLst>
          </p:cNvPr>
          <p:cNvSpPr>
            <a:spLocks xmlns:a="http://schemas.openxmlformats.org/drawingml/2006/main" noGrp="1"/>
          </p:cNvSpPr>
          <p:nvPr/>
        </p:nvSpPr>
        <p:spPr>
          <a:xfrm xmlns:a="http://schemas.openxmlformats.org/drawingml/2006/main" rot="0">
            <a:off x="1219200" y="2133600"/>
            <a:ext cx="609600" cy="60960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11" name="">
            <a:extLst xmlns:a="http://schemas.openxmlformats.org/drawingml/2006/main">
              <a:ext uri="{FF2B5EF4-FFF2-40B4-BE49-F238E27FC236}">
                <a16:creationId xmlns:a16="http://schemas.microsoft.com/office/drawing/2014/main" id="{ABCE4755-0832-4AE2-B049-6BEAC873225E}"/>
              </a:ext>
            </a:extLst>
          </p:cNvPr>
          <p:cNvSpPr>
            <a:spLocks xmlns:a="http://schemas.openxmlformats.org/drawingml/2006/main" noGrp="1"/>
          </p:cNvSpPr>
          <p:nvPr/>
        </p:nvSpPr>
        <p:spPr>
          <a:xfrm xmlns:a="http://schemas.openxmlformats.org/drawingml/2006/main" rot="0">
            <a:off x="1352550" y="226695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FFFDF7"/>
                </a:solidFill>
                <a:latin typeface="Helvetica Neue"/>
                <a:ea typeface="Helvetica Neue"/>
                <a:cs typeface="Helvetica Neue"/>
              </a:defRPr>
            </a:pPr>
            <a:r>
              <a:rPr sz="1800" b="1" i="0">
                <a:solidFill>
                  <a:srgbClr val="FFFDF7"/>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84435249-03FA-4F5F-983B-7667876E170B}"/>
              </a:ext>
            </a:extLst>
          </p:cNvPr>
          <p:cNvSpPr>
            <a:spLocks xmlns:a="http://schemas.openxmlformats.org/drawingml/2006/main" noGrp="1"/>
          </p:cNvSpPr>
          <p:nvPr/>
        </p:nvSpPr>
        <p:spPr>
          <a:xfrm xmlns:a="http://schemas.openxmlformats.org/drawingml/2006/main" rot="0">
            <a:off x="628650" y="3371850"/>
            <a:ext cx="179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593"/>
          </a:bodyPr>
          <a:lstStyle xmlns:a="http://schemas.openxmlformats.org/drawingml/2006/main"/>
          <a:p xmlns:a="http://schemas.openxmlformats.org/drawingml/2006/main">
            <a:pPr algn="ctr">
              <a:defRPr sz="2025" b="1" i="0">
                <a:solidFill>
                  <a:srgbClr val="176B73"/>
                </a:solidFill>
                <a:latin typeface="Helvetica Neue"/>
                <a:ea typeface="Helvetica Neue"/>
                <a:cs typeface="Helvetica Neue"/>
              </a:defRPr>
            </a:pPr>
            <a:r>
              <a:rPr sz="2025" b="1" i="0">
                <a:solidFill>
                  <a:srgbClr val="176B73"/>
                </a:solidFill>
                <a:latin typeface="Helvetica Neue"/>
                <a:ea typeface="Helvetica Neue"/>
                <a:cs typeface="Helvetica Neue"/>
              </a:rPr>
              <a:t>name the question</a:t>
            </a:r>
          </a:p>
        </p:txBody>
      </p:sp>
      <p:sp>
        <p:nvSpPr>
          <p:cNvPr id="13" name="">
            <a:extLst xmlns:a="http://schemas.openxmlformats.org/drawingml/2006/main">
              <a:ext uri="{FF2B5EF4-FFF2-40B4-BE49-F238E27FC236}">
                <a16:creationId xmlns:a16="http://schemas.microsoft.com/office/drawing/2014/main" id="{6D7B2A8B-3CE7-4916-91E7-AC1EB5D11A50}"/>
              </a:ext>
            </a:extLst>
          </p:cNvPr>
          <p:cNvSpPr>
            <a:spLocks xmlns:a="http://schemas.openxmlformats.org/drawingml/2006/main" noGrp="1"/>
          </p:cNvSpPr>
          <p:nvPr/>
        </p:nvSpPr>
        <p:spPr>
          <a:xfrm xmlns:a="http://schemas.openxmlformats.org/drawingml/2006/main" rot="0">
            <a:off x="628650" y="4114800"/>
            <a:ext cx="1790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i="0">
                <a:solidFill>
                  <a:srgbClr val="68716B"/>
                </a:solidFill>
                <a:latin typeface="Helvetica Neue"/>
                <a:ea typeface="Helvetica Neue"/>
                <a:cs typeface="Helvetica Neue"/>
              </a:defRPr>
            </a:pPr>
            <a:r>
              <a:rPr sz="1500" b="0" i="0">
                <a:solidFill>
                  <a:srgbClr val="68716B"/>
                </a:solidFill>
                <a:latin typeface="Helvetica Neue"/>
                <a:ea typeface="Helvetica Neue"/>
                <a:cs typeface="Helvetica Neue"/>
              </a:rPr>
              <a:t>What must remain true?</a:t>
            </a:r>
          </a:p>
        </p:txBody>
      </p:sp>
      <p:sp>
        <p:nvSpPr>
          <p:cNvPr id="14" name="">
            <a:extLst xmlns:a="http://schemas.openxmlformats.org/drawingml/2006/main">
              <a:ext uri="{FF2B5EF4-FFF2-40B4-BE49-F238E27FC236}">
                <a16:creationId xmlns:a16="http://schemas.microsoft.com/office/drawing/2014/main" id="{6D08E6AE-0BCF-4D5C-BC3A-0DA8BC7F6591}"/>
              </a:ext>
            </a:extLst>
          </p:cNvPr>
          <p:cNvSpPr>
            <a:spLocks xmlns:a="http://schemas.openxmlformats.org/drawingml/2006/main" noGrp="1"/>
          </p:cNvSpPr>
          <p:nvPr/>
        </p:nvSpPr>
        <p:spPr>
          <a:xfrm xmlns:a="http://schemas.openxmlformats.org/drawingml/2006/main" rot="0">
            <a:off x="4076700" y="2133600"/>
            <a:ext cx="609600" cy="609600"/>
          </a:xfrm>
          <a:prstGeom xmlns:a="http://schemas.openxmlformats.org/drawingml/2006/main" prst="ellipse">
            <a:avLst/>
          </a:prstGeom>
          <a:solidFill xmlns:a="http://schemas.openxmlformats.org/drawingml/2006/main">
            <a:srgbClr val="684F82"/>
          </a:solidFill>
          <a:ln xmlns:a="http://schemas.openxmlformats.org/drawingml/2006/main" w="19050">
            <a:solidFill>
              <a:srgbClr val="F5F2E9"/>
            </a:solidFill>
            <a:prstDash val="solid"/>
          </a:ln>
        </p:spPr>
      </p:sp>
      <p:sp>
        <p:nvSpPr>
          <p:cNvPr id="15" name="">
            <a:extLst xmlns:a="http://schemas.openxmlformats.org/drawingml/2006/main">
              <a:ext uri="{FF2B5EF4-FFF2-40B4-BE49-F238E27FC236}">
                <a16:creationId xmlns:a16="http://schemas.microsoft.com/office/drawing/2014/main" id="{8B591A78-99DD-48D3-AFBC-9BD5A648E8A6}"/>
              </a:ext>
            </a:extLst>
          </p:cNvPr>
          <p:cNvSpPr>
            <a:spLocks xmlns:a="http://schemas.openxmlformats.org/drawingml/2006/main" noGrp="1"/>
          </p:cNvSpPr>
          <p:nvPr/>
        </p:nvSpPr>
        <p:spPr>
          <a:xfrm xmlns:a="http://schemas.openxmlformats.org/drawingml/2006/main" rot="0">
            <a:off x="4210050" y="226695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FFFDF7"/>
                </a:solidFill>
                <a:latin typeface="Helvetica Neue"/>
                <a:ea typeface="Helvetica Neue"/>
                <a:cs typeface="Helvetica Neue"/>
              </a:defRPr>
            </a:pPr>
            <a:r>
              <a:rPr sz="1800" b="1" i="0">
                <a:solidFill>
                  <a:srgbClr val="FFFDF7"/>
                </a:solidFill>
                <a:latin typeface="Helvetica Neue"/>
                <a:ea typeface="Helvetica Neue"/>
                <a:cs typeface="Helvetica Neue"/>
              </a:rPr>
              <a:t>2</a:t>
            </a:r>
          </a:p>
        </p:txBody>
      </p:sp>
      <p:sp>
        <p:nvSpPr>
          <p:cNvPr id="16" name="">
            <a:extLst xmlns:a="http://schemas.openxmlformats.org/drawingml/2006/main">
              <a:ext uri="{FF2B5EF4-FFF2-40B4-BE49-F238E27FC236}">
                <a16:creationId xmlns:a16="http://schemas.microsoft.com/office/drawing/2014/main" id="{68244254-013D-443B-BF22-55DE238818AF}"/>
              </a:ext>
            </a:extLst>
          </p:cNvPr>
          <p:cNvSpPr>
            <a:spLocks xmlns:a="http://schemas.openxmlformats.org/drawingml/2006/main" noGrp="1"/>
          </p:cNvSpPr>
          <p:nvPr/>
        </p:nvSpPr>
        <p:spPr>
          <a:xfrm xmlns:a="http://schemas.openxmlformats.org/drawingml/2006/main" rot="0">
            <a:off x="3486150" y="3371850"/>
            <a:ext cx="179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i="0">
                <a:solidFill>
                  <a:srgbClr val="684F82"/>
                </a:solidFill>
                <a:latin typeface="Helvetica Neue"/>
                <a:ea typeface="Helvetica Neue"/>
                <a:cs typeface="Helvetica Neue"/>
              </a:defRPr>
            </a:pPr>
            <a:r>
              <a:rPr sz="2025" b="1" i="0">
                <a:solidFill>
                  <a:srgbClr val="684F82"/>
                </a:solidFill>
                <a:latin typeface="Helvetica Neue"/>
                <a:ea typeface="Helvetica Neue"/>
                <a:cs typeface="Helvetica Neue"/>
              </a:rPr>
              <a:t>derive or read</a:t>
            </a:r>
          </a:p>
        </p:txBody>
      </p:sp>
      <p:sp>
        <p:nvSpPr>
          <p:cNvPr id="17" name="">
            <a:extLst xmlns:a="http://schemas.openxmlformats.org/drawingml/2006/main">
              <a:ext uri="{FF2B5EF4-FFF2-40B4-BE49-F238E27FC236}">
                <a16:creationId xmlns:a16="http://schemas.microsoft.com/office/drawing/2014/main" id="{0D22DE1D-A841-49A2-93F5-7D3D3B2B7E23}"/>
              </a:ext>
            </a:extLst>
          </p:cNvPr>
          <p:cNvSpPr>
            <a:spLocks xmlns:a="http://schemas.openxmlformats.org/drawingml/2006/main" noGrp="1"/>
          </p:cNvSpPr>
          <p:nvPr/>
        </p:nvSpPr>
        <p:spPr>
          <a:xfrm xmlns:a="http://schemas.openxmlformats.org/drawingml/2006/main" rot="0">
            <a:off x="3486150" y="4114800"/>
            <a:ext cx="1790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i="0">
                <a:solidFill>
                  <a:srgbClr val="68716B"/>
                </a:solidFill>
                <a:latin typeface="Helvetica Neue"/>
                <a:ea typeface="Helvetica Neue"/>
                <a:cs typeface="Helvetica Neue"/>
              </a:defRPr>
            </a:pPr>
            <a:r>
              <a:rPr sz="1500" b="0" i="0">
                <a:solidFill>
                  <a:srgbClr val="68716B"/>
                </a:solidFill>
                <a:latin typeface="Helvetica Neue"/>
                <a:ea typeface="Helvetica Neue"/>
                <a:cs typeface="Helvetica Neue"/>
              </a:rPr>
              <a:t>rule · proof · paper</a:t>
            </a:r>
          </a:p>
        </p:txBody>
      </p:sp>
      <p:sp>
        <p:nvSpPr>
          <p:cNvPr id="18" name="">
            <a:extLst xmlns:a="http://schemas.openxmlformats.org/drawingml/2006/main">
              <a:ext uri="{FF2B5EF4-FFF2-40B4-BE49-F238E27FC236}">
                <a16:creationId xmlns:a16="http://schemas.microsoft.com/office/drawing/2014/main" id="{73A44456-6B24-447D-BC4F-D4DB4694B044}"/>
              </a:ext>
            </a:extLst>
          </p:cNvPr>
          <p:cNvSpPr>
            <a:spLocks xmlns:a="http://schemas.openxmlformats.org/drawingml/2006/main" noGrp="1"/>
          </p:cNvSpPr>
          <p:nvPr/>
        </p:nvSpPr>
        <p:spPr>
          <a:xfrm xmlns:a="http://schemas.openxmlformats.org/drawingml/2006/main" rot="0">
            <a:off x="6934200" y="2133600"/>
            <a:ext cx="609600" cy="609600"/>
          </a:xfrm>
          <a:prstGeom xmlns:a="http://schemas.openxmlformats.org/drawingml/2006/main" prst="ellipse">
            <a:avLst/>
          </a:prstGeom>
          <a:solidFill xmlns:a="http://schemas.openxmlformats.org/drawingml/2006/main">
            <a:srgbClr val="9B4C2F"/>
          </a:solidFill>
          <a:ln xmlns:a="http://schemas.openxmlformats.org/drawingml/2006/main" w="19050">
            <a:solidFill>
              <a:srgbClr val="F5F2E9"/>
            </a:solidFill>
            <a:prstDash val="solid"/>
          </a:ln>
        </p:spPr>
      </p:sp>
      <p:sp>
        <p:nvSpPr>
          <p:cNvPr id="19" name="">
            <a:extLst xmlns:a="http://schemas.openxmlformats.org/drawingml/2006/main">
              <a:ext uri="{FF2B5EF4-FFF2-40B4-BE49-F238E27FC236}">
                <a16:creationId xmlns:a16="http://schemas.microsoft.com/office/drawing/2014/main" id="{4BAB53D8-230C-4531-942D-43DD42B9F380}"/>
              </a:ext>
            </a:extLst>
          </p:cNvPr>
          <p:cNvSpPr>
            <a:spLocks xmlns:a="http://schemas.openxmlformats.org/drawingml/2006/main" noGrp="1"/>
          </p:cNvSpPr>
          <p:nvPr/>
        </p:nvSpPr>
        <p:spPr>
          <a:xfrm xmlns:a="http://schemas.openxmlformats.org/drawingml/2006/main" rot="0">
            <a:off x="7067550" y="226695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FFFDF7"/>
                </a:solidFill>
                <a:latin typeface="Helvetica Neue"/>
                <a:ea typeface="Helvetica Neue"/>
                <a:cs typeface="Helvetica Neue"/>
              </a:defRPr>
            </a:pPr>
            <a:r>
              <a:rPr sz="1800" b="1" i="0">
                <a:solidFill>
                  <a:srgbClr val="FFFDF7"/>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0F1765BB-055B-4B8F-B9E0-029486DAE032}"/>
              </a:ext>
            </a:extLst>
          </p:cNvPr>
          <p:cNvSpPr>
            <a:spLocks xmlns:a="http://schemas.openxmlformats.org/drawingml/2006/main" noGrp="1"/>
          </p:cNvSpPr>
          <p:nvPr/>
        </p:nvSpPr>
        <p:spPr>
          <a:xfrm xmlns:a="http://schemas.openxmlformats.org/drawingml/2006/main" rot="0">
            <a:off x="6343650" y="3371850"/>
            <a:ext cx="179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593"/>
          </a:bodyPr>
          <a:lstStyle xmlns:a="http://schemas.openxmlformats.org/drawingml/2006/main"/>
          <a:p xmlns:a="http://schemas.openxmlformats.org/drawingml/2006/main">
            <a:pPr algn="ctr">
              <a:defRPr sz="2025" b="1" i="0">
                <a:solidFill>
                  <a:srgbClr val="9B4C2F"/>
                </a:solidFill>
                <a:latin typeface="Helvetica Neue"/>
                <a:ea typeface="Helvetica Neue"/>
                <a:cs typeface="Helvetica Neue"/>
              </a:defRPr>
            </a:pPr>
            <a:r>
              <a:rPr sz="2025" b="1" i="0">
                <a:solidFill>
                  <a:srgbClr val="9B4C2F"/>
                </a:solidFill>
                <a:latin typeface="Helvetica Neue"/>
                <a:ea typeface="Helvetica Neue"/>
                <a:cs typeface="Helvetica Neue"/>
              </a:rPr>
              <a:t>trace the machine</a:t>
            </a:r>
          </a:p>
        </p:txBody>
      </p:sp>
      <p:sp>
        <p:nvSpPr>
          <p:cNvPr id="21" name="">
            <a:extLst xmlns:a="http://schemas.openxmlformats.org/drawingml/2006/main">
              <a:ext uri="{FF2B5EF4-FFF2-40B4-BE49-F238E27FC236}">
                <a16:creationId xmlns:a16="http://schemas.microsoft.com/office/drawing/2014/main" id="{B8205A8A-A4A0-4B75-BBED-F56A868C09FD}"/>
              </a:ext>
            </a:extLst>
          </p:cNvPr>
          <p:cNvSpPr>
            <a:spLocks xmlns:a="http://schemas.openxmlformats.org/drawingml/2006/main" noGrp="1"/>
          </p:cNvSpPr>
          <p:nvPr/>
        </p:nvSpPr>
        <p:spPr>
          <a:xfrm xmlns:a="http://schemas.openxmlformats.org/drawingml/2006/main" rot="0">
            <a:off x="6343650" y="4114800"/>
            <a:ext cx="1790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i="0">
                <a:solidFill>
                  <a:srgbClr val="68716B"/>
                </a:solidFill>
                <a:latin typeface="Helvetica Neue"/>
                <a:ea typeface="Helvetica Neue"/>
                <a:cs typeface="Helvetica Neue"/>
              </a:defRPr>
            </a:pPr>
            <a:r>
              <a:rPr sz="1500" b="0" i="0">
                <a:solidFill>
                  <a:srgbClr val="68716B"/>
                </a:solidFill>
                <a:latin typeface="Helvetica Neue"/>
                <a:ea typeface="Helvetica Neue"/>
                <a:cs typeface="Helvetica Neue"/>
              </a:rPr>
              <a:t>rows · probes · deltas</a:t>
            </a:r>
          </a:p>
        </p:txBody>
      </p:sp>
      <p:sp>
        <p:nvSpPr>
          <p:cNvPr id="22" name="">
            <a:extLst xmlns:a="http://schemas.openxmlformats.org/drawingml/2006/main">
              <a:ext uri="{FF2B5EF4-FFF2-40B4-BE49-F238E27FC236}">
                <a16:creationId xmlns:a16="http://schemas.microsoft.com/office/drawing/2014/main" id="{A6E64703-8B60-48E3-A021-82884F00D4CE}"/>
              </a:ext>
            </a:extLst>
          </p:cNvPr>
          <p:cNvSpPr>
            <a:spLocks xmlns:a="http://schemas.openxmlformats.org/drawingml/2006/main" noGrp="1"/>
          </p:cNvSpPr>
          <p:nvPr/>
        </p:nvSpPr>
        <p:spPr>
          <a:xfrm xmlns:a="http://schemas.openxmlformats.org/drawingml/2006/main" rot="0">
            <a:off x="9791700" y="2133600"/>
            <a:ext cx="609600" cy="609600"/>
          </a:xfrm>
          <a:prstGeom xmlns:a="http://schemas.openxmlformats.org/drawingml/2006/main" prst="ellipse">
            <a:avLst/>
          </a:prstGeom>
          <a:solidFill xmlns:a="http://schemas.openxmlformats.org/drawingml/2006/main">
            <a:srgbClr val="286D91"/>
          </a:solidFill>
          <a:ln xmlns:a="http://schemas.openxmlformats.org/drawingml/2006/main" w="19050">
            <a:solidFill>
              <a:srgbClr val="F5F2E9"/>
            </a:solidFill>
            <a:prstDash val="solid"/>
          </a:ln>
        </p:spPr>
      </p:sp>
      <p:sp>
        <p:nvSpPr>
          <p:cNvPr id="23" name="">
            <a:extLst xmlns:a="http://schemas.openxmlformats.org/drawingml/2006/main">
              <a:ext uri="{FF2B5EF4-FFF2-40B4-BE49-F238E27FC236}">
                <a16:creationId xmlns:a16="http://schemas.microsoft.com/office/drawing/2014/main" id="{67471D5B-035B-49BB-BCC1-8C2E69C30574}"/>
              </a:ext>
            </a:extLst>
          </p:cNvPr>
          <p:cNvSpPr>
            <a:spLocks xmlns:a="http://schemas.openxmlformats.org/drawingml/2006/main" noGrp="1"/>
          </p:cNvSpPr>
          <p:nvPr/>
        </p:nvSpPr>
        <p:spPr>
          <a:xfrm xmlns:a="http://schemas.openxmlformats.org/drawingml/2006/main" rot="0">
            <a:off x="9925050" y="226695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FFFDF7"/>
                </a:solidFill>
                <a:latin typeface="Helvetica Neue"/>
                <a:ea typeface="Helvetica Neue"/>
                <a:cs typeface="Helvetica Neue"/>
              </a:defRPr>
            </a:pPr>
            <a:r>
              <a:rPr sz="1800" b="1" i="0">
                <a:solidFill>
                  <a:srgbClr val="FFFDF7"/>
                </a:solidFill>
                <a:latin typeface="Helvetica Neue"/>
                <a:ea typeface="Helvetica Neue"/>
                <a:cs typeface="Helvetica Neue"/>
              </a:rPr>
              <a:t>4</a:t>
            </a:r>
          </a:p>
        </p:txBody>
      </p:sp>
      <p:sp>
        <p:nvSpPr>
          <p:cNvPr id="24" name="">
            <a:extLst xmlns:a="http://schemas.openxmlformats.org/drawingml/2006/main">
              <a:ext uri="{FF2B5EF4-FFF2-40B4-BE49-F238E27FC236}">
                <a16:creationId xmlns:a16="http://schemas.microsoft.com/office/drawing/2014/main" id="{8E1C924B-95D4-4CC3-AFEF-E82688604D98}"/>
              </a:ext>
            </a:extLst>
          </p:cNvPr>
          <p:cNvSpPr>
            <a:spLocks xmlns:a="http://schemas.openxmlformats.org/drawingml/2006/main" noGrp="1"/>
          </p:cNvSpPr>
          <p:nvPr/>
        </p:nvSpPr>
        <p:spPr>
          <a:xfrm xmlns:a="http://schemas.openxmlformats.org/drawingml/2006/main" rot="0">
            <a:off x="9201150" y="3371850"/>
            <a:ext cx="179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593"/>
          </a:bodyPr>
          <a:lstStyle xmlns:a="http://schemas.openxmlformats.org/drawingml/2006/main"/>
          <a:p xmlns:a="http://schemas.openxmlformats.org/drawingml/2006/main">
            <a:pPr algn="ctr">
              <a:defRPr sz="2025" b="1" i="0">
                <a:solidFill>
                  <a:srgbClr val="286D91"/>
                </a:solidFill>
                <a:latin typeface="Helvetica Neue"/>
                <a:ea typeface="Helvetica Neue"/>
                <a:cs typeface="Helvetica Neue"/>
              </a:defRPr>
            </a:pPr>
            <a:r>
              <a:rPr sz="2025" b="1" i="0">
                <a:solidFill>
                  <a:srgbClr val="286D91"/>
                </a:solidFill>
                <a:latin typeface="Helvetica Neue"/>
                <a:ea typeface="Helvetica Neue"/>
                <a:cs typeface="Helvetica Neue"/>
              </a:rPr>
              <a:t>compare evidence</a:t>
            </a:r>
          </a:p>
        </p:txBody>
      </p:sp>
      <p:sp>
        <p:nvSpPr>
          <p:cNvPr id="25" name="">
            <a:extLst xmlns:a="http://schemas.openxmlformats.org/drawingml/2006/main">
              <a:ext uri="{FF2B5EF4-FFF2-40B4-BE49-F238E27FC236}">
                <a16:creationId xmlns:a16="http://schemas.microsoft.com/office/drawing/2014/main" id="{02C6A74E-BEC2-4855-A9B3-5CAFF9A9AC24}"/>
              </a:ext>
            </a:extLst>
          </p:cNvPr>
          <p:cNvSpPr>
            <a:spLocks xmlns:a="http://schemas.openxmlformats.org/drawingml/2006/main" noGrp="1"/>
          </p:cNvSpPr>
          <p:nvPr/>
        </p:nvSpPr>
        <p:spPr>
          <a:xfrm xmlns:a="http://schemas.openxmlformats.org/drawingml/2006/main" rot="0">
            <a:off x="9201150" y="4114800"/>
            <a:ext cx="1790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i="0">
                <a:solidFill>
                  <a:srgbClr val="68716B"/>
                </a:solidFill>
                <a:latin typeface="Helvetica Neue"/>
                <a:ea typeface="Helvetica Neue"/>
                <a:cs typeface="Helvetica Neue"/>
              </a:defRPr>
            </a:pPr>
            <a:r>
              <a:rPr sz="1500" b="0" i="0">
                <a:solidFill>
                  <a:srgbClr val="68716B"/>
                </a:solidFill>
                <a:latin typeface="Helvetica Neue"/>
                <a:ea typeface="Helvetica Neue"/>
                <a:cs typeface="Helvetica Neue"/>
              </a:rPr>
              <a:t>counterexample · counter</a:t>
            </a:r>
          </a:p>
        </p:txBody>
      </p:sp>
      <p:sp>
        <p:nvSpPr>
          <p:cNvPr id="26" name="">
            <a:extLst xmlns:a="http://schemas.openxmlformats.org/drawingml/2006/main">
              <a:ext uri="{FF2B5EF4-FFF2-40B4-BE49-F238E27FC236}">
                <a16:creationId xmlns:a16="http://schemas.microsoft.com/office/drawing/2014/main" id="{0987B81E-5FCF-4303-BD8F-F39D50E2B4DD}"/>
              </a:ext>
            </a:extLst>
          </p:cNvPr>
          <p:cNvSpPr>
            <a:spLocks xmlns:a="http://schemas.openxmlformats.org/drawingml/2006/main" noGrp="1"/>
          </p:cNvSpPr>
          <p:nvPr/>
        </p:nvSpPr>
        <p:spPr>
          <a:xfrm xmlns:a="http://schemas.openxmlformats.org/drawingml/2006/main" rot="0">
            <a:off x="2305050" y="5391150"/>
            <a:ext cx="7581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082"/>
          </a:bodyPr>
          <a:lstStyle xmlns:a="http://schemas.openxmlformats.org/drawingml/2006/main"/>
          <a:p xmlns:a="http://schemas.openxmlformats.org/drawingml/2006/main">
            <a:pPr algn="ctr">
              <a:defRPr sz="2250" b="0" i="0">
                <a:solidFill>
                  <a:srgbClr val="176B73"/>
                </a:solidFill>
                <a:latin typeface="Helvetica Neue"/>
                <a:ea typeface="Helvetica Neue"/>
                <a:cs typeface="Helvetica Neue"/>
              </a:defRPr>
            </a:pPr>
            <a:r>
              <a:rPr sz="2250" b="0" i="0">
                <a:solidFill>
                  <a:srgbClr val="176B73"/>
                </a:solidFill>
                <a:latin typeface="Helvetica Neue"/>
                <a:ea typeface="Helvetica Neue"/>
                <a:cs typeface="Helvetica Neue"/>
              </a:rPr>
              <a:t>Lecture + discussion + shared trace—not a weekly coding lab.</a:t>
            </a:r>
          </a:p>
        </p:txBody>
      </p:sp>
    </p:spTree>
    <p:extLst>
      <p:ext uri="{BB962C8B-B14F-4D97-AF65-F5344CB8AC3E}">
        <p14:creationId xmlns:p14="http://schemas.microsoft.com/office/powerpoint/2010/main" val="128851366"/>
      </p:ext>
    </p:extLst>
  </p:cSld>
</p:sld>
</file>

<file path=ppt/slides/slide19.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F10B9F0-BACC-4626-A527-8DB86FEBE36E}"/>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9B4C2F"/>
          </a:solidFill>
          <a:ln xmlns:a="http://schemas.openxmlformats.org/drawingml/2006/main" w="0">
            <a:solidFill>
              <a:srgbClr val="9B4C2F"/>
            </a:solidFill>
            <a:prstDash val="solid"/>
          </a:ln>
        </p:spPr>
      </p:sp>
      <p:sp>
        <p:nvSpPr>
          <p:cNvPr id="2" name="">
            <a:extLst xmlns:a="http://schemas.openxmlformats.org/drawingml/2006/main">
              <a:ext uri="{FF2B5EF4-FFF2-40B4-BE49-F238E27FC236}">
                <a16:creationId xmlns:a16="http://schemas.microsoft.com/office/drawing/2014/main" id="{F199885E-D83E-40CC-8CB5-87C2C9AC65E9}"/>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9B4C2F"/>
                </a:solidFill>
                <a:latin typeface="Helvetica Neue"/>
                <a:ea typeface="Helvetica Neue"/>
                <a:cs typeface="Helvetica Neue"/>
              </a:defRPr>
            </a:pPr>
            <a:r>
              <a:rPr sz="1050" b="1" i="0">
                <a:solidFill>
                  <a:srgbClr val="9B4C2F"/>
                </a:solidFill>
                <a:latin typeface="Helvetica Neue"/>
                <a:ea typeface="Helvetica Neue"/>
                <a:cs typeface="Helvetica Neue"/>
              </a:rPr>
              <a:t>WHY THIS HOST LANGUAGE</a:t>
            </a:r>
          </a:p>
        </p:txBody>
      </p:sp>
      <p:sp>
        <p:nvSpPr>
          <p:cNvPr id="3" name="">
            <a:extLst xmlns:a="http://schemas.openxmlformats.org/drawingml/2006/main">
              <a:ext uri="{FF2B5EF4-FFF2-40B4-BE49-F238E27FC236}">
                <a16:creationId xmlns:a16="http://schemas.microsoft.com/office/drawing/2014/main" id="{50176CA7-6192-45C5-A6D8-65710DBB69F1}"/>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Rust makes execution choices difficult to hide</a:t>
            </a:r>
          </a:p>
        </p:txBody>
      </p:sp>
      <p:sp>
        <p:nvSpPr>
          <p:cNvPr id="4" name="">
            <a:extLst xmlns:a="http://schemas.openxmlformats.org/drawingml/2006/main">
              <a:ext uri="{FF2B5EF4-FFF2-40B4-BE49-F238E27FC236}">
                <a16:creationId xmlns:a16="http://schemas.microsoft.com/office/drawing/2014/main" id="{7FFDA8E4-C6A9-43A9-BB98-B719226AC4DC}"/>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FA125820-F0FD-45BA-8EFF-553BD40BB4AA}"/>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7B9ABE54-4423-4F7A-BCAA-31EE3B40E991}"/>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19</a:t>
            </a:r>
          </a:p>
        </p:txBody>
      </p:sp>
      <p:sp>
        <p:nvSpPr>
          <p:cNvPr id="7" name="">
            <a:extLst xmlns:a="http://schemas.openxmlformats.org/drawingml/2006/main">
              <a:ext uri="{FF2B5EF4-FFF2-40B4-BE49-F238E27FC236}">
                <a16:creationId xmlns:a16="http://schemas.microsoft.com/office/drawing/2014/main" id="{AC2454C8-D881-436E-BF13-33E5DB49299D}"/>
              </a:ext>
            </a:extLst>
          </p:cNvPr>
          <p:cNvSpPr>
            <a:spLocks xmlns:a="http://schemas.openxmlformats.org/drawingml/2006/main" noGrp="1"/>
          </p:cNvSpPr>
          <p:nvPr/>
        </p:nvSpPr>
        <p:spPr>
          <a:xfrm xmlns:a="http://schemas.openxmlformats.org/drawingml/2006/main">
            <a:off x="6096000" y="1504950"/>
            <a:ext cx="0" cy="432435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d1b7047814f448f"/>
          <a:stretch xmlns:a="http://schemas.openxmlformats.org/drawingml/2006/main"/>
        </p:blipFill>
        <p:spPr>
          <a:xfrm xmlns:a="http://schemas.openxmlformats.org/drawingml/2006/main">
            <a:off x="1147364" y="1447800"/>
            <a:ext cx="2086773" cy="704850"/>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e6568fd479ca48dc"/>
          <a:stretch xmlns:a="http://schemas.openxmlformats.org/drawingml/2006/main"/>
        </p:blipFill>
        <p:spPr>
          <a:xfrm xmlns:a="http://schemas.openxmlformats.org/drawingml/2006/main">
            <a:off x="7524750" y="1390650"/>
            <a:ext cx="1066800" cy="10668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2A1525E6-5BDD-4C12-8A06-B5B48CA5B2FE}"/>
              </a:ext>
            </a:extLst>
          </p:cNvPr>
          <p:cNvSpPr>
            <a:spLocks xmlns:a="http://schemas.openxmlformats.org/drawingml/2006/main" noGrp="1"/>
          </p:cNvSpPr>
          <p:nvPr/>
        </p:nvSpPr>
        <p:spPr>
          <a:xfrm xmlns:a="http://schemas.openxmlformats.org/drawingml/2006/main" rot="0">
            <a:off x="3505200" y="160020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i="0">
                <a:solidFill>
                  <a:srgbClr val="286D91"/>
                </a:solidFill>
                <a:latin typeface="Helvetica Neue"/>
                <a:ea typeface="Helvetica Neue"/>
                <a:cs typeface="Helvetica Neue"/>
              </a:defRPr>
            </a:pPr>
            <a:r>
              <a:rPr sz="2250" b="1" i="0">
                <a:solidFill>
                  <a:srgbClr val="286D91"/>
                </a:solidFill>
                <a:latin typeface="Helvetica Neue"/>
                <a:ea typeface="Helvetica Neue"/>
                <a:cs typeface="Helvetica Neue"/>
              </a:rPr>
              <a:t>Python</a:t>
            </a:r>
          </a:p>
        </p:txBody>
      </p:sp>
      <p:sp>
        <p:nvSpPr>
          <p:cNvPr id="11" name="">
            <a:extLst xmlns:a="http://schemas.openxmlformats.org/drawingml/2006/main">
              <a:ext uri="{FF2B5EF4-FFF2-40B4-BE49-F238E27FC236}">
                <a16:creationId xmlns:a16="http://schemas.microsoft.com/office/drawing/2014/main" id="{3246FADB-357B-4A1F-998C-9EE991EC4FC0}"/>
              </a:ext>
            </a:extLst>
          </p:cNvPr>
          <p:cNvSpPr>
            <a:spLocks xmlns:a="http://schemas.openxmlformats.org/drawingml/2006/main" noGrp="1"/>
          </p:cNvSpPr>
          <p:nvPr/>
        </p:nvSpPr>
        <p:spPr>
          <a:xfrm xmlns:a="http://schemas.openxmlformats.org/drawingml/2006/main" rot="0">
            <a:off x="8858250" y="160020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i="0">
                <a:solidFill>
                  <a:srgbClr val="9B4C2F"/>
                </a:solidFill>
                <a:latin typeface="Helvetica Neue"/>
                <a:ea typeface="Helvetica Neue"/>
                <a:cs typeface="Helvetica Neue"/>
              </a:defRPr>
            </a:pPr>
            <a:r>
              <a:rPr sz="2250" b="1" i="0">
                <a:solidFill>
                  <a:srgbClr val="9B4C2F"/>
                </a:solidFill>
                <a:latin typeface="Helvetica Neue"/>
                <a:ea typeface="Helvetica Neue"/>
                <a:cs typeface="Helvetica Neue"/>
              </a:rPr>
              <a:t>Rust</a:t>
            </a:r>
          </a:p>
        </p:txBody>
      </p:sp>
      <p:sp>
        <p:nvSpPr>
          <p:cNvPr id="12" name="">
            <a:extLst xmlns:a="http://schemas.openxmlformats.org/drawingml/2006/main">
              <a:ext uri="{FF2B5EF4-FFF2-40B4-BE49-F238E27FC236}">
                <a16:creationId xmlns:a16="http://schemas.microsoft.com/office/drawing/2014/main" id="{134D986F-4A0B-4C70-BF5D-57541B001E72}"/>
              </a:ext>
            </a:extLst>
          </p:cNvPr>
          <p:cNvSpPr>
            <a:spLocks xmlns:a="http://schemas.openxmlformats.org/drawingml/2006/main" noGrp="1"/>
          </p:cNvSpPr>
          <p:nvPr/>
        </p:nvSpPr>
        <p:spPr>
          <a:xfrm xmlns:a="http://schemas.openxmlformats.org/drawingml/2006/main" rot="0">
            <a:off x="723900" y="2571750"/>
            <a:ext cx="4762500" cy="1714500"/>
          </a:xfrm>
          <a:prstGeom xmlns:a="http://schemas.openxmlformats.org/drawingml/2006/main" prst="roundRect">
            <a:avLst>
              <a:gd name="adj" fmla="val 5556"/>
            </a:avLst>
          </a:prstGeom>
          <a:solidFill xmlns:a="http://schemas.openxmlformats.org/drawingml/2006/main">
            <a:srgbClr val="161A18"/>
          </a:solidFill>
          <a:ln xmlns:a="http://schemas.openxmlformats.org/drawingml/2006/main" w="9525">
            <a:solidFill>
              <a:srgbClr val="161A18"/>
            </a:solidFill>
            <a:prstDash val="solid"/>
          </a:ln>
        </p:spPr>
      </p:sp>
      <p:sp>
        <p:nvSpPr>
          <p:cNvPr id="13" name="">
            <a:extLst xmlns:a="http://schemas.openxmlformats.org/drawingml/2006/main">
              <a:ext uri="{FF2B5EF4-FFF2-40B4-BE49-F238E27FC236}">
                <a16:creationId xmlns:a16="http://schemas.microsoft.com/office/drawing/2014/main" id="{450FA48A-BD96-4BCE-B3A6-27A2E7B04529}"/>
              </a:ext>
            </a:extLst>
          </p:cNvPr>
          <p:cNvSpPr>
            <a:spLocks xmlns:a="http://schemas.openxmlformats.org/drawingml/2006/main" noGrp="1"/>
          </p:cNvSpPr>
          <p:nvPr/>
        </p:nvSpPr>
        <p:spPr>
          <a:xfrm xmlns:a="http://schemas.openxmlformats.org/drawingml/2006/main" rot="0">
            <a:off x="895350" y="2724150"/>
            <a:ext cx="441960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FFFDF7"/>
                </a:solidFill>
                <a:latin typeface="SFMono-Regular"/>
                <a:ea typeface="SFMono-Regular"/>
                <a:cs typeface="SFMono-Regular"/>
              </a:defRPr>
            </a:pPr>
            <a:r>
              <a:rPr sz="1425" b="0" i="0">
                <a:solidFill>
                  <a:srgbClr val="FFFDF7"/>
                </a:solidFill>
                <a:latin typeface="SFMono-Regular"/>
                <a:ea typeface="SFMono-Regular"/>
                <a:cs typeface="SFMono-Regular"/>
              </a:rPr>
              <a:t>roads = {("Logan", "SLC")}</a:t>
            </a:r>
          </a:p>
          <a:p xmlns:a="http://schemas.openxmlformats.org/drawingml/2006/main">
            <a:r>
              <a:t/>
            </a:r>
          </a:p>
          <a:p xmlns:a="http://schemas.openxmlformats.org/drawingml/2006/main">
            <a:pPr algn="l">
              <a:lnSpc>
                <a:spcPct val="108000"/>
              </a:lnSpc>
              <a:buNone/>
              <a:defRPr sz="1425" b="0" i="0">
                <a:solidFill>
                  <a:srgbClr val="FFFDF7"/>
                </a:solidFill>
                <a:latin typeface="SFMono-Regular"/>
                <a:ea typeface="SFMono-Regular"/>
                <a:cs typeface="SFMono-Regular"/>
              </a:defRPr>
            </a:pPr>
            <a:r>
              <a:rPr sz="1425" b="0" i="0">
                <a:solidFill>
                  <a:srgbClr val="FFFDF7"/>
                </a:solidFill>
                <a:latin typeface="SFMono-Regular"/>
                <a:ea typeface="SFMono-Regular"/>
                <a:cs typeface="SFMono-Regular"/>
              </a:rPr>
              <a:t>def has_road(roads, road):</a:t>
            </a:r>
          </a:p>
          <a:p xmlns:a="http://schemas.openxmlformats.org/drawingml/2006/main">
            <a:pPr algn="l">
              <a:lnSpc>
                <a:spcPct val="108000"/>
              </a:lnSpc>
              <a:buNone/>
              <a:defRPr sz="1425" b="0" i="0">
                <a:solidFill>
                  <a:srgbClr val="FFFDF7"/>
                </a:solidFill>
                <a:latin typeface="SFMono-Regular"/>
                <a:ea typeface="SFMono-Regular"/>
                <a:cs typeface="SFMono-Regular"/>
              </a:defRPr>
            </a:pPr>
            <a:r>
              <a:rPr sz="1425" b="0" i="0">
                <a:solidFill>
                  <a:srgbClr val="FFFDF7"/>
                </a:solidFill>
                <a:latin typeface="SFMono-Regular"/>
                <a:ea typeface="SFMono-Regular"/>
                <a:cs typeface="SFMono-Regular"/>
              </a:rPr>
              <a:t>    return road in roads</a:t>
            </a:r>
          </a:p>
        </p:txBody>
      </p:sp>
      <p:sp>
        <p:nvSpPr>
          <p:cNvPr id="14" name="">
            <a:extLst xmlns:a="http://schemas.openxmlformats.org/drawingml/2006/main">
              <a:ext uri="{FF2B5EF4-FFF2-40B4-BE49-F238E27FC236}">
                <a16:creationId xmlns:a16="http://schemas.microsoft.com/office/drawing/2014/main" id="{D976642C-F484-4639-AB18-A1A255E23A80}"/>
              </a:ext>
            </a:extLst>
          </p:cNvPr>
          <p:cNvSpPr>
            <a:spLocks xmlns:a="http://schemas.openxmlformats.org/drawingml/2006/main" noGrp="1"/>
          </p:cNvSpPr>
          <p:nvPr/>
        </p:nvSpPr>
        <p:spPr>
          <a:xfrm xmlns:a="http://schemas.openxmlformats.org/drawingml/2006/main" rot="0">
            <a:off x="6667500" y="2571750"/>
            <a:ext cx="4800600" cy="2171700"/>
          </a:xfrm>
          <a:prstGeom xmlns:a="http://schemas.openxmlformats.org/drawingml/2006/main" prst="roundRect">
            <a:avLst>
              <a:gd name="adj" fmla="val 4386"/>
            </a:avLst>
          </a:prstGeom>
          <a:solidFill xmlns:a="http://schemas.openxmlformats.org/drawingml/2006/main">
            <a:srgbClr val="161A18"/>
          </a:solidFill>
          <a:ln xmlns:a="http://schemas.openxmlformats.org/drawingml/2006/main" w="9525">
            <a:solidFill>
              <a:srgbClr val="161A18"/>
            </a:solidFill>
            <a:prstDash val="solid"/>
          </a:ln>
        </p:spPr>
      </p:sp>
      <p:sp>
        <p:nvSpPr>
          <p:cNvPr id="15" name="">
            <a:extLst xmlns:a="http://schemas.openxmlformats.org/drawingml/2006/main">
              <a:ext uri="{FF2B5EF4-FFF2-40B4-BE49-F238E27FC236}">
                <a16:creationId xmlns:a16="http://schemas.microsoft.com/office/drawing/2014/main" id="{DFD4D172-B93F-4F7E-8D7C-6EA6F887B739}"/>
              </a:ext>
            </a:extLst>
          </p:cNvPr>
          <p:cNvSpPr>
            <a:spLocks xmlns:a="http://schemas.openxmlformats.org/drawingml/2006/main" noGrp="1"/>
          </p:cNvSpPr>
          <p:nvPr/>
        </p:nvSpPr>
        <p:spPr>
          <a:xfrm xmlns:a="http://schemas.openxmlformats.org/drawingml/2006/main" rot="0">
            <a:off x="6838950" y="2724150"/>
            <a:ext cx="44577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FFFDF7"/>
                </a:solidFill>
                <a:latin typeface="SFMono-Regular"/>
                <a:ea typeface="SFMono-Regular"/>
                <a:cs typeface="SFMono-Regular"/>
              </a:defRPr>
            </a:pPr>
            <a:r>
              <a:rPr sz="1350" b="0" i="0">
                <a:solidFill>
                  <a:srgbClr val="FFFDF7"/>
                </a:solidFill>
                <a:latin typeface="SFMono-Regular"/>
                <a:ea typeface="SFMono-Regular"/>
                <a:cs typeface="SFMono-Regular"/>
              </a:rPr>
              <a:t>fn has_road(</a:t>
            </a:r>
          </a:p>
          <a:p xmlns:a="http://schemas.openxmlformats.org/drawingml/2006/main">
            <a:pPr algn="l">
              <a:lnSpc>
                <a:spcPct val="108000"/>
              </a:lnSpc>
              <a:buNone/>
              <a:defRPr sz="1350" b="0" i="0">
                <a:solidFill>
                  <a:srgbClr val="FFFDF7"/>
                </a:solidFill>
                <a:latin typeface="SFMono-Regular"/>
                <a:ea typeface="SFMono-Regular"/>
                <a:cs typeface="SFMono-Regular"/>
              </a:defRPr>
            </a:pPr>
            <a:r>
              <a:rPr sz="1350" b="0" i="0">
                <a:solidFill>
                  <a:srgbClr val="FFFDF7"/>
                </a:solidFill>
                <a:latin typeface="SFMono-Regular"/>
                <a:ea typeface="SFMono-Regular"/>
                <a:cs typeface="SFMono-Regular"/>
              </a:rPr>
              <a:t>  roads: &amp;HashSet&lt;Road&gt;,</a:t>
            </a:r>
          </a:p>
          <a:p xmlns:a="http://schemas.openxmlformats.org/drawingml/2006/main">
            <a:pPr algn="l">
              <a:lnSpc>
                <a:spcPct val="108000"/>
              </a:lnSpc>
              <a:buNone/>
              <a:defRPr sz="1350" b="0" i="0">
                <a:solidFill>
                  <a:srgbClr val="FFFDF7"/>
                </a:solidFill>
                <a:latin typeface="SFMono-Regular"/>
                <a:ea typeface="SFMono-Regular"/>
                <a:cs typeface="SFMono-Regular"/>
              </a:defRPr>
            </a:pPr>
            <a:r>
              <a:rPr sz="1350" b="0" i="0">
                <a:solidFill>
                  <a:srgbClr val="FFFDF7"/>
                </a:solidFill>
                <a:latin typeface="SFMono-Regular"/>
                <a:ea typeface="SFMono-Regular"/>
                <a:cs typeface="SFMono-Regular"/>
              </a:rPr>
              <a:t>  road: Road,</a:t>
            </a:r>
          </a:p>
          <a:p xmlns:a="http://schemas.openxmlformats.org/drawingml/2006/main">
            <a:pPr algn="l">
              <a:lnSpc>
                <a:spcPct val="108000"/>
              </a:lnSpc>
              <a:buNone/>
              <a:defRPr sz="1350" b="0" i="0">
                <a:solidFill>
                  <a:srgbClr val="FFFDF7"/>
                </a:solidFill>
                <a:latin typeface="SFMono-Regular"/>
                <a:ea typeface="SFMono-Regular"/>
                <a:cs typeface="SFMono-Regular"/>
              </a:defRPr>
            </a:pPr>
            <a:r>
              <a:rPr sz="1350" b="0" i="0">
                <a:solidFill>
                  <a:srgbClr val="FFFDF7"/>
                </a:solidFill>
                <a:latin typeface="SFMono-Regular"/>
                <a:ea typeface="SFMono-Regular"/>
                <a:cs typeface="SFMono-Regular"/>
              </a:rPr>
              <a:t>) -&gt; bool {</a:t>
            </a:r>
          </a:p>
          <a:p xmlns:a="http://schemas.openxmlformats.org/drawingml/2006/main">
            <a:pPr algn="l">
              <a:lnSpc>
                <a:spcPct val="108000"/>
              </a:lnSpc>
              <a:buNone/>
              <a:defRPr sz="1350" b="0" i="0">
                <a:solidFill>
                  <a:srgbClr val="FFFDF7"/>
                </a:solidFill>
                <a:latin typeface="SFMono-Regular"/>
                <a:ea typeface="SFMono-Regular"/>
                <a:cs typeface="SFMono-Regular"/>
              </a:defRPr>
            </a:pPr>
            <a:r>
              <a:rPr sz="1350" b="0" i="0">
                <a:solidFill>
                  <a:srgbClr val="FFFDF7"/>
                </a:solidFill>
                <a:latin typeface="SFMono-Regular"/>
                <a:ea typeface="SFMono-Regular"/>
                <a:cs typeface="SFMono-Regular"/>
              </a:rPr>
              <a:t>  roads.contains(&amp;road)</a:t>
            </a:r>
          </a:p>
          <a:p xmlns:a="http://schemas.openxmlformats.org/drawingml/2006/main">
            <a:pPr algn="l">
              <a:lnSpc>
                <a:spcPct val="108000"/>
              </a:lnSpc>
              <a:buNone/>
              <a:defRPr sz="1350" b="0" i="0">
                <a:solidFill>
                  <a:srgbClr val="FFFDF7"/>
                </a:solidFill>
                <a:latin typeface="SFMono-Regular"/>
                <a:ea typeface="SFMono-Regular"/>
                <a:cs typeface="SFMono-Regular"/>
              </a:defRPr>
            </a:pPr>
            <a:r>
              <a:rPr sz="1350" b="0" i="0">
                <a:solidFill>
                  <a:srgbClr val="FFFDF7"/>
                </a:solidFill>
                <a:latin typeface="SFMono-Regular"/>
                <a:ea typeface="SFMono-Regular"/>
                <a:cs typeface="SFMono-Regular"/>
              </a:rPr>
              <a:t>}</a:t>
            </a:r>
          </a:p>
        </p:txBody>
      </p:sp>
      <p:sp>
        <p:nvSpPr>
          <p:cNvPr id="16" name="">
            <a:extLst xmlns:a="http://schemas.openxmlformats.org/drawingml/2006/main">
              <a:ext uri="{FF2B5EF4-FFF2-40B4-BE49-F238E27FC236}">
                <a16:creationId xmlns:a16="http://schemas.microsoft.com/office/drawing/2014/main" id="{6176C02F-CE97-4DE3-A859-1AB1E5AFFD36}"/>
              </a:ext>
            </a:extLst>
          </p:cNvPr>
          <p:cNvSpPr>
            <a:spLocks xmlns:a="http://schemas.openxmlformats.org/drawingml/2006/main" noGrp="1"/>
          </p:cNvSpPr>
          <p:nvPr/>
        </p:nvSpPr>
        <p:spPr>
          <a:xfrm xmlns:a="http://schemas.openxmlformats.org/drawingml/2006/main" rot="0">
            <a:off x="1028700" y="4762500"/>
            <a:ext cx="415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0" i="0">
                <a:solidFill>
                  <a:srgbClr val="286D91"/>
                </a:solidFill>
                <a:latin typeface="Helvetica Neue"/>
                <a:ea typeface="Helvetica Neue"/>
                <a:cs typeface="Helvetica Neue"/>
              </a:defRPr>
            </a:pPr>
            <a:r>
              <a:rPr sz="1650" b="0" i="0">
                <a:solidFill>
                  <a:srgbClr val="286D91"/>
                </a:solidFill>
                <a:latin typeface="Helvetica Neue"/>
                <a:ea typeface="Helvetica Neue"/>
                <a:cs typeface="Helvetica Neue"/>
              </a:rPr>
              <a:t>concise values and exploration</a:t>
            </a:r>
          </a:p>
        </p:txBody>
      </p:sp>
      <p:sp>
        <p:nvSpPr>
          <p:cNvPr id="17" name="">
            <a:extLst xmlns:a="http://schemas.openxmlformats.org/drawingml/2006/main">
              <a:ext uri="{FF2B5EF4-FFF2-40B4-BE49-F238E27FC236}">
                <a16:creationId xmlns:a16="http://schemas.microsoft.com/office/drawing/2014/main" id="{D9B902D0-E40A-4296-A2C4-8B405607308A}"/>
              </a:ext>
            </a:extLst>
          </p:cNvPr>
          <p:cNvSpPr>
            <a:spLocks xmlns:a="http://schemas.openxmlformats.org/drawingml/2006/main" noGrp="1"/>
          </p:cNvSpPr>
          <p:nvPr/>
        </p:nvSpPr>
        <p:spPr>
          <a:xfrm xmlns:a="http://schemas.openxmlformats.org/drawingml/2006/main" rot="0">
            <a:off x="6953250" y="5029200"/>
            <a:ext cx="422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0" i="0">
                <a:solidFill>
                  <a:srgbClr val="9B4C2F"/>
                </a:solidFill>
                <a:latin typeface="Helvetica Neue"/>
                <a:ea typeface="Helvetica Neue"/>
                <a:cs typeface="Helvetica Neue"/>
              </a:defRPr>
            </a:pPr>
            <a:r>
              <a:rPr sz="1650" b="0" i="0">
                <a:solidFill>
                  <a:srgbClr val="9B4C2F"/>
                </a:solidFill>
                <a:latin typeface="Helvetica Neue"/>
                <a:ea typeface="Helvetica Neue"/>
                <a:cs typeface="Helvetica Neue"/>
              </a:rPr>
              <a:t>ownership + types expose boundaries</a:t>
            </a:r>
          </a:p>
        </p:txBody>
      </p:sp>
      <p:sp>
        <p:nvSpPr>
          <p:cNvPr id="18" name="">
            <a:extLst xmlns:a="http://schemas.openxmlformats.org/drawingml/2006/main">
              <a:ext uri="{FF2B5EF4-FFF2-40B4-BE49-F238E27FC236}">
                <a16:creationId xmlns:a16="http://schemas.microsoft.com/office/drawing/2014/main" id="{F4EB02A6-1AC9-4F1D-86E5-A4F536D4A833}"/>
              </a:ext>
            </a:extLst>
          </p:cNvPr>
          <p:cNvSpPr>
            <a:spLocks xmlns:a="http://schemas.openxmlformats.org/drawingml/2006/main" noGrp="1"/>
          </p:cNvSpPr>
          <p:nvPr/>
        </p:nvSpPr>
        <p:spPr>
          <a:xfrm xmlns:a="http://schemas.openxmlformats.org/drawingml/2006/main" rot="0">
            <a:off x="1581150" y="5753100"/>
            <a:ext cx="902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810"/>
          </a:bodyPr>
          <a:lstStyle xmlns:a="http://schemas.openxmlformats.org/drawingml/2006/main"/>
          <a:p xmlns:a="http://schemas.openxmlformats.org/drawingml/2006/main">
            <a:pPr algn="ctr">
              <a:defRPr sz="1800" b="0" i="0">
                <a:solidFill>
                  <a:srgbClr val="202522"/>
                </a:solidFill>
                <a:latin typeface="Helvetica Neue"/>
                <a:ea typeface="Helvetica Neue"/>
                <a:cs typeface="Helvetica Neue"/>
              </a:defRPr>
            </a:pPr>
            <a:r>
              <a:rPr sz="1800" b="0" i="0">
                <a:solidFill>
                  <a:srgbClr val="202522"/>
                </a:solidFill>
                <a:latin typeface="Helvetica Neue"/>
                <a:ea typeface="Helvetica Neue"/>
                <a:cs typeface="Helvetica Neue"/>
              </a:rPr>
              <a:t>We use Rust because the representation and cost model become discussable—not because Python is “bad.”</a:t>
            </a:r>
          </a:p>
        </p:txBody>
      </p:sp>
    </p:spTree>
    <p:extLst>
      <p:ext uri="{BB962C8B-B14F-4D97-AF65-F5344CB8AC3E}">
        <p14:creationId xmlns:p14="http://schemas.microsoft.com/office/powerpoint/2010/main" val="114903840"/>
      </p:ext>
    </p:extLst>
  </p:cSld>
</p:sld>
</file>

<file path=ppt/slides/slide20.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33086C4-850C-408D-91E6-E6D10BA03800}"/>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9B4C2F"/>
          </a:solidFill>
          <a:ln xmlns:a="http://schemas.openxmlformats.org/drawingml/2006/main" w="0">
            <a:solidFill>
              <a:srgbClr val="9B4C2F"/>
            </a:solidFill>
            <a:prstDash val="solid"/>
          </a:ln>
        </p:spPr>
      </p:sp>
      <p:sp>
        <p:nvSpPr>
          <p:cNvPr id="2" name="">
            <a:extLst xmlns:a="http://schemas.openxmlformats.org/drawingml/2006/main">
              <a:ext uri="{FF2B5EF4-FFF2-40B4-BE49-F238E27FC236}">
                <a16:creationId xmlns:a16="http://schemas.microsoft.com/office/drawing/2014/main" id="{F434742A-5B31-40A5-8D56-F5BEF701BBD2}"/>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9B4C2F"/>
                </a:solidFill>
                <a:latin typeface="Helvetica Neue"/>
                <a:ea typeface="Helvetica Neue"/>
                <a:cs typeface="Helvetica Neue"/>
              </a:defRPr>
            </a:pPr>
            <a:r>
              <a:rPr sz="1050" b="1" i="0">
                <a:solidFill>
                  <a:srgbClr val="9B4C2F"/>
                </a:solidFill>
                <a:latin typeface="Helvetica Neue"/>
                <a:ea typeface="Helvetica Neue"/>
                <a:cs typeface="Helvetica Neue"/>
              </a:rPr>
              <a:t>MOVE AND BORROW</a:t>
            </a:r>
          </a:p>
        </p:txBody>
      </p:sp>
      <p:sp>
        <p:nvSpPr>
          <p:cNvPr id="3" name="">
            <a:extLst xmlns:a="http://schemas.openxmlformats.org/drawingml/2006/main">
              <a:ext uri="{FF2B5EF4-FFF2-40B4-BE49-F238E27FC236}">
                <a16:creationId xmlns:a16="http://schemas.microsoft.com/office/drawing/2014/main" id="{76829732-C688-4FFE-9F52-436340CA83AA}"/>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Ownership is permission over a value</a:t>
            </a:r>
          </a:p>
        </p:txBody>
      </p:sp>
      <p:sp>
        <p:nvSpPr>
          <p:cNvPr id="4" name="">
            <a:extLst xmlns:a="http://schemas.openxmlformats.org/drawingml/2006/main">
              <a:ext uri="{FF2B5EF4-FFF2-40B4-BE49-F238E27FC236}">
                <a16:creationId xmlns:a16="http://schemas.microsoft.com/office/drawing/2014/main" id="{ED159BBA-FE51-43D2-9973-BDBD83C26E7A}"/>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A1CA166F-B258-4529-A1E9-3C4376BB822D}"/>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756553F2-003E-4DFA-8756-BB0A2B206E8F}"/>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20</a:t>
            </a:r>
          </a:p>
        </p:txBody>
      </p:sp>
      <p:sp>
        <p:nvSpPr>
          <p:cNvPr id="7" name="">
            <a:extLst xmlns:a="http://schemas.openxmlformats.org/drawingml/2006/main">
              <a:ext uri="{FF2B5EF4-FFF2-40B4-BE49-F238E27FC236}">
                <a16:creationId xmlns:a16="http://schemas.microsoft.com/office/drawing/2014/main" id="{E87940E7-A662-4C35-B64C-5FB2171AF2A7}"/>
              </a:ext>
            </a:extLst>
          </p:cNvPr>
          <p:cNvSpPr>
            <a:spLocks xmlns:a="http://schemas.openxmlformats.org/drawingml/2006/main" noGrp="1"/>
          </p:cNvSpPr>
          <p:nvPr/>
        </p:nvSpPr>
        <p:spPr>
          <a:xfrm xmlns:a="http://schemas.openxmlformats.org/drawingml/2006/main" rot="0">
            <a:off x="895350" y="15811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i="0">
                <a:solidFill>
                  <a:srgbClr val="9B4C2F"/>
                </a:solidFill>
                <a:latin typeface="Helvetica Neue"/>
                <a:ea typeface="Helvetica Neue"/>
                <a:cs typeface="Helvetica Neue"/>
              </a:defRPr>
            </a:pPr>
            <a:r>
              <a:rPr sz="1125" b="1" i="0">
                <a:solidFill>
                  <a:srgbClr val="9B4C2F"/>
                </a:solidFill>
                <a:latin typeface="Helvetica Neue"/>
                <a:ea typeface="Helvetica Neue"/>
                <a:cs typeface="Helvetica Neue"/>
              </a:rPr>
              <a:t>MOVE</a:t>
            </a:r>
          </a:p>
        </p:txBody>
      </p:sp>
      <p:sp>
        <p:nvSpPr>
          <p:cNvPr id="8" name="">
            <a:extLst xmlns:a="http://schemas.openxmlformats.org/drawingml/2006/main">
              <a:ext uri="{FF2B5EF4-FFF2-40B4-BE49-F238E27FC236}">
                <a16:creationId xmlns:a16="http://schemas.microsoft.com/office/drawing/2014/main" id="{E6FFEAB4-CF74-4FAC-8F8B-8BBC86DC0675}"/>
              </a:ext>
            </a:extLst>
          </p:cNvPr>
          <p:cNvSpPr>
            <a:spLocks xmlns:a="http://schemas.openxmlformats.org/drawingml/2006/main" noGrp="1"/>
          </p:cNvSpPr>
          <p:nvPr/>
        </p:nvSpPr>
        <p:spPr>
          <a:xfrm xmlns:a="http://schemas.openxmlformats.org/drawingml/2006/main" rot="0">
            <a:off x="6838950" y="15811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i="0">
                <a:solidFill>
                  <a:srgbClr val="176B73"/>
                </a:solidFill>
                <a:latin typeface="Helvetica Neue"/>
                <a:ea typeface="Helvetica Neue"/>
                <a:cs typeface="Helvetica Neue"/>
              </a:defRPr>
            </a:pPr>
            <a:r>
              <a:rPr sz="1125" b="1" i="0">
                <a:solidFill>
                  <a:srgbClr val="176B73"/>
                </a:solidFill>
                <a:latin typeface="Helvetica Neue"/>
                <a:ea typeface="Helvetica Neue"/>
                <a:cs typeface="Helvetica Neue"/>
              </a:rPr>
              <a:t>BORROW</a:t>
            </a:r>
          </a:p>
        </p:txBody>
      </p:sp>
      <p:sp>
        <p:nvSpPr>
          <p:cNvPr id="9" name="">
            <a:extLst xmlns:a="http://schemas.openxmlformats.org/drawingml/2006/main">
              <a:ext uri="{FF2B5EF4-FFF2-40B4-BE49-F238E27FC236}">
                <a16:creationId xmlns:a16="http://schemas.microsoft.com/office/drawing/2014/main" id="{CB1FE9E2-A7FF-40CD-A5DB-27B9678EB071}"/>
              </a:ext>
            </a:extLst>
          </p:cNvPr>
          <p:cNvSpPr>
            <a:spLocks xmlns:a="http://schemas.openxmlformats.org/drawingml/2006/main" noGrp="1"/>
          </p:cNvSpPr>
          <p:nvPr/>
        </p:nvSpPr>
        <p:spPr>
          <a:xfrm xmlns:a="http://schemas.openxmlformats.org/drawingml/2006/main" rot="0">
            <a:off x="2228850" y="2647950"/>
            <a:ext cx="1333500" cy="323850"/>
          </a:xfrm>
          <a:prstGeom xmlns:a="http://schemas.openxmlformats.org/drawingml/2006/main" prst="rightArrow">
            <a:avLst/>
          </a:prstGeom>
          <a:solidFill xmlns:a="http://schemas.openxmlformats.org/drawingml/2006/main">
            <a:srgbClr val="9B4C2F"/>
          </a:solidFill>
          <a:ln xmlns:a="http://schemas.openxmlformats.org/drawingml/2006/main" w="0">
            <a:solidFill>
              <a:srgbClr val="9B4C2F"/>
            </a:solidFill>
            <a:prstDash val="solid"/>
          </a:ln>
        </p:spPr>
      </p:sp>
      <p:sp>
        <p:nvSpPr>
          <p:cNvPr id="10" name="">
            <a:extLst xmlns:a="http://schemas.openxmlformats.org/drawingml/2006/main">
              <a:ext uri="{FF2B5EF4-FFF2-40B4-BE49-F238E27FC236}">
                <a16:creationId xmlns:a16="http://schemas.microsoft.com/office/drawing/2014/main" id="{063035BD-2B94-4310-8E48-3D892669A6D5}"/>
              </a:ext>
            </a:extLst>
          </p:cNvPr>
          <p:cNvSpPr>
            <a:spLocks xmlns:a="http://schemas.openxmlformats.org/drawingml/2006/main" noGrp="1"/>
          </p:cNvSpPr>
          <p:nvPr/>
        </p:nvSpPr>
        <p:spPr>
          <a:xfrm xmlns:a="http://schemas.openxmlformats.org/drawingml/2006/main" rot="0">
            <a:off x="8172450" y="2647950"/>
            <a:ext cx="1333500" cy="323850"/>
          </a:xfrm>
          <a:prstGeom xmlns:a="http://schemas.openxmlformats.org/drawingml/2006/main" prst="rightArrow">
            <a:avLst/>
          </a:prstGeom>
          <a:solidFill xmlns:a="http://schemas.openxmlformats.org/drawingml/2006/main">
            <a:srgbClr val="176B73"/>
          </a:solidFill>
          <a:ln xmlns:a="http://schemas.openxmlformats.org/drawingml/2006/main" w="0">
            <a:solidFill>
              <a:srgbClr val="176B73"/>
            </a:solidFill>
            <a:prstDash val="solid"/>
          </a:ln>
        </p:spPr>
      </p:sp>
      <p:sp>
        <p:nvSpPr>
          <p:cNvPr id="11" name="">
            <a:extLst xmlns:a="http://schemas.openxmlformats.org/drawingml/2006/main">
              <a:ext uri="{FF2B5EF4-FFF2-40B4-BE49-F238E27FC236}">
                <a16:creationId xmlns:a16="http://schemas.microsoft.com/office/drawing/2014/main" id="{4D8EC183-6A82-4063-813E-F8BF3870532F}"/>
              </a:ext>
            </a:extLst>
          </p:cNvPr>
          <p:cNvSpPr>
            <a:spLocks xmlns:a="http://schemas.openxmlformats.org/drawingml/2006/main" noGrp="1"/>
          </p:cNvSpPr>
          <p:nvPr/>
        </p:nvSpPr>
        <p:spPr>
          <a:xfrm xmlns:a="http://schemas.openxmlformats.org/drawingml/2006/main" rot="0">
            <a:off x="876300" y="2266950"/>
            <a:ext cx="1333500" cy="1047750"/>
          </a:xfrm>
          <a:prstGeom xmlns:a="http://schemas.openxmlformats.org/drawingml/2006/main" prst="roundRect">
            <a:avLst>
              <a:gd name="adj" fmla="val 7273"/>
            </a:avLst>
          </a:prstGeom>
          <a:solidFill xmlns:a="http://schemas.openxmlformats.org/drawingml/2006/main">
            <a:srgbClr val="F8EEE9"/>
          </a:solidFill>
          <a:ln xmlns:a="http://schemas.openxmlformats.org/drawingml/2006/main" w="19050">
            <a:solidFill>
              <a:srgbClr val="9B4C2F"/>
            </a:solidFill>
            <a:prstDash val="solid"/>
          </a:ln>
        </p:spPr>
      </p:sp>
      <p:sp>
        <p:nvSpPr>
          <p:cNvPr id="12" name="">
            <a:extLst xmlns:a="http://schemas.openxmlformats.org/drawingml/2006/main">
              <a:ext uri="{FF2B5EF4-FFF2-40B4-BE49-F238E27FC236}">
                <a16:creationId xmlns:a16="http://schemas.microsoft.com/office/drawing/2014/main" id="{B1EB7582-DCC3-4E9A-93BA-CB243465D920}"/>
              </a:ext>
            </a:extLst>
          </p:cNvPr>
          <p:cNvSpPr>
            <a:spLocks xmlns:a="http://schemas.openxmlformats.org/drawingml/2006/main" noGrp="1"/>
          </p:cNvSpPr>
          <p:nvPr/>
        </p:nvSpPr>
        <p:spPr>
          <a:xfrm xmlns:a="http://schemas.openxmlformats.org/drawingml/2006/main" rot="0">
            <a:off x="1066800" y="26289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i="0">
                <a:solidFill>
                  <a:srgbClr val="9B4C2F"/>
                </a:solidFill>
                <a:latin typeface="SFMono-Regular"/>
                <a:ea typeface="SFMono-Regular"/>
                <a:cs typeface="SFMono-Regular"/>
              </a:defRPr>
            </a:pPr>
            <a:r>
              <a:rPr sz="1875" b="1" i="0">
                <a:solidFill>
                  <a:srgbClr val="9B4C2F"/>
                </a:solidFill>
                <a:latin typeface="SFMono-Regular"/>
                <a:ea typeface="SFMono-Regular"/>
                <a:cs typeface="SFMono-Regular"/>
              </a:rPr>
              <a:t>roads</a:t>
            </a:r>
          </a:p>
        </p:txBody>
      </p:sp>
      <p:sp>
        <p:nvSpPr>
          <p:cNvPr id="13" name="">
            <a:extLst xmlns:a="http://schemas.openxmlformats.org/drawingml/2006/main">
              <a:ext uri="{FF2B5EF4-FFF2-40B4-BE49-F238E27FC236}">
                <a16:creationId xmlns:a16="http://schemas.microsoft.com/office/drawing/2014/main" id="{90F262EC-77F5-405A-83B8-EB25B4C94BA5}"/>
              </a:ext>
            </a:extLst>
          </p:cNvPr>
          <p:cNvSpPr>
            <a:spLocks xmlns:a="http://schemas.openxmlformats.org/drawingml/2006/main" noGrp="1"/>
          </p:cNvSpPr>
          <p:nvPr/>
        </p:nvSpPr>
        <p:spPr>
          <a:xfrm xmlns:a="http://schemas.openxmlformats.org/drawingml/2006/main" rot="0">
            <a:off x="3581400" y="2266950"/>
            <a:ext cx="1714500" cy="1047750"/>
          </a:xfrm>
          <a:prstGeom xmlns:a="http://schemas.openxmlformats.org/drawingml/2006/main" prst="roundRect">
            <a:avLst>
              <a:gd name="adj" fmla="val 7273"/>
            </a:avLst>
          </a:prstGeom>
          <a:solidFill xmlns:a="http://schemas.openxmlformats.org/drawingml/2006/main">
            <a:srgbClr val="FFFDF7"/>
          </a:solidFill>
          <a:ln xmlns:a="http://schemas.openxmlformats.org/drawingml/2006/main" w="19050">
            <a:solidFill>
              <a:srgbClr val="9B4C2F"/>
            </a:solidFill>
            <a:prstDash val="solid"/>
          </a:ln>
        </p:spPr>
      </p:sp>
      <p:sp>
        <p:nvSpPr>
          <p:cNvPr id="14" name="">
            <a:extLst xmlns:a="http://schemas.openxmlformats.org/drawingml/2006/main">
              <a:ext uri="{FF2B5EF4-FFF2-40B4-BE49-F238E27FC236}">
                <a16:creationId xmlns:a16="http://schemas.microsoft.com/office/drawing/2014/main" id="{335FB18E-B9A0-459A-9277-95C931FFAD0E}"/>
              </a:ext>
            </a:extLst>
          </p:cNvPr>
          <p:cNvSpPr>
            <a:spLocks xmlns:a="http://schemas.openxmlformats.org/drawingml/2006/main" noGrp="1"/>
          </p:cNvSpPr>
          <p:nvPr/>
        </p:nvSpPr>
        <p:spPr>
          <a:xfrm xmlns:a="http://schemas.openxmlformats.org/drawingml/2006/main" rot="0">
            <a:off x="3733800" y="2619375"/>
            <a:ext cx="1409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202522"/>
                </a:solidFill>
                <a:latin typeface="SFMono-Regular"/>
                <a:ea typeface="SFMono-Regular"/>
                <a:cs typeface="SFMono-Regular"/>
              </a:defRPr>
            </a:pPr>
            <a:r>
              <a:rPr sz="1350" b="0" i="0">
                <a:solidFill>
                  <a:srgbClr val="202522"/>
                </a:solidFill>
                <a:latin typeface="SFMono-Regular"/>
                <a:ea typeface="SFMono-Regular"/>
                <a:cs typeface="SFMono-Regular"/>
              </a:rPr>
              <a:t>is_road(roads, …)</a:t>
            </a:r>
          </a:p>
        </p:txBody>
      </p:sp>
      <p:sp>
        <p:nvSpPr>
          <p:cNvPr id="15" name="">
            <a:extLst xmlns:a="http://schemas.openxmlformats.org/drawingml/2006/main">
              <a:ext uri="{FF2B5EF4-FFF2-40B4-BE49-F238E27FC236}">
                <a16:creationId xmlns:a16="http://schemas.microsoft.com/office/drawing/2014/main" id="{24BD191C-FDAC-436C-8B6A-D7B0507DD0BF}"/>
              </a:ext>
            </a:extLst>
          </p:cNvPr>
          <p:cNvSpPr>
            <a:spLocks xmlns:a="http://schemas.openxmlformats.org/drawingml/2006/main" noGrp="1"/>
          </p:cNvSpPr>
          <p:nvPr/>
        </p:nvSpPr>
        <p:spPr>
          <a:xfrm xmlns:a="http://schemas.openxmlformats.org/drawingml/2006/main" rot="0">
            <a:off x="1123950" y="3714750"/>
            <a:ext cx="3924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0" i="0">
                <a:solidFill>
                  <a:srgbClr val="9B4C2F"/>
                </a:solidFill>
                <a:latin typeface="Helvetica Neue"/>
                <a:ea typeface="Helvetica Neue"/>
                <a:cs typeface="Helvetica Neue"/>
              </a:defRPr>
            </a:pPr>
            <a:r>
              <a:rPr sz="1725" b="0" i="0">
                <a:solidFill>
                  <a:srgbClr val="9B4C2F"/>
                </a:solidFill>
                <a:latin typeface="Helvetica Neue"/>
                <a:ea typeface="Helvetica Neue"/>
                <a:cs typeface="Helvetica Neue"/>
              </a:rPr>
              <a:t>caller loses ownership</a:t>
            </a:r>
          </a:p>
        </p:txBody>
      </p:sp>
      <p:sp>
        <p:nvSpPr>
          <p:cNvPr id="16" name="">
            <a:extLst xmlns:a="http://schemas.openxmlformats.org/drawingml/2006/main">
              <a:ext uri="{FF2B5EF4-FFF2-40B4-BE49-F238E27FC236}">
                <a16:creationId xmlns:a16="http://schemas.microsoft.com/office/drawing/2014/main" id="{A14C8AD7-A7F6-4F99-ACBE-FE78E0C4F1E4}"/>
              </a:ext>
            </a:extLst>
          </p:cNvPr>
          <p:cNvSpPr>
            <a:spLocks xmlns:a="http://schemas.openxmlformats.org/drawingml/2006/main" noGrp="1"/>
          </p:cNvSpPr>
          <p:nvPr/>
        </p:nvSpPr>
        <p:spPr>
          <a:xfrm xmlns:a="http://schemas.openxmlformats.org/drawingml/2006/main" rot="0">
            <a:off x="6819900" y="2266950"/>
            <a:ext cx="1333500" cy="1047750"/>
          </a:xfrm>
          <a:prstGeom xmlns:a="http://schemas.openxmlformats.org/drawingml/2006/main" prst="roundRect">
            <a:avLst>
              <a:gd name="adj" fmla="val 7273"/>
            </a:avLst>
          </a:prstGeom>
          <a:solidFill xmlns:a="http://schemas.openxmlformats.org/drawingml/2006/main">
            <a:srgbClr val="E7F0EF"/>
          </a:solidFill>
          <a:ln xmlns:a="http://schemas.openxmlformats.org/drawingml/2006/main" w="19050">
            <a:solidFill>
              <a:srgbClr val="176B73"/>
            </a:solidFill>
            <a:prstDash val="solid"/>
          </a:ln>
        </p:spPr>
      </p:sp>
      <p:sp>
        <p:nvSpPr>
          <p:cNvPr id="17" name="">
            <a:extLst xmlns:a="http://schemas.openxmlformats.org/drawingml/2006/main">
              <a:ext uri="{FF2B5EF4-FFF2-40B4-BE49-F238E27FC236}">
                <a16:creationId xmlns:a16="http://schemas.microsoft.com/office/drawing/2014/main" id="{C9ECE8DA-6A00-42B0-87AB-C20F4600F4D8}"/>
              </a:ext>
            </a:extLst>
          </p:cNvPr>
          <p:cNvSpPr>
            <a:spLocks xmlns:a="http://schemas.openxmlformats.org/drawingml/2006/main" noGrp="1"/>
          </p:cNvSpPr>
          <p:nvPr/>
        </p:nvSpPr>
        <p:spPr>
          <a:xfrm xmlns:a="http://schemas.openxmlformats.org/drawingml/2006/main" rot="0">
            <a:off x="7010400" y="26289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i="0">
                <a:solidFill>
                  <a:srgbClr val="176B73"/>
                </a:solidFill>
                <a:latin typeface="SFMono-Regular"/>
                <a:ea typeface="SFMono-Regular"/>
                <a:cs typeface="SFMono-Regular"/>
              </a:defRPr>
            </a:pPr>
            <a:r>
              <a:rPr sz="1875" b="1" i="0">
                <a:solidFill>
                  <a:srgbClr val="176B73"/>
                </a:solidFill>
                <a:latin typeface="SFMono-Regular"/>
                <a:ea typeface="SFMono-Regular"/>
                <a:cs typeface="SFMono-Regular"/>
              </a:rPr>
              <a:t>roads</a:t>
            </a:r>
          </a:p>
        </p:txBody>
      </p:sp>
      <p:sp>
        <p:nvSpPr>
          <p:cNvPr id="18" name="">
            <a:extLst xmlns:a="http://schemas.openxmlformats.org/drawingml/2006/main">
              <a:ext uri="{FF2B5EF4-FFF2-40B4-BE49-F238E27FC236}">
                <a16:creationId xmlns:a16="http://schemas.microsoft.com/office/drawing/2014/main" id="{EA71A7DF-7E7B-4A43-BBC8-06CADA6C78CF}"/>
              </a:ext>
            </a:extLst>
          </p:cNvPr>
          <p:cNvSpPr>
            <a:spLocks xmlns:a="http://schemas.openxmlformats.org/drawingml/2006/main" noGrp="1"/>
          </p:cNvSpPr>
          <p:nvPr/>
        </p:nvSpPr>
        <p:spPr>
          <a:xfrm xmlns:a="http://schemas.openxmlformats.org/drawingml/2006/main" rot="0">
            <a:off x="9525000" y="2266950"/>
            <a:ext cx="1790700" cy="1047750"/>
          </a:xfrm>
          <a:prstGeom xmlns:a="http://schemas.openxmlformats.org/drawingml/2006/main" prst="roundRect">
            <a:avLst>
              <a:gd name="adj" fmla="val 7273"/>
            </a:avLst>
          </a:prstGeom>
          <a:solidFill xmlns:a="http://schemas.openxmlformats.org/drawingml/2006/main">
            <a:srgbClr val="FFFDF7"/>
          </a:solidFill>
          <a:ln xmlns:a="http://schemas.openxmlformats.org/drawingml/2006/main" w="19050">
            <a:solidFill>
              <a:srgbClr val="176B73"/>
            </a:solidFill>
            <a:prstDash val="solid"/>
          </a:ln>
        </p:spPr>
      </p:sp>
      <p:sp>
        <p:nvSpPr>
          <p:cNvPr id="19" name="">
            <a:extLst xmlns:a="http://schemas.openxmlformats.org/drawingml/2006/main">
              <a:ext uri="{FF2B5EF4-FFF2-40B4-BE49-F238E27FC236}">
                <a16:creationId xmlns:a16="http://schemas.microsoft.com/office/drawing/2014/main" id="{FFACCE7F-C40E-4C1C-AB04-2B0DABC1BA80}"/>
              </a:ext>
            </a:extLst>
          </p:cNvPr>
          <p:cNvSpPr>
            <a:spLocks xmlns:a="http://schemas.openxmlformats.org/drawingml/2006/main" noGrp="1"/>
          </p:cNvSpPr>
          <p:nvPr/>
        </p:nvSpPr>
        <p:spPr>
          <a:xfrm xmlns:a="http://schemas.openxmlformats.org/drawingml/2006/main" rot="0">
            <a:off x="9677400" y="2619375"/>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SFMono-Regular"/>
                <a:ea typeface="SFMono-Regular"/>
                <a:cs typeface="SFMono-Regular"/>
              </a:defRPr>
            </a:pPr>
            <a:r>
              <a:rPr sz="1275" b="0" i="0">
                <a:solidFill>
                  <a:srgbClr val="202522"/>
                </a:solidFill>
                <a:latin typeface="SFMono-Regular"/>
                <a:ea typeface="SFMono-Regular"/>
                <a:cs typeface="SFMono-Regular"/>
              </a:rPr>
              <a:t>is_road(&amp;roads, …)</a:t>
            </a:r>
          </a:p>
        </p:txBody>
      </p:sp>
      <p:sp>
        <p:nvSpPr>
          <p:cNvPr id="20" name="">
            <a:extLst xmlns:a="http://schemas.openxmlformats.org/drawingml/2006/main">
              <a:ext uri="{FF2B5EF4-FFF2-40B4-BE49-F238E27FC236}">
                <a16:creationId xmlns:a16="http://schemas.microsoft.com/office/drawing/2014/main" id="{D237AB90-137B-43B5-8E60-9D53B3B11322}"/>
              </a:ext>
            </a:extLst>
          </p:cNvPr>
          <p:cNvSpPr>
            <a:spLocks xmlns:a="http://schemas.openxmlformats.org/drawingml/2006/main" noGrp="1"/>
          </p:cNvSpPr>
          <p:nvPr/>
        </p:nvSpPr>
        <p:spPr>
          <a:xfrm xmlns:a="http://schemas.openxmlformats.org/drawingml/2006/main" rot="0">
            <a:off x="8210550" y="3124200"/>
            <a:ext cx="1238250" cy="209550"/>
          </a:xfrm>
          <a:prstGeom xmlns:a="http://schemas.openxmlformats.org/drawingml/2006/main" prst="leftArrow">
            <a:avLst/>
          </a:prstGeom>
          <a:solidFill xmlns:a="http://schemas.openxmlformats.org/drawingml/2006/main">
            <a:srgbClr val="D9D5C9"/>
          </a:solidFill>
          <a:ln xmlns:a="http://schemas.openxmlformats.org/drawingml/2006/main" w="0">
            <a:solidFill>
              <a:srgbClr val="D9D5C9"/>
            </a:solidFill>
            <a:prstDash val="solid"/>
          </a:ln>
        </p:spPr>
      </p:sp>
      <p:sp>
        <p:nvSpPr>
          <p:cNvPr id="21" name="">
            <a:extLst xmlns:a="http://schemas.openxmlformats.org/drawingml/2006/main">
              <a:ext uri="{FF2B5EF4-FFF2-40B4-BE49-F238E27FC236}">
                <a16:creationId xmlns:a16="http://schemas.microsoft.com/office/drawing/2014/main" id="{1EDBAC38-02C6-42BA-9F80-7CF5111F76B7}"/>
              </a:ext>
            </a:extLst>
          </p:cNvPr>
          <p:cNvSpPr>
            <a:spLocks xmlns:a="http://schemas.openxmlformats.org/drawingml/2006/main" noGrp="1"/>
          </p:cNvSpPr>
          <p:nvPr/>
        </p:nvSpPr>
        <p:spPr>
          <a:xfrm xmlns:a="http://schemas.openxmlformats.org/drawingml/2006/main" rot="0">
            <a:off x="7067550" y="37147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0" i="0">
                <a:solidFill>
                  <a:srgbClr val="176B73"/>
                </a:solidFill>
                <a:latin typeface="Helvetica Neue"/>
                <a:ea typeface="Helvetica Neue"/>
                <a:cs typeface="Helvetica Neue"/>
              </a:defRPr>
            </a:pPr>
            <a:r>
              <a:rPr sz="1725" b="0" i="0">
                <a:solidFill>
                  <a:srgbClr val="176B73"/>
                </a:solidFill>
                <a:latin typeface="Helvetica Neue"/>
                <a:ea typeface="Helvetica Neue"/>
                <a:cs typeface="Helvetica Neue"/>
              </a:rPr>
              <a:t>temporary read permission</a:t>
            </a:r>
          </a:p>
        </p:txBody>
      </p:sp>
      <p:sp>
        <p:nvSpPr>
          <p:cNvPr id="22" name="">
            <a:extLst xmlns:a="http://schemas.openxmlformats.org/drawingml/2006/main">
              <a:ext uri="{FF2B5EF4-FFF2-40B4-BE49-F238E27FC236}">
                <a16:creationId xmlns:a16="http://schemas.microsoft.com/office/drawing/2014/main" id="{97363DC3-37FD-4C0B-9648-CD484DFC6364}"/>
              </a:ext>
            </a:extLst>
          </p:cNvPr>
          <p:cNvSpPr>
            <a:spLocks xmlns:a="http://schemas.openxmlformats.org/drawingml/2006/main" noGrp="1"/>
          </p:cNvSpPr>
          <p:nvPr/>
        </p:nvSpPr>
        <p:spPr>
          <a:xfrm xmlns:a="http://schemas.openxmlformats.org/drawingml/2006/main">
            <a:off x="914400" y="4533900"/>
            <a:ext cx="10363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3" name="">
            <a:extLst xmlns:a="http://schemas.openxmlformats.org/drawingml/2006/main">
              <a:ext uri="{FF2B5EF4-FFF2-40B4-BE49-F238E27FC236}">
                <a16:creationId xmlns:a16="http://schemas.microsoft.com/office/drawing/2014/main" id="{343A95D7-446B-40E5-9A1B-BF285110759D}"/>
              </a:ext>
            </a:extLst>
          </p:cNvPr>
          <p:cNvSpPr>
            <a:spLocks xmlns:a="http://schemas.openxmlformats.org/drawingml/2006/main" noGrp="1"/>
          </p:cNvSpPr>
          <p:nvPr/>
        </p:nvSpPr>
        <p:spPr>
          <a:xfrm xmlns:a="http://schemas.openxmlformats.org/drawingml/2006/main" rot="0">
            <a:off x="990600" y="4895850"/>
            <a:ext cx="2343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369"/>
          </a:bodyPr>
          <a:lstStyle xmlns:a="http://schemas.openxmlformats.org/drawingml/2006/main"/>
          <a:p xmlns:a="http://schemas.openxmlformats.org/drawingml/2006/main">
            <a:pPr algn="l">
              <a:defRPr sz="1800" b="1" i="0">
                <a:solidFill>
                  <a:srgbClr val="684F82"/>
                </a:solidFill>
                <a:latin typeface="Helvetica Neue"/>
                <a:ea typeface="Helvetica Neue"/>
                <a:cs typeface="Helvetica Neue"/>
              </a:defRPr>
            </a:pPr>
            <a:r>
              <a:rPr sz="1800" b="1" i="0">
                <a:solidFill>
                  <a:srgbClr val="684F82"/>
                </a:solidFill>
                <a:latin typeface="Helvetica Neue"/>
                <a:ea typeface="Helvetica Neue"/>
                <a:cs typeface="Helvetica Neue"/>
              </a:rPr>
              <a:t>Database consequence</a:t>
            </a:r>
          </a:p>
        </p:txBody>
      </p:sp>
      <p:sp>
        <p:nvSpPr>
          <p:cNvPr id="24" name="">
            <a:extLst xmlns:a="http://schemas.openxmlformats.org/drawingml/2006/main">
              <a:ext uri="{FF2B5EF4-FFF2-40B4-BE49-F238E27FC236}">
                <a16:creationId xmlns:a16="http://schemas.microsoft.com/office/drawing/2014/main" id="{1CFB55C3-4EA3-49A5-BA95-0E10F502CCC9}"/>
              </a:ext>
            </a:extLst>
          </p:cNvPr>
          <p:cNvSpPr>
            <a:spLocks xmlns:a="http://schemas.openxmlformats.org/drawingml/2006/main" noGrp="1"/>
          </p:cNvSpPr>
          <p:nvPr/>
        </p:nvSpPr>
        <p:spPr>
          <a:xfrm xmlns:a="http://schemas.openxmlformats.org/drawingml/2006/main" rot="0">
            <a:off x="3429000" y="4876800"/>
            <a:ext cx="7639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10"/>
          </a:bodyPr>
          <a:lstStyle xmlns:a="http://schemas.openxmlformats.org/drawingml/2006/main"/>
          <a:p xmlns:a="http://schemas.openxmlformats.org/drawingml/2006/main">
            <a:pPr algn="l">
              <a:defRPr sz="1800" b="0" i="0">
                <a:solidFill>
                  <a:srgbClr val="202522"/>
                </a:solidFill>
                <a:latin typeface="Helvetica Neue"/>
                <a:ea typeface="Helvetica Neue"/>
                <a:cs typeface="Helvetica Neue"/>
              </a:defRPr>
            </a:pPr>
            <a:r>
              <a:rPr sz="1800" b="0" i="0">
                <a:solidFill>
                  <a:srgbClr val="202522"/>
                </a:solidFill>
                <a:latin typeface="Helvetica Neue"/>
                <a:ea typeface="Helvetica Neue"/>
                <a:cs typeface="Helvetica Neue"/>
              </a:rPr>
              <a:t>storage owns rows · cursors borrow storage · outputs own projected values</a:t>
            </a:r>
          </a:p>
        </p:txBody>
      </p:sp>
    </p:spTree>
    <p:extLst>
      <p:ext uri="{BB962C8B-B14F-4D97-AF65-F5344CB8AC3E}">
        <p14:creationId xmlns:p14="http://schemas.microsoft.com/office/powerpoint/2010/main" val="1651276997"/>
      </p:ext>
    </p:extLst>
  </p:cSld>
</p:sld>
</file>

<file path=ppt/slides/slide2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9603ACD-3389-477F-AEFD-60D7CA34F7AD}"/>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684F82"/>
          </a:solidFill>
          <a:ln xmlns:a="http://schemas.openxmlformats.org/drawingml/2006/main" w="0">
            <a:solidFill>
              <a:srgbClr val="684F82"/>
            </a:solidFill>
            <a:prstDash val="solid"/>
          </a:ln>
        </p:spPr>
      </p:sp>
      <p:sp>
        <p:nvSpPr>
          <p:cNvPr id="2" name="">
            <a:extLst xmlns:a="http://schemas.openxmlformats.org/drawingml/2006/main">
              <a:ext uri="{FF2B5EF4-FFF2-40B4-BE49-F238E27FC236}">
                <a16:creationId xmlns:a16="http://schemas.microsoft.com/office/drawing/2014/main" id="{ABE0031A-ADA2-43FB-B4F8-2082A80AD652}"/>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684F82"/>
                </a:solidFill>
                <a:latin typeface="Helvetica Neue"/>
                <a:ea typeface="Helvetica Neue"/>
                <a:cs typeface="Helvetica Neue"/>
              </a:defRPr>
            </a:pPr>
            <a:r>
              <a:rPr sz="1050" b="1" i="0">
                <a:solidFill>
                  <a:srgbClr val="684F82"/>
                </a:solidFill>
                <a:latin typeface="Helvetica Neue"/>
                <a:ea typeface="Helvetica Neue"/>
                <a:cs typeface="Helvetica Neue"/>
              </a:rPr>
              <a:t>PRODUCTS AND SUMS</a:t>
            </a:r>
          </a:p>
        </p:txBody>
      </p:sp>
      <p:sp>
        <p:nvSpPr>
          <p:cNvPr id="3" name="">
            <a:extLst xmlns:a="http://schemas.openxmlformats.org/drawingml/2006/main">
              <a:ext uri="{FF2B5EF4-FFF2-40B4-BE49-F238E27FC236}">
                <a16:creationId xmlns:a16="http://schemas.microsoft.com/office/drawing/2014/main" id="{636EB333-0BD5-4DF9-A7A6-6F16DBD0E210}"/>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Rust data types can make a language visible</a:t>
            </a:r>
          </a:p>
        </p:txBody>
      </p:sp>
      <p:sp>
        <p:nvSpPr>
          <p:cNvPr id="4" name="">
            <a:extLst xmlns:a="http://schemas.openxmlformats.org/drawingml/2006/main">
              <a:ext uri="{FF2B5EF4-FFF2-40B4-BE49-F238E27FC236}">
                <a16:creationId xmlns:a16="http://schemas.microsoft.com/office/drawing/2014/main" id="{8ADF8035-F047-4C7A-8700-67B4181E0B9E}"/>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6CBC498B-9535-45FA-989E-53B9DF51209F}"/>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B5D51B7B-C3F8-4DD5-AE2A-9065BC6F5AF1}"/>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21</a:t>
            </a:r>
          </a:p>
        </p:txBody>
      </p:sp>
      <p:sp>
        <p:nvSpPr>
          <p:cNvPr id="7" name="">
            <a:extLst xmlns:a="http://schemas.openxmlformats.org/drawingml/2006/main">
              <a:ext uri="{FF2B5EF4-FFF2-40B4-BE49-F238E27FC236}">
                <a16:creationId xmlns:a16="http://schemas.microsoft.com/office/drawing/2014/main" id="{FCA14533-C01F-4785-8BD8-B755F3EE4AB7}"/>
              </a:ext>
            </a:extLst>
          </p:cNvPr>
          <p:cNvSpPr>
            <a:spLocks xmlns:a="http://schemas.openxmlformats.org/drawingml/2006/main" noGrp="1"/>
          </p:cNvSpPr>
          <p:nvPr/>
        </p:nvSpPr>
        <p:spPr>
          <a:xfrm xmlns:a="http://schemas.openxmlformats.org/drawingml/2006/main" rot="0">
            <a:off x="685800" y="1714500"/>
            <a:ext cx="4667250" cy="3390900"/>
          </a:xfrm>
          <a:prstGeom xmlns:a="http://schemas.openxmlformats.org/drawingml/2006/main" prst="roundRect">
            <a:avLst>
              <a:gd name="adj" fmla="val 2809"/>
            </a:avLst>
          </a:prstGeom>
          <a:solidFill xmlns:a="http://schemas.openxmlformats.org/drawingml/2006/main">
            <a:srgbClr val="EDF5F8"/>
          </a:solidFill>
          <a:ln xmlns:a="http://schemas.openxmlformats.org/drawingml/2006/main" w="19050">
            <a:solidFill>
              <a:srgbClr val="286D91"/>
            </a:solidFill>
            <a:prstDash val="solid"/>
          </a:ln>
        </p:spPr>
      </p:sp>
      <p:sp>
        <p:nvSpPr>
          <p:cNvPr id="8" name="">
            <a:extLst xmlns:a="http://schemas.openxmlformats.org/drawingml/2006/main">
              <a:ext uri="{FF2B5EF4-FFF2-40B4-BE49-F238E27FC236}">
                <a16:creationId xmlns:a16="http://schemas.microsoft.com/office/drawing/2014/main" id="{E8499292-D597-4ACF-B35F-2DB8E66ECE52}"/>
              </a:ext>
            </a:extLst>
          </p:cNvPr>
          <p:cNvSpPr>
            <a:spLocks xmlns:a="http://schemas.openxmlformats.org/drawingml/2006/main" noGrp="1"/>
          </p:cNvSpPr>
          <p:nvPr/>
        </p:nvSpPr>
        <p:spPr>
          <a:xfrm xmlns:a="http://schemas.openxmlformats.org/drawingml/2006/main" rot="0">
            <a:off x="6838950" y="1714500"/>
            <a:ext cx="4667250" cy="3390900"/>
          </a:xfrm>
          <a:prstGeom xmlns:a="http://schemas.openxmlformats.org/drawingml/2006/main" prst="roundRect">
            <a:avLst>
              <a:gd name="adj" fmla="val 2809"/>
            </a:avLst>
          </a:prstGeom>
          <a:solidFill xmlns:a="http://schemas.openxmlformats.org/drawingml/2006/main">
            <a:srgbClr val="F3EEF8"/>
          </a:solidFill>
          <a:ln xmlns:a="http://schemas.openxmlformats.org/drawingml/2006/main" w="19050">
            <a:solidFill>
              <a:srgbClr val="684F82"/>
            </a:solidFill>
            <a:prstDash val="solid"/>
          </a:ln>
        </p:spPr>
      </p:sp>
      <p:sp>
        <p:nvSpPr>
          <p:cNvPr id="9" name="">
            <a:extLst xmlns:a="http://schemas.openxmlformats.org/drawingml/2006/main">
              <a:ext uri="{FF2B5EF4-FFF2-40B4-BE49-F238E27FC236}">
                <a16:creationId xmlns:a16="http://schemas.microsoft.com/office/drawing/2014/main" id="{3E972FBD-FF77-4B12-A10A-3B87616DE9EE}"/>
              </a:ext>
            </a:extLst>
          </p:cNvPr>
          <p:cNvSpPr>
            <a:spLocks xmlns:a="http://schemas.openxmlformats.org/drawingml/2006/main" noGrp="1"/>
          </p:cNvSpPr>
          <p:nvPr/>
        </p:nvSpPr>
        <p:spPr>
          <a:xfrm xmlns:a="http://schemas.openxmlformats.org/drawingml/2006/main" rot="0">
            <a:off x="990600" y="20002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286D91"/>
                </a:solidFill>
                <a:latin typeface="Helvetica Neue"/>
                <a:ea typeface="Helvetica Neue"/>
                <a:cs typeface="Helvetica Neue"/>
              </a:defRPr>
            </a:pPr>
            <a:r>
              <a:rPr sz="1125" b="1" i="0">
                <a:solidFill>
                  <a:srgbClr val="286D91"/>
                </a:solidFill>
                <a:latin typeface="Helvetica Neue"/>
                <a:ea typeface="Helvetica Neue"/>
                <a:cs typeface="Helvetica Neue"/>
              </a:rPr>
              <a:t>STRUCT = PRODUCT</a:t>
            </a:r>
          </a:p>
        </p:txBody>
      </p:sp>
      <p:sp>
        <p:nvSpPr>
          <p:cNvPr id="10" name="">
            <a:extLst xmlns:a="http://schemas.openxmlformats.org/drawingml/2006/main">
              <a:ext uri="{FF2B5EF4-FFF2-40B4-BE49-F238E27FC236}">
                <a16:creationId xmlns:a16="http://schemas.microsoft.com/office/drawing/2014/main" id="{D4DA7A89-E5D9-4BC2-B751-C04D909D8556}"/>
              </a:ext>
            </a:extLst>
          </p:cNvPr>
          <p:cNvSpPr>
            <a:spLocks xmlns:a="http://schemas.openxmlformats.org/drawingml/2006/main" noGrp="1"/>
          </p:cNvSpPr>
          <p:nvPr/>
        </p:nvSpPr>
        <p:spPr>
          <a:xfrm xmlns:a="http://schemas.openxmlformats.org/drawingml/2006/main" rot="0">
            <a:off x="990600" y="240030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defRPr sz="2025" b="0" i="0">
                <a:solidFill>
                  <a:srgbClr val="202522"/>
                </a:solidFill>
                <a:latin typeface="Helvetica Neue"/>
                <a:ea typeface="Helvetica Neue"/>
                <a:cs typeface="Helvetica Neue"/>
              </a:defRPr>
            </a:pPr>
            <a:r>
              <a:rPr sz="2025" b="0" i="0">
                <a:solidFill>
                  <a:srgbClr val="202522"/>
                </a:solidFill>
                <a:latin typeface="Helvetica Neue"/>
                <a:ea typeface="Helvetica Neue"/>
                <a:cs typeface="Helvetica Neue"/>
              </a:rPr>
              <a:t>one value has all fields</a:t>
            </a:r>
          </a:p>
        </p:txBody>
      </p:sp>
      <p:sp>
        <p:nvSpPr>
          <p:cNvPr id="11" name="">
            <a:extLst xmlns:a="http://schemas.openxmlformats.org/drawingml/2006/main">
              <a:ext uri="{FF2B5EF4-FFF2-40B4-BE49-F238E27FC236}">
                <a16:creationId xmlns:a16="http://schemas.microsoft.com/office/drawing/2014/main" id="{3D225B49-9286-49E4-B15E-ECDEA7E8B1EB}"/>
              </a:ext>
            </a:extLst>
          </p:cNvPr>
          <p:cNvSpPr>
            <a:spLocks xmlns:a="http://schemas.openxmlformats.org/drawingml/2006/main" noGrp="1"/>
          </p:cNvSpPr>
          <p:nvPr/>
        </p:nvSpPr>
        <p:spPr>
          <a:xfrm xmlns:a="http://schemas.openxmlformats.org/drawingml/2006/main" rot="0">
            <a:off x="1047750" y="3086100"/>
            <a:ext cx="3943350" cy="1428750"/>
          </a:xfrm>
          <a:prstGeom xmlns:a="http://schemas.openxmlformats.org/drawingml/2006/main" prst="roundRect">
            <a:avLst>
              <a:gd name="adj" fmla="val 6667"/>
            </a:avLst>
          </a:prstGeom>
          <a:solidFill xmlns:a="http://schemas.openxmlformats.org/drawingml/2006/main">
            <a:srgbClr val="161A18"/>
          </a:solidFill>
          <a:ln xmlns:a="http://schemas.openxmlformats.org/drawingml/2006/main" w="9525">
            <a:solidFill>
              <a:srgbClr val="161A18"/>
            </a:solidFill>
            <a:prstDash val="solid"/>
          </a:ln>
        </p:spPr>
      </p:sp>
      <p:sp>
        <p:nvSpPr>
          <p:cNvPr id="12" name="">
            <a:extLst xmlns:a="http://schemas.openxmlformats.org/drawingml/2006/main">
              <a:ext uri="{FF2B5EF4-FFF2-40B4-BE49-F238E27FC236}">
                <a16:creationId xmlns:a16="http://schemas.microsoft.com/office/drawing/2014/main" id="{B2C81A80-71C9-44E9-BEE4-2F9CAAF279EE}"/>
              </a:ext>
            </a:extLst>
          </p:cNvPr>
          <p:cNvSpPr>
            <a:spLocks xmlns:a="http://schemas.openxmlformats.org/drawingml/2006/main" noGrp="1"/>
          </p:cNvSpPr>
          <p:nvPr/>
        </p:nvSpPr>
        <p:spPr>
          <a:xfrm xmlns:a="http://schemas.openxmlformats.org/drawingml/2006/main" rot="0">
            <a:off x="1219200" y="3238500"/>
            <a:ext cx="36004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FFFDF7"/>
                </a:solidFill>
                <a:latin typeface="SFMono-Regular"/>
                <a:ea typeface="SFMono-Regular"/>
                <a:cs typeface="SFMono-Regular"/>
              </a:defRPr>
            </a:pPr>
            <a:r>
              <a:rPr sz="1575" b="0" i="0">
                <a:solidFill>
                  <a:srgbClr val="FFFDF7"/>
                </a:solidFill>
                <a:latin typeface="SFMono-Regular"/>
                <a:ea typeface="SFMono-Regular"/>
                <a:cs typeface="SFMono-Regular"/>
              </a:rPr>
              <a:t>struct Atom {</a:t>
            </a:r>
          </a:p>
          <a:p xmlns:a="http://schemas.openxmlformats.org/drawingml/2006/main">
            <a:pPr algn="l">
              <a:lnSpc>
                <a:spcPct val="108000"/>
              </a:lnSpc>
              <a:buNone/>
              <a:defRPr sz="1575" b="0" i="0">
                <a:solidFill>
                  <a:srgbClr val="FFFDF7"/>
                </a:solidFill>
                <a:latin typeface="SFMono-Regular"/>
                <a:ea typeface="SFMono-Regular"/>
                <a:cs typeface="SFMono-Regular"/>
              </a:defRPr>
            </a:pPr>
            <a:r>
              <a:rPr sz="1575" b="0" i="0">
                <a:solidFill>
                  <a:srgbClr val="FFFDF7"/>
                </a:solidFill>
                <a:latin typeface="SFMono-Regular"/>
                <a:ea typeface="SFMono-Regular"/>
                <a:cs typeface="SFMono-Regular"/>
              </a:rPr>
              <a:t>  relation: Ident,</a:t>
            </a:r>
          </a:p>
          <a:p xmlns:a="http://schemas.openxmlformats.org/drawingml/2006/main">
            <a:pPr algn="l">
              <a:lnSpc>
                <a:spcPct val="108000"/>
              </a:lnSpc>
              <a:buNone/>
              <a:defRPr sz="1575" b="0" i="0">
                <a:solidFill>
                  <a:srgbClr val="FFFDF7"/>
                </a:solidFill>
                <a:latin typeface="SFMono-Regular"/>
                <a:ea typeface="SFMono-Regular"/>
                <a:cs typeface="SFMono-Regular"/>
              </a:defRPr>
            </a:pPr>
            <a:r>
              <a:rPr sz="1575" b="0" i="0">
                <a:solidFill>
                  <a:srgbClr val="FFFDF7"/>
                </a:solidFill>
                <a:latin typeface="SFMono-Regular"/>
                <a:ea typeface="SFMono-Regular"/>
                <a:cs typeface="SFMono-Regular"/>
              </a:rPr>
              <a:t>  variables: Vec&lt;Ident&gt;,</a:t>
            </a:r>
          </a:p>
          <a:p xmlns:a="http://schemas.openxmlformats.org/drawingml/2006/main">
            <a:pPr algn="l">
              <a:lnSpc>
                <a:spcPct val="108000"/>
              </a:lnSpc>
              <a:buNone/>
              <a:defRPr sz="1575" b="0" i="0">
                <a:solidFill>
                  <a:srgbClr val="FFFDF7"/>
                </a:solidFill>
                <a:latin typeface="SFMono-Regular"/>
                <a:ea typeface="SFMono-Regular"/>
                <a:cs typeface="SFMono-Regular"/>
              </a:defRPr>
            </a:pPr>
            <a:r>
              <a:rPr sz="1575" b="0" i="0">
                <a:solidFill>
                  <a:srgbClr val="FFFDF7"/>
                </a:solidFill>
                <a:latin typeface="SFMono-Regular"/>
                <a:ea typeface="SFMono-Regular"/>
                <a:cs typeface="SFMono-Regular"/>
              </a:rPr>
              <a:t>}</a:t>
            </a:r>
          </a:p>
        </p:txBody>
      </p:sp>
      <p:sp>
        <p:nvSpPr>
          <p:cNvPr id="13" name="">
            <a:extLst xmlns:a="http://schemas.openxmlformats.org/drawingml/2006/main">
              <a:ext uri="{FF2B5EF4-FFF2-40B4-BE49-F238E27FC236}">
                <a16:creationId xmlns:a16="http://schemas.microsoft.com/office/drawing/2014/main" id="{A077AF81-FB44-4654-8DC2-3B9F1B7B9015}"/>
              </a:ext>
            </a:extLst>
          </p:cNvPr>
          <p:cNvSpPr>
            <a:spLocks xmlns:a="http://schemas.openxmlformats.org/drawingml/2006/main" noGrp="1"/>
          </p:cNvSpPr>
          <p:nvPr/>
        </p:nvSpPr>
        <p:spPr>
          <a:xfrm xmlns:a="http://schemas.openxmlformats.org/drawingml/2006/main" rot="0">
            <a:off x="7143750" y="200025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684F82"/>
                </a:solidFill>
                <a:latin typeface="Helvetica Neue"/>
                <a:ea typeface="Helvetica Neue"/>
                <a:cs typeface="Helvetica Neue"/>
              </a:defRPr>
            </a:pPr>
            <a:r>
              <a:rPr sz="1125" b="1" i="0">
                <a:solidFill>
                  <a:srgbClr val="684F82"/>
                </a:solidFill>
                <a:latin typeface="Helvetica Neue"/>
                <a:ea typeface="Helvetica Neue"/>
                <a:cs typeface="Helvetica Neue"/>
              </a:rPr>
              <a:t>ENUM = TAGGED SUM</a:t>
            </a:r>
          </a:p>
        </p:txBody>
      </p:sp>
      <p:sp>
        <p:nvSpPr>
          <p:cNvPr id="14" name="">
            <a:extLst xmlns:a="http://schemas.openxmlformats.org/drawingml/2006/main">
              <a:ext uri="{FF2B5EF4-FFF2-40B4-BE49-F238E27FC236}">
                <a16:creationId xmlns:a16="http://schemas.microsoft.com/office/drawing/2014/main" id="{D184B7A0-B382-4C48-9DA5-E31EDBA4D1C4}"/>
              </a:ext>
            </a:extLst>
          </p:cNvPr>
          <p:cNvSpPr>
            <a:spLocks xmlns:a="http://schemas.openxmlformats.org/drawingml/2006/main" noGrp="1"/>
          </p:cNvSpPr>
          <p:nvPr/>
        </p:nvSpPr>
        <p:spPr>
          <a:xfrm xmlns:a="http://schemas.openxmlformats.org/drawingml/2006/main" rot="0">
            <a:off x="7143750" y="2400300"/>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defRPr sz="2025" b="0" i="0">
                <a:solidFill>
                  <a:srgbClr val="202522"/>
                </a:solidFill>
                <a:latin typeface="Helvetica Neue"/>
                <a:ea typeface="Helvetica Neue"/>
                <a:cs typeface="Helvetica Neue"/>
              </a:defRPr>
            </a:pPr>
            <a:r>
              <a:rPr sz="2025" b="0" i="0">
                <a:solidFill>
                  <a:srgbClr val="202522"/>
                </a:solidFill>
                <a:latin typeface="Helvetica Neue"/>
                <a:ea typeface="Helvetica Neue"/>
                <a:cs typeface="Helvetica Neue"/>
              </a:rPr>
              <a:t>one value is exactly one case</a:t>
            </a:r>
          </a:p>
        </p:txBody>
      </p:sp>
      <p:sp>
        <p:nvSpPr>
          <p:cNvPr id="15" name="">
            <a:extLst xmlns:a="http://schemas.openxmlformats.org/drawingml/2006/main">
              <a:ext uri="{FF2B5EF4-FFF2-40B4-BE49-F238E27FC236}">
                <a16:creationId xmlns:a16="http://schemas.microsoft.com/office/drawing/2014/main" id="{0090DFF2-102B-4625-B9CB-B4C7F3EF7369}"/>
              </a:ext>
            </a:extLst>
          </p:cNvPr>
          <p:cNvSpPr>
            <a:spLocks xmlns:a="http://schemas.openxmlformats.org/drawingml/2006/main" noGrp="1"/>
          </p:cNvSpPr>
          <p:nvPr/>
        </p:nvSpPr>
        <p:spPr>
          <a:xfrm xmlns:a="http://schemas.openxmlformats.org/drawingml/2006/main" rot="0">
            <a:off x="7200900" y="2990850"/>
            <a:ext cx="3943350" cy="1771650"/>
          </a:xfrm>
          <a:prstGeom xmlns:a="http://schemas.openxmlformats.org/drawingml/2006/main" prst="roundRect">
            <a:avLst>
              <a:gd name="adj" fmla="val 5376"/>
            </a:avLst>
          </a:prstGeom>
          <a:solidFill xmlns:a="http://schemas.openxmlformats.org/drawingml/2006/main">
            <a:srgbClr val="161A18"/>
          </a:solidFill>
          <a:ln xmlns:a="http://schemas.openxmlformats.org/drawingml/2006/main" w="9525">
            <a:solidFill>
              <a:srgbClr val="161A18"/>
            </a:solidFill>
            <a:prstDash val="solid"/>
          </a:ln>
        </p:spPr>
      </p:sp>
      <p:sp>
        <p:nvSpPr>
          <p:cNvPr id="16" name="">
            <a:extLst xmlns:a="http://schemas.openxmlformats.org/drawingml/2006/main">
              <a:ext uri="{FF2B5EF4-FFF2-40B4-BE49-F238E27FC236}">
                <a16:creationId xmlns:a16="http://schemas.microsoft.com/office/drawing/2014/main" id="{53038E3B-0449-4D4D-A541-596D9658CB52}"/>
              </a:ext>
            </a:extLst>
          </p:cNvPr>
          <p:cNvSpPr>
            <a:spLocks xmlns:a="http://schemas.openxmlformats.org/drawingml/2006/main" noGrp="1"/>
          </p:cNvSpPr>
          <p:nvPr/>
        </p:nvSpPr>
        <p:spPr>
          <a:xfrm xmlns:a="http://schemas.openxmlformats.org/drawingml/2006/main" rot="0">
            <a:off x="7372350" y="3143250"/>
            <a:ext cx="36004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FFFDF7"/>
                </a:solidFill>
                <a:latin typeface="SFMono-Regular"/>
                <a:ea typeface="SFMono-Regular"/>
                <a:cs typeface="SFMono-Regular"/>
              </a:defRPr>
            </a:pPr>
            <a:r>
              <a:rPr sz="1425" b="0" i="0">
                <a:solidFill>
                  <a:srgbClr val="FFFDF7"/>
                </a:solidFill>
                <a:latin typeface="SFMono-Regular"/>
                <a:ea typeface="SFMono-Regular"/>
                <a:cs typeface="SFMono-Regular"/>
              </a:rPr>
              <a:t>enum Operator {</a:t>
            </a:r>
          </a:p>
          <a:p xmlns:a="http://schemas.openxmlformats.org/drawingml/2006/main">
            <a:pPr algn="l">
              <a:lnSpc>
                <a:spcPct val="108000"/>
              </a:lnSpc>
              <a:buNone/>
              <a:defRPr sz="1425" b="0" i="0">
                <a:solidFill>
                  <a:srgbClr val="FFFDF7"/>
                </a:solidFill>
                <a:latin typeface="SFMono-Regular"/>
                <a:ea typeface="SFMono-Regular"/>
                <a:cs typeface="SFMono-Regular"/>
              </a:defRPr>
            </a:pPr>
            <a:r>
              <a:rPr sz="1425" b="0" i="0">
                <a:solidFill>
                  <a:srgbClr val="FFFDF7"/>
                </a:solidFill>
                <a:latin typeface="SFMono-Regular"/>
                <a:ea typeface="SFMono-Regular"/>
                <a:cs typeface="SFMono-Regular"/>
              </a:rPr>
              <a:t>  Scan(Atom),</a:t>
            </a:r>
          </a:p>
          <a:p xmlns:a="http://schemas.openxmlformats.org/drawingml/2006/main">
            <a:pPr algn="l">
              <a:lnSpc>
                <a:spcPct val="108000"/>
              </a:lnSpc>
              <a:buNone/>
              <a:defRPr sz="1425" b="0" i="0">
                <a:solidFill>
                  <a:srgbClr val="FFFDF7"/>
                </a:solidFill>
                <a:latin typeface="SFMono-Regular"/>
                <a:ea typeface="SFMono-Regular"/>
                <a:cs typeface="SFMono-Regular"/>
              </a:defRPr>
            </a:pPr>
            <a:r>
              <a:rPr sz="1425" b="0" i="0">
                <a:solidFill>
                  <a:srgbClr val="FFFDF7"/>
                </a:solidFill>
                <a:latin typeface="SFMono-Regular"/>
                <a:ea typeface="SFMono-Regular"/>
                <a:cs typeface="SFMono-Regular"/>
              </a:rPr>
              <a:t>  Join { left: Id, right: Id },</a:t>
            </a:r>
          </a:p>
          <a:p xmlns:a="http://schemas.openxmlformats.org/drawingml/2006/main">
            <a:pPr algn="l">
              <a:lnSpc>
                <a:spcPct val="108000"/>
              </a:lnSpc>
              <a:buNone/>
              <a:defRPr sz="1425" b="0" i="0">
                <a:solidFill>
                  <a:srgbClr val="FFFDF7"/>
                </a:solidFill>
                <a:latin typeface="SFMono-Regular"/>
                <a:ea typeface="SFMono-Regular"/>
                <a:cs typeface="SFMono-Regular"/>
              </a:defRPr>
            </a:pPr>
            <a:r>
              <a:rPr sz="1425" b="0" i="0">
                <a:solidFill>
                  <a:srgbClr val="FFFDF7"/>
                </a:solidFill>
                <a:latin typeface="SFMono-Regular"/>
                <a:ea typeface="SFMono-Regular"/>
                <a:cs typeface="SFMono-Regular"/>
              </a:rPr>
              <a:t>  Project { input: Id },</a:t>
            </a:r>
          </a:p>
          <a:p xmlns:a="http://schemas.openxmlformats.org/drawingml/2006/main">
            <a:pPr algn="l">
              <a:lnSpc>
                <a:spcPct val="108000"/>
              </a:lnSpc>
              <a:buNone/>
              <a:defRPr sz="1425" b="0" i="0">
                <a:solidFill>
                  <a:srgbClr val="FFFDF7"/>
                </a:solidFill>
                <a:latin typeface="SFMono-Regular"/>
                <a:ea typeface="SFMono-Regular"/>
                <a:cs typeface="SFMono-Regular"/>
              </a:defRPr>
            </a:pPr>
            <a:r>
              <a:rPr sz="1425" b="0" i="0">
                <a:solidFill>
                  <a:srgbClr val="FFFDF7"/>
                </a:solidFill>
                <a:latin typeface="SFMono-Regular"/>
                <a:ea typeface="SFMono-Regular"/>
                <a:cs typeface="SFMono-Regular"/>
              </a:rPr>
              <a:t>}</a:t>
            </a:r>
          </a:p>
        </p:txBody>
      </p:sp>
      <p:sp>
        <p:nvSpPr>
          <p:cNvPr id="17" name="">
            <a:extLst xmlns:a="http://schemas.openxmlformats.org/drawingml/2006/main">
              <a:ext uri="{FF2B5EF4-FFF2-40B4-BE49-F238E27FC236}">
                <a16:creationId xmlns:a16="http://schemas.microsoft.com/office/drawing/2014/main" id="{60F91309-059D-44A3-98D8-E8D8CB088FEE}"/>
              </a:ext>
            </a:extLst>
          </p:cNvPr>
          <p:cNvSpPr>
            <a:spLocks xmlns:a="http://schemas.openxmlformats.org/drawingml/2006/main" noGrp="1"/>
          </p:cNvSpPr>
          <p:nvPr/>
        </p:nvSpPr>
        <p:spPr>
          <a:xfrm xmlns:a="http://schemas.openxmlformats.org/drawingml/2006/main" rot="0">
            <a:off x="1714500" y="5619750"/>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770"/>
          </a:bodyPr>
          <a:lstStyle xmlns:a="http://schemas.openxmlformats.org/drawingml/2006/main"/>
          <a:p xmlns:a="http://schemas.openxmlformats.org/drawingml/2006/main">
            <a:pPr algn="ctr">
              <a:defRPr sz="1875" b="0" i="0">
                <a:solidFill>
                  <a:srgbClr val="684F82"/>
                </a:solidFill>
                <a:latin typeface="Helvetica Neue"/>
                <a:ea typeface="Helvetica Neue"/>
                <a:cs typeface="Helvetica Neue"/>
              </a:defRPr>
            </a:pPr>
            <a:r>
              <a:rPr sz="1875" b="0" i="0">
                <a:solidFill>
                  <a:srgbClr val="684F82"/>
                </a:solidFill>
                <a:latin typeface="Helvetica Neue"/>
                <a:ea typeface="Helvetica Neue"/>
                <a:cs typeface="Helvetica Neue"/>
              </a:rPr>
              <a:t>An enum variant is not a subclass. Exhaustive match means every language case is handled.</a:t>
            </a:r>
          </a:p>
        </p:txBody>
      </p:sp>
    </p:spTree>
    <p:extLst>
      <p:ext uri="{BB962C8B-B14F-4D97-AF65-F5344CB8AC3E}">
        <p14:creationId xmlns:p14="http://schemas.microsoft.com/office/powerpoint/2010/main" val="1697489154"/>
      </p:ext>
    </p:extLst>
  </p:cSld>
</p:sld>
</file>

<file path=ppt/slides/slide2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F09FF7A-5588-4C49-9910-954F29DA74F4}"/>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9B4C2F"/>
          </a:solidFill>
          <a:ln xmlns:a="http://schemas.openxmlformats.org/drawingml/2006/main" w="0">
            <a:solidFill>
              <a:srgbClr val="9B4C2F"/>
            </a:solidFill>
            <a:prstDash val="solid"/>
          </a:ln>
        </p:spPr>
      </p:sp>
      <p:sp>
        <p:nvSpPr>
          <p:cNvPr id="2" name="">
            <a:extLst xmlns:a="http://schemas.openxmlformats.org/drawingml/2006/main">
              <a:ext uri="{FF2B5EF4-FFF2-40B4-BE49-F238E27FC236}">
                <a16:creationId xmlns:a16="http://schemas.microsoft.com/office/drawing/2014/main" id="{B0B7D1E0-FE4B-4FFA-A736-CEDBE8A7D5BA}"/>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9B4C2F"/>
                </a:solidFill>
                <a:latin typeface="Helvetica Neue"/>
                <a:ea typeface="Helvetica Neue"/>
                <a:cs typeface="Helvetica Neue"/>
              </a:defRPr>
            </a:pPr>
            <a:r>
              <a:rPr sz="1050" b="1" i="0">
                <a:solidFill>
                  <a:srgbClr val="9B4C2F"/>
                </a:solidFill>
                <a:latin typeface="Helvetica Neue"/>
                <a:ea typeface="Helvetica Neue"/>
                <a:cs typeface="Helvetica Neue"/>
              </a:rPr>
              <a:t>THE RUST BRIDGE</a:t>
            </a:r>
          </a:p>
        </p:txBody>
      </p:sp>
      <p:sp>
        <p:nvSpPr>
          <p:cNvPr id="3" name="">
            <a:extLst xmlns:a="http://schemas.openxmlformats.org/drawingml/2006/main">
              <a:ext uri="{FF2B5EF4-FFF2-40B4-BE49-F238E27FC236}">
                <a16:creationId xmlns:a16="http://schemas.microsoft.com/office/drawing/2014/main" id="{35D18BBD-4FD7-4E65-8D9F-34539A955931}"/>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801"/>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A program becomes a value—and can become a new program</a:t>
            </a:r>
          </a:p>
        </p:txBody>
      </p:sp>
      <p:sp>
        <p:nvSpPr>
          <p:cNvPr id="4" name="">
            <a:extLst xmlns:a="http://schemas.openxmlformats.org/drawingml/2006/main">
              <a:ext uri="{FF2B5EF4-FFF2-40B4-BE49-F238E27FC236}">
                <a16:creationId xmlns:a16="http://schemas.microsoft.com/office/drawing/2014/main" id="{9E510ACC-ABE7-4A38-ABB1-ACC977EF38F3}"/>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490EAE06-33DE-45F8-8FC7-0DF275CEB8C6}"/>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8AC6D0C1-E598-49BF-9F08-ED9C037F2CF3}"/>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22</a:t>
            </a:r>
          </a:p>
        </p:txBody>
      </p:sp>
      <p:sp>
        <p:nvSpPr>
          <p:cNvPr id="7" name="">
            <a:extLst xmlns:a="http://schemas.openxmlformats.org/drawingml/2006/main">
              <a:ext uri="{FF2B5EF4-FFF2-40B4-BE49-F238E27FC236}">
                <a16:creationId xmlns:a16="http://schemas.microsoft.com/office/drawing/2014/main" id="{592DFB4A-D901-4C51-98BD-45C60AA155F4}"/>
              </a:ext>
            </a:extLst>
          </p:cNvPr>
          <p:cNvSpPr>
            <a:spLocks xmlns:a="http://schemas.openxmlformats.org/drawingml/2006/main" noGrp="1"/>
          </p:cNvSpPr>
          <p:nvPr/>
        </p:nvSpPr>
        <p:spPr>
          <a:xfrm xmlns:a="http://schemas.openxmlformats.org/drawingml/2006/main" rot="0">
            <a:off x="2190750" y="2952750"/>
            <a:ext cx="609600" cy="228600"/>
          </a:xfrm>
          <a:prstGeom xmlns:a="http://schemas.openxmlformats.org/drawingml/2006/main" prst="rightArrow">
            <a:avLst/>
          </a:prstGeom>
          <a:solidFill xmlns:a="http://schemas.openxmlformats.org/drawingml/2006/main">
            <a:srgbClr val="D9D5C9"/>
          </a:solidFill>
          <a:ln xmlns:a="http://schemas.openxmlformats.org/drawingml/2006/main" w="0">
            <a:solidFill>
              <a:srgbClr val="D9D5C9"/>
            </a:solidFill>
            <a:prstDash val="solid"/>
          </a:ln>
        </p:spPr>
      </p:sp>
      <p:sp>
        <p:nvSpPr>
          <p:cNvPr id="8" name="">
            <a:extLst xmlns:a="http://schemas.openxmlformats.org/drawingml/2006/main">
              <a:ext uri="{FF2B5EF4-FFF2-40B4-BE49-F238E27FC236}">
                <a16:creationId xmlns:a16="http://schemas.microsoft.com/office/drawing/2014/main" id="{2CF4FFB2-7CFE-43B8-99D3-A12681C1369F}"/>
              </a:ext>
            </a:extLst>
          </p:cNvPr>
          <p:cNvSpPr>
            <a:spLocks xmlns:a="http://schemas.openxmlformats.org/drawingml/2006/main" noGrp="1"/>
          </p:cNvSpPr>
          <p:nvPr/>
        </p:nvSpPr>
        <p:spPr>
          <a:xfrm xmlns:a="http://schemas.openxmlformats.org/drawingml/2006/main" rot="0">
            <a:off x="4648200" y="2952750"/>
            <a:ext cx="609600" cy="228600"/>
          </a:xfrm>
          <a:prstGeom xmlns:a="http://schemas.openxmlformats.org/drawingml/2006/main" prst="rightArrow">
            <a:avLst/>
          </a:prstGeom>
          <a:solidFill xmlns:a="http://schemas.openxmlformats.org/drawingml/2006/main">
            <a:srgbClr val="D9D5C9"/>
          </a:solidFill>
          <a:ln xmlns:a="http://schemas.openxmlformats.org/drawingml/2006/main" w="0">
            <a:solidFill>
              <a:srgbClr val="D9D5C9"/>
            </a:solidFill>
            <a:prstDash val="solid"/>
          </a:ln>
        </p:spPr>
      </p:sp>
      <p:sp>
        <p:nvSpPr>
          <p:cNvPr id="9" name="">
            <a:extLst xmlns:a="http://schemas.openxmlformats.org/drawingml/2006/main">
              <a:ext uri="{FF2B5EF4-FFF2-40B4-BE49-F238E27FC236}">
                <a16:creationId xmlns:a16="http://schemas.microsoft.com/office/drawing/2014/main" id="{04C4E483-C7B6-4755-AEE4-559890581121}"/>
              </a:ext>
            </a:extLst>
          </p:cNvPr>
          <p:cNvSpPr>
            <a:spLocks xmlns:a="http://schemas.openxmlformats.org/drawingml/2006/main" noGrp="1"/>
          </p:cNvSpPr>
          <p:nvPr/>
        </p:nvSpPr>
        <p:spPr>
          <a:xfrm xmlns:a="http://schemas.openxmlformats.org/drawingml/2006/main" rot="0">
            <a:off x="7105650" y="2952750"/>
            <a:ext cx="609600" cy="228600"/>
          </a:xfrm>
          <a:prstGeom xmlns:a="http://schemas.openxmlformats.org/drawingml/2006/main" prst="rightArrow">
            <a:avLst/>
          </a:prstGeom>
          <a:solidFill xmlns:a="http://schemas.openxmlformats.org/drawingml/2006/main">
            <a:srgbClr val="D9D5C9"/>
          </a:solidFill>
          <a:ln xmlns:a="http://schemas.openxmlformats.org/drawingml/2006/main" w="0">
            <a:solidFill>
              <a:srgbClr val="D9D5C9"/>
            </a:solidFill>
            <a:prstDash val="solid"/>
          </a:ln>
        </p:spPr>
      </p:sp>
      <p:sp>
        <p:nvSpPr>
          <p:cNvPr id="10" name="">
            <a:extLst xmlns:a="http://schemas.openxmlformats.org/drawingml/2006/main">
              <a:ext uri="{FF2B5EF4-FFF2-40B4-BE49-F238E27FC236}">
                <a16:creationId xmlns:a16="http://schemas.microsoft.com/office/drawing/2014/main" id="{4A5E058C-52D7-491A-8F26-43C4550F124E}"/>
              </a:ext>
            </a:extLst>
          </p:cNvPr>
          <p:cNvSpPr>
            <a:spLocks xmlns:a="http://schemas.openxmlformats.org/drawingml/2006/main" noGrp="1"/>
          </p:cNvSpPr>
          <p:nvPr/>
        </p:nvSpPr>
        <p:spPr>
          <a:xfrm xmlns:a="http://schemas.openxmlformats.org/drawingml/2006/main" rot="0">
            <a:off x="9563100" y="2952750"/>
            <a:ext cx="609600" cy="228600"/>
          </a:xfrm>
          <a:prstGeom xmlns:a="http://schemas.openxmlformats.org/drawingml/2006/main" prst="rightArrow">
            <a:avLst/>
          </a:prstGeom>
          <a:solidFill xmlns:a="http://schemas.openxmlformats.org/drawingml/2006/main">
            <a:srgbClr val="D9D5C9"/>
          </a:solidFill>
          <a:ln xmlns:a="http://schemas.openxmlformats.org/drawingml/2006/main" w="0">
            <a:solidFill>
              <a:srgbClr val="D9D5C9"/>
            </a:solidFill>
            <a:prstDash val="solid"/>
          </a:ln>
        </p:spPr>
      </p:sp>
      <p:sp>
        <p:nvSpPr>
          <p:cNvPr id="11" name="">
            <a:extLst xmlns:a="http://schemas.openxmlformats.org/drawingml/2006/main">
              <a:ext uri="{FF2B5EF4-FFF2-40B4-BE49-F238E27FC236}">
                <a16:creationId xmlns:a16="http://schemas.microsoft.com/office/drawing/2014/main" id="{C246BBC9-D91C-4D6C-99B9-6BDED59EBD37}"/>
              </a:ext>
            </a:extLst>
          </p:cNvPr>
          <p:cNvSpPr>
            <a:spLocks xmlns:a="http://schemas.openxmlformats.org/drawingml/2006/main" noGrp="1"/>
          </p:cNvSpPr>
          <p:nvPr/>
        </p:nvSpPr>
        <p:spPr>
          <a:xfrm xmlns:a="http://schemas.openxmlformats.org/drawingml/2006/main" rot="0">
            <a:off x="552450" y="2266950"/>
            <a:ext cx="1638300" cy="1619250"/>
          </a:xfrm>
          <a:prstGeom xmlns:a="http://schemas.openxmlformats.org/drawingml/2006/main" prst="roundRect">
            <a:avLst>
              <a:gd name="adj" fmla="val 4706"/>
            </a:avLst>
          </a:prstGeom>
          <a:solidFill xmlns:a="http://schemas.openxmlformats.org/drawingml/2006/main">
            <a:srgbClr val="FFFDF7"/>
          </a:solidFill>
          <a:ln xmlns:a="http://schemas.openxmlformats.org/drawingml/2006/main" w="19050">
            <a:solidFill>
              <a:srgbClr val="176B73"/>
            </a:solidFill>
            <a:prstDash val="solid"/>
          </a:ln>
        </p:spPr>
      </p:sp>
      <p:sp>
        <p:nvSpPr>
          <p:cNvPr id="12" name="">
            <a:extLst xmlns:a="http://schemas.openxmlformats.org/drawingml/2006/main">
              <a:ext uri="{FF2B5EF4-FFF2-40B4-BE49-F238E27FC236}">
                <a16:creationId xmlns:a16="http://schemas.microsoft.com/office/drawing/2014/main" id="{83DC88DF-D03E-4030-A1AB-8EE219971738}"/>
              </a:ext>
            </a:extLst>
          </p:cNvPr>
          <p:cNvSpPr>
            <a:spLocks xmlns:a="http://schemas.openxmlformats.org/drawingml/2006/main" noGrp="1"/>
          </p:cNvSpPr>
          <p:nvPr/>
        </p:nvSpPr>
        <p:spPr>
          <a:xfrm xmlns:a="http://schemas.openxmlformats.org/drawingml/2006/main" rot="0">
            <a:off x="666750" y="2514600"/>
            <a:ext cx="1409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093"/>
          </a:bodyPr>
          <a:lstStyle xmlns:a="http://schemas.openxmlformats.org/drawingml/2006/main"/>
          <a:p xmlns:a="http://schemas.openxmlformats.org/drawingml/2006/main">
            <a:pPr algn="ctr">
              <a:defRPr sz="1725" b="1" i="0">
                <a:solidFill>
                  <a:srgbClr val="176B73"/>
                </a:solidFill>
                <a:latin typeface="Helvetica Neue"/>
                <a:ea typeface="Helvetica Neue"/>
                <a:cs typeface="Helvetica Neue"/>
              </a:defRPr>
            </a:pPr>
            <a:r>
              <a:rPr sz="1725" b="1" i="0">
                <a:solidFill>
                  <a:srgbClr val="176B73"/>
                </a:solidFill>
                <a:latin typeface="Helvetica Neue"/>
                <a:ea typeface="Helvetica Neue"/>
                <a:cs typeface="Helvetica Neue"/>
              </a:rPr>
              <a:t>source tokens</a:t>
            </a:r>
          </a:p>
        </p:txBody>
      </p:sp>
      <p:sp>
        <p:nvSpPr>
          <p:cNvPr id="13" name="">
            <a:extLst xmlns:a="http://schemas.openxmlformats.org/drawingml/2006/main">
              <a:ext uri="{FF2B5EF4-FFF2-40B4-BE49-F238E27FC236}">
                <a16:creationId xmlns:a16="http://schemas.microsoft.com/office/drawing/2014/main" id="{0501049B-E774-45BF-9F76-485A78262068}"/>
              </a:ext>
            </a:extLst>
          </p:cNvPr>
          <p:cNvSpPr>
            <a:spLocks xmlns:a="http://schemas.openxmlformats.org/drawingml/2006/main" noGrp="1"/>
          </p:cNvSpPr>
          <p:nvPr/>
        </p:nvSpPr>
        <p:spPr>
          <a:xfrm xmlns:a="http://schemas.openxmlformats.org/drawingml/2006/main" rot="0">
            <a:off x="666750" y="3200400"/>
            <a:ext cx="140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SFMono-Regular"/>
                <a:ea typeface="SFMono-Regular"/>
                <a:cs typeface="SFMono-Regular"/>
              </a:defRPr>
            </a:pPr>
            <a:r>
              <a:rPr sz="1275" b="0" i="0">
                <a:solidFill>
                  <a:srgbClr val="202522"/>
                </a:solidFill>
                <a:latin typeface="SFMono-Regular"/>
                <a:ea typeface="SFMono-Regular"/>
                <a:cs typeface="SFMono-Regular"/>
              </a:rPr>
              <a:t>triangle(x,y,z)</a:t>
            </a:r>
          </a:p>
        </p:txBody>
      </p:sp>
      <p:sp>
        <p:nvSpPr>
          <p:cNvPr id="14" name="">
            <a:extLst xmlns:a="http://schemas.openxmlformats.org/drawingml/2006/main">
              <a:ext uri="{FF2B5EF4-FFF2-40B4-BE49-F238E27FC236}">
                <a16:creationId xmlns:a16="http://schemas.microsoft.com/office/drawing/2014/main" id="{4779452F-9ADC-4864-9DAB-4B7BDCC62F86}"/>
              </a:ext>
            </a:extLst>
          </p:cNvPr>
          <p:cNvSpPr>
            <a:spLocks xmlns:a="http://schemas.openxmlformats.org/drawingml/2006/main" noGrp="1"/>
          </p:cNvSpPr>
          <p:nvPr/>
        </p:nvSpPr>
        <p:spPr>
          <a:xfrm xmlns:a="http://schemas.openxmlformats.org/drawingml/2006/main" rot="0">
            <a:off x="3009900" y="2266950"/>
            <a:ext cx="1638300" cy="1619250"/>
          </a:xfrm>
          <a:prstGeom xmlns:a="http://schemas.openxmlformats.org/drawingml/2006/main" prst="roundRect">
            <a:avLst>
              <a:gd name="adj" fmla="val 4706"/>
            </a:avLst>
          </a:prstGeom>
          <a:solidFill xmlns:a="http://schemas.openxmlformats.org/drawingml/2006/main">
            <a:srgbClr val="FFFDF7"/>
          </a:solidFill>
          <a:ln xmlns:a="http://schemas.openxmlformats.org/drawingml/2006/main" w="19050">
            <a:solidFill>
              <a:srgbClr val="684F82"/>
            </a:solidFill>
            <a:prstDash val="solid"/>
          </a:ln>
        </p:spPr>
      </p:sp>
      <p:sp>
        <p:nvSpPr>
          <p:cNvPr id="15" name="">
            <a:extLst xmlns:a="http://schemas.openxmlformats.org/drawingml/2006/main">
              <a:ext uri="{FF2B5EF4-FFF2-40B4-BE49-F238E27FC236}">
                <a16:creationId xmlns:a16="http://schemas.microsoft.com/office/drawing/2014/main" id="{3E787D05-6A87-426E-BF55-4B075D57643F}"/>
              </a:ext>
            </a:extLst>
          </p:cNvPr>
          <p:cNvSpPr>
            <a:spLocks xmlns:a="http://schemas.openxmlformats.org/drawingml/2006/main" noGrp="1"/>
          </p:cNvSpPr>
          <p:nvPr/>
        </p:nvSpPr>
        <p:spPr>
          <a:xfrm xmlns:a="http://schemas.openxmlformats.org/drawingml/2006/main" rot="0">
            <a:off x="3124200" y="2514600"/>
            <a:ext cx="1409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684F82"/>
                </a:solidFill>
                <a:latin typeface="Helvetica Neue"/>
                <a:ea typeface="Helvetica Neue"/>
                <a:cs typeface="Helvetica Neue"/>
              </a:defRPr>
            </a:pPr>
            <a:r>
              <a:rPr sz="1725" b="1" i="0">
                <a:solidFill>
                  <a:srgbClr val="684F82"/>
                </a:solidFill>
                <a:latin typeface="Helvetica Neue"/>
                <a:ea typeface="Helvetica Neue"/>
                <a:cs typeface="Helvetica Neue"/>
              </a:rPr>
              <a:t>parse</a:t>
            </a:r>
          </a:p>
        </p:txBody>
      </p:sp>
      <p:sp>
        <p:nvSpPr>
          <p:cNvPr id="16" name="">
            <a:extLst xmlns:a="http://schemas.openxmlformats.org/drawingml/2006/main">
              <a:ext uri="{FF2B5EF4-FFF2-40B4-BE49-F238E27FC236}">
                <a16:creationId xmlns:a16="http://schemas.microsoft.com/office/drawing/2014/main" id="{B10C8082-B76F-4174-892A-66AF97131006}"/>
              </a:ext>
            </a:extLst>
          </p:cNvPr>
          <p:cNvSpPr>
            <a:spLocks xmlns:a="http://schemas.openxmlformats.org/drawingml/2006/main" noGrp="1"/>
          </p:cNvSpPr>
          <p:nvPr/>
        </p:nvSpPr>
        <p:spPr>
          <a:xfrm xmlns:a="http://schemas.openxmlformats.org/drawingml/2006/main" rot="0">
            <a:off x="3124200" y="3200400"/>
            <a:ext cx="140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SFMono-Regular"/>
                <a:ea typeface="SFMono-Regular"/>
                <a:cs typeface="SFMono-Regular"/>
              </a:defRPr>
            </a:pPr>
            <a:r>
              <a:rPr sz="1275" b="0" i="0">
                <a:solidFill>
                  <a:srgbClr val="202522"/>
                </a:solidFill>
                <a:latin typeface="SFMono-Regular"/>
                <a:ea typeface="SFMono-Regular"/>
                <a:cs typeface="SFMono-Regular"/>
              </a:rPr>
              <a:t>syn::parse2</a:t>
            </a:r>
          </a:p>
        </p:txBody>
      </p:sp>
      <p:sp>
        <p:nvSpPr>
          <p:cNvPr id="17" name="">
            <a:extLst xmlns:a="http://schemas.openxmlformats.org/drawingml/2006/main">
              <a:ext uri="{FF2B5EF4-FFF2-40B4-BE49-F238E27FC236}">
                <a16:creationId xmlns:a16="http://schemas.microsoft.com/office/drawing/2014/main" id="{AAF2CC1E-E410-4EDB-80C6-007CD30F8415}"/>
              </a:ext>
            </a:extLst>
          </p:cNvPr>
          <p:cNvSpPr>
            <a:spLocks xmlns:a="http://schemas.openxmlformats.org/drawingml/2006/main" noGrp="1"/>
          </p:cNvSpPr>
          <p:nvPr/>
        </p:nvSpPr>
        <p:spPr>
          <a:xfrm xmlns:a="http://schemas.openxmlformats.org/drawingml/2006/main" rot="0">
            <a:off x="5467350" y="2266950"/>
            <a:ext cx="1638300" cy="1619250"/>
          </a:xfrm>
          <a:prstGeom xmlns:a="http://schemas.openxmlformats.org/drawingml/2006/main" prst="roundRect">
            <a:avLst>
              <a:gd name="adj" fmla="val 4706"/>
            </a:avLst>
          </a:prstGeom>
          <a:solidFill xmlns:a="http://schemas.openxmlformats.org/drawingml/2006/main">
            <a:srgbClr val="FFFDF7"/>
          </a:solidFill>
          <a:ln xmlns:a="http://schemas.openxmlformats.org/drawingml/2006/main" w="19050">
            <a:solidFill>
              <a:srgbClr val="8A5A18"/>
            </a:solidFill>
            <a:prstDash val="solid"/>
          </a:ln>
        </p:spPr>
      </p:sp>
      <p:sp>
        <p:nvSpPr>
          <p:cNvPr id="18" name="">
            <a:extLst xmlns:a="http://schemas.openxmlformats.org/drawingml/2006/main">
              <a:ext uri="{FF2B5EF4-FFF2-40B4-BE49-F238E27FC236}">
                <a16:creationId xmlns:a16="http://schemas.microsoft.com/office/drawing/2014/main" id="{94EA1B3C-C36A-425C-9AD1-D343DB1A3A77}"/>
              </a:ext>
            </a:extLst>
          </p:cNvPr>
          <p:cNvSpPr>
            <a:spLocks xmlns:a="http://schemas.openxmlformats.org/drawingml/2006/main" noGrp="1"/>
          </p:cNvSpPr>
          <p:nvPr/>
        </p:nvSpPr>
        <p:spPr>
          <a:xfrm xmlns:a="http://schemas.openxmlformats.org/drawingml/2006/main" rot="0">
            <a:off x="5581650" y="2514600"/>
            <a:ext cx="1409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8A5A18"/>
                </a:solidFill>
                <a:latin typeface="Helvetica Neue"/>
                <a:ea typeface="Helvetica Neue"/>
                <a:cs typeface="Helvetica Neue"/>
              </a:defRPr>
            </a:pPr>
            <a:r>
              <a:rPr sz="1725" b="1" i="0">
                <a:solidFill>
                  <a:srgbClr val="8A5A18"/>
                </a:solidFill>
                <a:latin typeface="Helvetica Neue"/>
                <a:ea typeface="Helvetica Neue"/>
                <a:cs typeface="Helvetica Neue"/>
              </a:rPr>
              <a:t>typed value</a:t>
            </a:r>
          </a:p>
        </p:txBody>
      </p:sp>
      <p:sp>
        <p:nvSpPr>
          <p:cNvPr id="19" name="">
            <a:extLst xmlns:a="http://schemas.openxmlformats.org/drawingml/2006/main">
              <a:ext uri="{FF2B5EF4-FFF2-40B4-BE49-F238E27FC236}">
                <a16:creationId xmlns:a16="http://schemas.microsoft.com/office/drawing/2014/main" id="{26D41C8D-0BAE-4536-B65A-2777355789CB}"/>
              </a:ext>
            </a:extLst>
          </p:cNvPr>
          <p:cNvSpPr>
            <a:spLocks xmlns:a="http://schemas.openxmlformats.org/drawingml/2006/main" noGrp="1"/>
          </p:cNvSpPr>
          <p:nvPr/>
        </p:nvSpPr>
        <p:spPr>
          <a:xfrm xmlns:a="http://schemas.openxmlformats.org/drawingml/2006/main" rot="0">
            <a:off x="5581650" y="3200400"/>
            <a:ext cx="140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SFMono-Regular"/>
                <a:ea typeface="SFMono-Regular"/>
                <a:cs typeface="SFMono-Regular"/>
              </a:defRPr>
            </a:pPr>
            <a:r>
              <a:rPr sz="1275" b="0" i="0">
                <a:solidFill>
                  <a:srgbClr val="202522"/>
                </a:solidFill>
                <a:latin typeface="SFMono-Regular"/>
                <a:ea typeface="SFMono-Regular"/>
                <a:cs typeface="SFMono-Regular"/>
              </a:rPr>
              <a:t>cq::Module</a:t>
            </a:r>
          </a:p>
        </p:txBody>
      </p:sp>
      <p:sp>
        <p:nvSpPr>
          <p:cNvPr id="20" name="">
            <a:extLst xmlns:a="http://schemas.openxmlformats.org/drawingml/2006/main">
              <a:ext uri="{FF2B5EF4-FFF2-40B4-BE49-F238E27FC236}">
                <a16:creationId xmlns:a16="http://schemas.microsoft.com/office/drawing/2014/main" id="{DEA2AD61-12EC-4416-AD82-6AA7E6806440}"/>
              </a:ext>
            </a:extLst>
          </p:cNvPr>
          <p:cNvSpPr>
            <a:spLocks xmlns:a="http://schemas.openxmlformats.org/drawingml/2006/main" noGrp="1"/>
          </p:cNvSpPr>
          <p:nvPr/>
        </p:nvSpPr>
        <p:spPr>
          <a:xfrm xmlns:a="http://schemas.openxmlformats.org/drawingml/2006/main" rot="0">
            <a:off x="7924800" y="2266950"/>
            <a:ext cx="1638300" cy="1619250"/>
          </a:xfrm>
          <a:prstGeom xmlns:a="http://schemas.openxmlformats.org/drawingml/2006/main" prst="roundRect">
            <a:avLst>
              <a:gd name="adj" fmla="val 4706"/>
            </a:avLst>
          </a:prstGeom>
          <a:solidFill xmlns:a="http://schemas.openxmlformats.org/drawingml/2006/main">
            <a:srgbClr val="FFFDF7"/>
          </a:solidFill>
          <a:ln xmlns:a="http://schemas.openxmlformats.org/drawingml/2006/main" w="19050">
            <a:solidFill>
              <a:srgbClr val="9B4C2F"/>
            </a:solidFill>
            <a:prstDash val="solid"/>
          </a:ln>
        </p:spPr>
      </p:sp>
      <p:sp>
        <p:nvSpPr>
          <p:cNvPr id="21" name="">
            <a:extLst xmlns:a="http://schemas.openxmlformats.org/drawingml/2006/main">
              <a:ext uri="{FF2B5EF4-FFF2-40B4-BE49-F238E27FC236}">
                <a16:creationId xmlns:a16="http://schemas.microsoft.com/office/drawing/2014/main" id="{56D79BDF-439D-47BD-90AD-6A961344B98D}"/>
              </a:ext>
            </a:extLst>
          </p:cNvPr>
          <p:cNvSpPr>
            <a:spLocks xmlns:a="http://schemas.openxmlformats.org/drawingml/2006/main" noGrp="1"/>
          </p:cNvSpPr>
          <p:nvPr/>
        </p:nvSpPr>
        <p:spPr>
          <a:xfrm xmlns:a="http://schemas.openxmlformats.org/drawingml/2006/main" rot="0">
            <a:off x="8039100" y="2514600"/>
            <a:ext cx="1409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9B4C2F"/>
                </a:solidFill>
                <a:latin typeface="Helvetica Neue"/>
                <a:ea typeface="Helvetica Neue"/>
                <a:cs typeface="Helvetica Neue"/>
              </a:defRPr>
            </a:pPr>
            <a:r>
              <a:rPr sz="1725" b="1" i="0">
                <a:solidFill>
                  <a:srgbClr val="9B4C2F"/>
                </a:solidFill>
                <a:latin typeface="Helvetica Neue"/>
                <a:ea typeface="Helvetica Neue"/>
                <a:cs typeface="Helvetica Neue"/>
              </a:rPr>
              <a:t>transform</a:t>
            </a:r>
          </a:p>
        </p:txBody>
      </p:sp>
      <p:sp>
        <p:nvSpPr>
          <p:cNvPr id="22" name="">
            <a:extLst xmlns:a="http://schemas.openxmlformats.org/drawingml/2006/main">
              <a:ext uri="{FF2B5EF4-FFF2-40B4-BE49-F238E27FC236}">
                <a16:creationId xmlns:a16="http://schemas.microsoft.com/office/drawing/2014/main" id="{14D235CE-D5FC-4FD7-B34F-11139120DB69}"/>
              </a:ext>
            </a:extLst>
          </p:cNvPr>
          <p:cNvSpPr>
            <a:spLocks xmlns:a="http://schemas.openxmlformats.org/drawingml/2006/main" noGrp="1"/>
          </p:cNvSpPr>
          <p:nvPr/>
        </p:nvSpPr>
        <p:spPr>
          <a:xfrm xmlns:a="http://schemas.openxmlformats.org/drawingml/2006/main" rot="0">
            <a:off x="8039100" y="3200400"/>
            <a:ext cx="140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SFMono-Regular"/>
                <a:ea typeface="SFMono-Regular"/>
                <a:cs typeface="SFMono-Regular"/>
              </a:defRPr>
            </a:pPr>
            <a:r>
              <a:rPr sz="1275" b="0" i="0">
                <a:solidFill>
                  <a:srgbClr val="202522"/>
                </a:solidFill>
                <a:latin typeface="SFMono-Regular"/>
                <a:ea typeface="SFMono-Regular"/>
                <a:cs typeface="SFMono-Regular"/>
              </a:rPr>
              <a:t>compile_cq</a:t>
            </a:r>
          </a:p>
        </p:txBody>
      </p:sp>
      <p:sp>
        <p:nvSpPr>
          <p:cNvPr id="23" name="">
            <a:extLst xmlns:a="http://schemas.openxmlformats.org/drawingml/2006/main">
              <a:ext uri="{FF2B5EF4-FFF2-40B4-BE49-F238E27FC236}">
                <a16:creationId xmlns:a16="http://schemas.microsoft.com/office/drawing/2014/main" id="{29D84188-EA1C-491B-950F-8D90B93E5911}"/>
              </a:ext>
            </a:extLst>
          </p:cNvPr>
          <p:cNvSpPr>
            <a:spLocks xmlns:a="http://schemas.openxmlformats.org/drawingml/2006/main" noGrp="1"/>
          </p:cNvSpPr>
          <p:nvPr/>
        </p:nvSpPr>
        <p:spPr>
          <a:xfrm xmlns:a="http://schemas.openxmlformats.org/drawingml/2006/main" rot="0">
            <a:off x="10382250" y="2266950"/>
            <a:ext cx="1638300" cy="1619250"/>
          </a:xfrm>
          <a:prstGeom xmlns:a="http://schemas.openxmlformats.org/drawingml/2006/main" prst="roundRect">
            <a:avLst>
              <a:gd name="adj" fmla="val 4706"/>
            </a:avLst>
          </a:prstGeom>
          <a:solidFill xmlns:a="http://schemas.openxmlformats.org/drawingml/2006/main">
            <a:srgbClr val="FFFDF7"/>
          </a:solidFill>
          <a:ln xmlns:a="http://schemas.openxmlformats.org/drawingml/2006/main" w="19050">
            <a:solidFill>
              <a:srgbClr val="286D91"/>
            </a:solidFill>
            <a:prstDash val="solid"/>
          </a:ln>
        </p:spPr>
      </p:sp>
      <p:sp>
        <p:nvSpPr>
          <p:cNvPr id="24" name="">
            <a:extLst xmlns:a="http://schemas.openxmlformats.org/drawingml/2006/main">
              <a:ext uri="{FF2B5EF4-FFF2-40B4-BE49-F238E27FC236}">
                <a16:creationId xmlns:a16="http://schemas.microsoft.com/office/drawing/2014/main" id="{6577DD8D-666F-475A-84D1-27673F666CCC}"/>
              </a:ext>
            </a:extLst>
          </p:cNvPr>
          <p:cNvSpPr>
            <a:spLocks xmlns:a="http://schemas.openxmlformats.org/drawingml/2006/main" noGrp="1"/>
          </p:cNvSpPr>
          <p:nvPr/>
        </p:nvSpPr>
        <p:spPr>
          <a:xfrm xmlns:a="http://schemas.openxmlformats.org/drawingml/2006/main" rot="0">
            <a:off x="10496550" y="2514600"/>
            <a:ext cx="1409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286D91"/>
                </a:solidFill>
                <a:latin typeface="Helvetica Neue"/>
                <a:ea typeface="Helvetica Neue"/>
                <a:cs typeface="Helvetica Neue"/>
              </a:defRPr>
            </a:pPr>
            <a:r>
              <a:rPr sz="1725" b="1" i="0">
                <a:solidFill>
                  <a:srgbClr val="286D91"/>
                </a:solidFill>
                <a:latin typeface="Helvetica Neue"/>
                <a:ea typeface="Helvetica Neue"/>
                <a:cs typeface="Helvetica Neue"/>
              </a:rPr>
              <a:t>next syntax</a:t>
            </a:r>
          </a:p>
        </p:txBody>
      </p:sp>
      <p:sp>
        <p:nvSpPr>
          <p:cNvPr id="25" name="">
            <a:extLst xmlns:a="http://schemas.openxmlformats.org/drawingml/2006/main">
              <a:ext uri="{FF2B5EF4-FFF2-40B4-BE49-F238E27FC236}">
                <a16:creationId xmlns:a16="http://schemas.microsoft.com/office/drawing/2014/main" id="{AF38A01F-A272-423E-911F-9DCF593C1317}"/>
              </a:ext>
            </a:extLst>
          </p:cNvPr>
          <p:cNvSpPr>
            <a:spLocks xmlns:a="http://schemas.openxmlformats.org/drawingml/2006/main" noGrp="1"/>
          </p:cNvSpPr>
          <p:nvPr/>
        </p:nvSpPr>
        <p:spPr>
          <a:xfrm xmlns:a="http://schemas.openxmlformats.org/drawingml/2006/main" rot="0">
            <a:off x="10496550" y="3200400"/>
            <a:ext cx="140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202522"/>
                </a:solidFill>
                <a:latin typeface="SFMono-Regular"/>
                <a:ea typeface="SFMono-Regular"/>
                <a:cs typeface="SFMono-Regular"/>
              </a:defRPr>
            </a:pPr>
            <a:r>
              <a:rPr sz="1275" b="0" i="0">
                <a:solidFill>
                  <a:srgbClr val="202522"/>
                </a:solidFill>
                <a:latin typeface="SFMono-Regular"/>
                <a:ea typeface="SFMono-Regular"/>
                <a:cs typeface="SFMono-Regular"/>
              </a:rPr>
              <a:t>quote! { … }</a:t>
            </a:r>
          </a:p>
        </p:txBody>
      </p:sp>
      <p:sp>
        <p:nvSpPr>
          <p:cNvPr id="26" name="">
            <a:extLst xmlns:a="http://schemas.openxmlformats.org/drawingml/2006/main">
              <a:ext uri="{FF2B5EF4-FFF2-40B4-BE49-F238E27FC236}">
                <a16:creationId xmlns:a16="http://schemas.microsoft.com/office/drawing/2014/main" id="{D709BC18-103C-44E3-A008-E5524041B606}"/>
              </a:ext>
            </a:extLst>
          </p:cNvPr>
          <p:cNvSpPr>
            <a:spLocks xmlns:a="http://schemas.openxmlformats.org/drawingml/2006/main" noGrp="1"/>
          </p:cNvSpPr>
          <p:nvPr/>
        </p:nvSpPr>
        <p:spPr>
          <a:xfrm xmlns:a="http://schemas.openxmlformats.org/drawingml/2006/main" rot="0">
            <a:off x="2705100" y="4629150"/>
            <a:ext cx="6781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325" b="0" i="0">
                <a:solidFill>
                  <a:srgbClr val="9B4C2F"/>
                </a:solidFill>
                <a:latin typeface="SFMono-Regular"/>
                <a:ea typeface="SFMono-Regular"/>
                <a:cs typeface="SFMono-Regular"/>
              </a:defRPr>
            </a:pPr>
            <a:r>
              <a:rPr sz="2325" b="0" i="0">
                <a:solidFill>
                  <a:srgbClr val="9B4C2F"/>
                </a:solidFill>
                <a:latin typeface="SFMono-Regular"/>
                <a:ea typeface="SFMono-Regular"/>
                <a:cs typeface="SFMono-Regular"/>
              </a:rPr>
              <a:t>Compiler : ProgramValue → ProgramValue</a:t>
            </a:r>
          </a:p>
        </p:txBody>
      </p:sp>
      <p:sp>
        <p:nvSpPr>
          <p:cNvPr id="27" name="">
            <a:extLst xmlns:a="http://schemas.openxmlformats.org/drawingml/2006/main">
              <a:ext uri="{FF2B5EF4-FFF2-40B4-BE49-F238E27FC236}">
                <a16:creationId xmlns:a16="http://schemas.microsoft.com/office/drawing/2014/main" id="{52F98F9D-4383-4C66-8CEC-D50663C5A614}"/>
              </a:ext>
            </a:extLst>
          </p:cNvPr>
          <p:cNvSpPr>
            <a:spLocks xmlns:a="http://schemas.openxmlformats.org/drawingml/2006/main" noGrp="1"/>
          </p:cNvSpPr>
          <p:nvPr/>
        </p:nvSpPr>
        <p:spPr>
          <a:xfrm xmlns:a="http://schemas.openxmlformats.org/drawingml/2006/main" rot="0">
            <a:off x="2133600" y="5467350"/>
            <a:ext cx="7924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135"/>
          </a:bodyPr>
          <a:lstStyle xmlns:a="http://schemas.openxmlformats.org/drawingml/2006/main"/>
          <a:p xmlns:a="http://schemas.openxmlformats.org/drawingml/2006/main">
            <a:pPr algn="ctr">
              <a:defRPr sz="1800" b="0" i="0">
                <a:solidFill>
                  <a:srgbClr val="202522"/>
                </a:solidFill>
                <a:latin typeface="Helvetica Neue"/>
                <a:ea typeface="Helvetica Neue"/>
                <a:cs typeface="Helvetica Neue"/>
              </a:defRPr>
            </a:pPr>
            <a:r>
              <a:rPr sz="1800" b="0" i="0">
                <a:solidFill>
                  <a:srgbClr val="202522"/>
                </a:solidFill>
                <a:latin typeface="Helvetica Neue"/>
                <a:ea typeface="Helvetica Neue"/>
                <a:cs typeface="Helvetica Neue"/>
              </a:rPr>
              <a:t>Macros supply the expansion boundary; typed functions contain the course logic.</a:t>
            </a:r>
          </a:p>
        </p:txBody>
      </p:sp>
    </p:spTree>
    <p:extLst>
      <p:ext uri="{BB962C8B-B14F-4D97-AF65-F5344CB8AC3E}">
        <p14:creationId xmlns:p14="http://schemas.microsoft.com/office/powerpoint/2010/main" val="329145129"/>
      </p:ext>
    </p:extLst>
  </p:cSld>
</p:sld>
</file>

<file path=ppt/slides/slide2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D7EF8CA-762E-492C-995B-26728519892E}"/>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9B4C2F"/>
          </a:solidFill>
          <a:ln xmlns:a="http://schemas.openxmlformats.org/drawingml/2006/main" w="0">
            <a:solidFill>
              <a:srgbClr val="9B4C2F"/>
            </a:solidFill>
            <a:prstDash val="solid"/>
          </a:ln>
        </p:spPr>
      </p:sp>
      <p:sp>
        <p:nvSpPr>
          <p:cNvPr id="2" name="">
            <a:extLst xmlns:a="http://schemas.openxmlformats.org/drawingml/2006/main">
              <a:ext uri="{FF2B5EF4-FFF2-40B4-BE49-F238E27FC236}">
                <a16:creationId xmlns:a16="http://schemas.microsoft.com/office/drawing/2014/main" id="{207D3E06-484A-4DE0-8D51-045A95EC01A0}"/>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9B4C2F"/>
                </a:solidFill>
                <a:latin typeface="Helvetica Neue"/>
                <a:ea typeface="Helvetica Neue"/>
                <a:cs typeface="Helvetica Neue"/>
              </a:defRPr>
            </a:pPr>
            <a:r>
              <a:rPr sz="1050" b="1" i="0">
                <a:solidFill>
                  <a:srgbClr val="9B4C2F"/>
                </a:solidFill>
                <a:latin typeface="Helvetica Neue"/>
                <a:ea typeface="Helvetica Neue"/>
                <a:cs typeface="Helvetica Neue"/>
              </a:rPr>
              <a:t>RUST PAUSE</a:t>
            </a:r>
          </a:p>
        </p:txBody>
      </p:sp>
      <p:sp>
        <p:nvSpPr>
          <p:cNvPr id="3" name="">
            <a:extLst xmlns:a="http://schemas.openxmlformats.org/drawingml/2006/main">
              <a:ext uri="{FF2B5EF4-FFF2-40B4-BE49-F238E27FC236}">
                <a16:creationId xmlns:a16="http://schemas.microsoft.com/office/drawing/2014/main" id="{A9DDD7F2-54B3-4F4A-A51C-E3F75940FA62}"/>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Live question: does a macro evaluate its input?</a:t>
            </a:r>
          </a:p>
        </p:txBody>
      </p:sp>
      <p:sp>
        <p:nvSpPr>
          <p:cNvPr id="4" name="">
            <a:extLst xmlns:a="http://schemas.openxmlformats.org/drawingml/2006/main">
              <a:ext uri="{FF2B5EF4-FFF2-40B4-BE49-F238E27FC236}">
                <a16:creationId xmlns:a16="http://schemas.microsoft.com/office/drawing/2014/main" id="{1B86F875-6F30-4A76-95AE-1F4DD4E2A61D}"/>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9C868F18-5C39-4C1C-AC8B-0BFE5EFEC5F8}"/>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E1AF4301-2A12-48C2-90EB-E3B860D792B2}"/>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23</a:t>
            </a:r>
          </a:p>
        </p:txBody>
      </p:sp>
      <p:sp>
        <p:nvSpPr>
          <p:cNvPr id="7" name="">
            <a:extLst xmlns:a="http://schemas.openxmlformats.org/drawingml/2006/main">
              <a:ext uri="{FF2B5EF4-FFF2-40B4-BE49-F238E27FC236}">
                <a16:creationId xmlns:a16="http://schemas.microsoft.com/office/drawing/2014/main" id="{D2575135-2EEB-4680-B044-BD9525E91141}"/>
              </a:ext>
            </a:extLst>
          </p:cNvPr>
          <p:cNvSpPr>
            <a:spLocks xmlns:a="http://schemas.openxmlformats.org/drawingml/2006/main" noGrp="1"/>
          </p:cNvSpPr>
          <p:nvPr/>
        </p:nvSpPr>
        <p:spPr>
          <a:xfrm xmlns:a="http://schemas.openxmlformats.org/drawingml/2006/main" rot="0">
            <a:off x="704850" y="1752600"/>
            <a:ext cx="4095750" cy="857250"/>
          </a:xfrm>
          <a:prstGeom xmlns:a="http://schemas.openxmlformats.org/drawingml/2006/main" prst="roundRect">
            <a:avLst>
              <a:gd name="adj" fmla="val 11111"/>
            </a:avLst>
          </a:prstGeom>
          <a:solidFill xmlns:a="http://schemas.openxmlformats.org/drawingml/2006/main">
            <a:srgbClr val="161A18"/>
          </a:solidFill>
          <a:ln xmlns:a="http://schemas.openxmlformats.org/drawingml/2006/main" w="9525">
            <a:solidFill>
              <a:srgbClr val="161A18"/>
            </a:solidFill>
            <a:prstDash val="solid"/>
          </a:ln>
        </p:spPr>
      </p:sp>
      <p:sp>
        <p:nvSpPr>
          <p:cNvPr id="8" name="">
            <a:extLst xmlns:a="http://schemas.openxmlformats.org/drawingml/2006/main">
              <a:ext uri="{FF2B5EF4-FFF2-40B4-BE49-F238E27FC236}">
                <a16:creationId xmlns:a16="http://schemas.microsoft.com/office/drawing/2014/main" id="{F97938AC-6E6F-41A0-BAE4-88D1B68C61D0}"/>
              </a:ext>
            </a:extLst>
          </p:cNvPr>
          <p:cNvSpPr>
            <a:spLocks xmlns:a="http://schemas.openxmlformats.org/drawingml/2006/main" noGrp="1"/>
          </p:cNvSpPr>
          <p:nvPr/>
        </p:nvSpPr>
        <p:spPr>
          <a:xfrm xmlns:a="http://schemas.openxmlformats.org/drawingml/2006/main" rot="0">
            <a:off x="876300" y="1905000"/>
            <a:ext cx="3752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75" b="0" i="0">
                <a:solidFill>
                  <a:srgbClr val="FFFDF7"/>
                </a:solidFill>
                <a:latin typeface="SFMono-Regular"/>
                <a:ea typeface="SFMono-Regular"/>
                <a:cs typeface="SFMono-Regular"/>
              </a:defRPr>
            </a:pPr>
            <a:r>
              <a:rPr sz="2175" b="0" i="0">
                <a:solidFill>
                  <a:srgbClr val="FFFDF7"/>
                </a:solidFill>
                <a:latin typeface="SFMono-Regular"/>
                <a:ea typeface="SFMono-Regular"/>
                <a:cs typeface="SFMono-Regular"/>
              </a:rPr>
              <a:t>stringify!(1 + 1)</a:t>
            </a:r>
          </a:p>
        </p:txBody>
      </p:sp>
      <p:sp>
        <p:nvSpPr>
          <p:cNvPr id="9" name="">
            <a:extLst xmlns:a="http://schemas.openxmlformats.org/drawingml/2006/main">
              <a:ext uri="{FF2B5EF4-FFF2-40B4-BE49-F238E27FC236}">
                <a16:creationId xmlns:a16="http://schemas.microsoft.com/office/drawing/2014/main" id="{2D288F53-5882-4A87-B93B-2DAABD31CC22}"/>
              </a:ext>
            </a:extLst>
          </p:cNvPr>
          <p:cNvSpPr>
            <a:spLocks xmlns:a="http://schemas.openxmlformats.org/drawingml/2006/main" noGrp="1"/>
          </p:cNvSpPr>
          <p:nvPr/>
        </p:nvSpPr>
        <p:spPr>
          <a:xfrm xmlns:a="http://schemas.openxmlformats.org/drawingml/2006/main" rot="0">
            <a:off x="723900" y="30099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9B4C2F"/>
                </a:solidFill>
                <a:latin typeface="Helvetica Neue"/>
                <a:ea typeface="Helvetica Neue"/>
                <a:cs typeface="Helvetica Neue"/>
              </a:defRPr>
            </a:pPr>
            <a:r>
              <a:rPr sz="1950" b="1" i="0">
                <a:solidFill>
                  <a:srgbClr val="9B4C2F"/>
                </a:solidFill>
                <a:latin typeface="Helvetica Neue"/>
                <a:ea typeface="Helvetica Neue"/>
                <a:cs typeface="Helvetica Neue"/>
              </a:rPr>
              <a:t>Predict the result</a:t>
            </a:r>
          </a:p>
        </p:txBody>
      </p:sp>
      <p:sp>
        <p:nvSpPr>
          <p:cNvPr id="10" name="">
            <a:extLst xmlns:a="http://schemas.openxmlformats.org/drawingml/2006/main">
              <a:ext uri="{FF2B5EF4-FFF2-40B4-BE49-F238E27FC236}">
                <a16:creationId xmlns:a16="http://schemas.microsoft.com/office/drawing/2014/main" id="{2546652C-0A04-4F32-995E-FCA40B12C62C}"/>
              </a:ext>
            </a:extLst>
          </p:cNvPr>
          <p:cNvSpPr>
            <a:spLocks xmlns:a="http://schemas.openxmlformats.org/drawingml/2006/main" noGrp="1"/>
          </p:cNvSpPr>
          <p:nvPr/>
        </p:nvSpPr>
        <p:spPr>
          <a:xfrm xmlns:a="http://schemas.openxmlformats.org/drawingml/2006/main" rot="0">
            <a:off x="781050" y="3505200"/>
            <a:ext cx="190500" cy="190500"/>
          </a:xfrm>
          <a:prstGeom xmlns:a="http://schemas.openxmlformats.org/drawingml/2006/main" prst="ellipse">
            <a:avLst/>
          </a:prstGeom>
          <a:solidFill xmlns:a="http://schemas.openxmlformats.org/drawingml/2006/main">
            <a:srgbClr val="FFFDF7"/>
          </a:solidFill>
          <a:ln xmlns:a="http://schemas.openxmlformats.org/drawingml/2006/main" w="19050">
            <a:solidFill>
              <a:srgbClr val="9B4C2F"/>
            </a:solidFill>
            <a:prstDash val="solid"/>
          </a:ln>
        </p:spPr>
      </p:sp>
      <p:sp>
        <p:nvSpPr>
          <p:cNvPr id="11" name="">
            <a:extLst xmlns:a="http://schemas.openxmlformats.org/drawingml/2006/main">
              <a:ext uri="{FF2B5EF4-FFF2-40B4-BE49-F238E27FC236}">
                <a16:creationId xmlns:a16="http://schemas.microsoft.com/office/drawing/2014/main" id="{6E15CF5C-3662-40B9-ADC8-C7BA05A83A17}"/>
              </a:ext>
            </a:extLst>
          </p:cNvPr>
          <p:cNvSpPr>
            <a:spLocks xmlns:a="http://schemas.openxmlformats.org/drawingml/2006/main" noGrp="1"/>
          </p:cNvSpPr>
          <p:nvPr/>
        </p:nvSpPr>
        <p:spPr>
          <a:xfrm xmlns:a="http://schemas.openxmlformats.org/drawingml/2006/main" rot="0">
            <a:off x="1123950" y="34480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i="0">
                <a:solidFill>
                  <a:srgbClr val="202522"/>
                </a:solidFill>
                <a:latin typeface="SFMono-Regular"/>
                <a:ea typeface="SFMono-Regular"/>
                <a:cs typeface="SFMono-Regular"/>
              </a:defRPr>
            </a:pPr>
            <a:r>
              <a:rPr sz="1800" b="0" i="0">
                <a:solidFill>
                  <a:srgbClr val="202522"/>
                </a:solidFill>
                <a:latin typeface="SFMono-Regular"/>
                <a:ea typeface="SFMono-Regular"/>
                <a:cs typeface="SFMono-Regular"/>
              </a:rPr>
              <a:t>"2"</a:t>
            </a:r>
          </a:p>
        </p:txBody>
      </p:sp>
      <p:sp>
        <p:nvSpPr>
          <p:cNvPr id="12" name="">
            <a:extLst xmlns:a="http://schemas.openxmlformats.org/drawingml/2006/main">
              <a:ext uri="{FF2B5EF4-FFF2-40B4-BE49-F238E27FC236}">
                <a16:creationId xmlns:a16="http://schemas.microsoft.com/office/drawing/2014/main" id="{89974275-410F-44B1-A581-94D1F03AED20}"/>
              </a:ext>
            </a:extLst>
          </p:cNvPr>
          <p:cNvSpPr>
            <a:spLocks xmlns:a="http://schemas.openxmlformats.org/drawingml/2006/main" noGrp="1"/>
          </p:cNvSpPr>
          <p:nvPr/>
        </p:nvSpPr>
        <p:spPr>
          <a:xfrm xmlns:a="http://schemas.openxmlformats.org/drawingml/2006/main" rot="0">
            <a:off x="781050" y="4114800"/>
            <a:ext cx="190500" cy="190500"/>
          </a:xfrm>
          <a:prstGeom xmlns:a="http://schemas.openxmlformats.org/drawingml/2006/main" prst="ellipse">
            <a:avLst/>
          </a:prstGeom>
          <a:solidFill xmlns:a="http://schemas.openxmlformats.org/drawingml/2006/main">
            <a:srgbClr val="FFFDF7"/>
          </a:solidFill>
          <a:ln xmlns:a="http://schemas.openxmlformats.org/drawingml/2006/main" w="19050">
            <a:solidFill>
              <a:srgbClr val="9B4C2F"/>
            </a:solidFill>
            <a:prstDash val="solid"/>
          </a:ln>
        </p:spPr>
      </p:sp>
      <p:sp>
        <p:nvSpPr>
          <p:cNvPr id="13" name="">
            <a:extLst xmlns:a="http://schemas.openxmlformats.org/drawingml/2006/main">
              <a:ext uri="{FF2B5EF4-FFF2-40B4-BE49-F238E27FC236}">
                <a16:creationId xmlns:a16="http://schemas.microsoft.com/office/drawing/2014/main" id="{0AD9744E-2E57-4A34-BC4C-0EF0EAD54910}"/>
              </a:ext>
            </a:extLst>
          </p:cNvPr>
          <p:cNvSpPr>
            <a:spLocks xmlns:a="http://schemas.openxmlformats.org/drawingml/2006/main" noGrp="1"/>
          </p:cNvSpPr>
          <p:nvPr/>
        </p:nvSpPr>
        <p:spPr>
          <a:xfrm xmlns:a="http://schemas.openxmlformats.org/drawingml/2006/main" rot="0">
            <a:off x="1123950" y="40576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i="0">
                <a:solidFill>
                  <a:srgbClr val="202522"/>
                </a:solidFill>
                <a:latin typeface="SFMono-Regular"/>
                <a:ea typeface="SFMono-Regular"/>
                <a:cs typeface="SFMono-Regular"/>
              </a:defRPr>
            </a:pPr>
            <a:r>
              <a:rPr sz="1800" b="0" i="0">
                <a:solidFill>
                  <a:srgbClr val="202522"/>
                </a:solidFill>
                <a:latin typeface="SFMono-Regular"/>
                <a:ea typeface="SFMono-Regular"/>
                <a:cs typeface="SFMono-Regular"/>
              </a:rPr>
              <a:t>"1 + 1"</a:t>
            </a:r>
          </a:p>
        </p:txBody>
      </p:sp>
      <p:sp>
        <p:nvSpPr>
          <p:cNvPr id="14" name="">
            <a:extLst xmlns:a="http://schemas.openxmlformats.org/drawingml/2006/main">
              <a:ext uri="{FF2B5EF4-FFF2-40B4-BE49-F238E27FC236}">
                <a16:creationId xmlns:a16="http://schemas.microsoft.com/office/drawing/2014/main" id="{1420914A-0023-4C51-8D44-D9FD3957F5CA}"/>
              </a:ext>
            </a:extLst>
          </p:cNvPr>
          <p:cNvSpPr>
            <a:spLocks xmlns:a="http://schemas.openxmlformats.org/drawingml/2006/main" noGrp="1"/>
          </p:cNvSpPr>
          <p:nvPr/>
        </p:nvSpPr>
        <p:spPr>
          <a:xfrm xmlns:a="http://schemas.openxmlformats.org/drawingml/2006/main" rot="0">
            <a:off x="781050" y="4724400"/>
            <a:ext cx="190500" cy="190500"/>
          </a:xfrm>
          <a:prstGeom xmlns:a="http://schemas.openxmlformats.org/drawingml/2006/main" prst="ellipse">
            <a:avLst/>
          </a:prstGeom>
          <a:solidFill xmlns:a="http://schemas.openxmlformats.org/drawingml/2006/main">
            <a:srgbClr val="FFFDF7"/>
          </a:solidFill>
          <a:ln xmlns:a="http://schemas.openxmlformats.org/drawingml/2006/main" w="19050">
            <a:solidFill>
              <a:srgbClr val="9B4C2F"/>
            </a:solidFill>
            <a:prstDash val="solid"/>
          </a:ln>
        </p:spPr>
      </p:sp>
      <p:sp>
        <p:nvSpPr>
          <p:cNvPr id="15" name="">
            <a:extLst xmlns:a="http://schemas.openxmlformats.org/drawingml/2006/main">
              <a:ext uri="{FF2B5EF4-FFF2-40B4-BE49-F238E27FC236}">
                <a16:creationId xmlns:a16="http://schemas.microsoft.com/office/drawing/2014/main" id="{3BAE3C67-7A44-46BE-A8B6-498B46BFCE57}"/>
              </a:ext>
            </a:extLst>
          </p:cNvPr>
          <p:cNvSpPr>
            <a:spLocks xmlns:a="http://schemas.openxmlformats.org/drawingml/2006/main" noGrp="1"/>
          </p:cNvSpPr>
          <p:nvPr/>
        </p:nvSpPr>
        <p:spPr>
          <a:xfrm xmlns:a="http://schemas.openxmlformats.org/drawingml/2006/main" rot="0">
            <a:off x="1123950" y="46672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i="0">
                <a:solidFill>
                  <a:srgbClr val="202522"/>
                </a:solidFill>
                <a:latin typeface="SFMono-Regular"/>
                <a:ea typeface="SFMono-Regular"/>
                <a:cs typeface="SFMono-Regular"/>
              </a:defRPr>
            </a:pPr>
            <a:r>
              <a:rPr sz="1800" b="0" i="0">
                <a:solidFill>
                  <a:srgbClr val="202522"/>
                </a:solidFill>
                <a:latin typeface="SFMono-Regular"/>
                <a:ea typeface="SFMono-Regular"/>
                <a:cs typeface="SFMono-Regular"/>
              </a:rPr>
              <a:t>compile error</a:t>
            </a:r>
          </a:p>
        </p:txBody>
      </p:sp>
      <p:sp>
        <p:nvSpPr>
          <p:cNvPr id="16" name="">
            <a:extLst xmlns:a="http://schemas.openxmlformats.org/drawingml/2006/main">
              <a:ext uri="{FF2B5EF4-FFF2-40B4-BE49-F238E27FC236}">
                <a16:creationId xmlns:a16="http://schemas.microsoft.com/office/drawing/2014/main" id="{88478597-F384-4D03-98A3-BEAA676BFCF0}"/>
              </a:ext>
            </a:extLst>
          </p:cNvPr>
          <p:cNvSpPr>
            <a:spLocks xmlns:a="http://schemas.openxmlformats.org/drawingml/2006/main" noGrp="1"/>
          </p:cNvSpPr>
          <p:nvPr/>
        </p:nvSpPr>
        <p:spPr>
          <a:xfrm xmlns:a="http://schemas.openxmlformats.org/drawingml/2006/main" rot="0">
            <a:off x="5391150" y="1657350"/>
            <a:ext cx="5962650" cy="4000500"/>
          </a:xfrm>
          <a:prstGeom xmlns:a="http://schemas.openxmlformats.org/drawingml/2006/main" prst="roundRect">
            <a:avLst>
              <a:gd name="adj" fmla="val 2381"/>
            </a:avLst>
          </a:prstGeom>
          <a:solidFill xmlns:a="http://schemas.openxmlformats.org/drawingml/2006/main">
            <a:srgbClr val="161A18"/>
          </a:solidFill>
          <a:ln xmlns:a="http://schemas.openxmlformats.org/drawingml/2006/main" w="19050">
            <a:solidFill>
              <a:srgbClr val="161A18"/>
            </a:solidFill>
            <a:prstDash val="solid"/>
          </a:ln>
        </p:spPr>
      </p:sp>
      <p:sp>
        <p:nvSpPr>
          <p:cNvPr id="17" name="">
            <a:extLst xmlns:a="http://schemas.openxmlformats.org/drawingml/2006/main">
              <a:ext uri="{FF2B5EF4-FFF2-40B4-BE49-F238E27FC236}">
                <a16:creationId xmlns:a16="http://schemas.microsoft.com/office/drawing/2014/main" id="{02CF4360-71B8-4D34-BB6B-72C03525CF74}"/>
              </a:ext>
            </a:extLst>
          </p:cNvPr>
          <p:cNvSpPr>
            <a:spLocks xmlns:a="http://schemas.openxmlformats.org/drawingml/2006/main" noGrp="1"/>
          </p:cNvSpPr>
          <p:nvPr/>
        </p:nvSpPr>
        <p:spPr>
          <a:xfrm xmlns:a="http://schemas.openxmlformats.org/drawingml/2006/main" rot="0">
            <a:off x="5619750" y="1847850"/>
            <a:ext cx="3524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AAB3AE"/>
                </a:solidFill>
                <a:latin typeface="Helvetica Neue"/>
                <a:ea typeface="Helvetica Neue"/>
                <a:cs typeface="Helvetica Neue"/>
              </a:defRPr>
            </a:pPr>
            <a:r>
              <a:rPr sz="1050" b="1" i="0">
                <a:solidFill>
                  <a:srgbClr val="AAB3AE"/>
                </a:solidFill>
                <a:latin typeface="Helvetica Neue"/>
                <a:ea typeface="Helvetica Neue"/>
                <a:cs typeface="Helvetica Neue"/>
              </a:rPr>
              <a:t>LIVE CODING / EXPANSION SPACE</a:t>
            </a:r>
          </a:p>
        </p:txBody>
      </p:sp>
      <p:sp>
        <p:nvSpPr>
          <p:cNvPr id="18" name="">
            <a:extLst xmlns:a="http://schemas.openxmlformats.org/drawingml/2006/main">
              <a:ext uri="{FF2B5EF4-FFF2-40B4-BE49-F238E27FC236}">
                <a16:creationId xmlns:a16="http://schemas.microsoft.com/office/drawing/2014/main" id="{749577F6-186B-4E7E-B62F-49F0444F2D19}"/>
              </a:ext>
            </a:extLst>
          </p:cNvPr>
          <p:cNvSpPr>
            <a:spLocks xmlns:a="http://schemas.openxmlformats.org/drawingml/2006/main" noGrp="1"/>
          </p:cNvSpPr>
          <p:nvPr/>
        </p:nvSpPr>
        <p:spPr>
          <a:xfrm xmlns:a="http://schemas.openxmlformats.org/drawingml/2006/main">
            <a:off x="5619750" y="2228850"/>
            <a:ext cx="5505450" cy="0"/>
          </a:xfrm>
          <a:prstGeom xmlns:a="http://schemas.openxmlformats.org/drawingml/2006/main" prst="line">
            <a:avLst/>
          </a:prstGeom>
          <a:noFill xmlns:a="http://schemas.openxmlformats.org/drawingml/2006/main"/>
          <a:ln xmlns:a="http://schemas.openxmlformats.org/drawingml/2006/main" w="9525">
            <a:solidFill>
              <a:srgbClr val="39413D"/>
            </a:solidFill>
            <a:prstDash val="solid"/>
          </a:ln>
        </p:spPr>
      </p:sp>
      <p:sp>
        <p:nvSpPr>
          <p:cNvPr id="19" name="">
            <a:extLst xmlns:a="http://schemas.openxmlformats.org/drawingml/2006/main">
              <a:ext uri="{FF2B5EF4-FFF2-40B4-BE49-F238E27FC236}">
                <a16:creationId xmlns:a16="http://schemas.microsoft.com/office/drawing/2014/main" id="{CD08E9AC-47DE-4F0C-A9BA-E3B399F32CEE}"/>
              </a:ext>
            </a:extLst>
          </p:cNvPr>
          <p:cNvSpPr>
            <a:spLocks xmlns:a="http://schemas.openxmlformats.org/drawingml/2006/main" noGrp="1"/>
          </p:cNvSpPr>
          <p:nvPr/>
        </p:nvSpPr>
        <p:spPr>
          <a:xfrm xmlns:a="http://schemas.openxmlformats.org/drawingml/2006/main" rot="0">
            <a:off x="5695950" y="2419350"/>
            <a:ext cx="5353050" cy="3009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20" name="">
            <a:extLst xmlns:a="http://schemas.openxmlformats.org/drawingml/2006/main">
              <a:ext uri="{FF2B5EF4-FFF2-40B4-BE49-F238E27FC236}">
                <a16:creationId xmlns:a16="http://schemas.microsoft.com/office/drawing/2014/main" id="{EA0BA4AB-E231-4EE3-BD6F-803DAC05D98E}"/>
              </a:ext>
            </a:extLst>
          </p:cNvPr>
          <p:cNvSpPr>
            <a:spLocks xmlns:a="http://schemas.openxmlformats.org/drawingml/2006/main" noGrp="1"/>
          </p:cNvSpPr>
          <p:nvPr/>
        </p:nvSpPr>
        <p:spPr>
          <a:xfrm xmlns:a="http://schemas.openxmlformats.org/drawingml/2006/main" rot="0">
            <a:off x="1885950" y="5924550"/>
            <a:ext cx="842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0" i="0">
                <a:solidFill>
                  <a:srgbClr val="9B4C2F"/>
                </a:solidFill>
                <a:latin typeface="Helvetica Neue"/>
                <a:ea typeface="Helvetica Neue"/>
                <a:cs typeface="Helvetica Neue"/>
              </a:defRPr>
            </a:pPr>
            <a:r>
              <a:rPr sz="1800" b="0" i="0">
                <a:solidFill>
                  <a:srgbClr val="9B4C2F"/>
                </a:solidFill>
                <a:latin typeface="Helvetica Neue"/>
                <a:ea typeface="Helvetica Neue"/>
                <a:cs typeface="Helvetica Neue"/>
              </a:rPr>
              <a:t>The useful surprise: source code can be input data before it is evaluated.</a:t>
            </a:r>
          </a:p>
        </p:txBody>
      </p:sp>
    </p:spTree>
    <p:extLst>
      <p:ext uri="{BB962C8B-B14F-4D97-AF65-F5344CB8AC3E}">
        <p14:creationId xmlns:p14="http://schemas.microsoft.com/office/powerpoint/2010/main" val="2011387393"/>
      </p:ext>
    </p:extLst>
  </p:cSld>
</p:sld>
</file>

<file path=ppt/slides/slide2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0BFD8D8E-D0F8-4440-8230-1C85B450243D}"/>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176B73"/>
          </a:solidFill>
          <a:ln xmlns:a="http://schemas.openxmlformats.org/drawingml/2006/main" w="0">
            <a:solidFill>
              <a:srgbClr val="176B73"/>
            </a:solidFill>
            <a:prstDash val="solid"/>
          </a:ln>
        </p:spPr>
      </p:sp>
      <p:sp>
        <p:nvSpPr>
          <p:cNvPr id="2" name="">
            <a:extLst xmlns:a="http://schemas.openxmlformats.org/drawingml/2006/main">
              <a:ext uri="{FF2B5EF4-FFF2-40B4-BE49-F238E27FC236}">
                <a16:creationId xmlns:a16="http://schemas.microsoft.com/office/drawing/2014/main" id="{58F219A5-B4B0-479F-8B36-523CE9DF2CE0}"/>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6B73"/>
                </a:solidFill>
                <a:latin typeface="Helvetica Neue"/>
                <a:ea typeface="Helvetica Neue"/>
                <a:cs typeface="Helvetica Neue"/>
              </a:defRPr>
            </a:pPr>
            <a:r>
              <a:rPr sz="1050" b="1" i="0">
                <a:solidFill>
                  <a:srgbClr val="176B73"/>
                </a:solidFill>
                <a:latin typeface="Helvetica Neue"/>
                <a:ea typeface="Helvetica Neue"/>
                <a:cs typeface="Helvetica Neue"/>
              </a:rPr>
              <a:t>FIRST CONCRETE EXAMPLE</a:t>
            </a:r>
          </a:p>
        </p:txBody>
      </p:sp>
      <p:sp>
        <p:nvSpPr>
          <p:cNvPr id="3" name="">
            <a:extLst xmlns:a="http://schemas.openxmlformats.org/drawingml/2006/main">
              <a:ext uri="{FF2B5EF4-FFF2-40B4-BE49-F238E27FC236}">
                <a16:creationId xmlns:a16="http://schemas.microsoft.com/office/drawing/2014/main" id="{E8FA5EE1-37EC-4C7D-8FBE-5FB565E17988}"/>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A database begins when we name the recorded world</a:t>
            </a:r>
          </a:p>
        </p:txBody>
      </p:sp>
      <p:sp>
        <p:nvSpPr>
          <p:cNvPr id="4" name="">
            <a:extLst xmlns:a="http://schemas.openxmlformats.org/drawingml/2006/main">
              <a:ext uri="{FF2B5EF4-FFF2-40B4-BE49-F238E27FC236}">
                <a16:creationId xmlns:a16="http://schemas.microsoft.com/office/drawing/2014/main" id="{36276FFB-CC96-4DAA-A243-D9943BE3352B}"/>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7556673B-4DF3-4D71-A06F-CA668AE67F55}"/>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79E75E47-9138-4475-A5AB-41EAE14E6345}"/>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24</a:t>
            </a:r>
          </a:p>
        </p:txBody>
      </p:sp>
      <p:sp>
        <p:nvSpPr>
          <p:cNvPr id="7" name="">
            <a:extLst xmlns:a="http://schemas.openxmlformats.org/drawingml/2006/main">
              <a:ext uri="{FF2B5EF4-FFF2-40B4-BE49-F238E27FC236}">
                <a16:creationId xmlns:a16="http://schemas.microsoft.com/office/drawing/2014/main" id="{3CD17294-7FC1-47B6-B0AC-1F75ADD2BFA6}"/>
              </a:ext>
            </a:extLst>
          </p:cNvPr>
          <p:cNvSpPr>
            <a:spLocks xmlns:a="http://schemas.openxmlformats.org/drawingml/2006/main" noGrp="1"/>
          </p:cNvSpPr>
          <p:nvPr/>
        </p:nvSpPr>
        <p:spPr>
          <a:xfrm xmlns:a="http://schemas.openxmlformats.org/drawingml/2006/main" rot="0">
            <a:off x="704850" y="1581150"/>
            <a:ext cx="1695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68716B"/>
                </a:solidFill>
                <a:latin typeface="Helvetica Neue"/>
                <a:ea typeface="Helvetica Neue"/>
                <a:cs typeface="Helvetica Neue"/>
              </a:defRPr>
            </a:pPr>
            <a:r>
              <a:rPr sz="1050" b="1" i="0">
                <a:solidFill>
                  <a:srgbClr val="68716B"/>
                </a:solidFill>
                <a:latin typeface="Helvetica Neue"/>
                <a:ea typeface="Helvetica Neue"/>
                <a:cs typeface="Helvetica Neue"/>
              </a:rPr>
              <a:t>WORLD</a:t>
            </a:r>
          </a:p>
        </p:txBody>
      </p:sp>
      <p:sp>
        <p:nvSpPr>
          <p:cNvPr id="8" name="">
            <a:extLst xmlns:a="http://schemas.openxmlformats.org/drawingml/2006/main">
              <a:ext uri="{FF2B5EF4-FFF2-40B4-BE49-F238E27FC236}">
                <a16:creationId xmlns:a16="http://schemas.microsoft.com/office/drawing/2014/main" id="{8F5CEC89-84D8-4726-9772-730141DCBC5C}"/>
              </a:ext>
            </a:extLst>
          </p:cNvPr>
          <p:cNvSpPr>
            <a:spLocks xmlns:a="http://schemas.openxmlformats.org/drawingml/2006/main" noGrp="1"/>
          </p:cNvSpPr>
          <p:nvPr/>
        </p:nvSpPr>
        <p:spPr>
          <a:xfrm xmlns:a="http://schemas.openxmlformats.org/drawingml/2006/main" rot="0">
            <a:off x="6686550" y="1581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6B73"/>
                </a:solidFill>
                <a:latin typeface="Helvetica Neue"/>
                <a:ea typeface="Helvetica Neue"/>
                <a:cs typeface="Helvetica Neue"/>
              </a:defRPr>
            </a:pPr>
            <a:r>
              <a:rPr sz="1050" b="1" i="0">
                <a:solidFill>
                  <a:srgbClr val="176B73"/>
                </a:solidFill>
                <a:latin typeface="Helvetica Neue"/>
                <a:ea typeface="Helvetica Neue"/>
                <a:cs typeface="Helvetica Neue"/>
              </a:rPr>
              <a:t>RECORDED INSTANCE</a:t>
            </a:r>
          </a:p>
        </p:txBody>
      </p:sp>
      <p:sp>
        <p:nvSpPr>
          <p:cNvPr id="9" name="">
            <a:extLst xmlns:a="http://schemas.openxmlformats.org/drawingml/2006/main">
              <a:ext uri="{FF2B5EF4-FFF2-40B4-BE49-F238E27FC236}">
                <a16:creationId xmlns:a16="http://schemas.microsoft.com/office/drawing/2014/main" id="{012099E9-8560-4951-8D2C-3CBD0B0DAE32}"/>
              </a:ext>
            </a:extLst>
          </p:cNvPr>
          <p:cNvSpPr>
            <a:spLocks xmlns:a="http://schemas.openxmlformats.org/drawingml/2006/main" noGrp="1"/>
          </p:cNvSpPr>
          <p:nvPr/>
        </p:nvSpPr>
        <p:spPr>
          <a:xfrm xmlns:a="http://schemas.openxmlformats.org/drawingml/2006/main" flipV="1">
            <a:off x="1428750" y="2362200"/>
            <a:ext cx="2266950" cy="209550"/>
          </a:xfrm>
          <a:prstGeom xmlns:a="http://schemas.openxmlformats.org/drawingml/2006/main" prst="line">
            <a:avLst/>
          </a:prstGeom>
          <a:noFill xmlns:a="http://schemas.openxmlformats.org/drawingml/2006/main"/>
          <a:ln xmlns:a="http://schemas.openxmlformats.org/drawingml/2006/main" w="28575">
            <a:solidFill>
              <a:srgbClr val="D9D5C9"/>
            </a:solidFill>
            <a:prstDash val="solid"/>
          </a:ln>
        </p:spPr>
      </p:sp>
      <p:sp>
        <p:nvSpPr>
          <p:cNvPr id="10" name="">
            <a:extLst xmlns:a="http://schemas.openxmlformats.org/drawingml/2006/main">
              <a:ext uri="{FF2B5EF4-FFF2-40B4-BE49-F238E27FC236}">
                <a16:creationId xmlns:a16="http://schemas.microsoft.com/office/drawing/2014/main" id="{7B8C1324-230E-4220-94C4-0532A75D24B1}"/>
              </a:ext>
            </a:extLst>
          </p:cNvPr>
          <p:cNvSpPr>
            <a:spLocks xmlns:a="http://schemas.openxmlformats.org/drawingml/2006/main" noGrp="1"/>
          </p:cNvSpPr>
          <p:nvPr/>
        </p:nvSpPr>
        <p:spPr>
          <a:xfrm xmlns:a="http://schemas.openxmlformats.org/drawingml/2006/main" flipV="0">
            <a:off x="3695700" y="2362200"/>
            <a:ext cx="628650" cy="1924050"/>
          </a:xfrm>
          <a:prstGeom xmlns:a="http://schemas.openxmlformats.org/drawingml/2006/main" prst="line">
            <a:avLst/>
          </a:prstGeom>
          <a:noFill xmlns:a="http://schemas.openxmlformats.org/drawingml/2006/main"/>
          <a:ln xmlns:a="http://schemas.openxmlformats.org/drawingml/2006/main" w="28575">
            <a:solidFill>
              <a:srgbClr val="D9D5C9"/>
            </a:solidFill>
            <a:prstDash val="solid"/>
          </a:ln>
        </p:spPr>
      </p:sp>
      <p:sp>
        <p:nvSpPr>
          <p:cNvPr id="11" name="">
            <a:extLst xmlns:a="http://schemas.openxmlformats.org/drawingml/2006/main">
              <a:ext uri="{FF2B5EF4-FFF2-40B4-BE49-F238E27FC236}">
                <a16:creationId xmlns:a16="http://schemas.microsoft.com/office/drawing/2014/main" id="{037F9706-FADE-4B7C-A5E6-C65FE8E82173}"/>
              </a:ext>
            </a:extLst>
          </p:cNvPr>
          <p:cNvSpPr>
            <a:spLocks xmlns:a="http://schemas.openxmlformats.org/drawingml/2006/main" noGrp="1"/>
          </p:cNvSpPr>
          <p:nvPr/>
        </p:nvSpPr>
        <p:spPr>
          <a:xfrm xmlns:a="http://schemas.openxmlformats.org/drawingml/2006/main" flipV="0">
            <a:off x="1428750" y="2571750"/>
            <a:ext cx="609600" cy="2057400"/>
          </a:xfrm>
          <a:prstGeom xmlns:a="http://schemas.openxmlformats.org/drawingml/2006/main" prst="line">
            <a:avLst/>
          </a:prstGeom>
          <a:noFill xmlns:a="http://schemas.openxmlformats.org/drawingml/2006/main"/>
          <a:ln xmlns:a="http://schemas.openxmlformats.org/drawingml/2006/main" w="28575">
            <a:solidFill>
              <a:srgbClr val="D9D5C9"/>
            </a:solidFill>
            <a:prstDash val="solid"/>
          </a:ln>
        </p:spPr>
      </p:sp>
      <p:sp>
        <p:nvSpPr>
          <p:cNvPr id="12" name="">
            <a:extLst xmlns:a="http://schemas.openxmlformats.org/drawingml/2006/main">
              <a:ext uri="{FF2B5EF4-FFF2-40B4-BE49-F238E27FC236}">
                <a16:creationId xmlns:a16="http://schemas.microsoft.com/office/drawing/2014/main" id="{DD6FCEFD-B0A6-4730-B22A-81588A5957D9}"/>
              </a:ext>
            </a:extLst>
          </p:cNvPr>
          <p:cNvSpPr>
            <a:spLocks xmlns:a="http://schemas.openxmlformats.org/drawingml/2006/main" noGrp="1"/>
          </p:cNvSpPr>
          <p:nvPr/>
        </p:nvSpPr>
        <p:spPr>
          <a:xfrm xmlns:a="http://schemas.openxmlformats.org/drawingml/2006/main" flipV="1">
            <a:off x="2038350" y="2362200"/>
            <a:ext cx="1657350" cy="2266950"/>
          </a:xfrm>
          <a:prstGeom xmlns:a="http://schemas.openxmlformats.org/drawingml/2006/main" prst="line">
            <a:avLst/>
          </a:prstGeom>
          <a:noFill xmlns:a="http://schemas.openxmlformats.org/drawingml/2006/main"/>
          <a:ln xmlns:a="http://schemas.openxmlformats.org/drawingml/2006/main" w="28575">
            <a:solidFill>
              <a:srgbClr val="D9D5C9"/>
            </a:solidFill>
            <a:prstDash val="solid"/>
          </a:ln>
        </p:spPr>
      </p:sp>
      <p:sp>
        <p:nvSpPr>
          <p:cNvPr id="13" name="">
            <a:extLst xmlns:a="http://schemas.openxmlformats.org/drawingml/2006/main">
              <a:ext uri="{FF2B5EF4-FFF2-40B4-BE49-F238E27FC236}">
                <a16:creationId xmlns:a16="http://schemas.microsoft.com/office/drawing/2014/main" id="{5F43B0E8-1189-48A7-AFB6-BB8E43DE51F8}"/>
              </a:ext>
            </a:extLst>
          </p:cNvPr>
          <p:cNvSpPr>
            <a:spLocks xmlns:a="http://schemas.openxmlformats.org/drawingml/2006/main" noGrp="1"/>
          </p:cNvSpPr>
          <p:nvPr/>
        </p:nvSpPr>
        <p:spPr>
          <a:xfrm xmlns:a="http://schemas.openxmlformats.org/drawingml/2006/main" flipV="1">
            <a:off x="2038350" y="4286250"/>
            <a:ext cx="2286000" cy="342900"/>
          </a:xfrm>
          <a:prstGeom xmlns:a="http://schemas.openxmlformats.org/drawingml/2006/main" prst="line">
            <a:avLst/>
          </a:prstGeom>
          <a:noFill xmlns:a="http://schemas.openxmlformats.org/drawingml/2006/main"/>
          <a:ln xmlns:a="http://schemas.openxmlformats.org/drawingml/2006/main" w="28575">
            <a:solidFill>
              <a:srgbClr val="D9D5C9"/>
            </a:solidFill>
            <a:prstDash val="solid"/>
          </a:ln>
        </p:spPr>
      </p:sp>
      <p:sp>
        <p:nvSpPr>
          <p:cNvPr id="14" name="">
            <a:extLst xmlns:a="http://schemas.openxmlformats.org/drawingml/2006/main">
              <a:ext uri="{FF2B5EF4-FFF2-40B4-BE49-F238E27FC236}">
                <a16:creationId xmlns:a16="http://schemas.microsoft.com/office/drawing/2014/main" id="{EB3CABD6-58B0-4A6D-82B8-616A9B781A34}"/>
              </a:ext>
            </a:extLst>
          </p:cNvPr>
          <p:cNvSpPr>
            <a:spLocks xmlns:a="http://schemas.openxmlformats.org/drawingml/2006/main" noGrp="1"/>
          </p:cNvSpPr>
          <p:nvPr/>
        </p:nvSpPr>
        <p:spPr>
          <a:xfrm xmlns:a="http://schemas.openxmlformats.org/drawingml/2006/main" rot="0">
            <a:off x="1276350" y="2419350"/>
            <a:ext cx="304800" cy="304800"/>
          </a:xfrm>
          <a:prstGeom xmlns:a="http://schemas.openxmlformats.org/drawingml/2006/main" prst="ellipse">
            <a:avLst/>
          </a:prstGeom>
          <a:solidFill xmlns:a="http://schemas.openxmlformats.org/drawingml/2006/main">
            <a:srgbClr val="FFFDF7"/>
          </a:solidFill>
          <a:ln xmlns:a="http://schemas.openxmlformats.org/drawingml/2006/main" w="19050">
            <a:solidFill>
              <a:srgbClr val="202522"/>
            </a:solidFill>
            <a:prstDash val="solid"/>
          </a:ln>
        </p:spPr>
      </p:sp>
      <p:sp>
        <p:nvSpPr>
          <p:cNvPr id="15" name="">
            <a:extLst xmlns:a="http://schemas.openxmlformats.org/drawingml/2006/main">
              <a:ext uri="{FF2B5EF4-FFF2-40B4-BE49-F238E27FC236}">
                <a16:creationId xmlns:a16="http://schemas.microsoft.com/office/drawing/2014/main" id="{B4010071-5F09-4A09-9316-4214AB5BEBE6}"/>
              </a:ext>
            </a:extLst>
          </p:cNvPr>
          <p:cNvSpPr>
            <a:spLocks xmlns:a="http://schemas.openxmlformats.org/drawingml/2006/main" noGrp="1"/>
          </p:cNvSpPr>
          <p:nvPr/>
        </p:nvSpPr>
        <p:spPr>
          <a:xfrm xmlns:a="http://schemas.openxmlformats.org/drawingml/2006/main" rot="0">
            <a:off x="933450" y="280035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i="0">
                <a:solidFill>
                  <a:srgbClr val="202522"/>
                </a:solidFill>
                <a:latin typeface="Helvetica Neue"/>
                <a:ea typeface="Helvetica Neue"/>
                <a:cs typeface="Helvetica Neue"/>
              </a:defRPr>
            </a:pPr>
            <a:r>
              <a:rPr sz="1425" b="0" i="0">
                <a:solidFill>
                  <a:srgbClr val="202522"/>
                </a:solidFill>
                <a:latin typeface="Helvetica Neue"/>
                <a:ea typeface="Helvetica Neue"/>
                <a:cs typeface="Helvetica Neue"/>
              </a:rPr>
              <a:t>Logan</a:t>
            </a:r>
          </a:p>
        </p:txBody>
      </p:sp>
      <p:sp>
        <p:nvSpPr>
          <p:cNvPr id="16" name="">
            <a:extLst xmlns:a="http://schemas.openxmlformats.org/drawingml/2006/main">
              <a:ext uri="{FF2B5EF4-FFF2-40B4-BE49-F238E27FC236}">
                <a16:creationId xmlns:a16="http://schemas.microsoft.com/office/drawing/2014/main" id="{78840C6E-4FDC-46F4-B570-62FC3C102D4F}"/>
              </a:ext>
            </a:extLst>
          </p:cNvPr>
          <p:cNvSpPr>
            <a:spLocks xmlns:a="http://schemas.openxmlformats.org/drawingml/2006/main" noGrp="1"/>
          </p:cNvSpPr>
          <p:nvPr/>
        </p:nvSpPr>
        <p:spPr>
          <a:xfrm xmlns:a="http://schemas.openxmlformats.org/drawingml/2006/main" rot="0">
            <a:off x="3543300" y="2209800"/>
            <a:ext cx="304800" cy="304800"/>
          </a:xfrm>
          <a:prstGeom xmlns:a="http://schemas.openxmlformats.org/drawingml/2006/main" prst="ellipse">
            <a:avLst/>
          </a:prstGeom>
          <a:solidFill xmlns:a="http://schemas.openxmlformats.org/drawingml/2006/main">
            <a:srgbClr val="FFFDF7"/>
          </a:solidFill>
          <a:ln xmlns:a="http://schemas.openxmlformats.org/drawingml/2006/main" w="19050">
            <a:solidFill>
              <a:srgbClr val="202522"/>
            </a:solidFill>
            <a:prstDash val="solid"/>
          </a:ln>
        </p:spPr>
      </p:sp>
      <p:sp>
        <p:nvSpPr>
          <p:cNvPr id="17" name="">
            <a:extLst xmlns:a="http://schemas.openxmlformats.org/drawingml/2006/main">
              <a:ext uri="{FF2B5EF4-FFF2-40B4-BE49-F238E27FC236}">
                <a16:creationId xmlns:a16="http://schemas.microsoft.com/office/drawing/2014/main" id="{BAD0179E-A4FD-4635-A85C-A1C347D3D644}"/>
              </a:ext>
            </a:extLst>
          </p:cNvPr>
          <p:cNvSpPr>
            <a:spLocks xmlns:a="http://schemas.openxmlformats.org/drawingml/2006/main" noGrp="1"/>
          </p:cNvSpPr>
          <p:nvPr/>
        </p:nvSpPr>
        <p:spPr>
          <a:xfrm xmlns:a="http://schemas.openxmlformats.org/drawingml/2006/main" rot="0">
            <a:off x="3200400" y="259080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i="0">
                <a:solidFill>
                  <a:srgbClr val="202522"/>
                </a:solidFill>
                <a:latin typeface="Helvetica Neue"/>
                <a:ea typeface="Helvetica Neue"/>
                <a:cs typeface="Helvetica Neue"/>
              </a:defRPr>
            </a:pPr>
            <a:r>
              <a:rPr sz="1425" b="0" i="0">
                <a:solidFill>
                  <a:srgbClr val="202522"/>
                </a:solidFill>
                <a:latin typeface="Helvetica Neue"/>
                <a:ea typeface="Helvetica Neue"/>
                <a:cs typeface="Helvetica Neue"/>
              </a:rPr>
              <a:t>SLC</a:t>
            </a:r>
          </a:p>
        </p:txBody>
      </p:sp>
      <p:sp>
        <p:nvSpPr>
          <p:cNvPr id="18" name="">
            <a:extLst xmlns:a="http://schemas.openxmlformats.org/drawingml/2006/main">
              <a:ext uri="{FF2B5EF4-FFF2-40B4-BE49-F238E27FC236}">
                <a16:creationId xmlns:a16="http://schemas.microsoft.com/office/drawing/2014/main" id="{E4099FFD-9AD4-4EAA-9622-D28E5D150507}"/>
              </a:ext>
            </a:extLst>
          </p:cNvPr>
          <p:cNvSpPr>
            <a:spLocks xmlns:a="http://schemas.openxmlformats.org/drawingml/2006/main" noGrp="1"/>
          </p:cNvSpPr>
          <p:nvPr/>
        </p:nvSpPr>
        <p:spPr>
          <a:xfrm xmlns:a="http://schemas.openxmlformats.org/drawingml/2006/main" rot="0">
            <a:off x="4171950" y="4133850"/>
            <a:ext cx="304800" cy="304800"/>
          </a:xfrm>
          <a:prstGeom xmlns:a="http://schemas.openxmlformats.org/drawingml/2006/main" prst="ellipse">
            <a:avLst/>
          </a:prstGeom>
          <a:solidFill xmlns:a="http://schemas.openxmlformats.org/drawingml/2006/main">
            <a:srgbClr val="FFFDF7"/>
          </a:solidFill>
          <a:ln xmlns:a="http://schemas.openxmlformats.org/drawingml/2006/main" w="19050">
            <a:solidFill>
              <a:srgbClr val="202522"/>
            </a:solidFill>
            <a:prstDash val="solid"/>
          </a:ln>
        </p:spPr>
      </p:sp>
      <p:sp>
        <p:nvSpPr>
          <p:cNvPr id="19" name="">
            <a:extLst xmlns:a="http://schemas.openxmlformats.org/drawingml/2006/main">
              <a:ext uri="{FF2B5EF4-FFF2-40B4-BE49-F238E27FC236}">
                <a16:creationId xmlns:a16="http://schemas.microsoft.com/office/drawing/2014/main" id="{2FEB2725-2454-427B-80A3-D93249D6A770}"/>
              </a:ext>
            </a:extLst>
          </p:cNvPr>
          <p:cNvSpPr>
            <a:spLocks xmlns:a="http://schemas.openxmlformats.org/drawingml/2006/main" noGrp="1"/>
          </p:cNvSpPr>
          <p:nvPr/>
        </p:nvSpPr>
        <p:spPr>
          <a:xfrm xmlns:a="http://schemas.openxmlformats.org/drawingml/2006/main" rot="0">
            <a:off x="3829050" y="451485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i="0">
                <a:solidFill>
                  <a:srgbClr val="202522"/>
                </a:solidFill>
                <a:latin typeface="Helvetica Neue"/>
                <a:ea typeface="Helvetica Neue"/>
                <a:cs typeface="Helvetica Neue"/>
              </a:defRPr>
            </a:pPr>
            <a:r>
              <a:rPr sz="1425" b="0" i="0">
                <a:solidFill>
                  <a:srgbClr val="202522"/>
                </a:solidFill>
                <a:latin typeface="Helvetica Neue"/>
                <a:ea typeface="Helvetica Neue"/>
                <a:cs typeface="Helvetica Neue"/>
              </a:rPr>
              <a:t>Provo</a:t>
            </a:r>
          </a:p>
        </p:txBody>
      </p:sp>
      <p:sp>
        <p:nvSpPr>
          <p:cNvPr id="20" name="">
            <a:extLst xmlns:a="http://schemas.openxmlformats.org/drawingml/2006/main">
              <a:ext uri="{FF2B5EF4-FFF2-40B4-BE49-F238E27FC236}">
                <a16:creationId xmlns:a16="http://schemas.microsoft.com/office/drawing/2014/main" id="{DC6CFE2F-B93A-4413-A8DB-9BF57EFAD2F6}"/>
              </a:ext>
            </a:extLst>
          </p:cNvPr>
          <p:cNvSpPr>
            <a:spLocks xmlns:a="http://schemas.openxmlformats.org/drawingml/2006/main" noGrp="1"/>
          </p:cNvSpPr>
          <p:nvPr/>
        </p:nvSpPr>
        <p:spPr>
          <a:xfrm xmlns:a="http://schemas.openxmlformats.org/drawingml/2006/main" rot="0">
            <a:off x="1885950" y="4476750"/>
            <a:ext cx="304800" cy="304800"/>
          </a:xfrm>
          <a:prstGeom xmlns:a="http://schemas.openxmlformats.org/drawingml/2006/main" prst="ellipse">
            <a:avLst/>
          </a:prstGeom>
          <a:solidFill xmlns:a="http://schemas.openxmlformats.org/drawingml/2006/main">
            <a:srgbClr val="FFFDF7"/>
          </a:solidFill>
          <a:ln xmlns:a="http://schemas.openxmlformats.org/drawingml/2006/main" w="19050">
            <a:solidFill>
              <a:srgbClr val="202522"/>
            </a:solidFill>
            <a:prstDash val="solid"/>
          </a:ln>
        </p:spPr>
      </p:sp>
      <p:sp>
        <p:nvSpPr>
          <p:cNvPr id="21" name="">
            <a:extLst xmlns:a="http://schemas.openxmlformats.org/drawingml/2006/main">
              <a:ext uri="{FF2B5EF4-FFF2-40B4-BE49-F238E27FC236}">
                <a16:creationId xmlns:a16="http://schemas.microsoft.com/office/drawing/2014/main" id="{F3D99130-8C82-4EF0-B695-20B8A9C0D9A4}"/>
              </a:ext>
            </a:extLst>
          </p:cNvPr>
          <p:cNvSpPr>
            <a:spLocks xmlns:a="http://schemas.openxmlformats.org/drawingml/2006/main" noGrp="1"/>
          </p:cNvSpPr>
          <p:nvPr/>
        </p:nvSpPr>
        <p:spPr>
          <a:xfrm xmlns:a="http://schemas.openxmlformats.org/drawingml/2006/main" rot="0">
            <a:off x="1543050" y="485775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i="0">
                <a:solidFill>
                  <a:srgbClr val="202522"/>
                </a:solidFill>
                <a:latin typeface="Helvetica Neue"/>
                <a:ea typeface="Helvetica Neue"/>
                <a:cs typeface="Helvetica Neue"/>
              </a:defRPr>
            </a:pPr>
            <a:r>
              <a:rPr sz="1425" b="0" i="0">
                <a:solidFill>
                  <a:srgbClr val="202522"/>
                </a:solidFill>
                <a:latin typeface="Helvetica Neue"/>
                <a:ea typeface="Helvetica Neue"/>
                <a:cs typeface="Helvetica Neue"/>
              </a:rPr>
              <a:t>Ogden</a:t>
            </a:r>
          </a:p>
        </p:txBody>
      </p:sp>
      <p:sp>
        <p:nvSpPr>
          <p:cNvPr id="22" name="">
            <a:extLst xmlns:a="http://schemas.openxmlformats.org/drawingml/2006/main">
              <a:ext uri="{FF2B5EF4-FFF2-40B4-BE49-F238E27FC236}">
                <a16:creationId xmlns:a16="http://schemas.microsoft.com/office/drawing/2014/main" id="{C76D490C-1098-4A01-8C9C-B990BBD3B546}"/>
              </a:ext>
            </a:extLst>
          </p:cNvPr>
          <p:cNvSpPr>
            <a:spLocks xmlns:a="http://schemas.openxmlformats.org/drawingml/2006/main" noGrp="1"/>
          </p:cNvSpPr>
          <p:nvPr/>
        </p:nvSpPr>
        <p:spPr>
          <a:xfrm xmlns:a="http://schemas.openxmlformats.org/drawingml/2006/main" rot="0">
            <a:off x="1028700" y="54292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0" i="0">
                <a:solidFill>
                  <a:srgbClr val="68716B"/>
                </a:solidFill>
                <a:latin typeface="Helvetica Neue"/>
                <a:ea typeface="Helvetica Neue"/>
                <a:cs typeface="Helvetica Neue"/>
              </a:defRPr>
            </a:pPr>
            <a:r>
              <a:rPr sz="1575" b="0" i="0">
                <a:solidFill>
                  <a:srgbClr val="68716B"/>
                </a:solidFill>
                <a:latin typeface="Helvetica Neue"/>
                <a:ea typeface="Helvetica Neue"/>
                <a:cs typeface="Helvetica Neue"/>
              </a:rPr>
              <a:t>too large to enumerate completely</a:t>
            </a:r>
          </a:p>
        </p:txBody>
      </p:sp>
      <p:sp>
        <p:nvSpPr>
          <p:cNvPr id="23" name="">
            <a:extLst xmlns:a="http://schemas.openxmlformats.org/drawingml/2006/main">
              <a:ext uri="{FF2B5EF4-FFF2-40B4-BE49-F238E27FC236}">
                <a16:creationId xmlns:a16="http://schemas.microsoft.com/office/drawing/2014/main" id="{CE9C7AB4-50F6-4AE6-8DF7-7C0721570C34}"/>
              </a:ext>
            </a:extLst>
          </p:cNvPr>
          <p:cNvSpPr>
            <a:spLocks xmlns:a="http://schemas.openxmlformats.org/drawingml/2006/main" noGrp="1"/>
          </p:cNvSpPr>
          <p:nvPr/>
        </p:nvSpPr>
        <p:spPr>
          <a:xfrm xmlns:a="http://schemas.openxmlformats.org/drawingml/2006/main" rot="0">
            <a:off x="6457950" y="2038350"/>
            <a:ext cx="4857750" cy="3143250"/>
          </a:xfrm>
          <a:prstGeom xmlns:a="http://schemas.openxmlformats.org/drawingml/2006/main" prst="roundRect">
            <a:avLst>
              <a:gd name="adj" fmla="val 3636"/>
            </a:avLst>
          </a:prstGeom>
          <a:solidFill xmlns:a="http://schemas.openxmlformats.org/drawingml/2006/main">
            <a:srgbClr val="E7F0EF"/>
          </a:solidFill>
          <a:ln xmlns:a="http://schemas.openxmlformats.org/drawingml/2006/main" w="19050">
            <a:solidFill>
              <a:srgbClr val="176B73"/>
            </a:solidFill>
            <a:prstDash val="solid"/>
          </a:ln>
        </p:spPr>
      </p:sp>
      <p:sp>
        <p:nvSpPr>
          <p:cNvPr id="24" name="">
            <a:extLst xmlns:a="http://schemas.openxmlformats.org/drawingml/2006/main">
              <a:ext uri="{FF2B5EF4-FFF2-40B4-BE49-F238E27FC236}">
                <a16:creationId xmlns:a16="http://schemas.microsoft.com/office/drawing/2014/main" id="{F8B87FDE-4814-4F0C-962D-0F8696E52B6C}"/>
              </a:ext>
            </a:extLst>
          </p:cNvPr>
          <p:cNvSpPr>
            <a:spLocks xmlns:a="http://schemas.openxmlformats.org/drawingml/2006/main" noGrp="1"/>
          </p:cNvSpPr>
          <p:nvPr/>
        </p:nvSpPr>
        <p:spPr>
          <a:xfrm xmlns:a="http://schemas.openxmlformats.org/drawingml/2006/main" rot="0">
            <a:off x="6896100" y="2362200"/>
            <a:ext cx="3981450" cy="1752600"/>
          </a:xfrm>
          <a:prstGeom xmlns:a="http://schemas.openxmlformats.org/drawingml/2006/main" prst="roundRect">
            <a:avLst>
              <a:gd name="adj" fmla="val 5435"/>
            </a:avLst>
          </a:prstGeom>
          <a:solidFill xmlns:a="http://schemas.openxmlformats.org/drawingml/2006/main">
            <a:srgbClr val="161A18"/>
          </a:solidFill>
          <a:ln xmlns:a="http://schemas.openxmlformats.org/drawingml/2006/main" w="9525">
            <a:solidFill>
              <a:srgbClr val="161A18"/>
            </a:solidFill>
            <a:prstDash val="solid"/>
          </a:ln>
        </p:spPr>
      </p:sp>
      <p:sp>
        <p:nvSpPr>
          <p:cNvPr id="25" name="">
            <a:extLst xmlns:a="http://schemas.openxmlformats.org/drawingml/2006/main">
              <a:ext uri="{FF2B5EF4-FFF2-40B4-BE49-F238E27FC236}">
                <a16:creationId xmlns:a16="http://schemas.microsoft.com/office/drawing/2014/main" id="{4FF6D92B-DC77-46F0-99F1-AAE71A1520B4}"/>
              </a:ext>
            </a:extLst>
          </p:cNvPr>
          <p:cNvSpPr>
            <a:spLocks xmlns:a="http://schemas.openxmlformats.org/drawingml/2006/main" noGrp="1"/>
          </p:cNvSpPr>
          <p:nvPr/>
        </p:nvSpPr>
        <p:spPr>
          <a:xfrm xmlns:a="http://schemas.openxmlformats.org/drawingml/2006/main" rot="0">
            <a:off x="7067550" y="2514600"/>
            <a:ext cx="36385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FFFDF7"/>
                </a:solidFill>
                <a:latin typeface="SFMono-Regular"/>
                <a:ea typeface="SFMono-Regular"/>
                <a:cs typeface="SFMono-Regular"/>
              </a:defRPr>
            </a:pPr>
            <a:r>
              <a:rPr sz="1575" b="0" i="0">
                <a:solidFill>
                  <a:srgbClr val="FFFDF7"/>
                </a:solidFill>
                <a:latin typeface="SFMono-Regular"/>
                <a:ea typeface="SFMono-Regular"/>
                <a:cs typeface="SFMono-Regular"/>
              </a:rPr>
              <a:t>HashSet::from([</a:t>
            </a:r>
          </a:p>
          <a:p xmlns:a="http://schemas.openxmlformats.org/drawingml/2006/main">
            <a:pPr algn="l">
              <a:lnSpc>
                <a:spcPct val="108000"/>
              </a:lnSpc>
              <a:buNone/>
              <a:defRPr sz="1575" b="0" i="0">
                <a:solidFill>
                  <a:srgbClr val="FFFDF7"/>
                </a:solidFill>
                <a:latin typeface="SFMono-Regular"/>
                <a:ea typeface="SFMono-Regular"/>
                <a:cs typeface="SFMono-Regular"/>
              </a:defRPr>
            </a:pPr>
            <a:r>
              <a:rPr sz="1575" b="0" i="0">
                <a:solidFill>
                  <a:srgbClr val="FFFDF7"/>
                </a:solidFill>
                <a:latin typeface="SFMono-Regular"/>
                <a:ea typeface="SFMono-Regular"/>
                <a:cs typeface="SFMono-Regular"/>
              </a:rPr>
              <a:t>  ("Logan", "SLC"),</a:t>
            </a:r>
          </a:p>
          <a:p xmlns:a="http://schemas.openxmlformats.org/drawingml/2006/main">
            <a:pPr algn="l">
              <a:lnSpc>
                <a:spcPct val="108000"/>
              </a:lnSpc>
              <a:buNone/>
              <a:defRPr sz="1575" b="0" i="0">
                <a:solidFill>
                  <a:srgbClr val="FFFDF7"/>
                </a:solidFill>
                <a:latin typeface="SFMono-Regular"/>
                <a:ea typeface="SFMono-Regular"/>
                <a:cs typeface="SFMono-Regular"/>
              </a:defRPr>
            </a:pPr>
            <a:r>
              <a:rPr sz="1575" b="0" i="0">
                <a:solidFill>
                  <a:srgbClr val="FFFDF7"/>
                </a:solidFill>
                <a:latin typeface="SFMono-Regular"/>
                <a:ea typeface="SFMono-Regular"/>
                <a:cs typeface="SFMono-Regular"/>
              </a:rPr>
              <a:t>  ("SLC", "Provo"),</a:t>
            </a:r>
          </a:p>
          <a:p xmlns:a="http://schemas.openxmlformats.org/drawingml/2006/main">
            <a:pPr algn="l">
              <a:lnSpc>
                <a:spcPct val="108000"/>
              </a:lnSpc>
              <a:buNone/>
              <a:defRPr sz="1575" b="0" i="0">
                <a:solidFill>
                  <a:srgbClr val="FFFDF7"/>
                </a:solidFill>
                <a:latin typeface="SFMono-Regular"/>
                <a:ea typeface="SFMono-Regular"/>
                <a:cs typeface="SFMono-Regular"/>
              </a:defRPr>
            </a:pPr>
            <a:r>
              <a:rPr sz="1575" b="0" i="0">
                <a:solidFill>
                  <a:srgbClr val="FFFDF7"/>
                </a:solidFill>
                <a:latin typeface="SFMono-Regular"/>
                <a:ea typeface="SFMono-Regular"/>
                <a:cs typeface="SFMono-Regular"/>
              </a:rPr>
              <a:t>])</a:t>
            </a:r>
          </a:p>
        </p:txBody>
      </p:sp>
      <p:sp>
        <p:nvSpPr>
          <p:cNvPr id="26" name="">
            <a:extLst xmlns:a="http://schemas.openxmlformats.org/drawingml/2006/main">
              <a:ext uri="{FF2B5EF4-FFF2-40B4-BE49-F238E27FC236}">
                <a16:creationId xmlns:a16="http://schemas.microsoft.com/office/drawing/2014/main" id="{BCFEEE1A-157B-42B3-946F-E1CC6058390C}"/>
              </a:ext>
            </a:extLst>
          </p:cNvPr>
          <p:cNvSpPr>
            <a:spLocks xmlns:a="http://schemas.openxmlformats.org/drawingml/2006/main" noGrp="1"/>
          </p:cNvSpPr>
          <p:nvPr/>
        </p:nvSpPr>
        <p:spPr>
          <a:xfrm xmlns:a="http://schemas.openxmlformats.org/drawingml/2006/main" rot="0">
            <a:off x="7162800" y="4438650"/>
            <a:ext cx="3448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176B73"/>
                </a:solidFill>
                <a:latin typeface="Helvetica Neue"/>
                <a:ea typeface="Helvetica Neue"/>
                <a:cs typeface="Helvetica Neue"/>
              </a:defRPr>
            </a:pPr>
            <a:r>
              <a:rPr sz="1725" b="1" i="0">
                <a:solidFill>
                  <a:srgbClr val="176B73"/>
                </a:solidFill>
                <a:latin typeface="Helvetica Neue"/>
                <a:ea typeface="Helvetica Neue"/>
                <a:cs typeface="Helvetica Neue"/>
              </a:rPr>
              <a:t>membership is decidable here</a:t>
            </a:r>
          </a:p>
        </p:txBody>
      </p:sp>
      <p:sp>
        <p:nvSpPr>
          <p:cNvPr id="27" name="">
            <a:extLst xmlns:a="http://schemas.openxmlformats.org/drawingml/2006/main">
              <a:ext uri="{FF2B5EF4-FFF2-40B4-BE49-F238E27FC236}">
                <a16:creationId xmlns:a16="http://schemas.microsoft.com/office/drawing/2014/main" id="{5B56EB0A-FC1E-4BA7-B800-4DB25B0B1AD7}"/>
              </a:ext>
            </a:extLst>
          </p:cNvPr>
          <p:cNvSpPr>
            <a:spLocks xmlns:a="http://schemas.openxmlformats.org/drawingml/2006/main" noGrp="1"/>
          </p:cNvSpPr>
          <p:nvPr/>
        </p:nvSpPr>
        <p:spPr>
          <a:xfrm xmlns:a="http://schemas.openxmlformats.org/drawingml/2006/main" rot="0">
            <a:off x="6324600" y="5429250"/>
            <a:ext cx="5105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0" i="0">
                <a:solidFill>
                  <a:srgbClr val="176B73"/>
                </a:solidFill>
                <a:latin typeface="Helvetica Neue"/>
                <a:ea typeface="Helvetica Neue"/>
                <a:cs typeface="Helvetica Neue"/>
              </a:defRPr>
            </a:pPr>
            <a:r>
              <a:rPr sz="1650" b="0" i="0">
                <a:solidFill>
                  <a:srgbClr val="176B73"/>
                </a:solidFill>
                <a:latin typeface="Helvetica Neue"/>
                <a:ea typeface="Helvetica Neue"/>
                <a:cs typeface="Helvetica Neue"/>
              </a:rPr>
              <a:t>Closed world: ask “according to what we recorded?”</a:t>
            </a:r>
          </a:p>
        </p:txBody>
      </p:sp>
    </p:spTree>
    <p:extLst>
      <p:ext uri="{BB962C8B-B14F-4D97-AF65-F5344CB8AC3E}">
        <p14:creationId xmlns:p14="http://schemas.microsoft.com/office/powerpoint/2010/main" val="526329334"/>
      </p:ext>
    </p:extLst>
  </p:cSld>
</p:sld>
</file>

<file path=ppt/slides/slide2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AB02875-821A-417C-A085-B8A6CFFA010E}"/>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684F82"/>
          </a:solidFill>
          <a:ln xmlns:a="http://schemas.openxmlformats.org/drawingml/2006/main" w="0">
            <a:solidFill>
              <a:srgbClr val="684F82"/>
            </a:solidFill>
            <a:prstDash val="solid"/>
          </a:ln>
        </p:spPr>
      </p:sp>
      <p:sp>
        <p:nvSpPr>
          <p:cNvPr id="2" name="">
            <a:extLst xmlns:a="http://schemas.openxmlformats.org/drawingml/2006/main">
              <a:ext uri="{FF2B5EF4-FFF2-40B4-BE49-F238E27FC236}">
                <a16:creationId xmlns:a16="http://schemas.microsoft.com/office/drawing/2014/main" id="{2191F9CF-44F1-49D5-8303-376EAA30B873}"/>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684F82"/>
                </a:solidFill>
                <a:latin typeface="Helvetica Neue"/>
                <a:ea typeface="Helvetica Neue"/>
                <a:cs typeface="Helvetica Neue"/>
              </a:defRPr>
            </a:pPr>
            <a:r>
              <a:rPr sz="1050" b="1" i="0">
                <a:solidFill>
                  <a:srgbClr val="684F82"/>
                </a:solidFill>
                <a:latin typeface="Helvetica Neue"/>
                <a:ea typeface="Helvetica Neue"/>
                <a:cs typeface="Helvetica Neue"/>
              </a:rPr>
              <a:t>CONCRETE END-TO-END ANCHOR</a:t>
            </a:r>
          </a:p>
        </p:txBody>
      </p:sp>
      <p:sp>
        <p:nvSpPr>
          <p:cNvPr id="3" name="">
            <a:extLst xmlns:a="http://schemas.openxmlformats.org/drawingml/2006/main">
              <a:ext uri="{FF2B5EF4-FFF2-40B4-BE49-F238E27FC236}">
                <a16:creationId xmlns:a16="http://schemas.microsoft.com/office/drawing/2014/main" id="{2842148F-96BB-49CF-95B3-02139FD3EA88}"/>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311"/>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One triangle query can be read as logic or executed as SQL</a:t>
            </a:r>
          </a:p>
        </p:txBody>
      </p:sp>
      <p:sp>
        <p:nvSpPr>
          <p:cNvPr id="4" name="">
            <a:extLst xmlns:a="http://schemas.openxmlformats.org/drawingml/2006/main">
              <a:ext uri="{FF2B5EF4-FFF2-40B4-BE49-F238E27FC236}">
                <a16:creationId xmlns:a16="http://schemas.microsoft.com/office/drawing/2014/main" id="{C54A81A8-0355-4EB3-AA50-C7CB10ACC4D9}"/>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649BF589-9ECA-497C-98E4-1FD74022E71C}"/>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5A0EEA60-C612-4B1D-BA64-B29AC24871B0}"/>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25</a:t>
            </a:r>
          </a:p>
        </p:txBody>
      </p:sp>
      <p:sp>
        <p:nvSpPr>
          <p:cNvPr id="7" name="">
            <a:extLst xmlns:a="http://schemas.openxmlformats.org/drawingml/2006/main">
              <a:ext uri="{FF2B5EF4-FFF2-40B4-BE49-F238E27FC236}">
                <a16:creationId xmlns:a16="http://schemas.microsoft.com/office/drawing/2014/main" id="{CEB37FCD-E8B7-4655-A139-9846B54DEFC1}"/>
              </a:ext>
            </a:extLst>
          </p:cNvPr>
          <p:cNvSpPr>
            <a:spLocks xmlns:a="http://schemas.openxmlformats.org/drawingml/2006/main" noGrp="1"/>
          </p:cNvSpPr>
          <p:nvPr/>
        </p:nvSpPr>
        <p:spPr>
          <a:xfrm xmlns:a="http://schemas.openxmlformats.org/drawingml/2006/main" flipV="1">
            <a:off x="1600200" y="2133600"/>
            <a:ext cx="1409700" cy="533400"/>
          </a:xfrm>
          <a:prstGeom xmlns:a="http://schemas.openxmlformats.org/drawingml/2006/main" prst="line">
            <a:avLst/>
          </a:prstGeom>
          <a:noFill xmlns:a="http://schemas.openxmlformats.org/drawingml/2006/main"/>
          <a:ln xmlns:a="http://schemas.openxmlformats.org/drawingml/2006/main" w="38100">
            <a:solidFill>
              <a:srgbClr val="176B73"/>
            </a:solidFill>
            <a:prstDash val="solid"/>
          </a:ln>
        </p:spPr>
      </p:sp>
      <p:sp>
        <p:nvSpPr>
          <p:cNvPr id="8" name="">
            <a:extLst xmlns:a="http://schemas.openxmlformats.org/drawingml/2006/main">
              <a:ext uri="{FF2B5EF4-FFF2-40B4-BE49-F238E27FC236}">
                <a16:creationId xmlns:a16="http://schemas.microsoft.com/office/drawing/2014/main" id="{0048B992-ADCB-4BE8-97DF-E62BDC64B50D}"/>
              </a:ext>
            </a:extLst>
          </p:cNvPr>
          <p:cNvSpPr>
            <a:spLocks xmlns:a="http://schemas.openxmlformats.org/drawingml/2006/main" noGrp="1"/>
          </p:cNvSpPr>
          <p:nvPr/>
        </p:nvSpPr>
        <p:spPr>
          <a:xfrm xmlns:a="http://schemas.openxmlformats.org/drawingml/2006/main" flipV="0">
            <a:off x="3009900" y="2133600"/>
            <a:ext cx="361950" cy="1581150"/>
          </a:xfrm>
          <a:prstGeom xmlns:a="http://schemas.openxmlformats.org/drawingml/2006/main" prst="line">
            <a:avLst/>
          </a:prstGeom>
          <a:noFill xmlns:a="http://schemas.openxmlformats.org/drawingml/2006/main"/>
          <a:ln xmlns:a="http://schemas.openxmlformats.org/drawingml/2006/main" w="38100">
            <a:solidFill>
              <a:srgbClr val="9B4C2F"/>
            </a:solidFill>
            <a:prstDash val="solid"/>
          </a:ln>
        </p:spPr>
      </p:sp>
      <p:sp>
        <p:nvSpPr>
          <p:cNvPr id="9" name="">
            <a:extLst xmlns:a="http://schemas.openxmlformats.org/drawingml/2006/main">
              <a:ext uri="{FF2B5EF4-FFF2-40B4-BE49-F238E27FC236}">
                <a16:creationId xmlns:a16="http://schemas.microsoft.com/office/drawing/2014/main" id="{99500C20-7483-436C-B6FE-65D2DF76BD28}"/>
              </a:ext>
            </a:extLst>
          </p:cNvPr>
          <p:cNvSpPr>
            <a:spLocks xmlns:a="http://schemas.openxmlformats.org/drawingml/2006/main" noGrp="1"/>
          </p:cNvSpPr>
          <p:nvPr/>
        </p:nvSpPr>
        <p:spPr>
          <a:xfrm xmlns:a="http://schemas.openxmlformats.org/drawingml/2006/main" flipV="0">
            <a:off x="1600200" y="2667000"/>
            <a:ext cx="1771650" cy="1047750"/>
          </a:xfrm>
          <a:prstGeom xmlns:a="http://schemas.openxmlformats.org/drawingml/2006/main" prst="line">
            <a:avLst/>
          </a:prstGeom>
          <a:noFill xmlns:a="http://schemas.openxmlformats.org/drawingml/2006/main"/>
          <a:ln xmlns:a="http://schemas.openxmlformats.org/drawingml/2006/main" w="38100">
            <a:solidFill>
              <a:srgbClr val="684F82"/>
            </a:solidFill>
            <a:prstDash val="solid"/>
          </a:ln>
        </p:spPr>
      </p:sp>
      <p:sp>
        <p:nvSpPr>
          <p:cNvPr id="10" name="">
            <a:extLst xmlns:a="http://schemas.openxmlformats.org/drawingml/2006/main">
              <a:ext uri="{FF2B5EF4-FFF2-40B4-BE49-F238E27FC236}">
                <a16:creationId xmlns:a16="http://schemas.microsoft.com/office/drawing/2014/main" id="{5B805FCE-0187-4E85-83DF-CB2818E257F4}"/>
              </a:ext>
            </a:extLst>
          </p:cNvPr>
          <p:cNvSpPr>
            <a:spLocks xmlns:a="http://schemas.openxmlformats.org/drawingml/2006/main" noGrp="1"/>
          </p:cNvSpPr>
          <p:nvPr/>
        </p:nvSpPr>
        <p:spPr>
          <a:xfrm xmlns:a="http://schemas.openxmlformats.org/drawingml/2006/main" rot="0">
            <a:off x="1428750" y="2495550"/>
            <a:ext cx="342900" cy="34290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11" name="">
            <a:extLst xmlns:a="http://schemas.openxmlformats.org/drawingml/2006/main">
              <a:ext uri="{FF2B5EF4-FFF2-40B4-BE49-F238E27FC236}">
                <a16:creationId xmlns:a16="http://schemas.microsoft.com/office/drawing/2014/main" id="{F7977C13-1C5C-4A6A-9D40-D71AF458064C}"/>
              </a:ext>
            </a:extLst>
          </p:cNvPr>
          <p:cNvSpPr>
            <a:spLocks xmlns:a="http://schemas.openxmlformats.org/drawingml/2006/main" noGrp="1"/>
          </p:cNvSpPr>
          <p:nvPr/>
        </p:nvSpPr>
        <p:spPr>
          <a:xfrm xmlns:a="http://schemas.openxmlformats.org/drawingml/2006/main" rot="0">
            <a:off x="2838450" y="1962150"/>
            <a:ext cx="342900" cy="342900"/>
          </a:xfrm>
          <a:prstGeom xmlns:a="http://schemas.openxmlformats.org/drawingml/2006/main" prst="ellipse">
            <a:avLst/>
          </a:prstGeom>
          <a:solidFill xmlns:a="http://schemas.openxmlformats.org/drawingml/2006/main">
            <a:srgbClr val="9B4C2F"/>
          </a:solidFill>
          <a:ln xmlns:a="http://schemas.openxmlformats.org/drawingml/2006/main" w="19050">
            <a:solidFill>
              <a:srgbClr val="F5F2E9"/>
            </a:solidFill>
            <a:prstDash val="solid"/>
          </a:ln>
        </p:spPr>
      </p:sp>
      <p:sp>
        <p:nvSpPr>
          <p:cNvPr id="12" name="">
            <a:extLst xmlns:a="http://schemas.openxmlformats.org/drawingml/2006/main">
              <a:ext uri="{FF2B5EF4-FFF2-40B4-BE49-F238E27FC236}">
                <a16:creationId xmlns:a16="http://schemas.microsoft.com/office/drawing/2014/main" id="{4241A1DF-5BFC-4A9D-81F2-9ABB372C205E}"/>
              </a:ext>
            </a:extLst>
          </p:cNvPr>
          <p:cNvSpPr>
            <a:spLocks xmlns:a="http://schemas.openxmlformats.org/drawingml/2006/main" noGrp="1"/>
          </p:cNvSpPr>
          <p:nvPr/>
        </p:nvSpPr>
        <p:spPr>
          <a:xfrm xmlns:a="http://schemas.openxmlformats.org/drawingml/2006/main" rot="0">
            <a:off x="3200400" y="3543300"/>
            <a:ext cx="342900" cy="342900"/>
          </a:xfrm>
          <a:prstGeom xmlns:a="http://schemas.openxmlformats.org/drawingml/2006/main" prst="ellipse">
            <a:avLst/>
          </a:prstGeom>
          <a:solidFill xmlns:a="http://schemas.openxmlformats.org/drawingml/2006/main">
            <a:srgbClr val="684F82"/>
          </a:solidFill>
          <a:ln xmlns:a="http://schemas.openxmlformats.org/drawingml/2006/main" w="19050">
            <a:solidFill>
              <a:srgbClr val="F5F2E9"/>
            </a:solidFill>
            <a:prstDash val="solid"/>
          </a:ln>
        </p:spPr>
      </p:sp>
      <p:sp>
        <p:nvSpPr>
          <p:cNvPr id="13" name="">
            <a:extLst xmlns:a="http://schemas.openxmlformats.org/drawingml/2006/main">
              <a:ext uri="{FF2B5EF4-FFF2-40B4-BE49-F238E27FC236}">
                <a16:creationId xmlns:a16="http://schemas.microsoft.com/office/drawing/2014/main" id="{FE652383-DDFF-4975-82AF-59482D770366}"/>
              </a:ext>
            </a:extLst>
          </p:cNvPr>
          <p:cNvSpPr>
            <a:spLocks xmlns:a="http://schemas.openxmlformats.org/drawingml/2006/main" noGrp="1"/>
          </p:cNvSpPr>
          <p:nvPr/>
        </p:nvSpPr>
        <p:spPr>
          <a:xfrm xmlns:a="http://schemas.openxmlformats.org/drawingml/2006/main" rot="0">
            <a:off x="1409700" y="2352675"/>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202522"/>
                </a:solidFill>
                <a:latin typeface="Helvetica Neue"/>
                <a:ea typeface="Helvetica Neue"/>
                <a:cs typeface="Helvetica Neue"/>
              </a:defRPr>
            </a:pPr>
            <a:r>
              <a:rPr sz="1350" b="1" i="0">
                <a:solidFill>
                  <a:srgbClr val="202522"/>
                </a:solidFill>
                <a:latin typeface="Helvetica Neue"/>
                <a:ea typeface="Helvetica Neue"/>
                <a:cs typeface="Helvetica Neue"/>
              </a:rPr>
              <a:t>x</a:t>
            </a:r>
          </a:p>
        </p:txBody>
      </p:sp>
      <p:sp>
        <p:nvSpPr>
          <p:cNvPr id="14" name="">
            <a:extLst xmlns:a="http://schemas.openxmlformats.org/drawingml/2006/main">
              <a:ext uri="{FF2B5EF4-FFF2-40B4-BE49-F238E27FC236}">
                <a16:creationId xmlns:a16="http://schemas.microsoft.com/office/drawing/2014/main" id="{29483B5C-65ED-4119-AC6A-A65B0E92A265}"/>
              </a:ext>
            </a:extLst>
          </p:cNvPr>
          <p:cNvSpPr>
            <a:spLocks xmlns:a="http://schemas.openxmlformats.org/drawingml/2006/main" noGrp="1"/>
          </p:cNvSpPr>
          <p:nvPr/>
        </p:nvSpPr>
        <p:spPr>
          <a:xfrm xmlns:a="http://schemas.openxmlformats.org/drawingml/2006/main" rot="0">
            <a:off x="2819400" y="18097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202522"/>
                </a:solidFill>
                <a:latin typeface="Helvetica Neue"/>
                <a:ea typeface="Helvetica Neue"/>
                <a:cs typeface="Helvetica Neue"/>
              </a:defRPr>
            </a:pPr>
            <a:r>
              <a:rPr sz="1350" b="1" i="0">
                <a:solidFill>
                  <a:srgbClr val="202522"/>
                </a:solidFill>
                <a:latin typeface="Helvetica Neue"/>
                <a:ea typeface="Helvetica Neue"/>
                <a:cs typeface="Helvetica Neue"/>
              </a:rPr>
              <a:t>y</a:t>
            </a:r>
          </a:p>
        </p:txBody>
      </p:sp>
      <p:sp>
        <p:nvSpPr>
          <p:cNvPr id="15" name="">
            <a:extLst xmlns:a="http://schemas.openxmlformats.org/drawingml/2006/main">
              <a:ext uri="{FF2B5EF4-FFF2-40B4-BE49-F238E27FC236}">
                <a16:creationId xmlns:a16="http://schemas.microsoft.com/office/drawing/2014/main" id="{96E398B7-C91A-4551-9737-F1ACD4E792BC}"/>
              </a:ext>
            </a:extLst>
          </p:cNvPr>
          <p:cNvSpPr>
            <a:spLocks xmlns:a="http://schemas.openxmlformats.org/drawingml/2006/main" noGrp="1"/>
          </p:cNvSpPr>
          <p:nvPr/>
        </p:nvSpPr>
        <p:spPr>
          <a:xfrm xmlns:a="http://schemas.openxmlformats.org/drawingml/2006/main" rot="0">
            <a:off x="3181350" y="39433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202522"/>
                </a:solidFill>
                <a:latin typeface="Helvetica Neue"/>
                <a:ea typeface="Helvetica Neue"/>
                <a:cs typeface="Helvetica Neue"/>
              </a:defRPr>
            </a:pPr>
            <a:r>
              <a:rPr sz="1350" b="1" i="0">
                <a:solidFill>
                  <a:srgbClr val="202522"/>
                </a:solidFill>
                <a:latin typeface="Helvetica Neue"/>
                <a:ea typeface="Helvetica Neue"/>
                <a:cs typeface="Helvetica Neue"/>
              </a:rPr>
              <a:t>z</a:t>
            </a:r>
          </a:p>
        </p:txBody>
      </p:sp>
      <p:sp>
        <p:nvSpPr>
          <p:cNvPr id="16" name="">
            <a:extLst xmlns:a="http://schemas.openxmlformats.org/drawingml/2006/main">
              <a:ext uri="{FF2B5EF4-FFF2-40B4-BE49-F238E27FC236}">
                <a16:creationId xmlns:a16="http://schemas.microsoft.com/office/drawing/2014/main" id="{574F1CD0-315E-4FB8-A49E-90447C1DE91A}"/>
              </a:ext>
            </a:extLst>
          </p:cNvPr>
          <p:cNvSpPr>
            <a:spLocks xmlns:a="http://schemas.openxmlformats.org/drawingml/2006/main" noGrp="1"/>
          </p:cNvSpPr>
          <p:nvPr/>
        </p:nvSpPr>
        <p:spPr>
          <a:xfrm xmlns:a="http://schemas.openxmlformats.org/drawingml/2006/main" rot="0">
            <a:off x="2057400" y="21526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76B73"/>
                </a:solidFill>
                <a:latin typeface="Helvetica Neue"/>
                <a:ea typeface="Helvetica Neue"/>
                <a:cs typeface="Helvetica Neue"/>
              </a:defRPr>
            </a:pPr>
            <a:r>
              <a:rPr sz="1350" b="1" i="0">
                <a:solidFill>
                  <a:srgbClr val="176B73"/>
                </a:solidFill>
                <a:latin typeface="Helvetica Neue"/>
                <a:ea typeface="Helvetica Neue"/>
                <a:cs typeface="Helvetica Neue"/>
              </a:rPr>
              <a:t>R</a:t>
            </a:r>
          </a:p>
        </p:txBody>
      </p:sp>
      <p:sp>
        <p:nvSpPr>
          <p:cNvPr id="17" name="">
            <a:extLst xmlns:a="http://schemas.openxmlformats.org/drawingml/2006/main">
              <a:ext uri="{FF2B5EF4-FFF2-40B4-BE49-F238E27FC236}">
                <a16:creationId xmlns:a16="http://schemas.microsoft.com/office/drawing/2014/main" id="{77460929-31BD-45DA-9CCB-0BC617F7C218}"/>
              </a:ext>
            </a:extLst>
          </p:cNvPr>
          <p:cNvSpPr>
            <a:spLocks xmlns:a="http://schemas.openxmlformats.org/drawingml/2006/main" noGrp="1"/>
          </p:cNvSpPr>
          <p:nvPr/>
        </p:nvSpPr>
        <p:spPr>
          <a:xfrm xmlns:a="http://schemas.openxmlformats.org/drawingml/2006/main" rot="0">
            <a:off x="3276600" y="272415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9B4C2F"/>
                </a:solidFill>
                <a:latin typeface="Helvetica Neue"/>
                <a:ea typeface="Helvetica Neue"/>
                <a:cs typeface="Helvetica Neue"/>
              </a:defRPr>
            </a:pPr>
            <a:r>
              <a:rPr sz="1350" b="1" i="0">
                <a:solidFill>
                  <a:srgbClr val="9B4C2F"/>
                </a:solidFill>
                <a:latin typeface="Helvetica Neue"/>
                <a:ea typeface="Helvetica Neue"/>
                <a:cs typeface="Helvetica Neue"/>
              </a:rPr>
              <a:t>S</a:t>
            </a:r>
          </a:p>
        </p:txBody>
      </p:sp>
      <p:sp>
        <p:nvSpPr>
          <p:cNvPr id="18" name="">
            <a:extLst xmlns:a="http://schemas.openxmlformats.org/drawingml/2006/main">
              <a:ext uri="{FF2B5EF4-FFF2-40B4-BE49-F238E27FC236}">
                <a16:creationId xmlns:a16="http://schemas.microsoft.com/office/drawing/2014/main" id="{925916CA-C0B0-4E3C-9932-FB6EFA2A5B51}"/>
              </a:ext>
            </a:extLst>
          </p:cNvPr>
          <p:cNvSpPr>
            <a:spLocks xmlns:a="http://schemas.openxmlformats.org/drawingml/2006/main" noGrp="1"/>
          </p:cNvSpPr>
          <p:nvPr/>
        </p:nvSpPr>
        <p:spPr>
          <a:xfrm xmlns:a="http://schemas.openxmlformats.org/drawingml/2006/main" rot="0">
            <a:off x="2266950" y="33909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684F82"/>
                </a:solidFill>
                <a:latin typeface="Helvetica Neue"/>
                <a:ea typeface="Helvetica Neue"/>
                <a:cs typeface="Helvetica Neue"/>
              </a:defRPr>
            </a:pPr>
            <a:r>
              <a:rPr sz="1350" b="1" i="0">
                <a:solidFill>
                  <a:srgbClr val="684F82"/>
                </a:solidFill>
                <a:latin typeface="Helvetica Neue"/>
                <a:ea typeface="Helvetica Neue"/>
                <a:cs typeface="Helvetica Neue"/>
              </a:rPr>
              <a:t>T</a:t>
            </a:r>
          </a:p>
        </p:txBody>
      </p:sp>
      <p:sp>
        <p:nvSpPr>
          <p:cNvPr id="19" name="">
            <a:extLst xmlns:a="http://schemas.openxmlformats.org/drawingml/2006/main">
              <a:ext uri="{FF2B5EF4-FFF2-40B4-BE49-F238E27FC236}">
                <a16:creationId xmlns:a16="http://schemas.microsoft.com/office/drawing/2014/main" id="{93691200-9632-47CA-9A67-2DC433FD3451}"/>
              </a:ext>
            </a:extLst>
          </p:cNvPr>
          <p:cNvSpPr>
            <a:spLocks xmlns:a="http://schemas.openxmlformats.org/drawingml/2006/main" noGrp="1"/>
          </p:cNvSpPr>
          <p:nvPr/>
        </p:nvSpPr>
        <p:spPr>
          <a:xfrm xmlns:a="http://schemas.openxmlformats.org/drawingml/2006/main" rot="0">
            <a:off x="628650" y="4533900"/>
            <a:ext cx="3905250" cy="1066800"/>
          </a:xfrm>
          <a:prstGeom xmlns:a="http://schemas.openxmlformats.org/drawingml/2006/main" prst="roundRect">
            <a:avLst>
              <a:gd name="adj" fmla="val 8929"/>
            </a:avLst>
          </a:prstGeom>
          <a:solidFill xmlns:a="http://schemas.openxmlformats.org/drawingml/2006/main">
            <a:srgbClr val="161A18"/>
          </a:solidFill>
          <a:ln xmlns:a="http://schemas.openxmlformats.org/drawingml/2006/main" w="9525">
            <a:solidFill>
              <a:srgbClr val="161A18"/>
            </a:solidFill>
            <a:prstDash val="solid"/>
          </a:ln>
        </p:spPr>
      </p:sp>
      <p:sp>
        <p:nvSpPr>
          <p:cNvPr id="20" name="">
            <a:extLst xmlns:a="http://schemas.openxmlformats.org/drawingml/2006/main">
              <a:ext uri="{FF2B5EF4-FFF2-40B4-BE49-F238E27FC236}">
                <a16:creationId xmlns:a16="http://schemas.microsoft.com/office/drawing/2014/main" id="{98AB9520-3303-4EFD-80DE-B9352A48DC2E}"/>
              </a:ext>
            </a:extLst>
          </p:cNvPr>
          <p:cNvSpPr>
            <a:spLocks xmlns:a="http://schemas.openxmlformats.org/drawingml/2006/main" noGrp="1"/>
          </p:cNvSpPr>
          <p:nvPr/>
        </p:nvSpPr>
        <p:spPr>
          <a:xfrm xmlns:a="http://schemas.openxmlformats.org/drawingml/2006/main" rot="0">
            <a:off x="800100" y="4686300"/>
            <a:ext cx="35623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DF7"/>
                </a:solidFill>
                <a:latin typeface="SFMono-Regular"/>
                <a:ea typeface="SFMono-Regular"/>
                <a:cs typeface="SFMono-Regular"/>
              </a:defRPr>
            </a:pPr>
            <a:r>
              <a:rPr sz="1500" b="0" i="0">
                <a:solidFill>
                  <a:srgbClr val="FFFDF7"/>
                </a:solidFill>
                <a:latin typeface="SFMono-Regular"/>
                <a:ea typeface="SFMono-Regular"/>
                <a:cs typeface="SFMono-Regular"/>
              </a:rPr>
              <a:t>triangle(x, y, z) :-</a:t>
            </a:r>
          </a:p>
          <a:p xmlns:a="http://schemas.openxmlformats.org/drawingml/2006/main">
            <a:pPr algn="l">
              <a:lnSpc>
                <a:spcPct val="108000"/>
              </a:lnSpc>
              <a:buNone/>
              <a:defRPr sz="1500" b="0" i="0">
                <a:solidFill>
                  <a:srgbClr val="FFFDF7"/>
                </a:solidFill>
                <a:latin typeface="SFMono-Regular"/>
                <a:ea typeface="SFMono-Regular"/>
                <a:cs typeface="SFMono-Regular"/>
              </a:defRPr>
            </a:pPr>
            <a:r>
              <a:rPr sz="1500" b="0" i="0">
                <a:solidFill>
                  <a:srgbClr val="FFFDF7"/>
                </a:solidFill>
                <a:latin typeface="SFMono-Regular"/>
                <a:ea typeface="SFMono-Regular"/>
                <a:cs typeface="SFMono-Regular"/>
              </a:rPr>
              <a:t>  R(x, y), S(y, z), T(z, x).</a:t>
            </a:r>
          </a:p>
        </p:txBody>
      </p:sp>
      <p:sp>
        <p:nvSpPr>
          <p:cNvPr id="21" name="">
            <a:extLst xmlns:a="http://schemas.openxmlformats.org/drawingml/2006/main">
              <a:ext uri="{FF2B5EF4-FFF2-40B4-BE49-F238E27FC236}">
                <a16:creationId xmlns:a16="http://schemas.microsoft.com/office/drawing/2014/main" id="{24B15798-447C-4DF8-BD79-95F541A096A0}"/>
              </a:ext>
            </a:extLst>
          </p:cNvPr>
          <p:cNvSpPr>
            <a:spLocks xmlns:a="http://schemas.openxmlformats.org/drawingml/2006/main" noGrp="1"/>
          </p:cNvSpPr>
          <p:nvPr/>
        </p:nvSpPr>
        <p:spPr>
          <a:xfrm xmlns:a="http://schemas.openxmlformats.org/drawingml/2006/main" rot="0">
            <a:off x="4724400" y="3143250"/>
            <a:ext cx="704850" cy="247650"/>
          </a:xfrm>
          <a:prstGeom xmlns:a="http://schemas.openxmlformats.org/drawingml/2006/main" prst="rightArrow">
            <a:avLst/>
          </a:prstGeom>
          <a:solidFill xmlns:a="http://schemas.openxmlformats.org/drawingml/2006/main">
            <a:srgbClr val="D9D5C9"/>
          </a:solidFill>
          <a:ln xmlns:a="http://schemas.openxmlformats.org/drawingml/2006/main" w="0">
            <a:solidFill>
              <a:srgbClr val="D9D5C9"/>
            </a:solidFill>
            <a:prstDash val="solid"/>
          </a:ln>
        </p:spPr>
      </p:sp>
      <p:sp>
        <p:nvSpPr>
          <p:cNvPr id="22" name="">
            <a:extLst xmlns:a="http://schemas.openxmlformats.org/drawingml/2006/main">
              <a:ext uri="{FF2B5EF4-FFF2-40B4-BE49-F238E27FC236}">
                <a16:creationId xmlns:a16="http://schemas.microsoft.com/office/drawing/2014/main" id="{4CAFBBEE-7F60-47A8-A4A1-B1B2D8FB152F}"/>
              </a:ext>
            </a:extLst>
          </p:cNvPr>
          <p:cNvSpPr>
            <a:spLocks xmlns:a="http://schemas.openxmlformats.org/drawingml/2006/main" noGrp="1"/>
          </p:cNvSpPr>
          <p:nvPr/>
        </p:nvSpPr>
        <p:spPr>
          <a:xfrm xmlns:a="http://schemas.openxmlformats.org/drawingml/2006/main" rot="0">
            <a:off x="5638800" y="1714500"/>
            <a:ext cx="5829300" cy="1847850"/>
          </a:xfrm>
          <a:prstGeom xmlns:a="http://schemas.openxmlformats.org/drawingml/2006/main" prst="roundRect">
            <a:avLst>
              <a:gd name="adj" fmla="val 5155"/>
            </a:avLst>
          </a:prstGeom>
          <a:solidFill xmlns:a="http://schemas.openxmlformats.org/drawingml/2006/main">
            <a:srgbClr val="161A18"/>
          </a:solidFill>
          <a:ln xmlns:a="http://schemas.openxmlformats.org/drawingml/2006/main" w="9525">
            <a:solidFill>
              <a:srgbClr val="161A18"/>
            </a:solidFill>
            <a:prstDash val="solid"/>
          </a:ln>
        </p:spPr>
      </p:sp>
      <p:sp>
        <p:nvSpPr>
          <p:cNvPr id="23" name="">
            <a:extLst xmlns:a="http://schemas.openxmlformats.org/drawingml/2006/main">
              <a:ext uri="{FF2B5EF4-FFF2-40B4-BE49-F238E27FC236}">
                <a16:creationId xmlns:a16="http://schemas.microsoft.com/office/drawing/2014/main" id="{05D01D50-039C-40D7-BDFB-3754632EE380}"/>
              </a:ext>
            </a:extLst>
          </p:cNvPr>
          <p:cNvSpPr>
            <a:spLocks xmlns:a="http://schemas.openxmlformats.org/drawingml/2006/main" noGrp="1"/>
          </p:cNvSpPr>
          <p:nvPr/>
        </p:nvSpPr>
        <p:spPr>
          <a:xfrm xmlns:a="http://schemas.openxmlformats.org/drawingml/2006/main" rot="0">
            <a:off x="5810250" y="1866900"/>
            <a:ext cx="548640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FFFDF7"/>
                </a:solidFill>
                <a:latin typeface="SFMono-Regular"/>
                <a:ea typeface="SFMono-Regular"/>
                <a:cs typeface="SFMono-Regular"/>
              </a:defRPr>
            </a:pPr>
            <a:r>
              <a:rPr sz="1425" b="0" i="0">
                <a:solidFill>
                  <a:srgbClr val="FFFDF7"/>
                </a:solidFill>
                <a:latin typeface="SFMono-Regular"/>
                <a:ea typeface="SFMono-Regular"/>
                <a:cs typeface="SFMono-Regular"/>
              </a:rPr>
              <a:t>SELECT DISTINCT R.x, R.y, S.z</a:t>
            </a:r>
          </a:p>
          <a:p xmlns:a="http://schemas.openxmlformats.org/drawingml/2006/main">
            <a:pPr algn="l">
              <a:lnSpc>
                <a:spcPct val="108000"/>
              </a:lnSpc>
              <a:buNone/>
              <a:defRPr sz="1425" b="0" i="0">
                <a:solidFill>
                  <a:srgbClr val="FFFDF7"/>
                </a:solidFill>
                <a:latin typeface="SFMono-Regular"/>
                <a:ea typeface="SFMono-Regular"/>
                <a:cs typeface="SFMono-Regular"/>
              </a:defRPr>
            </a:pPr>
            <a:r>
              <a:rPr sz="1425" b="0" i="0">
                <a:solidFill>
                  <a:srgbClr val="FFFDF7"/>
                </a:solidFill>
                <a:latin typeface="SFMono-Regular"/>
                <a:ea typeface="SFMono-Regular"/>
                <a:cs typeface="SFMono-Regular"/>
              </a:rPr>
              <a:t>FROM R</a:t>
            </a:r>
          </a:p>
          <a:p xmlns:a="http://schemas.openxmlformats.org/drawingml/2006/main">
            <a:pPr algn="l">
              <a:lnSpc>
                <a:spcPct val="108000"/>
              </a:lnSpc>
              <a:buNone/>
              <a:defRPr sz="1425" b="0" i="0">
                <a:solidFill>
                  <a:srgbClr val="FFFDF7"/>
                </a:solidFill>
                <a:latin typeface="SFMono-Regular"/>
                <a:ea typeface="SFMono-Regular"/>
                <a:cs typeface="SFMono-Regular"/>
              </a:defRPr>
            </a:pPr>
            <a:r>
              <a:rPr sz="1425" b="0" i="0">
                <a:solidFill>
                  <a:srgbClr val="FFFDF7"/>
                </a:solidFill>
                <a:latin typeface="SFMono-Regular"/>
                <a:ea typeface="SFMono-Regular"/>
                <a:cs typeface="SFMono-Regular"/>
              </a:rPr>
              <a:t>JOIN S ON R.y = S.y</a:t>
            </a:r>
          </a:p>
          <a:p xmlns:a="http://schemas.openxmlformats.org/drawingml/2006/main">
            <a:pPr algn="l">
              <a:lnSpc>
                <a:spcPct val="108000"/>
              </a:lnSpc>
              <a:buNone/>
              <a:defRPr sz="1425" b="0" i="0">
                <a:solidFill>
                  <a:srgbClr val="FFFDF7"/>
                </a:solidFill>
                <a:latin typeface="SFMono-Regular"/>
                <a:ea typeface="SFMono-Regular"/>
                <a:cs typeface="SFMono-Regular"/>
              </a:defRPr>
            </a:pPr>
            <a:r>
              <a:rPr sz="1425" b="0" i="0">
                <a:solidFill>
                  <a:srgbClr val="FFFDF7"/>
                </a:solidFill>
                <a:latin typeface="SFMono-Regular"/>
                <a:ea typeface="SFMono-Regular"/>
                <a:cs typeface="SFMono-Regular"/>
              </a:rPr>
              <a:t>JOIN T ON S.z = T.z AND R.x = T.x</a:t>
            </a:r>
          </a:p>
        </p:txBody>
      </p:sp>
      <p:sp>
        <p:nvSpPr>
          <p:cNvPr id="24" name="">
            <a:extLst xmlns:a="http://schemas.openxmlformats.org/drawingml/2006/main">
              <a:ext uri="{FF2B5EF4-FFF2-40B4-BE49-F238E27FC236}">
                <a16:creationId xmlns:a16="http://schemas.microsoft.com/office/drawing/2014/main" id="{C289707B-401E-42F1-B87F-1C0DEBAB59EE}"/>
              </a:ext>
            </a:extLst>
          </p:cNvPr>
          <p:cNvSpPr>
            <a:spLocks xmlns:a="http://schemas.openxmlformats.org/drawingml/2006/main" noGrp="1"/>
          </p:cNvSpPr>
          <p:nvPr/>
        </p:nvSpPr>
        <p:spPr>
          <a:xfrm xmlns:a="http://schemas.openxmlformats.org/drawingml/2006/main" rot="0">
            <a:off x="5638800" y="4000500"/>
            <a:ext cx="5829300" cy="1314450"/>
          </a:xfrm>
          <a:prstGeom xmlns:a="http://schemas.openxmlformats.org/drawingml/2006/main" prst="roundRect">
            <a:avLst>
              <a:gd name="adj" fmla="val 5797"/>
            </a:avLst>
          </a:prstGeom>
          <a:solidFill xmlns:a="http://schemas.openxmlformats.org/drawingml/2006/main">
            <a:srgbClr val="FFFDF7"/>
          </a:solidFill>
          <a:ln xmlns:a="http://schemas.openxmlformats.org/drawingml/2006/main" w="19050">
            <a:solidFill>
              <a:srgbClr val="176B73"/>
            </a:solidFill>
            <a:prstDash val="solid"/>
          </a:ln>
        </p:spPr>
      </p:sp>
      <p:sp>
        <p:nvSpPr>
          <p:cNvPr id="25" name="">
            <a:extLst xmlns:a="http://schemas.openxmlformats.org/drawingml/2006/main">
              <a:ext uri="{FF2B5EF4-FFF2-40B4-BE49-F238E27FC236}">
                <a16:creationId xmlns:a16="http://schemas.microsoft.com/office/drawing/2014/main" id="{79FA779A-BADB-4DEB-979F-9E7F768EDBB8}"/>
              </a:ext>
            </a:extLst>
          </p:cNvPr>
          <p:cNvSpPr>
            <a:spLocks xmlns:a="http://schemas.openxmlformats.org/drawingml/2006/main" noGrp="1"/>
          </p:cNvSpPr>
          <p:nvPr/>
        </p:nvSpPr>
        <p:spPr>
          <a:xfrm xmlns:a="http://schemas.openxmlformats.org/drawingml/2006/main" rot="0">
            <a:off x="5905500" y="426720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76B73"/>
                </a:solidFill>
                <a:latin typeface="Helvetica Neue"/>
                <a:ea typeface="Helvetica Neue"/>
                <a:cs typeface="Helvetica Neue"/>
              </a:defRPr>
            </a:pPr>
            <a:r>
              <a:rPr sz="1350" b="1" i="0">
                <a:solidFill>
                  <a:srgbClr val="176B73"/>
                </a:solidFill>
                <a:latin typeface="Helvetica Neue"/>
                <a:ea typeface="Helvetica Neue"/>
                <a:cs typeface="Helvetica Neue"/>
              </a:rPr>
              <a:t>MiniLinq result</a:t>
            </a:r>
          </a:p>
        </p:txBody>
      </p:sp>
      <p:sp>
        <p:nvSpPr>
          <p:cNvPr id="26" name="">
            <a:extLst xmlns:a="http://schemas.openxmlformats.org/drawingml/2006/main">
              <a:ext uri="{FF2B5EF4-FFF2-40B4-BE49-F238E27FC236}">
                <a16:creationId xmlns:a16="http://schemas.microsoft.com/office/drawing/2014/main" id="{9F5D5ACA-F5AA-442B-B415-EFACD7D86003}"/>
              </a:ext>
            </a:extLst>
          </p:cNvPr>
          <p:cNvSpPr>
            <a:spLocks xmlns:a="http://schemas.openxmlformats.org/drawingml/2006/main" noGrp="1"/>
          </p:cNvSpPr>
          <p:nvPr/>
        </p:nvSpPr>
        <p:spPr>
          <a:xfrm xmlns:a="http://schemas.openxmlformats.org/drawingml/2006/main" rot="0">
            <a:off x="5905500" y="47434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8A5A18"/>
                </a:solidFill>
                <a:latin typeface="Helvetica Neue"/>
                <a:ea typeface="Helvetica Neue"/>
                <a:cs typeface="Helvetica Neue"/>
              </a:defRPr>
            </a:pPr>
            <a:r>
              <a:rPr sz="1350" b="1" i="0">
                <a:solidFill>
                  <a:srgbClr val="8A5A18"/>
                </a:solidFill>
                <a:latin typeface="Helvetica Neue"/>
                <a:ea typeface="Helvetica Neue"/>
                <a:cs typeface="Helvetica Neue"/>
              </a:rPr>
              <a:t>DuckDB result</a:t>
            </a:r>
          </a:p>
        </p:txBody>
      </p:sp>
      <p:sp>
        <p:nvSpPr>
          <p:cNvPr id="27" name="">
            <a:extLst xmlns:a="http://schemas.openxmlformats.org/drawingml/2006/main">
              <a:ext uri="{FF2B5EF4-FFF2-40B4-BE49-F238E27FC236}">
                <a16:creationId xmlns:a16="http://schemas.microsoft.com/office/drawing/2014/main" id="{BBC9173E-DF25-4E81-9C4D-D8EC8D329201}"/>
              </a:ext>
            </a:extLst>
          </p:cNvPr>
          <p:cNvSpPr>
            <a:spLocks xmlns:a="http://schemas.openxmlformats.org/drawingml/2006/main" noGrp="1"/>
          </p:cNvSpPr>
          <p:nvPr/>
        </p:nvSpPr>
        <p:spPr>
          <a:xfrm xmlns:a="http://schemas.openxmlformats.org/drawingml/2006/main" rot="0">
            <a:off x="8058150" y="4267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202522"/>
                </a:solidFill>
                <a:latin typeface="SFMono-Regular"/>
                <a:ea typeface="SFMono-Regular"/>
                <a:cs typeface="SFMono-Regular"/>
              </a:defRPr>
            </a:pPr>
            <a:r>
              <a:rPr sz="1500" b="0" i="0">
                <a:solidFill>
                  <a:srgbClr val="202522"/>
                </a:solidFill>
                <a:latin typeface="SFMono-Regular"/>
                <a:ea typeface="SFMono-Regular"/>
                <a:cs typeface="SFMono-Regular"/>
              </a:rPr>
              <a:t>[(1, 2, 3), (2, 3, 4)]</a:t>
            </a:r>
          </a:p>
        </p:txBody>
      </p:sp>
      <p:sp>
        <p:nvSpPr>
          <p:cNvPr id="28" name="">
            <a:extLst xmlns:a="http://schemas.openxmlformats.org/drawingml/2006/main">
              <a:ext uri="{FF2B5EF4-FFF2-40B4-BE49-F238E27FC236}">
                <a16:creationId xmlns:a16="http://schemas.microsoft.com/office/drawing/2014/main" id="{C276C807-E003-47F6-B294-888D842C9E6B}"/>
              </a:ext>
            </a:extLst>
          </p:cNvPr>
          <p:cNvSpPr>
            <a:spLocks xmlns:a="http://schemas.openxmlformats.org/drawingml/2006/main" noGrp="1"/>
          </p:cNvSpPr>
          <p:nvPr/>
        </p:nvSpPr>
        <p:spPr>
          <a:xfrm xmlns:a="http://schemas.openxmlformats.org/drawingml/2006/main" rot="0">
            <a:off x="8058150" y="47434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202522"/>
                </a:solidFill>
                <a:latin typeface="SFMono-Regular"/>
                <a:ea typeface="SFMono-Regular"/>
                <a:cs typeface="SFMono-Regular"/>
              </a:defRPr>
            </a:pPr>
            <a:r>
              <a:rPr sz="1500" b="0" i="0">
                <a:solidFill>
                  <a:srgbClr val="202522"/>
                </a:solidFill>
                <a:latin typeface="SFMono-Regular"/>
                <a:ea typeface="SFMono-Regular"/>
                <a:cs typeface="SFMono-Regular"/>
              </a:rPr>
              <a:t>[(1, 2, 3), (2, 3, 4)]</a:t>
            </a:r>
          </a:p>
        </p:txBody>
      </p:sp>
      <p:sp>
        <p:nvSpPr>
          <p:cNvPr id="29" name="">
            <a:extLst xmlns:a="http://schemas.openxmlformats.org/drawingml/2006/main">
              <a:ext uri="{FF2B5EF4-FFF2-40B4-BE49-F238E27FC236}">
                <a16:creationId xmlns:a16="http://schemas.microsoft.com/office/drawing/2014/main" id="{AE4C4FC9-E53D-4405-8C64-19A54CEF15F5}"/>
              </a:ext>
            </a:extLst>
          </p:cNvPr>
          <p:cNvSpPr>
            <a:spLocks xmlns:a="http://schemas.openxmlformats.org/drawingml/2006/main" noGrp="1"/>
          </p:cNvSpPr>
          <p:nvPr/>
        </p:nvSpPr>
        <p:spPr>
          <a:xfrm xmlns:a="http://schemas.openxmlformats.org/drawingml/2006/main" rot="0">
            <a:off x="6134100" y="56007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i="0">
                <a:solidFill>
                  <a:srgbClr val="684F82"/>
                </a:solidFill>
                <a:latin typeface="Helvetica Neue"/>
                <a:ea typeface="Helvetica Neue"/>
                <a:cs typeface="Helvetica Neue"/>
              </a:defRPr>
            </a:pPr>
            <a:r>
              <a:rPr sz="1500" b="0" i="0">
                <a:solidFill>
                  <a:srgbClr val="684F82"/>
                </a:solidFill>
                <a:latin typeface="Helvetica Neue"/>
                <a:ea typeface="Helvetica Neue"/>
                <a:cs typeface="Helvetica Neue"/>
              </a:rPr>
              <a:t>same inputs · same set semantics · exact equality check</a:t>
            </a:r>
          </a:p>
        </p:txBody>
      </p:sp>
    </p:spTree>
    <p:extLst>
      <p:ext uri="{BB962C8B-B14F-4D97-AF65-F5344CB8AC3E}">
        <p14:creationId xmlns:p14="http://schemas.microsoft.com/office/powerpoint/2010/main" val="117081564"/>
      </p:ext>
    </p:extLst>
  </p:cSld>
</p:sld>
</file>

<file path=ppt/slides/slide2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5BDC001-18D1-4D09-AE61-BF166D1F04E7}"/>
              </a:ext>
            </a:extLst>
          </p:cNvPr>
          <p:cNvSpPr>
            <a:spLocks xmlns:a="http://schemas.openxmlformats.org/drawingml/2006/main" noGrp="1"/>
          </p:cNvSpPr>
          <p:nvPr/>
        </p:nvSpPr>
        <p:spPr>
          <a:xfrm xmlns:a="http://schemas.openxmlformats.org/drawingml/2006/main" rot="0">
            <a:off x="0" y="0"/>
            <a:ext cx="12192000" cy="66675"/>
          </a:xfrm>
          <a:prstGeom xmlns:a="http://schemas.openxmlformats.org/drawingml/2006/main" prst="rect">
            <a:avLst/>
          </a:prstGeom>
          <a:solidFill xmlns:a="http://schemas.openxmlformats.org/drawingml/2006/main">
            <a:srgbClr val="176B73"/>
          </a:solidFill>
          <a:ln xmlns:a="http://schemas.openxmlformats.org/drawingml/2006/main" w="0">
            <a:solidFill>
              <a:srgbClr val="176B73"/>
            </a:solidFill>
            <a:prstDash val="solid"/>
          </a:ln>
        </p:spPr>
      </p:sp>
      <p:sp>
        <p:nvSpPr>
          <p:cNvPr id="2" name="">
            <a:extLst xmlns:a="http://schemas.openxmlformats.org/drawingml/2006/main">
              <a:ext uri="{FF2B5EF4-FFF2-40B4-BE49-F238E27FC236}">
                <a16:creationId xmlns:a16="http://schemas.microsoft.com/office/drawing/2014/main" id="{6203726B-0517-4917-9D63-D1AFEAFA815C}"/>
              </a:ext>
            </a:extLst>
          </p:cNvPr>
          <p:cNvSpPr>
            <a:spLocks xmlns:a="http://schemas.openxmlformats.org/drawingml/2006/main" noGrp="1"/>
          </p:cNvSpPr>
          <p:nvPr/>
        </p:nvSpPr>
        <p:spPr>
          <a:xfrm xmlns:a="http://schemas.openxmlformats.org/drawingml/2006/main" rot="0">
            <a:off x="533400" y="2667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76B73"/>
                </a:solidFill>
                <a:latin typeface="Helvetica Neue"/>
                <a:ea typeface="Helvetica Neue"/>
                <a:cs typeface="Helvetica Neue"/>
              </a:defRPr>
            </a:pPr>
            <a:r>
              <a:rPr sz="1050" b="1" i="0">
                <a:solidFill>
                  <a:srgbClr val="176B73"/>
                </a:solidFill>
                <a:latin typeface="Helvetica Neue"/>
                <a:ea typeface="Helvetica Neue"/>
                <a:cs typeface="Helvetica Neue"/>
              </a:rPr>
              <a:t>THE HABIT FOR THE SEMESTER</a:t>
            </a:r>
          </a:p>
        </p:txBody>
      </p:sp>
      <p:sp>
        <p:nvSpPr>
          <p:cNvPr id="3" name="">
            <a:extLst xmlns:a="http://schemas.openxmlformats.org/drawingml/2006/main">
              <a:ext uri="{FF2B5EF4-FFF2-40B4-BE49-F238E27FC236}">
                <a16:creationId xmlns:a16="http://schemas.microsoft.com/office/drawing/2014/main" id="{1F79ECED-1D63-4768-8448-C5D0384A96C8}"/>
              </a:ext>
            </a:extLst>
          </p:cNvPr>
          <p:cNvSpPr>
            <a:spLocks xmlns:a="http://schemas.openxmlformats.org/drawingml/2006/main" noGrp="1"/>
          </p:cNvSpPr>
          <p:nvPr/>
        </p:nvSpPr>
        <p:spPr>
          <a:xfrm xmlns:a="http://schemas.openxmlformats.org/drawingml/2006/main" rot="0">
            <a:off x="533400" y="55245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0" i="0">
                <a:solidFill>
                  <a:srgbClr val="202522"/>
                </a:solidFill>
                <a:latin typeface="Helvetica Neue"/>
                <a:ea typeface="Helvetica Neue"/>
                <a:cs typeface="Helvetica Neue"/>
              </a:defRPr>
            </a:pPr>
            <a:r>
              <a:rPr sz="3600" b="0" i="0">
                <a:solidFill>
                  <a:srgbClr val="202522"/>
                </a:solidFill>
                <a:latin typeface="Helvetica Neue"/>
                <a:ea typeface="Helvetica Neue"/>
                <a:cs typeface="Helvetica Neue"/>
              </a:rPr>
              <a:t>Every lecture returns to four questions</a:t>
            </a:r>
          </a:p>
        </p:txBody>
      </p:sp>
      <p:sp>
        <p:nvSpPr>
          <p:cNvPr id="4" name="">
            <a:extLst xmlns:a="http://schemas.openxmlformats.org/drawingml/2006/main">
              <a:ext uri="{FF2B5EF4-FFF2-40B4-BE49-F238E27FC236}">
                <a16:creationId xmlns:a16="http://schemas.microsoft.com/office/drawing/2014/main" id="{B20C1162-1C76-4580-B8A0-826D41413BCF}"/>
              </a:ext>
            </a:extLst>
          </p:cNvPr>
          <p:cNvSpPr>
            <a:spLocks xmlns:a="http://schemas.openxmlformats.org/drawingml/2006/main" noGrp="1"/>
          </p:cNvSpPr>
          <p:nvPr/>
        </p:nvSpPr>
        <p:spPr>
          <a:xfrm xmlns:a="http://schemas.openxmlformats.org/drawingml/2006/main">
            <a:off x="533400" y="1219200"/>
            <a:ext cx="111252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5" name="">
            <a:extLst xmlns:a="http://schemas.openxmlformats.org/drawingml/2006/main">
              <a:ext uri="{FF2B5EF4-FFF2-40B4-BE49-F238E27FC236}">
                <a16:creationId xmlns:a16="http://schemas.microsoft.com/office/drawing/2014/main" id="{819CC663-F042-4341-9D69-DBDB29EC147C}"/>
              </a:ext>
            </a:extLst>
          </p:cNvPr>
          <p:cNvSpPr>
            <a:spLocks xmlns:a="http://schemas.openxmlformats.org/drawingml/2006/main" noGrp="1"/>
          </p:cNvSpPr>
          <p:nvPr/>
        </p:nvSpPr>
        <p:spPr>
          <a:xfrm xmlns:a="http://schemas.openxmlformats.org/drawingml/2006/main" rot="0">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Modern Query Processing · Fall 2026</a:t>
            </a:r>
          </a:p>
        </p:txBody>
      </p:sp>
      <p:sp>
        <p:nvSpPr>
          <p:cNvPr id="6" name="">
            <a:extLst xmlns:a="http://schemas.openxmlformats.org/drawingml/2006/main">
              <a:ext uri="{FF2B5EF4-FFF2-40B4-BE49-F238E27FC236}">
                <a16:creationId xmlns:a16="http://schemas.microsoft.com/office/drawing/2014/main" id="{D1EA1B2F-1AFB-4D60-BE06-97A3A2436950}"/>
              </a:ext>
            </a:extLst>
          </p:cNvPr>
          <p:cNvSpPr>
            <a:spLocks xmlns:a="http://schemas.openxmlformats.org/drawingml/2006/main" noGrp="1"/>
          </p:cNvSpPr>
          <p:nvPr/>
        </p:nvSpPr>
        <p:spPr>
          <a:xfrm xmlns:a="http://schemas.openxmlformats.org/drawingml/2006/main" rot="0">
            <a:off x="112014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68716B"/>
                </a:solidFill>
                <a:latin typeface="Helvetica Neue"/>
                <a:ea typeface="Helvetica Neue"/>
                <a:cs typeface="Helvetica Neue"/>
              </a:defRPr>
            </a:pPr>
            <a:r>
              <a:rPr sz="975" b="0" i="0">
                <a:solidFill>
                  <a:srgbClr val="68716B"/>
                </a:solidFill>
                <a:latin typeface="Helvetica Neue"/>
                <a:ea typeface="Helvetica Neue"/>
                <a:cs typeface="Helvetica Neue"/>
              </a:rPr>
              <a:t>26</a:t>
            </a:r>
          </a:p>
        </p:txBody>
      </p:sp>
      <p:sp>
        <p:nvSpPr>
          <p:cNvPr id="7" name="">
            <a:extLst xmlns:a="http://schemas.openxmlformats.org/drawingml/2006/main">
              <a:ext uri="{FF2B5EF4-FFF2-40B4-BE49-F238E27FC236}">
                <a16:creationId xmlns:a16="http://schemas.microsoft.com/office/drawing/2014/main" id="{3A6DF5D7-88F5-4221-9D8F-94F42BB00636}"/>
              </a:ext>
            </a:extLst>
          </p:cNvPr>
          <p:cNvSpPr>
            <a:spLocks xmlns:a="http://schemas.openxmlformats.org/drawingml/2006/main" noGrp="1"/>
          </p:cNvSpPr>
          <p:nvPr/>
        </p:nvSpPr>
        <p:spPr>
          <a:xfrm xmlns:a="http://schemas.openxmlformats.org/drawingml/2006/main" rot="0">
            <a:off x="2800350" y="3009900"/>
            <a:ext cx="609600" cy="209550"/>
          </a:xfrm>
          <a:prstGeom xmlns:a="http://schemas.openxmlformats.org/drawingml/2006/main" prst="rightArrow">
            <a:avLst/>
          </a:prstGeom>
          <a:solidFill xmlns:a="http://schemas.openxmlformats.org/drawingml/2006/main">
            <a:srgbClr val="D9D5C9"/>
          </a:solidFill>
          <a:ln xmlns:a="http://schemas.openxmlformats.org/drawingml/2006/main" w="0">
            <a:solidFill>
              <a:srgbClr val="D9D5C9"/>
            </a:solidFill>
            <a:prstDash val="solid"/>
          </a:ln>
        </p:spPr>
      </p:sp>
      <p:sp>
        <p:nvSpPr>
          <p:cNvPr id="8" name="">
            <a:extLst xmlns:a="http://schemas.openxmlformats.org/drawingml/2006/main">
              <a:ext uri="{FF2B5EF4-FFF2-40B4-BE49-F238E27FC236}">
                <a16:creationId xmlns:a16="http://schemas.microsoft.com/office/drawing/2014/main" id="{71D50BDE-34DC-4072-B76E-D887AC6BB098}"/>
              </a:ext>
            </a:extLst>
          </p:cNvPr>
          <p:cNvSpPr>
            <a:spLocks xmlns:a="http://schemas.openxmlformats.org/drawingml/2006/main" noGrp="1"/>
          </p:cNvSpPr>
          <p:nvPr/>
        </p:nvSpPr>
        <p:spPr>
          <a:xfrm xmlns:a="http://schemas.openxmlformats.org/drawingml/2006/main" rot="0">
            <a:off x="5619750" y="3009900"/>
            <a:ext cx="609600" cy="209550"/>
          </a:xfrm>
          <a:prstGeom xmlns:a="http://schemas.openxmlformats.org/drawingml/2006/main" prst="rightArrow">
            <a:avLst/>
          </a:prstGeom>
          <a:solidFill xmlns:a="http://schemas.openxmlformats.org/drawingml/2006/main">
            <a:srgbClr val="D9D5C9"/>
          </a:solidFill>
          <a:ln xmlns:a="http://schemas.openxmlformats.org/drawingml/2006/main" w="0">
            <a:solidFill>
              <a:srgbClr val="D9D5C9"/>
            </a:solidFill>
            <a:prstDash val="solid"/>
          </a:ln>
        </p:spPr>
      </p:sp>
      <p:sp>
        <p:nvSpPr>
          <p:cNvPr id="9" name="">
            <a:extLst xmlns:a="http://schemas.openxmlformats.org/drawingml/2006/main">
              <a:ext uri="{FF2B5EF4-FFF2-40B4-BE49-F238E27FC236}">
                <a16:creationId xmlns:a16="http://schemas.microsoft.com/office/drawing/2014/main" id="{066B6727-E97B-4AEF-8491-75CE1861CEFA}"/>
              </a:ext>
            </a:extLst>
          </p:cNvPr>
          <p:cNvSpPr>
            <a:spLocks xmlns:a="http://schemas.openxmlformats.org/drawingml/2006/main" noGrp="1"/>
          </p:cNvSpPr>
          <p:nvPr/>
        </p:nvSpPr>
        <p:spPr>
          <a:xfrm xmlns:a="http://schemas.openxmlformats.org/drawingml/2006/main" rot="0">
            <a:off x="8439150" y="3009900"/>
            <a:ext cx="609600" cy="209550"/>
          </a:xfrm>
          <a:prstGeom xmlns:a="http://schemas.openxmlformats.org/drawingml/2006/main" prst="rightArrow">
            <a:avLst/>
          </a:prstGeom>
          <a:solidFill xmlns:a="http://schemas.openxmlformats.org/drawingml/2006/main">
            <a:srgbClr val="D9D5C9"/>
          </a:solidFill>
          <a:ln xmlns:a="http://schemas.openxmlformats.org/drawingml/2006/main" w="0">
            <a:solidFill>
              <a:srgbClr val="D9D5C9"/>
            </a:solidFill>
            <a:prstDash val="solid"/>
          </a:ln>
        </p:spPr>
      </p:sp>
      <p:sp>
        <p:nvSpPr>
          <p:cNvPr id="10" name="">
            <a:extLst xmlns:a="http://schemas.openxmlformats.org/drawingml/2006/main">
              <a:ext uri="{FF2B5EF4-FFF2-40B4-BE49-F238E27FC236}">
                <a16:creationId xmlns:a16="http://schemas.microsoft.com/office/drawing/2014/main" id="{36DAFFB0-4A8D-4518-AE80-9BCC5694E02A}"/>
              </a:ext>
            </a:extLst>
          </p:cNvPr>
          <p:cNvSpPr>
            <a:spLocks xmlns:a="http://schemas.openxmlformats.org/drawingml/2006/main" noGrp="1"/>
          </p:cNvSpPr>
          <p:nvPr/>
        </p:nvSpPr>
        <p:spPr>
          <a:xfrm xmlns:a="http://schemas.openxmlformats.org/drawingml/2006/main" rot="0">
            <a:off x="1200150" y="1962150"/>
            <a:ext cx="533400" cy="533400"/>
          </a:xfrm>
          <a:prstGeom xmlns:a="http://schemas.openxmlformats.org/drawingml/2006/main" prst="ellipse">
            <a:avLst/>
          </a:prstGeom>
          <a:solidFill xmlns:a="http://schemas.openxmlformats.org/drawingml/2006/main">
            <a:srgbClr val="176B73"/>
          </a:solidFill>
          <a:ln xmlns:a="http://schemas.openxmlformats.org/drawingml/2006/main" w="19050">
            <a:solidFill>
              <a:srgbClr val="F5F2E9"/>
            </a:solidFill>
            <a:prstDash val="solid"/>
          </a:ln>
        </p:spPr>
      </p:sp>
      <p:sp>
        <p:nvSpPr>
          <p:cNvPr id="11" name="">
            <a:extLst xmlns:a="http://schemas.openxmlformats.org/drawingml/2006/main">
              <a:ext uri="{FF2B5EF4-FFF2-40B4-BE49-F238E27FC236}">
                <a16:creationId xmlns:a16="http://schemas.microsoft.com/office/drawing/2014/main" id="{A57C7083-0CFA-4A88-849F-24E32BE644DC}"/>
              </a:ext>
            </a:extLst>
          </p:cNvPr>
          <p:cNvSpPr>
            <a:spLocks xmlns:a="http://schemas.openxmlformats.org/drawingml/2006/main" noGrp="1"/>
          </p:cNvSpPr>
          <p:nvPr/>
        </p:nvSpPr>
        <p:spPr>
          <a:xfrm xmlns:a="http://schemas.openxmlformats.org/drawingml/2006/main" rot="0">
            <a:off x="1314450" y="207645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i="0">
                <a:solidFill>
                  <a:srgbClr val="FFFDF7"/>
                </a:solidFill>
                <a:latin typeface="Helvetica Neue"/>
                <a:ea typeface="Helvetica Neue"/>
                <a:cs typeface="Helvetica Neue"/>
              </a:defRPr>
            </a:pPr>
            <a:r>
              <a:rPr sz="1650" b="1" i="0">
                <a:solidFill>
                  <a:srgbClr val="FFFDF7"/>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A3B2B99F-0DF1-4A0D-8491-8995398BEC15}"/>
              </a:ext>
            </a:extLst>
          </p:cNvPr>
          <p:cNvSpPr>
            <a:spLocks xmlns:a="http://schemas.openxmlformats.org/drawingml/2006/main" noGrp="1"/>
          </p:cNvSpPr>
          <p:nvPr/>
        </p:nvSpPr>
        <p:spPr>
          <a:xfrm xmlns:a="http://schemas.openxmlformats.org/drawingml/2006/main" rot="0">
            <a:off x="285750" y="3390900"/>
            <a:ext cx="2362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i="0">
                <a:solidFill>
                  <a:srgbClr val="176B73"/>
                </a:solidFill>
                <a:latin typeface="Helvetica Neue"/>
                <a:ea typeface="Helvetica Neue"/>
                <a:cs typeface="Helvetica Neue"/>
              </a:defRPr>
            </a:pPr>
            <a:r>
              <a:rPr sz="1875" b="1" i="0">
                <a:solidFill>
                  <a:srgbClr val="176B73"/>
                </a:solidFill>
                <a:latin typeface="Helvetica Neue"/>
                <a:ea typeface="Helvetica Neue"/>
                <a:cs typeface="Helvetica Neue"/>
              </a:rPr>
              <a:t>Meaning</a:t>
            </a:r>
          </a:p>
        </p:txBody>
      </p:sp>
      <p:sp>
        <p:nvSpPr>
          <p:cNvPr id="13" name="">
            <a:extLst xmlns:a="http://schemas.openxmlformats.org/drawingml/2006/main">
              <a:ext uri="{FF2B5EF4-FFF2-40B4-BE49-F238E27FC236}">
                <a16:creationId xmlns:a16="http://schemas.microsoft.com/office/drawing/2014/main" id="{04CD53CA-0018-440C-94E8-58CBFCFD864B}"/>
              </a:ext>
            </a:extLst>
          </p:cNvPr>
          <p:cNvSpPr>
            <a:spLocks xmlns:a="http://schemas.openxmlformats.org/drawingml/2006/main" noGrp="1"/>
          </p:cNvSpPr>
          <p:nvPr/>
        </p:nvSpPr>
        <p:spPr>
          <a:xfrm xmlns:a="http://schemas.openxmlformats.org/drawingml/2006/main" rot="0">
            <a:off x="381000" y="3943350"/>
            <a:ext cx="2171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i="0">
                <a:solidFill>
                  <a:srgbClr val="68716B"/>
                </a:solidFill>
                <a:latin typeface="Helvetica Neue"/>
                <a:ea typeface="Helvetica Neue"/>
                <a:cs typeface="Helvetica Neue"/>
              </a:defRPr>
            </a:pPr>
            <a:r>
              <a:rPr sz="1500" b="0" i="0">
                <a:solidFill>
                  <a:srgbClr val="68716B"/>
                </a:solidFill>
                <a:latin typeface="Helvetica Neue"/>
                <a:ea typeface="Helvetica Neue"/>
                <a:cs typeface="Helvetica Neue"/>
              </a:rPr>
              <a:t>What is an answer?</a:t>
            </a:r>
          </a:p>
        </p:txBody>
      </p:sp>
      <p:sp>
        <p:nvSpPr>
          <p:cNvPr id="14" name="">
            <a:extLst xmlns:a="http://schemas.openxmlformats.org/drawingml/2006/main">
              <a:ext uri="{FF2B5EF4-FFF2-40B4-BE49-F238E27FC236}">
                <a16:creationId xmlns:a16="http://schemas.microsoft.com/office/drawing/2014/main" id="{1C398119-A44A-402A-8BC2-DE98260EED92}"/>
              </a:ext>
            </a:extLst>
          </p:cNvPr>
          <p:cNvSpPr>
            <a:spLocks xmlns:a="http://schemas.openxmlformats.org/drawingml/2006/main" noGrp="1"/>
          </p:cNvSpPr>
          <p:nvPr/>
        </p:nvSpPr>
        <p:spPr>
          <a:xfrm xmlns:a="http://schemas.openxmlformats.org/drawingml/2006/main" rot="0">
            <a:off x="4019550" y="1962150"/>
            <a:ext cx="533400" cy="533400"/>
          </a:xfrm>
          <a:prstGeom xmlns:a="http://schemas.openxmlformats.org/drawingml/2006/main" prst="ellipse">
            <a:avLst/>
          </a:prstGeom>
          <a:solidFill xmlns:a="http://schemas.openxmlformats.org/drawingml/2006/main">
            <a:srgbClr val="684F82"/>
          </a:solidFill>
          <a:ln xmlns:a="http://schemas.openxmlformats.org/drawingml/2006/main" w="19050">
            <a:solidFill>
              <a:srgbClr val="F5F2E9"/>
            </a:solidFill>
            <a:prstDash val="solid"/>
          </a:ln>
        </p:spPr>
      </p:sp>
      <p:sp>
        <p:nvSpPr>
          <p:cNvPr id="15" name="">
            <a:extLst xmlns:a="http://schemas.openxmlformats.org/drawingml/2006/main">
              <a:ext uri="{FF2B5EF4-FFF2-40B4-BE49-F238E27FC236}">
                <a16:creationId xmlns:a16="http://schemas.microsoft.com/office/drawing/2014/main" id="{13EE1DE7-3F54-45B8-8316-BEB224B04CF1}"/>
              </a:ext>
            </a:extLst>
          </p:cNvPr>
          <p:cNvSpPr>
            <a:spLocks xmlns:a="http://schemas.openxmlformats.org/drawingml/2006/main" noGrp="1"/>
          </p:cNvSpPr>
          <p:nvPr/>
        </p:nvSpPr>
        <p:spPr>
          <a:xfrm xmlns:a="http://schemas.openxmlformats.org/drawingml/2006/main" rot="0">
            <a:off x="4133850" y="207645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i="0">
                <a:solidFill>
                  <a:srgbClr val="FFFDF7"/>
                </a:solidFill>
                <a:latin typeface="Helvetica Neue"/>
                <a:ea typeface="Helvetica Neue"/>
                <a:cs typeface="Helvetica Neue"/>
              </a:defRPr>
            </a:pPr>
            <a:r>
              <a:rPr sz="1650" b="1" i="0">
                <a:solidFill>
                  <a:srgbClr val="FFFDF7"/>
                </a:solidFill>
                <a:latin typeface="Helvetica Neue"/>
                <a:ea typeface="Helvetica Neue"/>
                <a:cs typeface="Helvetica Neue"/>
              </a:rPr>
              <a:t>2</a:t>
            </a:r>
          </a:p>
        </p:txBody>
      </p:sp>
      <p:sp>
        <p:nvSpPr>
          <p:cNvPr id="16" name="">
            <a:extLst xmlns:a="http://schemas.openxmlformats.org/drawingml/2006/main">
              <a:ext uri="{FF2B5EF4-FFF2-40B4-BE49-F238E27FC236}">
                <a16:creationId xmlns:a16="http://schemas.microsoft.com/office/drawing/2014/main" id="{36DE8A59-7647-4DA1-BA29-C69F50F2EC90}"/>
              </a:ext>
            </a:extLst>
          </p:cNvPr>
          <p:cNvSpPr>
            <a:spLocks xmlns:a="http://schemas.openxmlformats.org/drawingml/2006/main" noGrp="1"/>
          </p:cNvSpPr>
          <p:nvPr/>
        </p:nvSpPr>
        <p:spPr>
          <a:xfrm xmlns:a="http://schemas.openxmlformats.org/drawingml/2006/main" rot="0">
            <a:off x="3105150" y="3390900"/>
            <a:ext cx="2362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i="0">
                <a:solidFill>
                  <a:srgbClr val="684F82"/>
                </a:solidFill>
                <a:latin typeface="Helvetica Neue"/>
                <a:ea typeface="Helvetica Neue"/>
                <a:cs typeface="Helvetica Neue"/>
              </a:defRPr>
            </a:pPr>
            <a:r>
              <a:rPr sz="1875" b="1" i="0">
                <a:solidFill>
                  <a:srgbClr val="684F82"/>
                </a:solidFill>
                <a:latin typeface="Helvetica Neue"/>
                <a:ea typeface="Helvetica Neue"/>
                <a:cs typeface="Helvetica Neue"/>
              </a:rPr>
              <a:t>Representation</a:t>
            </a:r>
          </a:p>
        </p:txBody>
      </p:sp>
      <p:sp>
        <p:nvSpPr>
          <p:cNvPr id="17" name="">
            <a:extLst xmlns:a="http://schemas.openxmlformats.org/drawingml/2006/main">
              <a:ext uri="{FF2B5EF4-FFF2-40B4-BE49-F238E27FC236}">
                <a16:creationId xmlns:a16="http://schemas.microsoft.com/office/drawing/2014/main" id="{B1D80073-9104-4883-B84A-9D74D17AD117}"/>
              </a:ext>
            </a:extLst>
          </p:cNvPr>
          <p:cNvSpPr>
            <a:spLocks xmlns:a="http://schemas.openxmlformats.org/drawingml/2006/main" noGrp="1"/>
          </p:cNvSpPr>
          <p:nvPr/>
        </p:nvSpPr>
        <p:spPr>
          <a:xfrm xmlns:a="http://schemas.openxmlformats.org/drawingml/2006/main" rot="0">
            <a:off x="3200400" y="3943350"/>
            <a:ext cx="2171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i="0">
                <a:solidFill>
                  <a:srgbClr val="68716B"/>
                </a:solidFill>
                <a:latin typeface="Helvetica Neue"/>
                <a:ea typeface="Helvetica Neue"/>
                <a:cs typeface="Helvetica Neue"/>
              </a:defRPr>
            </a:pPr>
            <a:r>
              <a:rPr sz="1500" b="0" i="0">
                <a:solidFill>
                  <a:srgbClr val="68716B"/>
                </a:solidFill>
                <a:latin typeface="Helvetica Neue"/>
                <a:ea typeface="Helvetica Neue"/>
                <a:cs typeface="Helvetica Neue"/>
              </a:rPr>
              <a:t>What facts must stay visible?</a:t>
            </a:r>
          </a:p>
        </p:txBody>
      </p:sp>
      <p:sp>
        <p:nvSpPr>
          <p:cNvPr id="18" name="">
            <a:extLst xmlns:a="http://schemas.openxmlformats.org/drawingml/2006/main">
              <a:ext uri="{FF2B5EF4-FFF2-40B4-BE49-F238E27FC236}">
                <a16:creationId xmlns:a16="http://schemas.microsoft.com/office/drawing/2014/main" id="{D07F3047-BD1D-42E6-B1F7-C0DF74470906}"/>
              </a:ext>
            </a:extLst>
          </p:cNvPr>
          <p:cNvSpPr>
            <a:spLocks xmlns:a="http://schemas.openxmlformats.org/drawingml/2006/main" noGrp="1"/>
          </p:cNvSpPr>
          <p:nvPr/>
        </p:nvSpPr>
        <p:spPr>
          <a:xfrm xmlns:a="http://schemas.openxmlformats.org/drawingml/2006/main" rot="0">
            <a:off x="6838950" y="1962150"/>
            <a:ext cx="533400" cy="533400"/>
          </a:xfrm>
          <a:prstGeom xmlns:a="http://schemas.openxmlformats.org/drawingml/2006/main" prst="ellipse">
            <a:avLst/>
          </a:prstGeom>
          <a:solidFill xmlns:a="http://schemas.openxmlformats.org/drawingml/2006/main">
            <a:srgbClr val="9B4C2F"/>
          </a:solidFill>
          <a:ln xmlns:a="http://schemas.openxmlformats.org/drawingml/2006/main" w="19050">
            <a:solidFill>
              <a:srgbClr val="F5F2E9"/>
            </a:solidFill>
            <a:prstDash val="solid"/>
          </a:ln>
        </p:spPr>
      </p:sp>
      <p:sp>
        <p:nvSpPr>
          <p:cNvPr id="19" name="">
            <a:extLst xmlns:a="http://schemas.openxmlformats.org/drawingml/2006/main">
              <a:ext uri="{FF2B5EF4-FFF2-40B4-BE49-F238E27FC236}">
                <a16:creationId xmlns:a16="http://schemas.microsoft.com/office/drawing/2014/main" id="{09597857-DBFF-4A38-B1C1-821D7F22CAA4}"/>
              </a:ext>
            </a:extLst>
          </p:cNvPr>
          <p:cNvSpPr>
            <a:spLocks xmlns:a="http://schemas.openxmlformats.org/drawingml/2006/main" noGrp="1"/>
          </p:cNvSpPr>
          <p:nvPr/>
        </p:nvSpPr>
        <p:spPr>
          <a:xfrm xmlns:a="http://schemas.openxmlformats.org/drawingml/2006/main" rot="0">
            <a:off x="6953250" y="207645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i="0">
                <a:solidFill>
                  <a:srgbClr val="FFFDF7"/>
                </a:solidFill>
                <a:latin typeface="Helvetica Neue"/>
                <a:ea typeface="Helvetica Neue"/>
                <a:cs typeface="Helvetica Neue"/>
              </a:defRPr>
            </a:pPr>
            <a:r>
              <a:rPr sz="1650" b="1" i="0">
                <a:solidFill>
                  <a:srgbClr val="FFFDF7"/>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D70F00D0-7120-4438-86DF-868BD6E52079}"/>
              </a:ext>
            </a:extLst>
          </p:cNvPr>
          <p:cNvSpPr>
            <a:spLocks xmlns:a="http://schemas.openxmlformats.org/drawingml/2006/main" noGrp="1"/>
          </p:cNvSpPr>
          <p:nvPr/>
        </p:nvSpPr>
        <p:spPr>
          <a:xfrm xmlns:a="http://schemas.openxmlformats.org/drawingml/2006/main" rot="0">
            <a:off x="5924550" y="3390900"/>
            <a:ext cx="2362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i="0">
                <a:solidFill>
                  <a:srgbClr val="9B4C2F"/>
                </a:solidFill>
                <a:latin typeface="Helvetica Neue"/>
                <a:ea typeface="Helvetica Neue"/>
                <a:cs typeface="Helvetica Neue"/>
              </a:defRPr>
            </a:pPr>
            <a:r>
              <a:rPr sz="1875" b="1" i="0">
                <a:solidFill>
                  <a:srgbClr val="9B4C2F"/>
                </a:solidFill>
                <a:latin typeface="Helvetica Neue"/>
                <a:ea typeface="Helvetica Neue"/>
                <a:cs typeface="Helvetica Neue"/>
              </a:rPr>
              <a:t>Algorithm</a:t>
            </a:r>
          </a:p>
        </p:txBody>
      </p:sp>
      <p:sp>
        <p:nvSpPr>
          <p:cNvPr id="21" name="">
            <a:extLst xmlns:a="http://schemas.openxmlformats.org/drawingml/2006/main">
              <a:ext uri="{FF2B5EF4-FFF2-40B4-BE49-F238E27FC236}">
                <a16:creationId xmlns:a16="http://schemas.microsoft.com/office/drawing/2014/main" id="{5B37C4DE-7298-439A-878E-BA643133B701}"/>
              </a:ext>
            </a:extLst>
          </p:cNvPr>
          <p:cNvSpPr>
            <a:spLocks xmlns:a="http://schemas.openxmlformats.org/drawingml/2006/main" noGrp="1"/>
          </p:cNvSpPr>
          <p:nvPr/>
        </p:nvSpPr>
        <p:spPr>
          <a:xfrm xmlns:a="http://schemas.openxmlformats.org/drawingml/2006/main" rot="0">
            <a:off x="6019800" y="3943350"/>
            <a:ext cx="2171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i="0">
                <a:solidFill>
                  <a:srgbClr val="68716B"/>
                </a:solidFill>
                <a:latin typeface="Helvetica Neue"/>
                <a:ea typeface="Helvetica Neue"/>
                <a:cs typeface="Helvetica Neue"/>
              </a:defRPr>
            </a:pPr>
            <a:r>
              <a:rPr sz="1500" b="0" i="0">
                <a:solidFill>
                  <a:srgbClr val="68716B"/>
                </a:solidFill>
                <a:latin typeface="Helvetica Neue"/>
                <a:ea typeface="Helvetica Neue"/>
                <a:cs typeface="Helvetica Neue"/>
              </a:rPr>
              <a:t>What work produces the answer?</a:t>
            </a:r>
          </a:p>
        </p:txBody>
      </p:sp>
      <p:sp>
        <p:nvSpPr>
          <p:cNvPr id="22" name="">
            <a:extLst xmlns:a="http://schemas.openxmlformats.org/drawingml/2006/main">
              <a:ext uri="{FF2B5EF4-FFF2-40B4-BE49-F238E27FC236}">
                <a16:creationId xmlns:a16="http://schemas.microsoft.com/office/drawing/2014/main" id="{5FDA780D-D5A5-469F-92A7-FF7E91AF9D40}"/>
              </a:ext>
            </a:extLst>
          </p:cNvPr>
          <p:cNvSpPr>
            <a:spLocks xmlns:a="http://schemas.openxmlformats.org/drawingml/2006/main" noGrp="1"/>
          </p:cNvSpPr>
          <p:nvPr/>
        </p:nvSpPr>
        <p:spPr>
          <a:xfrm xmlns:a="http://schemas.openxmlformats.org/drawingml/2006/main" rot="0">
            <a:off x="9658350" y="1962150"/>
            <a:ext cx="533400" cy="533400"/>
          </a:xfrm>
          <a:prstGeom xmlns:a="http://schemas.openxmlformats.org/drawingml/2006/main" prst="ellipse">
            <a:avLst/>
          </a:prstGeom>
          <a:solidFill xmlns:a="http://schemas.openxmlformats.org/drawingml/2006/main">
            <a:srgbClr val="286D91"/>
          </a:solidFill>
          <a:ln xmlns:a="http://schemas.openxmlformats.org/drawingml/2006/main" w="19050">
            <a:solidFill>
              <a:srgbClr val="F5F2E9"/>
            </a:solidFill>
            <a:prstDash val="solid"/>
          </a:ln>
        </p:spPr>
      </p:sp>
      <p:sp>
        <p:nvSpPr>
          <p:cNvPr id="23" name="">
            <a:extLst xmlns:a="http://schemas.openxmlformats.org/drawingml/2006/main">
              <a:ext uri="{FF2B5EF4-FFF2-40B4-BE49-F238E27FC236}">
                <a16:creationId xmlns:a16="http://schemas.microsoft.com/office/drawing/2014/main" id="{2828D3A2-FE2D-4874-A5CF-0D1BCFEA3BEC}"/>
              </a:ext>
            </a:extLst>
          </p:cNvPr>
          <p:cNvSpPr>
            <a:spLocks xmlns:a="http://schemas.openxmlformats.org/drawingml/2006/main" noGrp="1"/>
          </p:cNvSpPr>
          <p:nvPr/>
        </p:nvSpPr>
        <p:spPr>
          <a:xfrm xmlns:a="http://schemas.openxmlformats.org/drawingml/2006/main" rot="0">
            <a:off x="9772650" y="207645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i="0">
                <a:solidFill>
                  <a:srgbClr val="FFFDF7"/>
                </a:solidFill>
                <a:latin typeface="Helvetica Neue"/>
                <a:ea typeface="Helvetica Neue"/>
                <a:cs typeface="Helvetica Neue"/>
              </a:defRPr>
            </a:pPr>
            <a:r>
              <a:rPr sz="1650" b="1" i="0">
                <a:solidFill>
                  <a:srgbClr val="FFFDF7"/>
                </a:solidFill>
                <a:latin typeface="Helvetica Neue"/>
                <a:ea typeface="Helvetica Neue"/>
                <a:cs typeface="Helvetica Neue"/>
              </a:rPr>
              <a:t>4</a:t>
            </a:r>
          </a:p>
        </p:txBody>
      </p:sp>
      <p:sp>
        <p:nvSpPr>
          <p:cNvPr id="24" name="">
            <a:extLst xmlns:a="http://schemas.openxmlformats.org/drawingml/2006/main">
              <a:ext uri="{FF2B5EF4-FFF2-40B4-BE49-F238E27FC236}">
                <a16:creationId xmlns:a16="http://schemas.microsoft.com/office/drawing/2014/main" id="{8BCCA056-6929-4CD7-9EC5-A7B4512DE93D}"/>
              </a:ext>
            </a:extLst>
          </p:cNvPr>
          <p:cNvSpPr>
            <a:spLocks xmlns:a="http://schemas.openxmlformats.org/drawingml/2006/main" noGrp="1"/>
          </p:cNvSpPr>
          <p:nvPr/>
        </p:nvSpPr>
        <p:spPr>
          <a:xfrm xmlns:a="http://schemas.openxmlformats.org/drawingml/2006/main" rot="0">
            <a:off x="8743950" y="3390900"/>
            <a:ext cx="2362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i="0">
                <a:solidFill>
                  <a:srgbClr val="286D91"/>
                </a:solidFill>
                <a:latin typeface="Helvetica Neue"/>
                <a:ea typeface="Helvetica Neue"/>
                <a:cs typeface="Helvetica Neue"/>
              </a:defRPr>
            </a:pPr>
            <a:r>
              <a:rPr sz="1875" b="1" i="0">
                <a:solidFill>
                  <a:srgbClr val="286D91"/>
                </a:solidFill>
                <a:latin typeface="Helvetica Neue"/>
                <a:ea typeface="Helvetica Neue"/>
                <a:cs typeface="Helvetica Neue"/>
              </a:rPr>
              <a:t>Evidence</a:t>
            </a:r>
          </a:p>
        </p:txBody>
      </p:sp>
      <p:sp>
        <p:nvSpPr>
          <p:cNvPr id="25" name="">
            <a:extLst xmlns:a="http://schemas.openxmlformats.org/drawingml/2006/main">
              <a:ext uri="{FF2B5EF4-FFF2-40B4-BE49-F238E27FC236}">
                <a16:creationId xmlns:a16="http://schemas.microsoft.com/office/drawing/2014/main" id="{98CA8843-81E2-450D-A5A9-A932A7630E5F}"/>
              </a:ext>
            </a:extLst>
          </p:cNvPr>
          <p:cNvSpPr>
            <a:spLocks xmlns:a="http://schemas.openxmlformats.org/drawingml/2006/main" noGrp="1"/>
          </p:cNvSpPr>
          <p:nvPr/>
        </p:nvSpPr>
        <p:spPr>
          <a:xfrm xmlns:a="http://schemas.openxmlformats.org/drawingml/2006/main" rot="0">
            <a:off x="8839200" y="3943350"/>
            <a:ext cx="2171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i="0">
                <a:solidFill>
                  <a:srgbClr val="68716B"/>
                </a:solidFill>
                <a:latin typeface="Helvetica Neue"/>
                <a:ea typeface="Helvetica Neue"/>
                <a:cs typeface="Helvetica Neue"/>
              </a:defRPr>
            </a:pPr>
            <a:r>
              <a:rPr sz="1500" b="0" i="0">
                <a:solidFill>
                  <a:srgbClr val="68716B"/>
                </a:solidFill>
                <a:latin typeface="Helvetica Neue"/>
                <a:ea typeface="Helvetica Neue"/>
                <a:cs typeface="Helvetica Neue"/>
              </a:rPr>
              <a:t>How do we know the claim?</a:t>
            </a:r>
          </a:p>
        </p:txBody>
      </p:sp>
      <p:sp>
        <p:nvSpPr>
          <p:cNvPr id="26" name="">
            <a:extLst xmlns:a="http://schemas.openxmlformats.org/drawingml/2006/main">
              <a:ext uri="{FF2B5EF4-FFF2-40B4-BE49-F238E27FC236}">
                <a16:creationId xmlns:a16="http://schemas.microsoft.com/office/drawing/2014/main" id="{BDDD8F2B-442E-4C84-824F-422D4679B873}"/>
              </a:ext>
            </a:extLst>
          </p:cNvPr>
          <p:cNvSpPr>
            <a:spLocks xmlns:a="http://schemas.openxmlformats.org/drawingml/2006/main" noGrp="1"/>
          </p:cNvSpPr>
          <p:nvPr/>
        </p:nvSpPr>
        <p:spPr>
          <a:xfrm xmlns:a="http://schemas.openxmlformats.org/drawingml/2006/main">
            <a:off x="1771650" y="5105400"/>
            <a:ext cx="8648700" cy="0"/>
          </a:xfrm>
          <a:prstGeom xmlns:a="http://schemas.openxmlformats.org/drawingml/2006/main" prst="line">
            <a:avLst/>
          </a:prstGeom>
          <a:noFill xmlns:a="http://schemas.openxmlformats.org/drawingml/2006/main"/>
          <a:ln xmlns:a="http://schemas.openxmlformats.org/drawingml/2006/main" w="9525">
            <a:solidFill>
              <a:srgbClr val="D9D5C9"/>
            </a:solidFill>
            <a:prstDash val="solid"/>
          </a:ln>
        </p:spPr>
      </p:sp>
      <p:sp>
        <p:nvSpPr>
          <p:cNvPr id="27" name="">
            <a:extLst xmlns:a="http://schemas.openxmlformats.org/drawingml/2006/main">
              <a:ext uri="{FF2B5EF4-FFF2-40B4-BE49-F238E27FC236}">
                <a16:creationId xmlns:a16="http://schemas.microsoft.com/office/drawing/2014/main" id="{1473D9E8-B5A3-4B8A-A8EC-CE0119DA79A1}"/>
              </a:ext>
            </a:extLst>
          </p:cNvPr>
          <p:cNvSpPr>
            <a:spLocks xmlns:a="http://schemas.openxmlformats.org/drawingml/2006/main" noGrp="1"/>
          </p:cNvSpPr>
          <p:nvPr/>
        </p:nvSpPr>
        <p:spPr>
          <a:xfrm xmlns:a="http://schemas.openxmlformats.org/drawingml/2006/main" rot="0">
            <a:off x="1428750" y="5467350"/>
            <a:ext cx="933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625" b="0" i="0">
                <a:solidFill>
                  <a:srgbClr val="202522"/>
                </a:solidFill>
                <a:latin typeface="Helvetica Neue"/>
                <a:ea typeface="Helvetica Neue"/>
                <a:cs typeface="Helvetica Neue"/>
              </a:defRPr>
            </a:pPr>
            <a:r>
              <a:rPr sz="2625" b="0" i="0">
                <a:solidFill>
                  <a:srgbClr val="202522"/>
                </a:solidFill>
                <a:latin typeface="Helvetica Neue"/>
                <a:ea typeface="Helvetica Neue"/>
                <a:cs typeface="Helvetica Neue"/>
              </a:rPr>
              <a:t>What decision is hidden inside a query you already use?</a:t>
            </a:r>
          </a:p>
        </p:txBody>
      </p:sp>
    </p:spTree>
    <p:extLst>
      <p:ext uri="{BB962C8B-B14F-4D97-AF65-F5344CB8AC3E}">
        <p14:creationId xmlns:p14="http://schemas.microsoft.com/office/powerpoint/2010/main" val="12625332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2026-08-13T23:13:56.1430000Z</dcterms:created>
  <dcterms:modified xsi:type="dcterms:W3CDTF">2026-08-13T23:13:56.1430000Z</dcterms:modified>
</coreProperties>
</file>